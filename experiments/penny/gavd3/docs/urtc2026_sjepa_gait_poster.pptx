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892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43891200" cy="9601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27614880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Learning Monocular Gait Representations through</a:t>
            </a:r>
            <a:br/>
            <a:r>
              <a:rPr sz="4600" b="1" i="0">
                <a:solidFill>
                  <a:srgbClr val="FFFFFF"/>
                </a:solidFill>
                <a:latin typeface="Arial"/>
              </a:rPr>
              <a:t>Neurologically Guided Skeleton JEPA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615184"/>
            <a:ext cx="26334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DF3F5"/>
                </a:solidFill>
                <a:latin typeface="Arial"/>
              </a:rPr>
              <a:t>Alex Mui · Penny Inouye · Theodore Mui · Phil Mui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136392"/>
            <a:ext cx="26334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Aspiring Scholars Directed Research Program (ASDRP) · Fremont, California, USA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794760"/>
            <a:ext cx="5715000" cy="53035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03904"/>
            <a:ext cx="5568696" cy="5120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Arial"/>
              </a:rPr>
              <a:t>URTC 2026 · Research use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361384" y="589788"/>
            <a:ext cx="0" cy="334213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9094013" y="924001"/>
            <a:ext cx="267371" cy="98298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361384" y="924001"/>
            <a:ext cx="267370" cy="98298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094013" y="1022299"/>
            <a:ext cx="534741" cy="0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928872" y="1022299"/>
            <a:ext cx="165141" cy="373532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8850234" y="1395831"/>
            <a:ext cx="78638" cy="353873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628754" y="1022299"/>
            <a:ext cx="165141" cy="373532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793895" y="1395831"/>
            <a:ext cx="78638" cy="353873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094013" y="1022299"/>
            <a:ext cx="90434" cy="766724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538320" y="1022299"/>
            <a:ext cx="90434" cy="766724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184447" y="1789023"/>
            <a:ext cx="353873" cy="0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9105809" y="1789023"/>
            <a:ext cx="78638" cy="629107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007511" y="2418130"/>
            <a:ext cx="98298" cy="629108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8842370" y="3047238"/>
            <a:ext cx="165141" cy="117957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538320" y="1789023"/>
            <a:ext cx="78638" cy="629107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616958" y="2418130"/>
            <a:ext cx="98298" cy="629108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15256" y="3047238"/>
            <a:ext cx="165141" cy="117957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9235562" y="463966"/>
            <a:ext cx="251642" cy="25164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312235" y="874852"/>
            <a:ext cx="98298" cy="9829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23238" y="951524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557980" y="951524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879723" y="1346682"/>
            <a:ext cx="98298" cy="9829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744746" y="1346682"/>
            <a:ext cx="98298" cy="9829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801085" y="1700555"/>
            <a:ext cx="98298" cy="9829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823384" y="1700555"/>
            <a:ext cx="98298" cy="9829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113673" y="1718249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467545" y="1718249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035034" y="2347356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546184" y="2347356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8936736" y="2976463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644482" y="2976463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771596" y="3094421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809622" y="3094421"/>
            <a:ext cx="141549" cy="14154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0" y="566928"/>
            <a:ext cx="97840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B84B"/>
                </a:solidFill>
                <a:latin typeface="Arial"/>
              </a:rPr>
              <a:t>SOURCE-VIDEO 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826960" y="960120"/>
            <a:ext cx="4023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65.6%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6777168" y="1481328"/>
            <a:ext cx="1078992" cy="0"/>
          </a:xfrm>
          <a:prstGeom prst="line">
            <a:avLst/>
          </a:prstGeom>
          <a:ln w="45720">
            <a:solidFill>
              <a:srgbClr val="F2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7810440" y="960120"/>
            <a:ext cx="411480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24.0%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89800" y="1920240"/>
            <a:ext cx="4343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DF3F5"/>
                </a:solidFill>
                <a:latin typeface="Arial"/>
              </a:rPr>
              <a:t>6-fold CV · sequence IDs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64720" y="1920240"/>
            <a:ext cx="4343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DF3F5"/>
                </a:solidFill>
                <a:latin typeface="Arial"/>
              </a:rPr>
              <a:t>6-fold CV · source videos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0" y="2514600"/>
            <a:ext cx="9052560" cy="1325880"/>
          </a:xfrm>
          <a:prstGeom prst="roundRect">
            <a:avLst/>
          </a:prstGeom>
          <a:solidFill>
            <a:srgbClr val="193B55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101280" y="2679192"/>
            <a:ext cx="8686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B84B"/>
                </a:solidFill>
                <a:latin typeface="Arial"/>
              </a:rPr>
              <a:t>−41.7 percentage 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01280" y="320040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matched grouping gap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084064"/>
            <a:ext cx="42062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Source-video holdout changes the conclusion: 24.0% accuracy, below the 49.0% majority control.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6172200"/>
            <a:ext cx="1344168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85800" y="6172200"/>
            <a:ext cx="164592" cy="3703320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9848" y="633679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1 · Research question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69848" y="695858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24712" y="7178040"/>
            <a:ext cx="12563855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24D"/>
                </a:solidFill>
                <a:latin typeface="Arial"/>
              </a:rPr>
              <a:t>Can normal-only, label-free S-JEPA pretraining learn useful single-camera gait features, and do they survive a source-video holdout?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" y="8412480"/>
            <a:ext cx="12563855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87085"/>
                </a:solidFill>
                <a:latin typeface="Arial"/>
              </a:rPr>
              <a:t>We trace the full path from RGB video to pose tokens, frozen embeddings, condition probes, source-identity audits, mask ablations, and causal latent forecasts.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10149840"/>
            <a:ext cx="1344168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85800" y="10149840"/>
            <a:ext cx="164592" cy="6446520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9848" y="1031443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2 · Small, source-concentrated cohort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69848" y="1093622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43000" y="11082528"/>
            <a:ext cx="3657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87085"/>
                </a:solidFill>
                <a:latin typeface="Arial"/>
              </a:rPr>
              <a:t>GAVD subset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11411712"/>
            <a:ext cx="457200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87F8C"/>
                </a:solidFill>
                <a:latin typeface="Arial"/>
              </a:rPr>
              <a:t>96 sequences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11411712"/>
            <a:ext cx="43891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E6A5B"/>
                </a:solidFill>
                <a:latin typeface="Arial"/>
              </a:rPr>
              <a:t>18 source videos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12252960"/>
            <a:ext cx="4572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87085"/>
                </a:solidFill>
                <a:latin typeface="Arial"/>
              </a:rPr>
              <a:t>Condition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80" y="1225296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87085"/>
                </a:solidFill>
                <a:latin typeface="Arial"/>
              </a:rPr>
              <a:t>Sequences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09960" y="12252960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87085"/>
                </a:solidFill>
                <a:latin typeface="Arial"/>
              </a:rPr>
              <a:t>Videos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24712" y="12691872"/>
            <a:ext cx="12563855" cy="530352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F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52728" y="12719304"/>
            <a:ext cx="6309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Normal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12719304"/>
            <a:ext cx="18288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1271930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E6A5B"/>
                </a:solidFill>
                <a:latin typeface="Arial"/>
              </a:rPr>
              <a:t>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24712" y="13286232"/>
            <a:ext cx="12563855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52728" y="13313664"/>
            <a:ext cx="6309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Parkinson’s disease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78240" y="13313664"/>
            <a:ext cx="18288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1331366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24712" y="13880592"/>
            <a:ext cx="12563855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52728" y="13908024"/>
            <a:ext cx="6309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Stroke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0" y="13908024"/>
            <a:ext cx="18288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47120" y="1390802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24712" y="14474952"/>
            <a:ext cx="12563855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52728" y="14502384"/>
            <a:ext cx="6309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Cerebral palsy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78240" y="14502384"/>
            <a:ext cx="18288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47120" y="1450238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24712" y="15069312"/>
            <a:ext cx="12563855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52728" y="15096744"/>
            <a:ext cx="6309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Myopathic gait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78240" y="15096744"/>
            <a:ext cx="18288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47120" y="150967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10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88720" y="15681959"/>
            <a:ext cx="7818120" cy="502920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F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61872" y="15691104"/>
            <a:ext cx="76718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4B55"/>
                </a:solidFill>
                <a:latin typeface="Arial"/>
              </a:rPr>
              <a:t>All 12 normal clips come from one upload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98280" y="15718536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87085"/>
                </a:solidFill>
                <a:latin typeface="Arial"/>
              </a:rPr>
              <a:t>This prevents a valid video-disjoint five-class estimate.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5800" y="16870680"/>
            <a:ext cx="13441680" cy="9464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5800" y="16870680"/>
            <a:ext cx="164592" cy="9464040"/>
          </a:xfrm>
          <a:prstGeom prst="roundRect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9848" y="1703527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3 · Literature guides where to mask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069848" y="1765706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188720" y="17967960"/>
            <a:ext cx="7086600" cy="1234440"/>
          </a:xfrm>
          <a:prstGeom prst="roundRect">
            <a:avLst/>
          </a:prstGeom>
          <a:solidFill>
            <a:srgbClr val="EFEBFA"/>
          </a:solidFill>
          <a:ln w="12700"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99032" y="18095976"/>
            <a:ext cx="6309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750A4"/>
                </a:solidFill>
                <a:latin typeface="Arial"/>
              </a:rPr>
              <a:t>Parkinson’s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99032" y="18489168"/>
            <a:ext cx="6309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324D"/>
                </a:solidFill>
                <a:latin typeface="Arial"/>
              </a:rPr>
              <a:t>cadence · step length · support time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88720" y="19385280"/>
            <a:ext cx="7086600" cy="1234440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99032" y="19513296"/>
            <a:ext cx="6309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7F8C"/>
                </a:solidFill>
                <a:latin typeface="Arial"/>
              </a:rPr>
              <a:t>Stroke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99032" y="19906488"/>
            <a:ext cx="6309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324D"/>
                </a:solidFill>
                <a:latin typeface="Arial"/>
              </a:rPr>
              <a:t>laterality · temporal asymmetry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188720" y="20802600"/>
            <a:ext cx="7086600" cy="123444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99032" y="20930616"/>
            <a:ext cx="6309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56B00"/>
                </a:solidFill>
                <a:latin typeface="Arial"/>
              </a:rPr>
              <a:t>Cerebral palsy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99032" y="21323808"/>
            <a:ext cx="6309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324D"/>
                </a:solidFill>
                <a:latin typeface="Arial"/>
              </a:rPr>
              <a:t>flexed hip–knee–ankle chain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188720" y="22219920"/>
            <a:ext cx="7086600" cy="123444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99032" y="22347936"/>
            <a:ext cx="6309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D8B67"/>
                </a:solidFill>
                <a:latin typeface="Arial"/>
              </a:rPr>
              <a:t>Myopathy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99032" y="22741128"/>
            <a:ext cx="6309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324D"/>
                </a:solidFill>
                <a:latin typeface="Arial"/>
              </a:rPr>
              <a:t>proximal weakness · trunk compensation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799064" y="18347436"/>
            <a:ext cx="0" cy="800557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0158618" y="19147993"/>
            <a:ext cx="640446" cy="235458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799064" y="19147993"/>
            <a:ext cx="640445" cy="235458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158618" y="19383451"/>
            <a:ext cx="1280891" cy="0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9763048" y="19383451"/>
            <a:ext cx="395570" cy="894740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9574682" y="20278191"/>
            <a:ext cx="188366" cy="847649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1439509" y="19383451"/>
            <a:ext cx="395570" cy="894740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1835079" y="20278191"/>
            <a:ext cx="188366" cy="847649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158618" y="19383451"/>
            <a:ext cx="216621" cy="1836572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11222888" y="19383451"/>
            <a:ext cx="216621" cy="1836572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375239" y="21220023"/>
            <a:ext cx="847649" cy="0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10186873" y="21220023"/>
            <a:ext cx="188366" cy="1506931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9951415" y="22726954"/>
            <a:ext cx="235458" cy="1506932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9555845" y="24233886"/>
            <a:ext cx="395570" cy="282549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222888" y="21220023"/>
            <a:ext cx="188366" cy="1506931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411254" y="22726954"/>
            <a:ext cx="235458" cy="1506932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646712" y="24233886"/>
            <a:ext cx="395570" cy="282549"/>
          </a:xfrm>
          <a:prstGeom prst="line">
            <a:avLst/>
          </a:prstGeom>
          <a:ln w="30086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10497677" y="18046049"/>
            <a:ext cx="602772" cy="60277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681335" y="19030264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989088" y="19213921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269980" y="19213921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645319" y="2016046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717350" y="2016046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456953" y="21008111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05716" y="21008111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205709" y="21050493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053358" y="21050493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017343" y="22557425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241725" y="22557425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781885" y="24064356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477183" y="24064356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386316" y="24346905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872752" y="24346905"/>
            <a:ext cx="339059" cy="339059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95360" y="24734520"/>
            <a:ext cx="5074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E6A5B"/>
                </a:solidFill>
                <a:latin typeface="Arial"/>
              </a:rPr>
              <a:t>10 bilateral targets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595360" y="25091136"/>
            <a:ext cx="50749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87085"/>
                </a:solidFill>
                <a:latin typeface="Arial"/>
              </a:rPr>
              <a:t>shoulders · hips · knees</a:t>
            </a:r>
            <a:br/>
            <a:r>
              <a:rPr sz="1600" b="0" i="0">
                <a:solidFill>
                  <a:srgbClr val="587085"/>
                </a:solidFill>
                <a:latin typeface="Arial"/>
              </a:rPr>
              <a:t>ankles · foot indices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85800" y="26609040"/>
            <a:ext cx="13441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5800" y="26609040"/>
            <a:ext cx="164592" cy="4343400"/>
          </a:xfrm>
          <a:prstGeom prst="roundRect">
            <a:avLst/>
          </a:prstGeom>
          <a:solidFill>
            <a:srgbClr val="C94B55"/>
          </a:solidFill>
          <a:ln w="12700">
            <a:solidFill>
              <a:srgbClr val="C9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9848" y="2677363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Interpretation boundary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69848" y="2739542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188720" y="27688032"/>
            <a:ext cx="12435840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rial"/>
              </a:rPr>
              <a:t>These are video-level gait labels, not diagnoses. MediaPipe depth is not calibrated 3-D motion capture. Results do not measure transfer to a new person, camera, or clinic.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216152" y="29580840"/>
            <a:ext cx="3246120" cy="530352"/>
          </a:xfrm>
          <a:prstGeom prst="roundRect">
            <a:avLst/>
          </a:prstGeom>
          <a:solidFill>
            <a:srgbClr val="FCEAEC"/>
          </a:solidFill>
          <a:ln w="12700"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289304" y="29589984"/>
            <a:ext cx="3099815" cy="5120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94B55"/>
                </a:solidFill>
                <a:latin typeface="Arial"/>
              </a:rPr>
              <a:t>Feasibility study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63440" y="29580840"/>
            <a:ext cx="3246120" cy="530352"/>
          </a:xfrm>
          <a:prstGeom prst="roundRect">
            <a:avLst/>
          </a:prstGeom>
          <a:solidFill>
            <a:srgbClr val="FCEAEC"/>
          </a:solidFill>
          <a:ln w="12700"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736592" y="29589984"/>
            <a:ext cx="3099815" cy="5120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94B55"/>
                </a:solidFill>
                <a:latin typeface="Arial"/>
              </a:rPr>
              <a:t>Non-diagnostic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110727" y="29580840"/>
            <a:ext cx="3154680" cy="530352"/>
          </a:xfrm>
          <a:prstGeom prst="roundRect">
            <a:avLst/>
          </a:prstGeom>
          <a:solidFill>
            <a:srgbClr val="FCEAEC"/>
          </a:solidFill>
          <a:ln w="12700"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183879" y="29589984"/>
            <a:ext cx="3008376" cy="5120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94B55"/>
                </a:solidFill>
                <a:latin typeface="Arial"/>
              </a:rPr>
              <a:t>Transductive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4813280" y="6172200"/>
            <a:ext cx="13441680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4813280" y="6172200"/>
            <a:ext cx="164592" cy="6492240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197328" y="633679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4 · End-to-end audited pipeline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15197328" y="695858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15224759" y="7424927"/>
            <a:ext cx="1856231" cy="3090672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5819119" y="7875727"/>
            <a:ext cx="606247" cy="4041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Isosceles Triangle 159"/>
          <p:cNvSpPr/>
          <p:nvPr/>
        </p:nvSpPr>
        <p:spPr>
          <a:xfrm>
            <a:off x="16308781" y="7883499"/>
            <a:ext cx="326440" cy="373075"/>
          </a:xfrm>
          <a:prstGeom prst="triangle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6005657" y="7992313"/>
            <a:ext cx="170992" cy="170992"/>
          </a:xfrm>
          <a:prstGeom prst="ellipse">
            <a:avLst/>
          </a:prstGeom>
          <a:solidFill>
            <a:srgbClr val="DDF3F5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5316200" y="8732520"/>
            <a:ext cx="1673351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RGB clips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316200" y="9299448"/>
            <a:ext cx="1673351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GAVD boxes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7108424" y="8979408"/>
            <a:ext cx="146304" cy="0"/>
          </a:xfrm>
          <a:prstGeom prst="line">
            <a:avLst/>
          </a:prstGeom>
          <a:ln w="22860">
            <a:solidFill>
              <a:srgbClr val="58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/>
          <p:cNvSpPr/>
          <p:nvPr/>
        </p:nvSpPr>
        <p:spPr>
          <a:xfrm>
            <a:off x="17291303" y="7424927"/>
            <a:ext cx="1856231" cy="3090672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17931383" y="7703820"/>
            <a:ext cx="0" cy="116586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17838115" y="7820406"/>
            <a:ext cx="93268" cy="34290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7931383" y="7820406"/>
            <a:ext cx="93269" cy="34290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7838115" y="7854696"/>
            <a:ext cx="186537" cy="0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17780507" y="7854696"/>
            <a:ext cx="57608" cy="130302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17753075" y="7984998"/>
            <a:ext cx="27432" cy="123444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8024652" y="7854696"/>
            <a:ext cx="57607" cy="130302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8082259" y="7984998"/>
            <a:ext cx="27432" cy="123444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7838115" y="7854696"/>
            <a:ext cx="31546" cy="267462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17993105" y="7854696"/>
            <a:ext cx="31547" cy="267462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7869661" y="8122158"/>
            <a:ext cx="123444" cy="0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17842229" y="8122158"/>
            <a:ext cx="27432" cy="219456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17807939" y="8341614"/>
            <a:ext cx="34290" cy="219456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17750332" y="8561070"/>
            <a:ext cx="57607" cy="41148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7993105" y="8122158"/>
            <a:ext cx="27432" cy="219456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8020537" y="8341614"/>
            <a:ext cx="34290" cy="219456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8054827" y="8561070"/>
            <a:ext cx="57608" cy="41148"/>
          </a:xfrm>
          <a:prstGeom prst="line">
            <a:avLst/>
          </a:prstGeom>
          <a:ln w="16510">
            <a:solidFill>
              <a:srgbClr val="173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/>
          <p:cNvSpPr/>
          <p:nvPr/>
        </p:nvSpPr>
        <p:spPr>
          <a:xfrm>
            <a:off x="17887492" y="7659928"/>
            <a:ext cx="87782" cy="8778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7914238" y="7803261"/>
            <a:ext cx="34290" cy="3429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7813426" y="7830007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7999963" y="7830007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7763362" y="7967853"/>
            <a:ext cx="34290" cy="3429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8065114" y="7967853"/>
            <a:ext cx="34290" cy="3429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7735930" y="8091297"/>
            <a:ext cx="34290" cy="3429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8092546" y="8091297"/>
            <a:ext cx="34290" cy="3429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7844973" y="8097469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7968417" y="8097469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7817541" y="8316925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7995849" y="8316925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7783251" y="8536381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8030139" y="8536381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7725643" y="8577529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8087746" y="8577529"/>
            <a:ext cx="49377" cy="49377"/>
          </a:xfrm>
          <a:prstGeom prst="ellipse">
            <a:avLst/>
          </a:prstGeom>
          <a:solidFill>
            <a:srgbClr val="EE6A5B"/>
          </a:solidFill>
          <a:ln w="1651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7382744" y="8732520"/>
            <a:ext cx="1673351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33 landmarks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7382744" y="9299448"/>
            <a:ext cx="1673351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MediaPipe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19174968" y="8979408"/>
            <a:ext cx="146304" cy="0"/>
          </a:xfrm>
          <a:prstGeom prst="line">
            <a:avLst/>
          </a:prstGeom>
          <a:ln w="22860">
            <a:solidFill>
              <a:srgbClr val="58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1"/>
          <p:cNvSpPr/>
          <p:nvPr/>
        </p:nvSpPr>
        <p:spPr>
          <a:xfrm>
            <a:off x="19357848" y="7424927"/>
            <a:ext cx="1856231" cy="3090672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9879056" y="7772400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20052792" y="7772400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20226527" y="7772400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20400264" y="7772400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20574000" y="7772400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9879056" y="7946136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20052792" y="7946136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0226527" y="7946136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20400264" y="7946136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20574000" y="7946136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9879056" y="8119872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20052792" y="8119872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20226527" y="8119872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20400264" y="8119872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20574000" y="8119872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19879056" y="8293608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20052792" y="8293608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20226527" y="8293608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20400264" y="8293608"/>
            <a:ext cx="128016" cy="12801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20574000" y="8293608"/>
            <a:ext cx="128016" cy="128016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9449288" y="8732520"/>
            <a:ext cx="1673351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64 frames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9449288" y="9299448"/>
            <a:ext cx="1673351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528 tokens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21241512" y="8979408"/>
            <a:ext cx="146304" cy="0"/>
          </a:xfrm>
          <a:prstGeom prst="line">
            <a:avLst/>
          </a:prstGeom>
          <a:ln w="22860">
            <a:solidFill>
              <a:srgbClr val="58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ounded Rectangle 225"/>
          <p:cNvSpPr/>
          <p:nvPr/>
        </p:nvSpPr>
        <p:spPr>
          <a:xfrm>
            <a:off x="21424392" y="7424927"/>
            <a:ext cx="1856231" cy="3090672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F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21945600" y="7772400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22119336" y="7772400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22293072" y="7772400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22466808" y="7772400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22640544" y="7772400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21945600" y="7946136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22119336" y="7946136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22293072" y="7946136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22466808" y="7946136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22640544" y="7946136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21945600" y="8119872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22119336" y="8119872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22293072" y="8119872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22466808" y="8119872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22640544" y="8119872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21945600" y="8293608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22119336" y="8293608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22293072" y="8293608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22466808" y="8293608"/>
            <a:ext cx="128016" cy="12801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22640544" y="8293608"/>
            <a:ext cx="128016" cy="128016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1515832" y="8732520"/>
            <a:ext cx="1673351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Mask ≤60%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1515832" y="9299448"/>
            <a:ext cx="1673351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eligible tokens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23308056" y="8979408"/>
            <a:ext cx="146304" cy="0"/>
          </a:xfrm>
          <a:prstGeom prst="line">
            <a:avLst/>
          </a:prstGeom>
          <a:ln w="22860">
            <a:solidFill>
              <a:srgbClr val="58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ounded Rectangle 249"/>
          <p:cNvSpPr/>
          <p:nvPr/>
        </p:nvSpPr>
        <p:spPr>
          <a:xfrm>
            <a:off x="23490935" y="7424927"/>
            <a:ext cx="1856231" cy="3090672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24048719" y="8156448"/>
            <a:ext cx="100584" cy="274320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24213311" y="7900416"/>
            <a:ext cx="100584" cy="530352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24377903" y="8046720"/>
            <a:ext cx="100584" cy="384048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24542495" y="7790688"/>
            <a:ext cx="100584" cy="640080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ounded Rectangle 254"/>
          <p:cNvSpPr/>
          <p:nvPr/>
        </p:nvSpPr>
        <p:spPr>
          <a:xfrm>
            <a:off x="24707087" y="7973568"/>
            <a:ext cx="100584" cy="457200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3582376" y="8732520"/>
            <a:ext cx="1673351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384-d pool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3582376" y="9299448"/>
            <a:ext cx="1673351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frozen encoder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25374600" y="8979408"/>
            <a:ext cx="146304" cy="0"/>
          </a:xfrm>
          <a:prstGeom prst="line">
            <a:avLst/>
          </a:prstGeom>
          <a:ln w="22860">
            <a:solidFill>
              <a:srgbClr val="58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ounded Rectangle 258"/>
          <p:cNvSpPr/>
          <p:nvPr/>
        </p:nvSpPr>
        <p:spPr>
          <a:xfrm>
            <a:off x="25557479" y="7424927"/>
            <a:ext cx="1856231" cy="3090672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5987247" y="7662672"/>
            <a:ext cx="512064" cy="512064"/>
          </a:xfrm>
          <a:prstGeom prst="ellipse">
            <a:avLst/>
          </a:prstGeom>
          <a:solidFill>
            <a:srgbClr val="EAF5EF"/>
          </a:solidFill>
          <a:ln w="1651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26243279" y="8174736"/>
            <a:ext cx="0" cy="329184"/>
          </a:xfrm>
          <a:prstGeom prst="line">
            <a:avLst/>
          </a:prstGeom>
          <a:ln w="25400">
            <a:solidFill>
              <a:srgbClr val="3D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26234135" y="7534656"/>
            <a:ext cx="603504" cy="603504"/>
          </a:xfrm>
          <a:prstGeom prst="ellipse">
            <a:avLst/>
          </a:prstGeom>
          <a:solidFill>
            <a:srgbClr val="EAF5EF"/>
          </a:solidFill>
          <a:ln w="1651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>
            <a:off x="26535887" y="8138160"/>
            <a:ext cx="0" cy="365760"/>
          </a:xfrm>
          <a:prstGeom prst="line">
            <a:avLst/>
          </a:prstGeom>
          <a:ln w="25400">
            <a:solidFill>
              <a:srgbClr val="3D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Oval 263"/>
          <p:cNvSpPr/>
          <p:nvPr/>
        </p:nvSpPr>
        <p:spPr>
          <a:xfrm>
            <a:off x="26545031" y="7708392"/>
            <a:ext cx="457200" cy="457200"/>
          </a:xfrm>
          <a:prstGeom prst="ellipse">
            <a:avLst/>
          </a:prstGeom>
          <a:solidFill>
            <a:srgbClr val="EAF5EF"/>
          </a:solidFill>
          <a:ln w="1651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>
            <a:off x="26773631" y="8165592"/>
            <a:ext cx="0" cy="338328"/>
          </a:xfrm>
          <a:prstGeom prst="line">
            <a:avLst/>
          </a:prstGeom>
          <a:ln w="25400">
            <a:solidFill>
              <a:srgbClr val="3D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>
            <a:off x="25648919" y="8732520"/>
            <a:ext cx="1673351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rial"/>
              </a:rPr>
              <a:t>5 classes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5648919" y="9299448"/>
            <a:ext cx="1673351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Random Forest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5316200" y="11018520"/>
            <a:ext cx="1243584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87085"/>
                </a:solidFill>
                <a:latin typeface="Arial"/>
              </a:rPr>
              <a:t>Pretraining uses 12 normal clips from one upload, no condition labels, 300 epochs, seed 42, and a frozen EMA target encoder.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4813280" y="12938760"/>
            <a:ext cx="13441680" cy="754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14813280" y="12938760"/>
            <a:ext cx="164592" cy="7543800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5197328" y="1310335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5 · Predict a hidden representation, not coordinates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15197328" y="1372514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Rounded Rectangle 272"/>
          <p:cNvSpPr/>
          <p:nvPr/>
        </p:nvSpPr>
        <p:spPr>
          <a:xfrm>
            <a:off x="15407639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15745967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16084295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16422623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ounded Rectangle 276"/>
          <p:cNvSpPr/>
          <p:nvPr/>
        </p:nvSpPr>
        <p:spPr>
          <a:xfrm>
            <a:off x="16760951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ounded Rectangle 277"/>
          <p:cNvSpPr/>
          <p:nvPr/>
        </p:nvSpPr>
        <p:spPr>
          <a:xfrm>
            <a:off x="17099280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17437607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17775935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18114264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ounded Rectangle 281"/>
          <p:cNvSpPr/>
          <p:nvPr/>
        </p:nvSpPr>
        <p:spPr>
          <a:xfrm>
            <a:off x="18452592" y="14218920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ounded Rectangle 282"/>
          <p:cNvSpPr/>
          <p:nvPr/>
        </p:nvSpPr>
        <p:spPr>
          <a:xfrm>
            <a:off x="15407639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15745967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16084295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ounded Rectangle 285"/>
          <p:cNvSpPr/>
          <p:nvPr/>
        </p:nvSpPr>
        <p:spPr>
          <a:xfrm>
            <a:off x="16422623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ounded Rectangle 286"/>
          <p:cNvSpPr/>
          <p:nvPr/>
        </p:nvSpPr>
        <p:spPr>
          <a:xfrm>
            <a:off x="16760951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17099280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17437607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17775935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ounded Rectangle 290"/>
          <p:cNvSpPr/>
          <p:nvPr/>
        </p:nvSpPr>
        <p:spPr>
          <a:xfrm>
            <a:off x="18114264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ounded Rectangle 291"/>
          <p:cNvSpPr/>
          <p:nvPr/>
        </p:nvSpPr>
        <p:spPr>
          <a:xfrm>
            <a:off x="18452592" y="14557248"/>
            <a:ext cx="256032" cy="256032"/>
          </a:xfrm>
          <a:prstGeom prst="roundRect">
            <a:avLst/>
          </a:prstGeom>
          <a:solidFill>
            <a:srgbClr val="DCE6EE"/>
          </a:solidFill>
          <a:ln w="1270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ounded Rectangle 292"/>
          <p:cNvSpPr/>
          <p:nvPr/>
        </p:nvSpPr>
        <p:spPr>
          <a:xfrm>
            <a:off x="15407639" y="14895576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ounded Rectangle 293"/>
          <p:cNvSpPr/>
          <p:nvPr/>
        </p:nvSpPr>
        <p:spPr>
          <a:xfrm>
            <a:off x="15745967" y="14895576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ounded Rectangle 294"/>
          <p:cNvSpPr/>
          <p:nvPr/>
        </p:nvSpPr>
        <p:spPr>
          <a:xfrm>
            <a:off x="16084295" y="14895576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ounded Rectangle 295"/>
          <p:cNvSpPr/>
          <p:nvPr/>
        </p:nvSpPr>
        <p:spPr>
          <a:xfrm>
            <a:off x="16422623" y="14895576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ounded Rectangle 296"/>
          <p:cNvSpPr/>
          <p:nvPr/>
        </p:nvSpPr>
        <p:spPr>
          <a:xfrm>
            <a:off x="16760951" y="14895576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ounded Rectangle 297"/>
          <p:cNvSpPr/>
          <p:nvPr/>
        </p:nvSpPr>
        <p:spPr>
          <a:xfrm>
            <a:off x="17099280" y="14895576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ounded Rectangle 298"/>
          <p:cNvSpPr/>
          <p:nvPr/>
        </p:nvSpPr>
        <p:spPr>
          <a:xfrm>
            <a:off x="17437607" y="14895576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7775935" y="14895576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ounded Rectangle 300"/>
          <p:cNvSpPr/>
          <p:nvPr/>
        </p:nvSpPr>
        <p:spPr>
          <a:xfrm>
            <a:off x="18114264" y="14895576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ounded Rectangle 301"/>
          <p:cNvSpPr/>
          <p:nvPr/>
        </p:nvSpPr>
        <p:spPr>
          <a:xfrm>
            <a:off x="18452592" y="14895576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15407639" y="15233904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15745967" y="15233904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16084295" y="15233904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6422623" y="15233904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ounded Rectangle 306"/>
          <p:cNvSpPr/>
          <p:nvPr/>
        </p:nvSpPr>
        <p:spPr>
          <a:xfrm>
            <a:off x="16760951" y="15233904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17099280" y="15233904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17437607" y="15233904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17775935" y="15233904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ounded Rectangle 310"/>
          <p:cNvSpPr/>
          <p:nvPr/>
        </p:nvSpPr>
        <p:spPr>
          <a:xfrm>
            <a:off x="18114264" y="15233904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8452592" y="15233904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>
            <a:off x="15407639" y="15572232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ounded Rectangle 313"/>
          <p:cNvSpPr/>
          <p:nvPr/>
        </p:nvSpPr>
        <p:spPr>
          <a:xfrm>
            <a:off x="15745967" y="15572232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16084295" y="15572232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ounded Rectangle 315"/>
          <p:cNvSpPr/>
          <p:nvPr/>
        </p:nvSpPr>
        <p:spPr>
          <a:xfrm>
            <a:off x="16422623" y="15572232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xfrm>
            <a:off x="16760951" y="15572232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ounded Rectangle 317"/>
          <p:cNvSpPr/>
          <p:nvPr/>
        </p:nvSpPr>
        <p:spPr>
          <a:xfrm>
            <a:off x="17099280" y="15572232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xfrm>
            <a:off x="17437607" y="15572232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17775935" y="15572232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ounded Rectangle 320"/>
          <p:cNvSpPr/>
          <p:nvPr/>
        </p:nvSpPr>
        <p:spPr>
          <a:xfrm>
            <a:off x="18114264" y="15572232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ounded Rectangle 321"/>
          <p:cNvSpPr/>
          <p:nvPr/>
        </p:nvSpPr>
        <p:spPr>
          <a:xfrm>
            <a:off x="18452592" y="15572232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5361919" y="16002000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joint groups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8809207" y="14794992"/>
            <a:ext cx="1051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time →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5453359" y="16431767"/>
            <a:ext cx="960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7F8C"/>
                </a:solidFill>
                <a:latin typeface="Arial"/>
              </a:rPr>
              <a:t>visible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16367759" y="16459200"/>
            <a:ext cx="256032" cy="256032"/>
          </a:xfrm>
          <a:prstGeom prst="roundRect">
            <a:avLst/>
          </a:prstGeom>
          <a:solidFill>
            <a:srgbClr val="2BB3C0"/>
          </a:solidFill>
          <a:ln w="12700">
            <a:solidFill>
              <a:srgbClr val="2BB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6824960" y="16431767"/>
            <a:ext cx="960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6A5B"/>
                </a:solidFill>
                <a:latin typeface="Arial"/>
              </a:rPr>
              <a:t>target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17693639" y="16459200"/>
            <a:ext cx="256032" cy="256032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ounded Rectangle 328"/>
          <p:cNvSpPr/>
          <p:nvPr/>
        </p:nvSpPr>
        <p:spPr>
          <a:xfrm>
            <a:off x="19860768" y="14191488"/>
            <a:ext cx="2331720" cy="960120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19860768" y="14319504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87F8C"/>
                </a:solidFill>
                <a:latin typeface="Arial"/>
              </a:rPr>
              <a:t>View encoder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22695408" y="14191488"/>
            <a:ext cx="2331720" cy="96012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A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22695408" y="14319504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B6100"/>
                </a:solidFill>
                <a:latin typeface="Arial"/>
              </a:rPr>
              <a:t>Predictor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22256496" y="14666976"/>
            <a:ext cx="347472" cy="0"/>
          </a:xfrm>
          <a:prstGeom prst="line">
            <a:avLst/>
          </a:prstGeom>
          <a:ln w="2794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Rounded Rectangle 333"/>
          <p:cNvSpPr/>
          <p:nvPr/>
        </p:nvSpPr>
        <p:spPr>
          <a:xfrm>
            <a:off x="22695408" y="16788384"/>
            <a:ext cx="2331720" cy="960120"/>
          </a:xfrm>
          <a:prstGeom prst="roundRect">
            <a:avLst/>
          </a:prstGeom>
          <a:solidFill>
            <a:srgbClr val="EFEBFA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22695408" y="16916400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750A4"/>
                </a:solidFill>
                <a:latin typeface="Arial"/>
              </a:rPr>
              <a:t>EMA teacher</a:t>
            </a:r>
          </a:p>
        </p:txBody>
      </p:sp>
      <p:cxnSp>
        <p:nvCxnSpPr>
          <p:cNvPr id="336" name="Connector 335"/>
          <p:cNvCxnSpPr/>
          <p:nvPr/>
        </p:nvCxnSpPr>
        <p:spPr>
          <a:xfrm flipV="1">
            <a:off x="23865839" y="15288767"/>
            <a:ext cx="0" cy="1353313"/>
          </a:xfrm>
          <a:prstGeom prst="line">
            <a:avLst/>
          </a:prstGeom>
          <a:ln w="2794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Rounded Rectangle 336"/>
          <p:cNvSpPr/>
          <p:nvPr/>
        </p:nvSpPr>
        <p:spPr>
          <a:xfrm>
            <a:off x="25328880" y="16989552"/>
            <a:ext cx="1920240" cy="438912"/>
          </a:xfrm>
          <a:prstGeom prst="roundRect">
            <a:avLst/>
          </a:prstGeom>
          <a:solidFill>
            <a:srgbClr val="EFEBFA"/>
          </a:solidFill>
          <a:ln w="12700"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25402031" y="16998696"/>
            <a:ext cx="1773936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Arial"/>
              </a:rPr>
              <a:t>no gradients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9906488" y="15307055"/>
            <a:ext cx="2240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visible tokens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22741127" y="17940528"/>
            <a:ext cx="2240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complete clip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25255727" y="14136624"/>
            <a:ext cx="2331720" cy="1481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rial"/>
              </a:rPr>
              <a:t>Cross-entropy</a:t>
            </a:r>
            <a:br/>
            <a:r>
              <a:rPr sz="1600" b="1" i="0">
                <a:solidFill>
                  <a:srgbClr val="17324D"/>
                </a:solidFill>
                <a:latin typeface="Arial"/>
              </a:rPr>
              <a:t>between student and</a:t>
            </a:r>
            <a:br/>
            <a:r>
              <a:rPr sz="1600" b="1" i="0">
                <a:solidFill>
                  <a:srgbClr val="17324D"/>
                </a:solidFill>
                <a:latin typeface="Arial"/>
              </a:rPr>
              <a:t>teacher latents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5407639" y="19037808"/>
            <a:ext cx="12252959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The view encoder sees context; the EMA teacher defines stable latent targets. </a:t>
            </a:r>
            <a:r>
              <a:rPr sz="1800" b="0" i="0">
                <a:solidFill>
                  <a:srgbClr val="587085"/>
                </a:solidFill>
                <a:latin typeface="Arial"/>
              </a:rPr>
              <a:t>Uniform target sampling avoids assuming that high motion is always clinically important.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14813280" y="20756880"/>
            <a:ext cx="13441680" cy="10195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ounded Rectangle 343"/>
          <p:cNvSpPr/>
          <p:nvPr/>
        </p:nvSpPr>
        <p:spPr>
          <a:xfrm>
            <a:off x="14813280" y="20756880"/>
            <a:ext cx="164592" cy="10195560"/>
          </a:xfrm>
          <a:prstGeom prst="roundRect">
            <a:avLst/>
          </a:prstGeom>
          <a:solidFill>
            <a:srgbClr val="F2B84B"/>
          </a:solidFill>
          <a:ln w="127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5197328" y="2092147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6 · Exact 47/21 comparison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15197328" y="21543264"/>
            <a:ext cx="12746736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15316200" y="21744432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87085"/>
                </a:solidFill>
                <a:latin typeface="Arial"/>
              </a:rPr>
              <a:t>Five-class test accuracy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9431000" y="21744432"/>
            <a:ext cx="81838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87085"/>
                </a:solidFill>
                <a:latin typeface="Arial"/>
              </a:rPr>
              <a:t>Same 21 test IDs · macro F1: S-JEPA 61.3%, handcrafted RF 72.8%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5316200" y="22293072"/>
            <a:ext cx="36576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82-feature RF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19110960" y="22430232"/>
            <a:ext cx="768095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ounded Rectangle 350"/>
          <p:cNvSpPr/>
          <p:nvPr/>
        </p:nvSpPr>
        <p:spPr>
          <a:xfrm>
            <a:off x="19110960" y="22430232"/>
            <a:ext cx="5852123" cy="310896"/>
          </a:xfrm>
          <a:prstGeom prst="roundRect">
            <a:avLst/>
          </a:prstGeom>
          <a:solidFill>
            <a:srgbClr val="F2B84B"/>
          </a:solidFill>
          <a:ln w="127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26883360" y="22265640"/>
            <a:ext cx="841248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B84B"/>
                </a:solidFill>
                <a:latin typeface="Arial"/>
              </a:rPr>
              <a:t>76.2%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5316200" y="23253192"/>
            <a:ext cx="36576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Frozen S-JEPA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19110960" y="23390352"/>
            <a:ext cx="768095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ounded Rectangle 354"/>
          <p:cNvSpPr/>
          <p:nvPr/>
        </p:nvSpPr>
        <p:spPr>
          <a:xfrm>
            <a:off x="19110960" y="23390352"/>
            <a:ext cx="4754514" cy="31089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26883360" y="23225760"/>
            <a:ext cx="841248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7F8C"/>
                </a:solidFill>
                <a:latin typeface="Arial"/>
              </a:rPr>
              <a:t>61.9%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5316200" y="24213312"/>
            <a:ext cx="36576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Missingness only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19110960" y="24350472"/>
            <a:ext cx="768095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19110960" y="24350472"/>
            <a:ext cx="2560063" cy="310896"/>
          </a:xfrm>
          <a:prstGeom prst="roundRect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26883360" y="24185880"/>
            <a:ext cx="841248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E6A5B"/>
                </a:solidFill>
                <a:latin typeface="Arial"/>
              </a:rPr>
              <a:t>33.3%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5316200" y="25173432"/>
            <a:ext cx="36576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Majority class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19110960" y="25310592"/>
            <a:ext cx="768095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19110960" y="25310592"/>
            <a:ext cx="2560063" cy="310896"/>
          </a:xfrm>
          <a:prstGeom prst="roundRect">
            <a:avLst/>
          </a:prstGeom>
          <a:solidFill>
            <a:srgbClr val="587085"/>
          </a:solidFill>
          <a:ln w="12700">
            <a:solidFill>
              <a:srgbClr val="58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26883360" y="25146000"/>
            <a:ext cx="841248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87085"/>
                </a:solidFill>
                <a:latin typeface="Arial"/>
              </a:rPr>
              <a:t>33.3%</a:t>
            </a:r>
          </a:p>
        </p:txBody>
      </p:sp>
      <p:cxnSp>
        <p:nvCxnSpPr>
          <p:cNvPr id="365" name="Connector 364"/>
          <p:cNvCxnSpPr/>
          <p:nvPr/>
        </p:nvCxnSpPr>
        <p:spPr>
          <a:xfrm>
            <a:off x="20052792" y="22219920"/>
            <a:ext cx="0" cy="3840480"/>
          </a:xfrm>
          <a:prstGeom prst="line">
            <a:avLst/>
          </a:prstGeom>
          <a:ln w="1270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Rounded Rectangle 365"/>
          <p:cNvSpPr/>
          <p:nvPr/>
        </p:nvSpPr>
        <p:spPr>
          <a:xfrm>
            <a:off x="15343631" y="26444448"/>
            <a:ext cx="3703320" cy="1389888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15526512" y="26618184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D8B67"/>
                </a:solidFill>
                <a:latin typeface="Arial"/>
              </a:rPr>
              <a:t>12.54 → 0.57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5526512" y="27084528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training loss</a:t>
            </a:r>
          </a:p>
        </p:txBody>
      </p:sp>
      <p:sp>
        <p:nvSpPr>
          <p:cNvPr id="369" name="Rounded Rectangle 368"/>
          <p:cNvSpPr/>
          <p:nvPr/>
        </p:nvSpPr>
        <p:spPr>
          <a:xfrm>
            <a:off x="19275552" y="26444448"/>
            <a:ext cx="3703320" cy="1389888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19458432" y="26618184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87F8C"/>
                </a:solidFill>
                <a:latin typeface="Arial"/>
              </a:rPr>
              <a:t>0.340 → 0.412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9458432" y="27084528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feature standard deviation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23207472" y="26444448"/>
            <a:ext cx="3703320" cy="1389888"/>
          </a:xfrm>
          <a:prstGeom prst="roundRect">
            <a:avLst/>
          </a:prstGeom>
          <a:solidFill>
            <a:srgbClr val="EFEBFA"/>
          </a:solidFill>
          <a:ln w="12700"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23390352" y="26618184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750A4"/>
                </a:solidFill>
                <a:latin typeface="Arial"/>
              </a:rPr>
              <a:t>0.636 → 0.535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23390352" y="27084528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mean pair cosine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5380208" y="28346400"/>
            <a:ext cx="12307824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The learned representation is non-collapsed and useful for this split, but the comparison is between complete systems with different feature pipelines.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15407639" y="29626560"/>
            <a:ext cx="5394960" cy="566928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15480791" y="29635703"/>
            <a:ext cx="5248656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D8B67"/>
                </a:solidFill>
                <a:latin typeface="Arial"/>
              </a:rPr>
              <a:t>+28.6 points over missingness</a:t>
            </a:r>
          </a:p>
        </p:txBody>
      </p:sp>
      <p:sp>
        <p:nvSpPr>
          <p:cNvPr id="378" name="Rounded Rectangle 377"/>
          <p:cNvSpPr/>
          <p:nvPr/>
        </p:nvSpPr>
        <p:spPr>
          <a:xfrm>
            <a:off x="21031200" y="29626560"/>
            <a:ext cx="5669280" cy="566928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21104352" y="29635703"/>
            <a:ext cx="5522976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B6100"/>
                </a:solidFill>
                <a:latin typeface="Arial"/>
              </a:rPr>
              <a:t>−14.3 points vs handcrafted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28940760" y="6172200"/>
            <a:ext cx="13441680" cy="8732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28940760" y="6172200"/>
            <a:ext cx="164592" cy="8732520"/>
          </a:xfrm>
          <a:prstGeom prst="roundRect">
            <a:avLst/>
          </a:prstGeom>
          <a:solidFill>
            <a:srgbClr val="C94B55"/>
          </a:solidFill>
          <a:ln w="12700">
            <a:solidFill>
              <a:srgbClr val="C9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29324808" y="633679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7 · Source grouping changes the conclusion</a:t>
            </a:r>
          </a:p>
        </p:txBody>
      </p:sp>
      <p:cxnSp>
        <p:nvCxnSpPr>
          <p:cNvPr id="383" name="Connector 382"/>
          <p:cNvCxnSpPr/>
          <p:nvPr/>
        </p:nvCxnSpPr>
        <p:spPr>
          <a:xfrm>
            <a:off x="29324808" y="6958584"/>
            <a:ext cx="12746735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Rounded Rectangle 383"/>
          <p:cNvSpPr/>
          <p:nvPr/>
        </p:nvSpPr>
        <p:spPr>
          <a:xfrm>
            <a:off x="29489400" y="7296912"/>
            <a:ext cx="12344400" cy="1481328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29745432" y="7479792"/>
            <a:ext cx="5943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rial"/>
              </a:rPr>
              <a:t>Fixed 70/30 sequence split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29745432" y="8055864"/>
            <a:ext cx="5029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video-confounded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5570160" y="7525512"/>
            <a:ext cx="56235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87F8C"/>
                </a:solidFill>
                <a:latin typeface="Arial"/>
              </a:rPr>
              <a:t>62.1%</a:t>
            </a:r>
          </a:p>
        </p:txBody>
      </p:sp>
      <p:sp>
        <p:nvSpPr>
          <p:cNvPr id="388" name="Rounded Rectangle 387"/>
          <p:cNvSpPr/>
          <p:nvPr/>
        </p:nvSpPr>
        <p:spPr>
          <a:xfrm>
            <a:off x="29489400" y="9052560"/>
            <a:ext cx="12344400" cy="1481328"/>
          </a:xfrm>
          <a:prstGeom prst="roundRect">
            <a:avLst/>
          </a:prstGeom>
          <a:solidFill>
            <a:srgbClr val="EFEBFA"/>
          </a:solidFill>
          <a:ln w="12700"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29745432" y="9235440"/>
            <a:ext cx="5943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rial"/>
              </a:rPr>
              <a:t>6-fold CV · sequence IDs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29745432" y="9811512"/>
            <a:ext cx="5029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same fold machinery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35570160" y="9281160"/>
            <a:ext cx="56235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6750A4"/>
                </a:solidFill>
                <a:latin typeface="Arial"/>
              </a:rPr>
              <a:t>65.6 ± 11.7%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29489400" y="10808208"/>
            <a:ext cx="12344400" cy="1481328"/>
          </a:xfrm>
          <a:prstGeom prst="roundRect">
            <a:avLst/>
          </a:prstGeom>
          <a:solidFill>
            <a:srgbClr val="FCEAEC"/>
          </a:solidFill>
          <a:ln w="12700"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29745432" y="10991088"/>
            <a:ext cx="5943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rial"/>
              </a:rPr>
              <a:t>6-fold CV · source videos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9745432" y="11567160"/>
            <a:ext cx="5029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7085"/>
                </a:solidFill>
                <a:latin typeface="Arial"/>
              </a:rPr>
              <a:t>unseen uploads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35570160" y="11036808"/>
            <a:ext cx="56235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C94B55"/>
                </a:solidFill>
                <a:latin typeface="Arial"/>
              </a:rPr>
              <a:t>24.0 ± 16.5%</a:t>
            </a:r>
          </a:p>
        </p:txBody>
      </p:sp>
      <p:sp>
        <p:nvSpPr>
          <p:cNvPr id="396" name="Rounded Rectangle 395"/>
          <p:cNvSpPr/>
          <p:nvPr/>
        </p:nvSpPr>
        <p:spPr>
          <a:xfrm>
            <a:off x="29507687" y="12710160"/>
            <a:ext cx="12307824" cy="135331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29718000" y="12893040"/>
            <a:ext cx="1188720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B84B"/>
                </a:solidFill>
                <a:latin typeface="Arial"/>
              </a:rPr>
              <a:t>41.7-point matched grouping gap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29718000" y="13432536"/>
            <a:ext cx="118872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Video-grouped majority accuracy: 49.0%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28940760" y="15179040"/>
            <a:ext cx="13441680" cy="7360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ounded Rectangle 399"/>
          <p:cNvSpPr/>
          <p:nvPr/>
        </p:nvSpPr>
        <p:spPr>
          <a:xfrm>
            <a:off x="28940760" y="15179040"/>
            <a:ext cx="164592" cy="7360920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29324808" y="1534363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rial"/>
              </a:rPr>
              <a:t>8 · What did the representation retain?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29324808" y="15965424"/>
            <a:ext cx="12746735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Rounded Rectangle 402"/>
          <p:cNvSpPr/>
          <p:nvPr/>
        </p:nvSpPr>
        <p:spPr>
          <a:xfrm>
            <a:off x="29443679" y="16239744"/>
            <a:ext cx="12435840" cy="1188720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F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9672279" y="16651224"/>
            <a:ext cx="365760" cy="365760"/>
          </a:xfrm>
          <a:prstGeom prst="ellipse">
            <a:avLst/>
          </a:prstGeom>
          <a:solidFill>
            <a:srgbClr val="EE6A5B"/>
          </a:solidFill>
          <a:ln w="12700">
            <a:solidFill>
              <a:srgbClr val="E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30202632" y="16395192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Source identity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30202632" y="16852392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chance 5.6% · untrained 51.7% · raw pose 46.0%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37627560" y="16477488"/>
            <a:ext cx="36118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E6A5B"/>
                </a:solidFill>
                <a:latin typeface="Arial"/>
              </a:rPr>
              <a:t>49.4 ± 12.1%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29443679" y="17593056"/>
            <a:ext cx="12435840" cy="1188720"/>
          </a:xfrm>
          <a:prstGeom prst="roundRect">
            <a:avLst/>
          </a:prstGeom>
          <a:solidFill>
            <a:srgbClr val="DDF3F5"/>
          </a:solidFill>
          <a:ln w="12700">
            <a:solidFill>
              <a:srgbClr val="DD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9672279" y="18004536"/>
            <a:ext cx="365760" cy="36576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30202632" y="1774850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Best linear gait proxy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0202632" y="18205704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knee excursion; most canonical proxies near zero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7627560" y="17830800"/>
            <a:ext cx="36118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87F8C"/>
                </a:solidFill>
                <a:latin typeface="Arial"/>
              </a:rPr>
              <a:t>R² = 0.086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29443679" y="18946368"/>
            <a:ext cx="12435840" cy="1188720"/>
          </a:xfrm>
          <a:prstGeom prst="roundRect">
            <a:avLst/>
          </a:prstGeom>
          <a:solidFill>
            <a:srgbClr val="EFEBFA"/>
          </a:solidFill>
          <a:ln w="12700"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9672279" y="19357848"/>
            <a:ext cx="365760" cy="36576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30202632" y="19101816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Latent phase clock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30202632" y="19559016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grouped frame probe · null result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7627560" y="19184112"/>
            <a:ext cx="36118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750A4"/>
                </a:solidFill>
                <a:latin typeface="Arial"/>
              </a:rPr>
              <a:t>R² = −0.13</a:t>
            </a:r>
          </a:p>
        </p:txBody>
      </p:sp>
      <p:sp>
        <p:nvSpPr>
          <p:cNvPr id="418" name="Rounded Rectangle 417"/>
          <p:cNvSpPr/>
          <p:nvPr/>
        </p:nvSpPr>
        <p:spPr>
          <a:xfrm>
            <a:off x="29443679" y="20299680"/>
            <a:ext cx="12435840" cy="118872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672279" y="20711160"/>
            <a:ext cx="365760" cy="36576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30202632" y="20455128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24D"/>
                </a:solidFill>
                <a:latin typeface="Arial"/>
              </a:rPr>
              <a:t>Causal forecast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30202632" y="20912328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87085"/>
                </a:solidFill>
                <a:latin typeface="Arial"/>
              </a:rPr>
              <a:t>normal 0.36 · abnormal 2.54–3.11 · source-confounded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37627560" y="20537424"/>
            <a:ext cx="36118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2B84B"/>
                </a:solidFill>
                <a:latin typeface="Arial"/>
              </a:rPr>
              <a:t>7.0–8.6×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29507687" y="21781008"/>
            <a:ext cx="12307824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87085"/>
                </a:solidFill>
                <a:latin typeface="Arial"/>
              </a:rPr>
              <a:t>Source identity was already strong in untrained and raw-pose baselines. Most canonical gait proxies were not linearly readable.</a:t>
            </a:r>
          </a:p>
        </p:txBody>
      </p:sp>
      <p:sp>
        <p:nvSpPr>
          <p:cNvPr id="424" name="Rounded Rectangle 423"/>
          <p:cNvSpPr/>
          <p:nvPr/>
        </p:nvSpPr>
        <p:spPr>
          <a:xfrm>
            <a:off x="28940760" y="22814280"/>
            <a:ext cx="13441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ounded Rectangle 424"/>
          <p:cNvSpPr/>
          <p:nvPr/>
        </p:nvSpPr>
        <p:spPr>
          <a:xfrm>
            <a:off x="28940760" y="22814280"/>
            <a:ext cx="164592" cy="4526280"/>
          </a:xfrm>
          <a:prstGeom prst="roundRect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29324808" y="2297887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24D"/>
                </a:solidFill>
                <a:latin typeface="Arial"/>
              </a:rPr>
              <a:t>9 · One-seed mask ablation: no clear winner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29324808" y="23600664"/>
            <a:ext cx="12746735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29443679" y="23801832"/>
            <a:ext cx="3703320" cy="61264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Neurologic-10</a:t>
            </a:r>
          </a:p>
        </p:txBody>
      </p:sp>
      <p:sp>
        <p:nvSpPr>
          <p:cNvPr id="429" name="Rounded Rectangle 428"/>
          <p:cNvSpPr/>
          <p:nvPr/>
        </p:nvSpPr>
        <p:spPr>
          <a:xfrm>
            <a:off x="33284160" y="23938992"/>
            <a:ext cx="763523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33284160" y="23938992"/>
            <a:ext cx="5453470" cy="310896"/>
          </a:xfrm>
          <a:prstGeom prst="roundRect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41010839" y="23774400"/>
            <a:ext cx="8412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750A4"/>
                </a:solidFill>
                <a:latin typeface="Arial"/>
              </a:rPr>
              <a:t>57.1%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29443679" y="24460200"/>
            <a:ext cx="3703320" cy="61264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Random-10</a:t>
            </a:r>
          </a:p>
        </p:txBody>
      </p:sp>
      <p:sp>
        <p:nvSpPr>
          <p:cNvPr id="433" name="Rounded Rectangle 432"/>
          <p:cNvSpPr/>
          <p:nvPr/>
        </p:nvSpPr>
        <p:spPr>
          <a:xfrm>
            <a:off x="33284160" y="24597360"/>
            <a:ext cx="763523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ounded Rectangle 433"/>
          <p:cNvSpPr/>
          <p:nvPr/>
        </p:nvSpPr>
        <p:spPr>
          <a:xfrm>
            <a:off x="33284160" y="24597360"/>
            <a:ext cx="5907766" cy="310896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41010839" y="24432768"/>
            <a:ext cx="8412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7F8C"/>
                </a:solidFill>
                <a:latin typeface="Arial"/>
              </a:rPr>
              <a:t>61.9%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29443679" y="25118568"/>
            <a:ext cx="3703320" cy="61264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324D"/>
                </a:solidFill>
                <a:latin typeface="Arial"/>
              </a:rPr>
              <a:t>Motion-aware-10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33284160" y="25255728"/>
            <a:ext cx="763523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ounded Rectangle 437"/>
          <p:cNvSpPr/>
          <p:nvPr/>
        </p:nvSpPr>
        <p:spPr>
          <a:xfrm>
            <a:off x="33284160" y="25255728"/>
            <a:ext cx="5453470" cy="310896"/>
          </a:xfrm>
          <a:prstGeom prst="roundRect">
            <a:avLst/>
          </a:prstGeom>
          <a:solidFill>
            <a:srgbClr val="F2B84B"/>
          </a:solidFill>
          <a:ln w="127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1010839" y="25091136"/>
            <a:ext cx="8412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B84B"/>
                </a:solidFill>
                <a:latin typeface="Arial"/>
              </a:rPr>
              <a:t>57.1%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29443679" y="25776936"/>
            <a:ext cx="3703320" cy="61264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rial"/>
              </a:rPr>
              <a:t>Full-body-33</a:t>
            </a:r>
          </a:p>
        </p:txBody>
      </p:sp>
      <p:sp>
        <p:nvSpPr>
          <p:cNvPr id="441" name="Rounded Rectangle 440"/>
          <p:cNvSpPr/>
          <p:nvPr/>
        </p:nvSpPr>
        <p:spPr>
          <a:xfrm>
            <a:off x="33284160" y="25914096"/>
            <a:ext cx="7635239" cy="310896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ounded Rectangle 441"/>
          <p:cNvSpPr/>
          <p:nvPr/>
        </p:nvSpPr>
        <p:spPr>
          <a:xfrm>
            <a:off x="33284160" y="25914096"/>
            <a:ext cx="5907766" cy="310896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41010839" y="25749504"/>
            <a:ext cx="8412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D8B67"/>
                </a:solidFill>
                <a:latin typeface="Arial"/>
              </a:rPr>
              <a:t>61.9%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29489400" y="26636472"/>
            <a:ext cx="12344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87085"/>
                </a:solidFill>
                <a:latin typeface="Arial"/>
              </a:rPr>
              <a:t>Same 21 test clips. One prediction separates 57.1% from 61.9%, so no arm earns a superiority claim.</a:t>
            </a:r>
          </a:p>
        </p:txBody>
      </p:sp>
      <p:sp>
        <p:nvSpPr>
          <p:cNvPr id="445" name="Rounded Rectangle 444"/>
          <p:cNvSpPr/>
          <p:nvPr/>
        </p:nvSpPr>
        <p:spPr>
          <a:xfrm>
            <a:off x="28940760" y="27614880"/>
            <a:ext cx="13441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ounded Rectangle 445"/>
          <p:cNvSpPr/>
          <p:nvPr/>
        </p:nvSpPr>
        <p:spPr>
          <a:xfrm>
            <a:off x="28940760" y="27614880"/>
            <a:ext cx="164592" cy="3337560"/>
          </a:xfrm>
          <a:prstGeom prst="roundRect">
            <a:avLst/>
          </a:prstGeom>
          <a:solidFill>
            <a:srgbClr val="3D8B67"/>
          </a:solidFill>
          <a:ln w="12700">
            <a:solidFill>
              <a:srgbClr val="3D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29324808" y="27779472"/>
            <a:ext cx="1278331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24D"/>
                </a:solidFill>
                <a:latin typeface="Arial"/>
              </a:rPr>
              <a:t>Take-home message</a:t>
            </a:r>
          </a:p>
        </p:txBody>
      </p:sp>
      <p:cxnSp>
        <p:nvCxnSpPr>
          <p:cNvPr id="448" name="Connector 447"/>
          <p:cNvCxnSpPr/>
          <p:nvPr/>
        </p:nvCxnSpPr>
        <p:spPr>
          <a:xfrm>
            <a:off x="29324808" y="28401264"/>
            <a:ext cx="12746735" cy="0"/>
          </a:xfrm>
          <a:prstGeom prst="line">
            <a:avLst/>
          </a:prstGeom>
          <a:ln w="13970">
            <a:solidFill>
              <a:srgbClr val="C9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TextBox 448"/>
          <p:cNvSpPr txBox="1"/>
          <p:nvPr/>
        </p:nvSpPr>
        <p:spPr>
          <a:xfrm>
            <a:off x="29443679" y="28602432"/>
            <a:ext cx="124358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rial"/>
              </a:rPr>
              <a:t>At this scale, the evaluation unit changes the conclusion more than mask choice. The next valid test needs multiple normal source videos, grouped splits, uncertainty, and matched-compute baselines.</a:t>
            </a:r>
          </a:p>
        </p:txBody>
      </p:sp>
      <p:sp>
        <p:nvSpPr>
          <p:cNvPr id="450" name="Rounded Rectangle 449"/>
          <p:cNvSpPr/>
          <p:nvPr/>
        </p:nvSpPr>
        <p:spPr>
          <a:xfrm>
            <a:off x="31363919" y="30129480"/>
            <a:ext cx="8183879" cy="530352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31437071" y="30138624"/>
            <a:ext cx="8037575" cy="5120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D8B67"/>
                </a:solidFill>
                <a:latin typeface="Arial"/>
              </a:rPr>
              <a:t>Audit the experimental unit first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0" y="31318200"/>
            <a:ext cx="43891200" cy="1600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685800" y="31565088"/>
            <a:ext cx="347472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Key sources: Zanardi et al., Sci Rep 2021 · Lauzière et al., IJPMR 2014 · Pandey et al., IJO 2023 · Maulet et al., Neurology 2023 · Assran et al., CVPR 2023 · Abdelfattah &amp; Alahi, ECCV 2024 · Gil et al., GAVD 2020 · Kapoor &amp; Narayanan, Patterns 2023 · Roberts et al., Ecography 2017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35844480" y="31574232"/>
            <a:ext cx="7360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F3F5"/>
                </a:solidFill>
                <a:latin typeface="Arial"/>
              </a:rPr>
              <a:t>Code + reproducible artifacts</a:t>
            </a:r>
            <a:br/>
            <a:r>
              <a:rPr sz="1400" b="1" i="0">
                <a:solidFill>
                  <a:srgbClr val="DDF3F5"/>
                </a:solidFill>
                <a:latin typeface="Arial"/>
              </a:rPr>
              <a:t>github.com/brilliantbeaver/alexpose/tree/main/penny/gavd3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Monocular Gait Representations through Neurologically Guided Skeleton JEPA</dc:title>
  <dc:subject>MIT URTC 2026 poster</dc:subject>
  <dc:creator>Alex Mui; Penny Inouye; Theodore Mui; Phil Mui</dc:creator>
  <cp:keywords/>
  <dc:description>Vector-first poster generated from real notebook artifacts.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