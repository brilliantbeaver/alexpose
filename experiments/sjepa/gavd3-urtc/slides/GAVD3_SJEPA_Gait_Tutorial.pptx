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acef50fcd47d7" /><Relationship Type="http://schemas.openxmlformats.org/officeDocument/2006/relationships/extended-properties" Target="/docProps/app.xml" Id="R7274231634684bb0" /><Relationship Type="http://schemas.openxmlformats.org/officeDocument/2006/relationships/officeDocument" Target="/ppt/presentation.xml" Id="R454973a87cc144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96083a00e34b53"/>
  </p:sldMasterIdLst>
  <p:notesMasterIdLst>
    <p:notesMasterId xmlns:r="http://schemas.openxmlformats.org/officeDocument/2006/relationships" r:id="Ra087733aa5684bca"/>
  </p:notesMasterIdLst>
  <p:sldIdLst>
    <p:sldId xmlns:r="http://schemas.openxmlformats.org/officeDocument/2006/relationships" id="256" r:id="R01e2ef0464b54864"/>
    <p:sldId xmlns:r="http://schemas.openxmlformats.org/officeDocument/2006/relationships" id="257" r:id="R00bff0e9172848a1"/>
    <p:sldId xmlns:r="http://schemas.openxmlformats.org/officeDocument/2006/relationships" id="258" r:id="Re256af47d48942cf"/>
    <p:sldId xmlns:r="http://schemas.openxmlformats.org/officeDocument/2006/relationships" id="259" r:id="Rdfdff1270f834ad2"/>
    <p:sldId xmlns:r="http://schemas.openxmlformats.org/officeDocument/2006/relationships" id="260" r:id="Re6b1a7de0ad34d2e"/>
    <p:sldId xmlns:r="http://schemas.openxmlformats.org/officeDocument/2006/relationships" id="261" r:id="Re219b2f8f6674e61"/>
    <p:sldId xmlns:r="http://schemas.openxmlformats.org/officeDocument/2006/relationships" id="262" r:id="R2b3f69272e104710"/>
    <p:sldId xmlns:r="http://schemas.openxmlformats.org/officeDocument/2006/relationships" id="263" r:id="Ra0c0dd6645a04a0f"/>
    <p:sldId xmlns:r="http://schemas.openxmlformats.org/officeDocument/2006/relationships" id="264" r:id="Rfaa6f715b2ff4e7b"/>
    <p:sldId xmlns:r="http://schemas.openxmlformats.org/officeDocument/2006/relationships" id="265" r:id="Ra3673224275a4772"/>
    <p:sldId xmlns:r="http://schemas.openxmlformats.org/officeDocument/2006/relationships" id="266" r:id="Rcdb90f5245654f4c"/>
    <p:sldId xmlns:r="http://schemas.openxmlformats.org/officeDocument/2006/relationships" id="267" r:id="R58f8d9fe25684f09"/>
    <p:sldId xmlns:r="http://schemas.openxmlformats.org/officeDocument/2006/relationships" id="268" r:id="R572e9375824a401c"/>
    <p:sldId xmlns:r="http://schemas.openxmlformats.org/officeDocument/2006/relationships" id="269" r:id="R2fd35497f61e4ef1"/>
    <p:sldId xmlns:r="http://schemas.openxmlformats.org/officeDocument/2006/relationships" id="270" r:id="Re66e23c060fa46dd"/>
    <p:sldId xmlns:r="http://schemas.openxmlformats.org/officeDocument/2006/relationships" id="271" r:id="R483bc21090d24d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6083a00e34b53" /><Relationship Type="http://schemas.openxmlformats.org/officeDocument/2006/relationships/theme" Target="/ppt/theme/theme1.xml" Id="R02ac715f703742f5" /><Relationship Type="http://schemas.openxmlformats.org/officeDocument/2006/relationships/notesMaster" Target="/ppt/notesMasters/notesMaster1.xml" Id="Ra087733aa5684bca" /><Relationship Type="http://schemas.openxmlformats.org/officeDocument/2006/relationships/presProps" Target="/ppt/presProps.xml" Id="R063c7eff8e504b24" /><Relationship Type="http://schemas.openxmlformats.org/officeDocument/2006/relationships/viewProps" Target="/ppt/viewProps.xml" Id="R3b9bb9eede684b00" /><Relationship Type="http://schemas.openxmlformats.org/officeDocument/2006/relationships/tableStyles" Target="/ppt/tableStyles.xml" Id="R6ea44f3cf76849a7" /><Relationship Type="http://schemas.openxmlformats.org/officeDocument/2006/relationships/slide" Target="/ppt/slides/slide1.xml" Id="R01e2ef0464b54864" /><Relationship Type="http://schemas.openxmlformats.org/officeDocument/2006/relationships/slide" Target="/ppt/slides/slide2.xml" Id="R00bff0e9172848a1" /><Relationship Type="http://schemas.openxmlformats.org/officeDocument/2006/relationships/slide" Target="/ppt/slides/slide3.xml" Id="Re256af47d48942cf" /><Relationship Type="http://schemas.openxmlformats.org/officeDocument/2006/relationships/slide" Target="/ppt/slides/slide4.xml" Id="Rdfdff1270f834ad2" /><Relationship Type="http://schemas.openxmlformats.org/officeDocument/2006/relationships/slide" Target="/ppt/slides/slide5.xml" Id="Re6b1a7de0ad34d2e" /><Relationship Type="http://schemas.openxmlformats.org/officeDocument/2006/relationships/slide" Target="/ppt/slides/slide6.xml" Id="Re219b2f8f6674e61" /><Relationship Type="http://schemas.openxmlformats.org/officeDocument/2006/relationships/slide" Target="/ppt/slides/slide7.xml" Id="R2b3f69272e104710" /><Relationship Type="http://schemas.openxmlformats.org/officeDocument/2006/relationships/slide" Target="/ppt/slides/slide8.xml" Id="Ra0c0dd6645a04a0f" /><Relationship Type="http://schemas.openxmlformats.org/officeDocument/2006/relationships/slide" Target="/ppt/slides/slide9.xml" Id="Rfaa6f715b2ff4e7b" /><Relationship Type="http://schemas.openxmlformats.org/officeDocument/2006/relationships/slide" Target="/ppt/slides/slide10.xml" Id="Ra3673224275a4772" /><Relationship Type="http://schemas.openxmlformats.org/officeDocument/2006/relationships/slide" Target="/ppt/slides/slide11.xml" Id="Rcdb90f5245654f4c" /><Relationship Type="http://schemas.openxmlformats.org/officeDocument/2006/relationships/slide" Target="/ppt/slides/slide12.xml" Id="R58f8d9fe25684f09" /><Relationship Type="http://schemas.openxmlformats.org/officeDocument/2006/relationships/slide" Target="/ppt/slides/slide13.xml" Id="R572e9375824a401c" /><Relationship Type="http://schemas.openxmlformats.org/officeDocument/2006/relationships/slide" Target="/ppt/slides/slide14.xml" Id="R2fd35497f61e4ef1" /><Relationship Type="http://schemas.openxmlformats.org/officeDocument/2006/relationships/slide" Target="/ppt/slides/slide15.xml" Id="Re66e23c060fa46dd" /><Relationship Type="http://schemas.openxmlformats.org/officeDocument/2006/relationships/slide" Target="/ppt/slides/slide16.xml" Id="R483bc21090d24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29ef596118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7d35a5b6f24df3" /><Relationship Type="http://schemas.openxmlformats.org/officeDocument/2006/relationships/notesMaster" Target="/ppt/notesMasters/notesMaster1.xml" Id="R953906ab70524b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5ba4b202be491b" /><Relationship Type="http://schemas.openxmlformats.org/officeDocument/2006/relationships/notesMaster" Target="/ppt/notesMasters/notesMaster1.xml" Id="R6890ca26516d4f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6fcf9d31fd4de5" /><Relationship Type="http://schemas.openxmlformats.org/officeDocument/2006/relationships/notesMaster" Target="/ppt/notesMasters/notesMaster1.xml" Id="Rcc5352e43bd847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2b0af10285454a" /><Relationship Type="http://schemas.openxmlformats.org/officeDocument/2006/relationships/notesMaster" Target="/ppt/notesMasters/notesMaster1.xml" Id="R7ce9a12832a646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b0b184555549a7" /><Relationship Type="http://schemas.openxmlformats.org/officeDocument/2006/relationships/notesMaster" Target="/ppt/notesMasters/notesMaster1.xml" Id="Rc58eec56fb6f4e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649c5517f04c2e" /><Relationship Type="http://schemas.openxmlformats.org/officeDocument/2006/relationships/notesMaster" Target="/ppt/notesMasters/notesMaster1.xml" Id="R1f22711931b546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5f60abae544ce0" /><Relationship Type="http://schemas.openxmlformats.org/officeDocument/2006/relationships/notesMaster" Target="/ppt/notesMasters/notesMaster1.xml" Id="Rb4537296b3d843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dff2b0eb004f98" /><Relationship Type="http://schemas.openxmlformats.org/officeDocument/2006/relationships/notesMaster" Target="/ppt/notesMasters/notesMaster1.xml" Id="R1a4a6b11153647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666dd7cf0c4eeb" /><Relationship Type="http://schemas.openxmlformats.org/officeDocument/2006/relationships/notesMaster" Target="/ppt/notesMasters/notesMaster1.xml" Id="Rceac8070783c4e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2d1431461947fa" /><Relationship Type="http://schemas.openxmlformats.org/officeDocument/2006/relationships/notesMaster" Target="/ppt/notesMasters/notesMaster1.xml" Id="R1f2cfaf0fa9348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8ead894dd84874" /><Relationship Type="http://schemas.openxmlformats.org/officeDocument/2006/relationships/notesMaster" Target="/ppt/notesMasters/notesMaster1.xml" Id="Rde047414b3b246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c37db9534d4b59" /><Relationship Type="http://schemas.openxmlformats.org/officeDocument/2006/relationships/notesMaster" Target="/ppt/notesMasters/notesMaster1.xml" Id="Rdd0dd5625b174e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d0a8b44deb4f2e" /><Relationship Type="http://schemas.openxmlformats.org/officeDocument/2006/relationships/notesMaster" Target="/ppt/notesMasters/notesMaster1.xml" Id="R90d4daa3a79f41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055308f85842b0" /><Relationship Type="http://schemas.openxmlformats.org/officeDocument/2006/relationships/notesMaster" Target="/ppt/notesMasters/notesMaster1.xml" Id="Rb4adc6aa38e049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ac36e275b44405" /><Relationship Type="http://schemas.openxmlformats.org/officeDocument/2006/relationships/notesMaster" Target="/ppt/notesMasters/notesMaster1.xml" Id="R793ff9a6e67347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cdc24d23c34dea" /><Relationship Type="http://schemas.openxmlformats.org/officeDocument/2006/relationships/notesMaster" Target="/ppt/notesMasters/notesMaster1.xml" Id="R7b728585a49a4f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83ea28b3f48f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958222b5f7446c6" /><Relationship Type="http://schemas.openxmlformats.org/officeDocument/2006/relationships/slideLayout" Target="/ppt/slideLayouts/slideLayout2.xml" Id="R044091ce3b2b48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4091ce3b2b48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45ef5bc9594f81" /><Relationship Type="http://schemas.openxmlformats.org/officeDocument/2006/relationships/notesSlide" Target="/ppt/notesSlides/notesSlide1.xml" Id="R0403201c042f47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869dbaae24727" /><Relationship Type="http://schemas.openxmlformats.org/officeDocument/2006/relationships/notesSlide" Target="/ppt/notesSlides/notesSlide2.xml" Id="R991f6f05871f40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9373c7474144b1" /><Relationship Type="http://schemas.openxmlformats.org/officeDocument/2006/relationships/notesSlide" Target="/ppt/notesSlides/notesSlide3.xml" Id="R3d8409e0fae746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b04aeb0b854181" /><Relationship Type="http://schemas.openxmlformats.org/officeDocument/2006/relationships/notesSlide" Target="/ppt/notesSlides/notesSlide4.xml" Id="R73f6647761e645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795b0ca5a64f4c" /><Relationship Type="http://schemas.openxmlformats.org/officeDocument/2006/relationships/notesSlide" Target="/ppt/notesSlides/notesSlide5.xml" Id="Rba49ec178a644f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2321eebf974d58" /><Relationship Type="http://schemas.openxmlformats.org/officeDocument/2006/relationships/notesSlide" Target="/ppt/notesSlides/notesSlide6.xml" Id="R848e5aaf10f045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e286c39ba44616" /><Relationship Type="http://schemas.openxmlformats.org/officeDocument/2006/relationships/notesSlide" Target="/ppt/notesSlides/notesSlide7.xml" Id="R86708b3bfb7146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9e367d45564df6" /><Relationship Type="http://schemas.openxmlformats.org/officeDocument/2006/relationships/notesSlide" Target="/ppt/notesSlides/notesSlide8.xml" Id="R3f7fe52e4f8543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06d458351c4d93" /><Relationship Type="http://schemas.openxmlformats.org/officeDocument/2006/relationships/notesSlide" Target="/ppt/notesSlides/notesSlide9.xml" Id="Re363b94119fb4f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eb36991e6d43ea" /><Relationship Type="http://schemas.openxmlformats.org/officeDocument/2006/relationships/notesSlide" Target="/ppt/notesSlides/notesSlide10.xml" Id="Rf29a81943a9844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284f5a5d0e41dc" /><Relationship Type="http://schemas.openxmlformats.org/officeDocument/2006/relationships/notesSlide" Target="/ppt/notesSlides/notesSlide11.xml" Id="Rcec7b8a8c80f4d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73fc796ee44b49" /><Relationship Type="http://schemas.openxmlformats.org/officeDocument/2006/relationships/notesSlide" Target="/ppt/notesSlides/notesSlide12.xml" Id="R17376a3d162747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0b96e4e10145b1" /><Relationship Type="http://schemas.openxmlformats.org/officeDocument/2006/relationships/notesSlide" Target="/ppt/notesSlides/notesSlide13.xml" Id="R263d5fde736f41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3831072bd4872" /><Relationship Type="http://schemas.openxmlformats.org/officeDocument/2006/relationships/notesSlide" Target="/ppt/notesSlides/notesSlide14.xml" Id="R883b960986474d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63c2b45e27470b" /><Relationship Type="http://schemas.openxmlformats.org/officeDocument/2006/relationships/notesSlide" Target="/ppt/notesSlides/notesSlide15.xml" Id="Rf93923b95c8542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dafd51419e4dfa" /><Relationship Type="http://schemas.openxmlformats.org/officeDocument/2006/relationships/notesSlide" Target="/ppt/notesSlides/notesSlide16.xml" Id="Rf4114f73a68340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D6A03B0-0E24-42D4-9290-0427F22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F83D63-5707-4D08-95CA-22E6FBFB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GAVD3 S-JEPA FIELD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766E8-3D18-4DA3-919E-5E1C297F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572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Learn normal gait by predicting hidden latent motion.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657B1-2F4D-4FD8-85E5-099BF145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609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9D7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9D7E1"/>
                </a:solidFill>
                <a:latin typeface="Aptos"/>
                <a:ea typeface="Aptos"/>
                <a:cs typeface="Aptos"/>
              </a:rPr>
              <a:t>Then test what the representation separates across Parkinson's, stroke, cerebral palsy, and myopathic gait.</a:t>
            </a:r>
          </a:p>
        </p:txBody>
      </p:sp>
      <p:sp>
        <p:nvSpPr>
          <p:cNvPr id="5" name="hero-field">
            <a:extLst xmlns:a="http://schemas.openxmlformats.org/drawingml/2006/main">
              <a:ext uri="{FF2B5EF4-FFF2-40B4-BE49-F238E27FC236}">
                <a16:creationId xmlns:a16="http://schemas.microsoft.com/office/drawing/2014/main" id="{7A4BEB40-F43C-48C6-AC4A-623CED38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4350"/>
            <a:ext cx="4267200" cy="501015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41647F"/>
            </a:solidFill>
            <a:prstDash val="solid"/>
          </a:ln>
        </p:spPr>
      </p:sp>
      <p:sp>
        <p:nvSpPr>
          <p:cNvPr id="6" name="joint-0">
            <a:extLst xmlns:a="http://schemas.openxmlformats.org/drawingml/2006/main">
              <a:ext uri="{FF2B5EF4-FFF2-40B4-BE49-F238E27FC236}">
                <a16:creationId xmlns:a16="http://schemas.microsoft.com/office/drawing/2014/main" id="{A538282B-C85B-4B08-B0F5-9F59E8D4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244" y="1220629"/>
            <a:ext cx="100013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7" name="joint-11">
            <a:extLst xmlns:a="http://schemas.openxmlformats.org/drawingml/2006/main">
              <a:ext uri="{FF2B5EF4-FFF2-40B4-BE49-F238E27FC236}">
                <a16:creationId xmlns:a16="http://schemas.microsoft.com/office/drawing/2014/main" id="{4FEE64D5-8F13-46C1-A6FA-9E92A8E4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1530668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8" name="joint-12">
            <a:extLst xmlns:a="http://schemas.openxmlformats.org/drawingml/2006/main">
              <a:ext uri="{FF2B5EF4-FFF2-40B4-BE49-F238E27FC236}">
                <a16:creationId xmlns:a16="http://schemas.microsoft.com/office/drawing/2014/main" id="{A3A34F5A-C171-4781-9F3A-A5A6EBE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285" y="1530668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9" name="joint-13">
            <a:extLst xmlns:a="http://schemas.openxmlformats.org/drawingml/2006/main">
              <a:ext uri="{FF2B5EF4-FFF2-40B4-BE49-F238E27FC236}">
                <a16:creationId xmlns:a16="http://schemas.microsoft.com/office/drawing/2014/main" id="{D28E3E45-D94D-4D8B-8C1C-548F0CE2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176" y="1940719"/>
            <a:ext cx="100013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0" name="joint-14">
            <a:extLst xmlns:a="http://schemas.openxmlformats.org/drawingml/2006/main">
              <a:ext uri="{FF2B5EF4-FFF2-40B4-BE49-F238E27FC236}">
                <a16:creationId xmlns:a16="http://schemas.microsoft.com/office/drawing/2014/main" id="{131086D3-CA1A-4C62-AAE9-42987D9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311" y="1940719"/>
            <a:ext cx="100013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1" name="joint-15">
            <a:extLst xmlns:a="http://schemas.openxmlformats.org/drawingml/2006/main">
              <a:ext uri="{FF2B5EF4-FFF2-40B4-BE49-F238E27FC236}">
                <a16:creationId xmlns:a16="http://schemas.microsoft.com/office/drawing/2014/main" id="{DF602A20-24D2-4247-B74C-1847D04A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166" y="2340769"/>
            <a:ext cx="100013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2" name="joint-16">
            <a:extLst xmlns:a="http://schemas.openxmlformats.org/drawingml/2006/main">
              <a:ext uri="{FF2B5EF4-FFF2-40B4-BE49-F238E27FC236}">
                <a16:creationId xmlns:a16="http://schemas.microsoft.com/office/drawing/2014/main" id="{2843A794-C7B7-4B6B-9BAD-36A13571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321" y="2340769"/>
            <a:ext cx="100013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3" name="joint-23">
            <a:extLst xmlns:a="http://schemas.openxmlformats.org/drawingml/2006/main">
              <a:ext uri="{FF2B5EF4-FFF2-40B4-BE49-F238E27FC236}">
                <a16:creationId xmlns:a16="http://schemas.microsoft.com/office/drawing/2014/main" id="{24CC55EB-9AAD-4337-BE96-CD015224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209" y="2190750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4" name="joint-24">
            <a:extLst xmlns:a="http://schemas.openxmlformats.org/drawingml/2006/main">
              <a:ext uri="{FF2B5EF4-FFF2-40B4-BE49-F238E27FC236}">
                <a16:creationId xmlns:a16="http://schemas.microsoft.com/office/drawing/2014/main" id="{3C22F27C-84BE-4DF5-9650-6A07DCB4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271" y="2190750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5" name="joint-25">
            <a:extLst xmlns:a="http://schemas.openxmlformats.org/drawingml/2006/main">
              <a:ext uri="{FF2B5EF4-FFF2-40B4-BE49-F238E27FC236}">
                <a16:creationId xmlns:a16="http://schemas.microsoft.com/office/drawing/2014/main" id="{E84E8C16-209F-4C3B-A308-7FE1933D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205" y="2770823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6" name="joint-26">
            <a:extLst xmlns:a="http://schemas.openxmlformats.org/drawingml/2006/main">
              <a:ext uri="{FF2B5EF4-FFF2-40B4-BE49-F238E27FC236}">
                <a16:creationId xmlns:a16="http://schemas.microsoft.com/office/drawing/2014/main" id="{B4251D25-5765-4FEC-ACB2-EAF81022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70823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7" name="joint-27">
            <a:extLst xmlns:a="http://schemas.openxmlformats.org/drawingml/2006/main">
              <a:ext uri="{FF2B5EF4-FFF2-40B4-BE49-F238E27FC236}">
                <a16:creationId xmlns:a16="http://schemas.microsoft.com/office/drawing/2014/main" id="{68102CFB-8675-4721-A54D-98F310A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198" y="3360896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8" name="joint-28">
            <a:extLst xmlns:a="http://schemas.openxmlformats.org/drawingml/2006/main">
              <a:ext uri="{FF2B5EF4-FFF2-40B4-BE49-F238E27FC236}">
                <a16:creationId xmlns:a16="http://schemas.microsoft.com/office/drawing/2014/main" id="{AAEDC32A-E9E5-45EB-8E1F-09418742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283" y="3360896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9" name="joint-31">
            <a:extLst xmlns:a="http://schemas.openxmlformats.org/drawingml/2006/main">
              <a:ext uri="{FF2B5EF4-FFF2-40B4-BE49-F238E27FC236}">
                <a16:creationId xmlns:a16="http://schemas.microsoft.com/office/drawing/2014/main" id="{2EE7B890-04D6-4074-BA1A-A7384DD7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8178" y="3560921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20" name="joint-32">
            <a:extLst xmlns:a="http://schemas.openxmlformats.org/drawingml/2006/main">
              <a:ext uri="{FF2B5EF4-FFF2-40B4-BE49-F238E27FC236}">
                <a16:creationId xmlns:a16="http://schemas.microsoft.com/office/drawing/2014/main" id="{AB4D3339-C32D-4B4F-AF8E-69BDE3D3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303" y="3560921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cxnSp>
        <p:nvCxnSpPr>
          <p:cNvPr id="21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8418195" y="1270636"/>
            <a:ext cx="490062" cy="34004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2" name=""/>
          <p:cNvCxnSpPr>
            <a:stCxn xmlns:a="http://schemas.openxmlformats.org/drawingml/2006/main" id="6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8908257" y="1270636"/>
            <a:ext cx="230028" cy="34004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8578215" y="1610678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7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>
            <a:off x="8268176" y="1610678"/>
            <a:ext cx="310039" cy="3800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9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>
            <a:off x="8188166" y="1990726"/>
            <a:ext cx="180023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8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9298305" y="1610678"/>
            <a:ext cx="50006" cy="3800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10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>
            <a:off x="9428321" y="1990726"/>
            <a:ext cx="20003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7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>
            <a:off x="8528209" y="1610678"/>
            <a:ext cx="50006" cy="6600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8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H="1">
            <a:off x="9028271" y="1610678"/>
            <a:ext cx="270034" cy="6600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13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8688229" y="2270760"/>
            <a:ext cx="34004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3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>
            <a:off x="8498205" y="2270760"/>
            <a:ext cx="190024" cy="58007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5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H="1">
            <a:off x="8438198" y="2850833"/>
            <a:ext cx="220027" cy="59007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17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H="1">
            <a:off x="8278178" y="3440906"/>
            <a:ext cx="32004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14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H="1">
            <a:off x="9058275" y="2270760"/>
            <a:ext cx="130016" cy="58007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16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>
            <a:off x="9118283" y="2850833"/>
            <a:ext cx="100012" cy="59007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18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9278303" y="3440906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5E2CDE-4334-4518-9BBC-7E66CE50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123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4 frames × 1 joint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89F0E5-4FDD-4060-8062-B5C87C50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A2DEB3-BB5F-4AC3-A5AF-81F0414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4480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BF8CA2-B012-4562-9348-48B17002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480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17E9ED-AF6B-4962-AA9F-8877B706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4480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FCCA2E-9632-49B2-B558-2CF02437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480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BE2705-7F52-49BD-8D74-AC4A6D96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4480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8005F3-DB18-4A86-B794-C9F251A9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24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5AD05F-E1B5-4E8C-BB4F-9050AE7B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724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4A68FA-8DEB-4A7D-90F3-8AFB1710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24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8ACCA1-7069-4ED4-B27D-096D3BBF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724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A422E6-CCBA-4C87-9EB3-9B93ECCE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724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E13D5C-8CCB-4E3E-A90A-2A3EC6D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7242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6A953A-8F71-401B-944B-B9A0EF2C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3A3C72-F58F-49AE-A522-C6F247AF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000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448978-553E-4781-96CD-F1D0D2C9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00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9DD2F5-49F6-4562-B3A1-FC3D6AFE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000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4036A5-5E0E-48CA-9A5B-2EA18A3C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000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E213DB-7A07-4D8E-AD88-98E0422C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00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D406A6-0AE8-4781-A3E6-57D2B79F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767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588E21-B488-45DC-808C-A32A6666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2767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2605DA-0BA8-4F02-87C3-A5104304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767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A72792-F7E3-4DFA-B4A1-A7E35160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2767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699A07-F29E-4AF8-B072-122E70A6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2767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CCF2D3-8922-44A3-AA8D-5A62248F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27672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27CC09-D0DC-43C7-8EE8-DFF96DC5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52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8EB98E5-D016-43F1-B72F-70CCAAE8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552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5AF899-B453-418C-88E5-30EC084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552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9AB8A0-90DF-4EAB-AFCA-948329AB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552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7AB99D-7BCD-4E88-8FC2-7FAB725E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52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A1857D-5FAD-4440-966F-EEEF655F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5529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4003B9-B1E5-4738-AB11-D062500A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38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visible context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B6B3FB-7F40-45A5-AD35-4087590B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863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3B593F1-E616-42A9-AC25-ADBB85E1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244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hidden latent targets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B9DB07-BE3C-495D-8940-C92D3E8C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720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980074-5AEC-4FCD-9D9B-275D8D4C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57775"/>
            <a:ext cx="1733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6A5D2D4-950F-4CF0-8583-F454920E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8635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NOT FUTURE GENERATION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68F5C7-752C-4561-9943-C2D91D0D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0057FD9-AB99-4D74-A023-8736B2A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B66B1AB-AB1B-48DF-9B3F-DAC2E93A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eligible target joints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CEEBC3-94AA-45DD-A78B-371B4E06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No motion-aware masking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3E9292-6427-415B-9BEE-D1135CC1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671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D636E3D-E220-42B5-B66B-C1FE53CE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9095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AF4140-C017-4627-90F2-24CE7AD3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481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annotated gait clips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6E63B6-2947-49D5-9D6F-B00E7F20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86275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From 18 source videos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D6DF5B-9700-4B8D-A081-855C3455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671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ECC961-4972-4AFB-92AE-C0809ABA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E6845F-9893-4E3A-BB72-85623ED8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progressive notebooks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A10571-DDC6-4E3F-B3B2-9B1585C0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86275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Smoke first, real next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8B0B39-FF9D-4D59-BF38-3E5399A6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Paper-aligned core reimplementation. Research comparison only. No diagnostic claim.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AF3758E-0500-4EC4-BB23-6680672C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53B50FB-98F2-43A1-9E6C-4B89EE6E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Sources: GAVD3 tutorial README; S-JEPA, ECCV 2024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69415B5-39D3-431D-AAEA-F022D1F1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4528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B5812E-334C-45CC-BBEC-F0376DD9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EE5C3D2-1D5D-437D-AE4E-2C98E53A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54498-816B-4026-A39E-B01DC400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Seven notebooks turn one research idea into an auditable experiment.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ED2D42C6-A9BD-477B-810E-2171486A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799A9-469A-4B93-8F13-EE09D42A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BF98F-E5AA-47C7-B2C3-BF9537E3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79D01-5EBA-4AB4-8987-5F6FF4FB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finite loss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5AEDCB9F-BFC6-4B49-BF09-25FE6010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958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C395D-866E-479D-BCB4-C81A694F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9105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9383D-69B2-4B05-BA43-50F777AA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2917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Trace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622B1-41C9-4CF5-852D-4259538B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86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manifest.csv</a:t>
            </a:r>
          </a:p>
        </p:txBody>
      </p:sp>
      <p:cxnSp>
        <p:nvCxnSpPr>
          <p:cNvPr id="12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962150" y="4933950"/>
            <a:ext cx="2286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13" name="stage-2">
            <a:extLst xmlns:a="http://schemas.openxmlformats.org/drawingml/2006/main">
              <a:ext uri="{FF2B5EF4-FFF2-40B4-BE49-F238E27FC236}">
                <a16:creationId xmlns:a16="http://schemas.microsoft.com/office/drawing/2014/main" id="{32E58ED9-6C34-4690-95B8-674B93B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95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5064E-1E14-48CB-8B7A-0007C0A8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9100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1CE2E-D044-4221-A42D-4E3F8335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2912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Extract 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FDC62-B5CC-484E-9819-717BE89A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863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[T,33,4] NPZ</a:t>
            </a:r>
          </a:p>
        </p:txBody>
      </p: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600450" y="4533900"/>
            <a:ext cx="2286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18" name="stage-3">
            <a:extLst xmlns:a="http://schemas.openxmlformats.org/drawingml/2006/main">
              <a:ext uri="{FF2B5EF4-FFF2-40B4-BE49-F238E27FC236}">
                <a16:creationId xmlns:a16="http://schemas.microsoft.com/office/drawing/2014/main" id="{4BCBBF2A-DCEE-4B51-BDF5-91C2CCBE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957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1F2F0-172A-4AFA-B576-5A76F8B1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9095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9F370-4958-46A9-B36C-9628CF9F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2907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Prove mask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F8115D-CAA8-4BF3-BAA0-329859BA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86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zero forbidden</a:t>
            </a:r>
          </a:p>
        </p:txBody>
      </p:sp>
      <p:cxnSp>
        <p:nvCxnSpPr>
          <p:cNvPr id="22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5238750" y="4133850"/>
            <a:ext cx="2286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23" name="stage-4">
            <a:extLst xmlns:a="http://schemas.openxmlformats.org/drawingml/2006/main">
              <a:ext uri="{FF2B5EF4-FFF2-40B4-BE49-F238E27FC236}">
                <a16:creationId xmlns:a16="http://schemas.microsoft.com/office/drawing/2014/main" id="{E177A293-4067-4D69-B822-22A1BEE9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956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37A25-2F10-4593-96D4-A9024565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684A9-8433-459F-920E-853BE770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2902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Pretrain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07007-8530-46E2-8751-0A0601BD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sjepa_normal.pt</a:t>
            </a:r>
          </a:p>
        </p:txBody>
      </p:sp>
      <p:cxnSp>
        <p:nvCxnSpPr>
          <p:cNvPr id="27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6877050" y="3733800"/>
            <a:ext cx="2286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28" name="stage-5">
            <a:extLst xmlns:a="http://schemas.openxmlformats.org/drawingml/2006/main">
              <a:ext uri="{FF2B5EF4-FFF2-40B4-BE49-F238E27FC236}">
                <a16:creationId xmlns:a16="http://schemas.microsoft.com/office/drawing/2014/main" id="{9A0208CE-9664-4ED0-84F5-24C0A25D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49D0A0-7157-4B77-8A98-F584486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8AC4E9-2264-422E-884D-992817C3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2897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F83DFF-91AA-4725-A7B9-1BA41EC0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86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latent evidence</a:t>
            </a:r>
          </a:p>
        </p:txBody>
      </p:sp>
      <p:cxnSp>
        <p:nvCxnSpPr>
          <p:cNvPr id="32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8515350" y="3333750"/>
            <a:ext cx="2286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33" name="stage-6">
            <a:extLst xmlns:a="http://schemas.openxmlformats.org/drawingml/2006/main">
              <a:ext uri="{FF2B5EF4-FFF2-40B4-BE49-F238E27FC236}">
                <a16:creationId xmlns:a16="http://schemas.microsoft.com/office/drawing/2014/main" id="{668BA3E4-5D6D-4177-BD08-B2882D0E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955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E32CD3-65EB-40C9-BACC-49D4B14B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90800"/>
            <a:ext cx="333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283B74-0636-400C-A933-0E5D85B5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82892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Classify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CBC9B6-C7D5-445F-BF30-0BD4FF4E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86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C9D7E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C9D7E1"/>
                </a:solidFill>
                <a:latin typeface="Aptos Mono"/>
                <a:ea typeface="Aptos Mono"/>
                <a:cs typeface="Aptos Mono"/>
              </a:rPr>
              <a:t>metrics + audit</a:t>
            </a:r>
          </a:p>
        </p:txBody>
      </p:sp>
      <p:cxnSp>
        <p:nvCxnSpPr>
          <p:cNvPr id="37" name=""/>
          <p:cNvCxnSpPr>
            <a:stCxn xmlns:a="http://schemas.openxmlformats.org/drawingml/2006/main" id="28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10153650" y="2933700"/>
            <a:ext cx="2286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99828D-272B-42CE-BD63-861FC08B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181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1F7698-11C9-4422-8FA2-6C202EFF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SMOKE MODE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218D04-5428-418D-8FE1-671E37A9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097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Synthetic, explicit, fast. Validates tensor shapes, gradients, masking, checkpoint contracts, and the full capstone path.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4FDD97-8010-4BD9-9DDF-4D50229A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181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79C419-19BB-45EB-9898-EA9932B5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REAL MODE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7DA4C5-014E-4D32-9787-4C7D631B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241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Fails clearly when a video, pose cache, checkpoint, or fingerprint is missing. No silent synthetic fallback.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97CFD9-B75A-4F70-AA74-73F1E2D4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Each step emits an artifact that the next step can verify.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E2A86B-CEBE-4E3E-8264-D9EAE721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A2808B-C5EE-453C-B965-8DED95D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Source: gait/penny/gavd3/README.md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DCC7CD-DB23-4015-A927-6EAF176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8599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D61D31-91BD-403C-BDAE-C9B84DD6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24412E-ED64-452E-8049-57235125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METHOD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F1AA2-2A09-4AB8-9650-E7C9B7BB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S-JEPA changes the target from raw motion to teacher-generated latent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E4BD2-A6CB-40BF-936C-D0B5EC8C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09750"/>
            <a:ext cx="3009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DDA71-DA9F-44E4-991E-044795E2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14525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MAMP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FD431-D59D-4767-A30E-7A722F98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812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raw temporal difference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54307-82CD-464E-8790-340843FB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3009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F9531-13C6-41F7-8413-17E426B1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14525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S-JEPA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BE839-53C8-431B-921F-C003C1A7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812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latent target distribution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BF647-2236-4C8A-B7EB-3664ACCA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3009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A2883-2966-4545-A2CD-04E88739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14525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Related MTM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16E62-91D1-49F8-950E-6A379AE1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812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coordinates + contrast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896D5-7350-4EA8-A6CE-C991F0BD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C8F"/>
                </a:solidFill>
                <a:latin typeface="Aptos"/>
                <a:ea typeface="Aptos"/>
                <a:cs typeface="Aptos"/>
              </a:rPr>
              <a:t>Prediction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744F6-8221-46AE-A394-4F797BD2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Raw 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08D56-442B-4B4B-BC7C-4ABB19F8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Target-encoder latent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7EA45-85D6-4B15-965E-984D567E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Masked coordinates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39A7E-2438-46C2-A4F9-4C9E4CC4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F4230-A475-47B7-89DC-3604440A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C8F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68803-EF21-4476-9367-9D6D79B6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099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8CDDE-591B-4545-9E97-038F07B4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99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EMA encoder, no gradient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A9B0DA-931C-495B-A64E-5AEFB5F7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099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Momentum query-key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268E9-5DB1-4A25-BB4D-C1D0D18A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43555-D857-4482-ABCE-D65A3E02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C8F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27F5E-5ADD-4142-9443-28F40FE9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957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Masked MSE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9EC1B-3EA1-450A-88A1-ADCF549C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Centered, sharpened latent 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7E9960-845D-4642-A561-3511E14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957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Reconstruction + contrast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7A697-A5A3-446E-9097-2DC3EE3B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88EBC-7089-4911-9FAB-93D746BA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C8F"/>
                </a:solidFill>
                <a:latin typeface="Aptos"/>
                <a:ea typeface="Aptos"/>
                <a:cs typeface="Aptos"/>
              </a:rPr>
              <a:t>Original masking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DE57F-C829-4C82-867B-6A559A15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Motion-aware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B1ADB-8BEA-4284-91FC-C894738F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Motion-aware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B5508A-7E27-430D-A3A3-4C2A8527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815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Motion/topology aware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DC753F-F364-475D-938A-025F3FDC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38E5F0-EDBC-4789-BB70-F7BDC278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C8F"/>
                </a:solidFill>
                <a:latin typeface="Aptos"/>
                <a:ea typeface="Aptos"/>
                <a:cs typeface="Aptos"/>
              </a:rPr>
              <a:t>This tutorial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EE5521-69D7-4451-A7BE-6A50AC4A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673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Conceptual contrast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51A135-8B55-4323-848B-BB43B6D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53050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EBA645-4CBA-4964-A527-A9B6B475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673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Uniform, ten-joint only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432C4A-4951-421E-BA8E-8557AAE7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673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Related work 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8B46D3-A5CC-407F-B3F5-59B0A5EA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C1053F-DCA3-414F-8593-DA527464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857875"/>
            <a:ext cx="2781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25EA96-DAD7-4F5E-B0BA-44D7F534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864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LATENT INFILLING, NOT FUTURE GENERATION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A762E5-CC14-41FE-AB44-51CB5DBB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214C93-04B2-46AA-80D2-BAC0505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Sources: MAMP, ICCV 2023; S-JEPA, ECCV 2024; Scientific Reports 2026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F71CEB-8B07-41BC-9991-21D449DA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2633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DC172A7-1F32-423F-9E85-54BC3E62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A6DFD8A-4C55-487F-85E4-42A23784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F1C9B-B445-44AD-AD45-97E95B53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The predictor learns only from hidden latent targets while the teacher sees the full clip.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14277C5A-1C72-48A2-AFF9-AA763B13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314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52708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AFFB0-6670-4A6B-8678-DA378B15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Clean clip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84257-39F7-4C49-84B1-0A5F2F72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[B,T,33,3]</a:t>
            </a:r>
          </a:p>
        </p:txBody>
      </p:sp>
      <p:sp>
        <p:nvSpPr>
          <p:cNvPr id="7" name="transform">
            <a:extLst xmlns:a="http://schemas.openxmlformats.org/drawingml/2006/main">
              <a:ext uri="{FF2B5EF4-FFF2-40B4-BE49-F238E27FC236}">
                <a16:creationId xmlns:a16="http://schemas.microsoft.com/office/drawing/2014/main" id="{13E0DB23-B2E5-42D0-8CDB-D8BE0334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81437-24FB-4ED9-9433-20A35E82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Geometric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3CA47-D5E6-4C56-BB99-C0BA2A47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rotate + translate</a:t>
            </a:r>
          </a:p>
        </p:txBody>
      </p:sp>
      <p:sp>
        <p:nvSpPr>
          <p:cNvPr id="10" name="view-encoder">
            <a:extLst xmlns:a="http://schemas.openxmlformats.org/drawingml/2006/main">
              <a:ext uri="{FF2B5EF4-FFF2-40B4-BE49-F238E27FC236}">
                <a16:creationId xmlns:a16="http://schemas.microsoft.com/office/drawing/2014/main" id="{C02A5435-7F32-4503-8FDF-0F7B668E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05000"/>
            <a:ext cx="1733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4C56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BB09F-7A11-435C-A685-443AE902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View 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8C33B-302B-49AD-B6E6-A33330F5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FE5DE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BFE5DE"/>
                </a:solidFill>
                <a:latin typeface="Aptos Mono"/>
                <a:ea typeface="Aptos Mono"/>
                <a:cs typeface="Aptos Mono"/>
              </a:rPr>
              <a:t>visible tokens only</a:t>
            </a:r>
          </a:p>
        </p:txBody>
      </p:sp>
      <p:sp>
        <p:nvSpPr>
          <p:cNvPr id="13" name="predictor">
            <a:extLst xmlns:a="http://schemas.openxmlformats.org/drawingml/2006/main">
              <a:ext uri="{FF2B5EF4-FFF2-40B4-BE49-F238E27FC236}">
                <a16:creationId xmlns:a16="http://schemas.microsoft.com/office/drawing/2014/main" id="{E98D65DF-2CE8-48BB-84BD-13B3B8E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05000"/>
            <a:ext cx="1676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4C56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6C28F-AC1F-4F31-9D6C-483478FE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Predictor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A9B64-D780-43CE-87D3-A71A56B9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FE5DE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BFE5DE"/>
                </a:solidFill>
                <a:latin typeface="Aptos Mono"/>
                <a:ea typeface="Aptos Mono"/>
                <a:cs typeface="Aptos Mono"/>
              </a:rPr>
              <a:t>restore mask tokens</a:t>
            </a:r>
          </a:p>
        </p:txBody>
      </p:sp>
      <p:sp>
        <p:nvSpPr>
          <p:cNvPr id="16" name="predicted">
            <a:extLst xmlns:a="http://schemas.openxmlformats.org/drawingml/2006/main">
              <a:ext uri="{FF2B5EF4-FFF2-40B4-BE49-F238E27FC236}">
                <a16:creationId xmlns:a16="http://schemas.microsoft.com/office/drawing/2014/main" id="{32A88F99-8F73-440F-9FF4-FD875A0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05000"/>
            <a:ext cx="13906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C2FF5-7B60-49D5-BA76-4533349D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085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Predicted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5FDBB-5CE2-42F4-9BEF-25B78DED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1085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C7A7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C7A7B"/>
                </a:solidFill>
                <a:latin typeface="Aptos Mono"/>
                <a:ea typeface="Aptos Mono"/>
                <a:cs typeface="Aptos Mono"/>
              </a:rPr>
              <a:t>masked latents</a:t>
            </a:r>
          </a:p>
        </p:txBody>
      </p:sp>
      <p:sp>
        <p:nvSpPr>
          <p:cNvPr id="19" name="target-encoder">
            <a:extLst xmlns:a="http://schemas.openxmlformats.org/drawingml/2006/main">
              <a:ext uri="{FF2B5EF4-FFF2-40B4-BE49-F238E27FC236}">
                <a16:creationId xmlns:a16="http://schemas.microsoft.com/office/drawing/2014/main" id="{6B1DD551-82E4-48DF-BF37-3068EB2D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1733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5A4D1C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2F727-EAC4-4A81-9BD8-A6EAD92D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Target encoder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6419B-F6EA-4961-8D4D-7C485DF3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9EAB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9EAB3"/>
                </a:solidFill>
                <a:latin typeface="Aptos Mono"/>
                <a:ea typeface="Aptos Mono"/>
                <a:cs typeface="Aptos Mono"/>
              </a:rPr>
              <a:t>full clip · no grad</a:t>
            </a:r>
          </a:p>
        </p:txBody>
      </p:sp>
      <p:sp>
        <p:nvSpPr>
          <p:cNvPr id="22" name="selected-targets">
            <a:extLst xmlns:a="http://schemas.openxmlformats.org/drawingml/2006/main">
              <a:ext uri="{FF2B5EF4-FFF2-40B4-BE49-F238E27FC236}">
                <a16:creationId xmlns:a16="http://schemas.microsoft.com/office/drawing/2014/main" id="{6FAFF042-4353-44FE-8A85-C6DB63B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1676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5A4D1C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61C67-FAC8-46A3-ADBE-41CE3FBD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Gather targets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1B3D7-6E22-42FE-B2CF-FBDF71C6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9EAB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9EAB3"/>
                </a:solidFill>
                <a:latin typeface="Aptos Mono"/>
                <a:ea typeface="Aptos Mono"/>
                <a:cs typeface="Aptos Mono"/>
              </a:rPr>
              <a:t>masked positions</a:t>
            </a:r>
          </a:p>
        </p:txBody>
      </p:sp>
      <p:sp>
        <p:nvSpPr>
          <p:cNvPr id="25" name="center">
            <a:extLst xmlns:a="http://schemas.openxmlformats.org/drawingml/2006/main">
              <a:ext uri="{FF2B5EF4-FFF2-40B4-BE49-F238E27FC236}">
                <a16:creationId xmlns:a16="http://schemas.microsoft.com/office/drawing/2014/main" id="{53F51FDA-ABE1-4293-B036-49C91FF1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1676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00F71-7E73-4297-B609-2FCD6251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0065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Center 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2FECF-297D-44D9-BC8F-DCF83606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435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β = 0.9</a:t>
            </a:r>
          </a:p>
        </p:txBody>
      </p:sp>
      <p:sp>
        <p:nvSpPr>
          <p:cNvPr id="28" name="loss">
            <a:extLst xmlns:a="http://schemas.openxmlformats.org/drawingml/2006/main">
              <a:ext uri="{FF2B5EF4-FFF2-40B4-BE49-F238E27FC236}">
                <a16:creationId xmlns:a16="http://schemas.microsoft.com/office/drawing/2014/main" id="{4004D7E6-2837-4D3D-8E3C-7FD0F31F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F97DE0-8DBA-4396-BF8E-7BA0110A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048000"/>
            <a:ext cx="89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Latent 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322097-D6CC-4E0A-9DFB-FFA8A838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90900"/>
            <a:ext cx="895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τp=.10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τt=.06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924050" y="2352675"/>
            <a:ext cx="400050" cy="752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43350" y="23526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96000" y="23526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34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91500" y="23526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35" name=""/>
          <p:cNvCxnSpPr>
            <a:stCxn xmlns:a="http://schemas.openxmlformats.org/drawingml/2006/main" id="16" idx="3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0001250" y="2352675"/>
            <a:ext cx="981075" cy="6000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F15A47"/>
            </a:solidFill>
            <a:prstDash val="solid"/>
            <a:headEnd type="none" w="med" len="med"/>
          </a:ln>
        </p:spPr>
      </p:cxn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924050" y="3105150"/>
            <a:ext cx="2438400" cy="1343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37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096000" y="44481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38" name=""/>
          <p:cNvCxnSpPr>
            <a:stCxn xmlns:a="http://schemas.openxmlformats.org/drawingml/2006/main" id="22" idx="3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8191500" y="4152900"/>
            <a:ext cx="2790825" cy="2952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39" name=""/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7353300" y="48958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40" name=""/>
          <p:cNvCxnSpPr>
            <a:stCxn xmlns:a="http://schemas.openxmlformats.org/drawingml/2006/main" id="25" idx="3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8191500" y="4152900"/>
            <a:ext cx="2790825" cy="133350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41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5229225" y="280035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2C14E"/>
            </a:solidFill>
            <a:prstDash val="dash"/>
            <a:headEnd type="none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1DA78C-D462-4250-8347-B27F0BE9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1638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E18D4D-C71F-412F-BF07-F6899376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GRADIENT PATH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D059EA-A21D-4C15-9BDA-E8D4FC2E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76625"/>
            <a:ext cx="1638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47D9FD-CBE4-4877-85CC-20C53E57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EMA COPY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46A933-B760-4ABB-ADBB-389A32F4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529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9D7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7E1"/>
                </a:solidFill>
                <a:latin typeface="Aptos"/>
                <a:ea typeface="Aptos"/>
                <a:cs typeface="Aptos"/>
              </a:rPr>
              <a:t>Mask sampler removes target tokens before the view encoder. Target selection happens after full-sequence teacher attention.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C99928-5691-4003-A8F9-4B807935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E3BCBE-4820-4D84-A807-409D6C3B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AD59FD-5CC6-4BF1-9289-2BF189ED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Source: S-JEPA, ECCV 2024; tutorial notebooks 00 and 04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3ADFD6-D3B4-45B7-883B-A141A975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3124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C612F7-6CA2-44EC-8445-BAF0AE9F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B94D94-7625-420F-8913-D9EB2547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NEUROLOGIC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558EF-94C2-47CD-ADB8-FD046455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Ten de-duplicated BlazePose landmarks define the complete prediction target space.</a:t>
            </a:r>
          </a:p>
        </p:txBody>
      </p:sp>
      <p:sp>
        <p:nvSpPr>
          <p:cNvPr id="4" name="skeleton-panel">
            <a:extLst xmlns:a="http://schemas.openxmlformats.org/drawingml/2006/main">
              <a:ext uri="{FF2B5EF4-FFF2-40B4-BE49-F238E27FC236}">
                <a16:creationId xmlns:a16="http://schemas.microsoft.com/office/drawing/2014/main" id="{A11A9FE0-9F21-445C-B7D9-B98E4DA0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971800" cy="4095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joint-0">
            <a:extLst xmlns:a="http://schemas.openxmlformats.org/drawingml/2006/main">
              <a:ext uri="{FF2B5EF4-FFF2-40B4-BE49-F238E27FC236}">
                <a16:creationId xmlns:a16="http://schemas.microsoft.com/office/drawing/2014/main" id="{0E654FC9-3FA0-4CCB-AF6D-CF82AB19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969" y="2121694"/>
            <a:ext cx="119063" cy="1190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6" name="joint-11">
            <a:extLst xmlns:a="http://schemas.openxmlformats.org/drawingml/2006/main">
              <a:ext uri="{FF2B5EF4-FFF2-40B4-BE49-F238E27FC236}">
                <a16:creationId xmlns:a16="http://schemas.microsoft.com/office/drawing/2014/main" id="{E46A0BB4-1281-48FA-B0BB-27BC71FF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9078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7" name="joint-12">
            <a:extLst xmlns:a="http://schemas.openxmlformats.org/drawingml/2006/main">
              <a:ext uri="{FF2B5EF4-FFF2-40B4-BE49-F238E27FC236}">
                <a16:creationId xmlns:a16="http://schemas.microsoft.com/office/drawing/2014/main" id="{5E97FCAD-2167-4BFE-84F3-0BEC7E31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9078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8" name="joint-13">
            <a:extLst xmlns:a="http://schemas.openxmlformats.org/drawingml/2006/main">
              <a:ext uri="{FF2B5EF4-FFF2-40B4-BE49-F238E27FC236}">
                <a16:creationId xmlns:a16="http://schemas.microsoft.com/office/drawing/2014/main" id="{F957AC93-FC9A-4BAF-BF3F-CB71F259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031" y="2978944"/>
            <a:ext cx="119063" cy="1190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9" name="joint-14">
            <a:extLst xmlns:a="http://schemas.openxmlformats.org/drawingml/2006/main">
              <a:ext uri="{FF2B5EF4-FFF2-40B4-BE49-F238E27FC236}">
                <a16:creationId xmlns:a16="http://schemas.microsoft.com/office/drawing/2014/main" id="{B5ACA72B-5D60-48E0-8D56-5A968E9C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906" y="2978944"/>
            <a:ext cx="119063" cy="1190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0" name="joint-15">
            <a:extLst xmlns:a="http://schemas.openxmlformats.org/drawingml/2006/main">
              <a:ext uri="{FF2B5EF4-FFF2-40B4-BE49-F238E27FC236}">
                <a16:creationId xmlns:a16="http://schemas.microsoft.com/office/drawing/2014/main" id="{F729E8A2-06D0-43C0-A621-B35ADDB0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81" y="3455194"/>
            <a:ext cx="119063" cy="1190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1" name="joint-16">
            <a:extLst xmlns:a="http://schemas.openxmlformats.org/drawingml/2006/main">
              <a:ext uri="{FF2B5EF4-FFF2-40B4-BE49-F238E27FC236}">
                <a16:creationId xmlns:a16="http://schemas.microsoft.com/office/drawing/2014/main" id="{AEFC1968-80A3-4638-8220-AB9EFF50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156" y="3455194"/>
            <a:ext cx="119063" cy="1190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2" name="joint-23">
            <a:extLst xmlns:a="http://schemas.openxmlformats.org/drawingml/2006/main">
              <a:ext uri="{FF2B5EF4-FFF2-40B4-BE49-F238E27FC236}">
                <a16:creationId xmlns:a16="http://schemas.microsoft.com/office/drawing/2014/main" id="{7BB7B6E0-8E33-4EAC-A283-B73F3975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594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3" name="joint-24">
            <a:extLst xmlns:a="http://schemas.openxmlformats.org/drawingml/2006/main">
              <a:ext uri="{FF2B5EF4-FFF2-40B4-BE49-F238E27FC236}">
                <a16:creationId xmlns:a16="http://schemas.microsoft.com/office/drawing/2014/main" id="{5074F9A5-B37B-4E8C-A768-BEF9DD3B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906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4" name="joint-25">
            <a:extLst xmlns:a="http://schemas.openxmlformats.org/drawingml/2006/main">
              <a:ext uri="{FF2B5EF4-FFF2-40B4-BE49-F238E27FC236}">
                <a16:creationId xmlns:a16="http://schemas.microsoft.com/office/drawing/2014/main" id="{7919FA2B-6F67-4877-88D8-299EE25E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6716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5" name="joint-26">
            <a:extLst xmlns:a="http://schemas.openxmlformats.org/drawingml/2006/main">
              <a:ext uri="{FF2B5EF4-FFF2-40B4-BE49-F238E27FC236}">
                <a16:creationId xmlns:a16="http://schemas.microsoft.com/office/drawing/2014/main" id="{9DEE2E82-20AB-4694-9B03-22DBD1A2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6716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6" name="joint-27">
            <a:extLst xmlns:a="http://schemas.openxmlformats.org/drawingml/2006/main">
              <a:ext uri="{FF2B5EF4-FFF2-40B4-BE49-F238E27FC236}">
                <a16:creationId xmlns:a16="http://schemas.microsoft.com/office/drawing/2014/main" id="{6FE4C7E0-CC8E-433C-9472-908BA7DE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4669631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7" name="joint-28">
            <a:extLst xmlns:a="http://schemas.openxmlformats.org/drawingml/2006/main">
              <a:ext uri="{FF2B5EF4-FFF2-40B4-BE49-F238E27FC236}">
                <a16:creationId xmlns:a16="http://schemas.microsoft.com/office/drawing/2014/main" id="{6047FB33-6731-4439-8BB2-52134B75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63" y="4669631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8" name="joint-31">
            <a:extLst xmlns:a="http://schemas.openxmlformats.org/drawingml/2006/main">
              <a:ext uri="{FF2B5EF4-FFF2-40B4-BE49-F238E27FC236}">
                <a16:creationId xmlns:a16="http://schemas.microsoft.com/office/drawing/2014/main" id="{EDB38DA4-ACB5-4207-9AEC-B54A99B6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4907756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19" name="joint-32">
            <a:extLst xmlns:a="http://schemas.openxmlformats.org/drawingml/2006/main">
              <a:ext uri="{FF2B5EF4-FFF2-40B4-BE49-F238E27FC236}">
                <a16:creationId xmlns:a16="http://schemas.microsoft.com/office/drawing/2014/main" id="{F98C7613-07E3-4FA0-AC41-1A7DB6F6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4907756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cxnSp>
        <p:nvCxnSpPr>
          <p:cNvPr id="20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571625" y="2181226"/>
            <a:ext cx="583407" cy="404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5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155032" y="2181226"/>
            <a:ext cx="273843" cy="404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2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1762125" y="25860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6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1393031" y="2586038"/>
            <a:ext cx="369094" cy="452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8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>
            <a:off x="1297781" y="3038476"/>
            <a:ext cx="21431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7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619375" y="2586038"/>
            <a:ext cx="59531" cy="452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9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>
            <a:off x="2774156" y="3038476"/>
            <a:ext cx="2381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6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>
            <a:off x="1702594" y="2586038"/>
            <a:ext cx="59531" cy="78581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7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>
            <a:off x="2297906" y="2586038"/>
            <a:ext cx="321469" cy="78581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12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1893094" y="3371850"/>
            <a:ext cx="40481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12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H="1">
            <a:off x="1666875" y="3371850"/>
            <a:ext cx="226219" cy="690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4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H="1">
            <a:off x="1595438" y="4062413"/>
            <a:ext cx="261937" cy="70246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6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>
            <a:off x="1404938" y="4764881"/>
            <a:ext cx="38100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13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>
            <a:off x="2333625" y="3371850"/>
            <a:ext cx="154781" cy="6905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15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H="1">
            <a:off x="2405063" y="4062413"/>
            <a:ext cx="119062" cy="70246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17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2595563" y="4764881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8FB5F8-FB10-4458-A678-47022BD5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55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bilateral shoulders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CDDB50-8E21-4282-9F8B-3796E1A9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hips · knees · ankles · forefeet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98E536-5441-42FC-82D8-1C5218CC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2019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A9751B-0309-4DC3-9173-1524806A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53075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TARGET-ELIGIBLE ONLY</a:t>
            </a:r>
          </a:p>
        </p:txBody>
      </p:sp>
      <p:sp>
        <p:nvSpPr>
          <p:cNvPr id="40" name="mask-table-header">
            <a:extLst xmlns:a="http://schemas.openxmlformats.org/drawingml/2006/main">
              <a:ext uri="{FF2B5EF4-FFF2-40B4-BE49-F238E27FC236}">
                <a16:creationId xmlns:a16="http://schemas.microsoft.com/office/drawing/2014/main" id="{FC2B61A3-5D5D-42BD-8061-84CAE0E5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4E90F9-4C17-4F5C-9D1F-0FE73989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050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INDEX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B4A46F-42D7-4416-A942-F34AFFE4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KEYPOINT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5DA2F3-5DE2-4CFD-AC1D-2859FE9F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FEATURE FAMILIES INVOLVED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393122-88B4-4DB3-92FC-4CB8B3F3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7524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E6562D-34C5-4335-8A43-24A54D93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43150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D4A004-D03D-4189-B30D-342FA7C8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847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LEFT_SHOULDER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AD5611-4C87-464E-A047-1351B42B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4610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CP/MYO pelvic and trunk proxy context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5548B2-0076-4E85-969F-4102EEEE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289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19592C-BE50-47B2-AAE9-714AE964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14625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C2F22B-B077-4A03-8CAB-C110DC26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847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RIGHT_SHOULDER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B7AE43-F7BA-4E0B-87FC-5FA7A7B4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14625"/>
            <a:ext cx="4610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CP/MYO pelvic and trunk proxy context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8D648B-A804-44D2-8F54-BAA737CF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037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FFE7DF-C763-44CB-AAFC-A4BB8D35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9900"/>
            <a:ext cx="7524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295C32-5962-46AE-A2FE-E55FF18A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86100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21A24E-75CC-4C49-93BA-452A7D2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1847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LEFT_HIP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CAAE89-154A-4691-B422-89E9FD07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610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PD hip symmetry; CP/MYO/STROKE hip-knee and pelvis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231FA4-3D91-4797-AFCD-945FC4C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718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CAE303-486B-41D6-A605-37A9B9EE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57575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F4A62D-7AB0-4808-89B8-C98F58A5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57575"/>
            <a:ext cx="1847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RIGHT_HIP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E18392-27A7-4F11-9513-7B681B8E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57575"/>
            <a:ext cx="4610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PD hip symmetry; CP/MYO/STROKE hip-knee and pelvis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5F5BFB-7F0A-429E-8709-BA492782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433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6249F5-F049-4D5E-A071-1520F191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52850"/>
            <a:ext cx="7524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13AABA-896E-48E6-A963-C63EA0F5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A45E84-198A-4BAE-9375-FA7BE5FC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1847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LEFT_KNEE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0B4CD4-E927-4D77-90C0-23BBD7D6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4610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PD knee symmetry; CP/MYO/STROKE knee and ankle chains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B9C5F4-2A93-4D5D-B0ED-35F8D16B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148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EB04F4-9A17-48F2-A62E-3EFCBCCA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00525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4A516B-9DCD-47CF-B1B7-7578ECCE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00525"/>
            <a:ext cx="1847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RIGHT_KNEE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CC8765-644C-4565-895E-C812997B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00525"/>
            <a:ext cx="4610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PD knee symmetry; CP/MYO/STROKE knee and ankle chains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9989FC8-4FFB-4843-91FC-7A4EB042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8627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7E664B-53DE-4C1C-A571-396DA8B1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95800"/>
            <a:ext cx="7524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70B196-AF33-4E54-89B2-0A48B8EB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72000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27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1BCB53-0D55-4EDA-B7C2-2E3A774F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1847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LEFT_ANKLE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410501-C11B-4578-8148-D7C4A923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4610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Stride timing, variability, support, phase and symmetry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A1BF092-813B-4841-92FC-6F780F49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577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9B7C26-64EB-4626-9A12-DE8EE98A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43475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28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9D53E1E-6779-4B2B-8780-CD906CB8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43475"/>
            <a:ext cx="1847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RIGHT_ANKLE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BFCC0C3-3B24-455E-96B8-93A630DF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43475"/>
            <a:ext cx="4610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Right-side stride, support, phase and symmetry families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7CD9B76-CFEF-4FA8-96DE-82615013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292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C9BD49-A52F-4D3E-BC84-B27FBA85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38750"/>
            <a:ext cx="7524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2D77779-4DF0-47CD-A896-D168C8FA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14950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31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5905B7-E691-4C7A-AE35-F8EC5E1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14950"/>
            <a:ext cx="1847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LEFT_FOOT_INDEX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23F5F75-AC85-442A-9DBD-56398AE9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14950"/>
            <a:ext cx="4610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CP ankle mean; STROKE ankle asymmetry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BF7BF82-2DB0-4250-B3FE-BEC5B77E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00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9A748C5-FD1C-4A30-9C6E-E8939507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686425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32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312608E-7EC6-40F1-B72F-7805A457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686425"/>
            <a:ext cx="1847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RIGHT_FOOT_INDEX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FD94A03-590E-401F-97CE-C9BEA5E6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86425"/>
            <a:ext cx="4610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CP ankle mean; STROKE ankle asymmetry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42435D-F766-406E-BEA9-CC5109E6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97217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0B9B2B9-7C61-45EE-BBF1-00BFEBEE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0769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C7A7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C7A7B"/>
                </a:solidFill>
                <a:latin typeface="Aptos Mono"/>
                <a:ea typeface="Aptos Mono"/>
                <a:cs typeface="Aptos Mono"/>
              </a:rPr>
              <a:t>Canonical list: [11, 12, 23, 24, 25, 26, 27, 28, 31, 32]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E46D719-F4C4-4B99-81AC-7ADB40CC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272389-A246-4147-A86F-B2F8CA5B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Sources: PD, CP, MYO, and STROKE keypoint mappings summarized in tutorial README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0E87406-FBEE-4573-8CDB-BE146E2A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8563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D890723-A245-4682-80B4-F3B1CF50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B7AE9D-AEF6-4471-BE53-E684BD71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HARD INVARIANT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B6D4B-8F60-4EB6-AAA2-E6C64A6C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mask is a safety property, not a tunable suggestion.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0B24B-0A66-4B45-9E20-0356A551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INDEX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38EE1-9F0D-4CA3-84FF-D49C0BD8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364E1-AE8D-46A4-ADF6-78A1872B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3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846D6-D56E-4339-BD49-5E3F5D3F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96892-0FB2-4EE4-BCBC-5A4B7B5B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14D08-E52D-49DF-A6D7-5CB4866C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EC413-2AB2-40F2-BBC2-4CFDD998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13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79B7B-B81D-4C78-B892-D11F241F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9A2E0-9373-4032-9200-DF11E0B4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D7A9A-B03A-4DBC-BB92-19F051D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9116A-832B-44C4-A5AB-1544877F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4303C-2E43-42DA-863B-FAB99327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A7C95-E2AD-4D40-9F68-FC49E78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49A4B-D940-48D9-B653-1530274D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90135-5934-4CE2-91FD-35EE47B2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5E601-A375-4994-8AAF-8EE5C130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0A784-23FE-4B07-A4D5-5D520F60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5090A-AF28-4312-8841-4EBAE3A7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B2EF6-74AD-407F-AA97-E6FF4853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663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EFD02-387B-40FE-A423-DB92C2A2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8C923F-9898-4A27-8386-2B610AAB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A9063-B312-40EF-816D-5D9250E2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D0362-D0E6-4438-A07F-1BE06CC1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5AF58-6D2D-482F-8EA9-86A69E34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22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81344A-D151-4161-9390-7F754E62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68E91B-FAA8-463C-86D4-29FFF235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2EB43-0844-4E21-9F32-BFE2E1E6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5C612-D7AE-4B8A-8996-C519E943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1C8E11-5997-4D0B-8562-91BB9D93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88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785F7-CAC2-4F5C-9549-2519A3FB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0E97F9-1A4E-4BBC-B85C-E2386BEA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13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29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C93EF5-5789-47F4-97C9-1BA0606E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30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D89D09-D11E-45EA-A729-FA6B1C03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38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31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ABF146-CA87-4A73-AEF9-70082DBB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8859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26B660-2A46-43AF-8009-D2C4974C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F"/>
                </a:solidFill>
                <a:latin typeface="Aptos"/>
                <a:ea typeface="Aptos"/>
                <a:cs typeface="Aptos"/>
              </a:rPr>
              <a:t>eligible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574B11-E702-4593-9427-6DA8085C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F"/>
                </a:solidFill>
                <a:latin typeface="Aptos"/>
                <a:ea typeface="Aptos"/>
                <a:cs typeface="Aptos"/>
              </a:rPr>
              <a:t>sample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BB4979-82DE-40BE-809F-D066A9D9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54BB7E-84DD-4523-AAD8-3E27AE44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9590F7-4D62-4490-8044-9EAE37C5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3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61A668-26F8-4D20-A288-DF6E0CCC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3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A8426D-BBAE-43BA-996D-7D5C3B61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95CD10-E5F8-44C4-B04D-FBDD357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77DFFB-0847-4D1A-9405-E2810CDA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D8A359-6EF8-470E-95B9-62FBEFA7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5DD2FE-DA86-4578-AEBB-B384C350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D2B163-521A-4D54-B2FF-9FDB77CD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5306B2-25E9-475E-B7FE-B0F7479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13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B67B9F-9BE2-4D01-B951-3CD33D7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13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2D9E66-D664-4189-AC24-AABBB3AE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61D94E-2281-4876-86DB-BD4B5405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F3A822-F220-46E2-928B-E6F49024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7EBB40-1C50-4812-BC94-1C38218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F8F1D8-FF9B-4CB0-895D-766215C7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75B5E2-3D36-4BAC-9F59-E47553D9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D21A1F-730E-4667-BCCC-919D4CF6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A3CAE9-5360-474E-8B91-E8A7209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E6700D-641B-4935-98ED-C65AC6DE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5AB1EC-8767-4E08-AEC8-826A4FCF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CD9CF3-E649-413A-B57D-AE7BE226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57C980-B286-4C47-AD62-B24D5AFF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A8CABC-D52C-44D0-ADAB-D2CD27AB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EE437D-4CAE-4E52-85B5-A09A5F77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6EAE7C-EDAD-46F5-B162-862DB50D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167424-E3A9-45C7-B9DA-3DF11547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19D3DBC-C81D-4007-A02C-FBB9F94A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F6D02B-AF06-46D1-BF2A-8883018D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5E78F9-F579-43EE-9F23-147AF0A1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D814B1-D813-4308-AE3C-38824986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B2D730-E1E8-48CF-80A1-455592CE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BAD76B-4F90-4C65-8DA0-674A0F15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C2CF399-D720-4786-9C47-F9106887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663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66F3221-79B9-4E5A-837B-C44F8FDA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663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AF6E83F-13B6-443A-B970-9EF3393D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F2842AF-E111-4CAF-9601-6D45A764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EE6107-DFE3-484E-B176-CA72EC6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B4996E-14CE-4FBF-9E87-F6968A1E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1093AE5-0D17-4064-B431-4A4329F0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015B12F-87C0-412D-9AAF-82457621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B1E076D-E095-427F-BCE7-B69AFA2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6E718BE-CAFD-4C73-9EBD-68BF5486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71B8B8F-5CB6-4404-8FE6-6638A4A5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9BCEFC0-73BA-4E5F-922F-E7F8F9CE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B34F1E7-EADA-48DA-B7B3-F80719FC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CCACB2D-6E7E-4010-BB34-5217A893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BE385B-2A8A-48F1-A7D3-22EF9BA5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74314C6-4942-49DF-9AD0-18C280BF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E3B971-8995-46C1-A769-C7C493E7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8BC227C-0E89-4D5F-85BA-135B98AB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CBC5DFD-80F5-40F1-8808-C43A439B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9567159-1EBA-48DC-81FA-A8FE169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58B299D-A631-4E78-9A8B-0B4EF468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88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0E89C3D-D932-4647-8328-7A2D78EE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88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BA43780-63D7-4D20-B253-3DA5C338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6707D5-A41D-4E11-A043-ACE40378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6471290-F0B1-4436-BAF0-6A0553FF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13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F8B5328-04ED-41B9-B6F7-516C36A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13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35A9BF8-6651-485D-A784-2DCD799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1E3E3"/>
          </a:solidFill>
          <a:ln xmlns:a="http://schemas.openxmlformats.org/drawingml/2006/main" w="9525">
            <a:solidFill>
              <a:srgbClr val="D1D4D4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3B86BF7-3A5D-439D-9591-45C7BA29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01D0449-93A0-43C6-95C4-06F4CB07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38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3C142B0-E981-47E0-B79F-3889593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7538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A206F83-956E-48E5-97A8-40440E89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26695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6B74C9A-51E9-41AD-9022-EF5DC96A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95600"/>
            <a:ext cx="238125" cy="4191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B0176B2-6382-41F4-9400-842B9C6A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1847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12F2E32-E482-4CC2-B648-0FB5E260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VISIBLE CONTEXT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9B425E9-ECB0-4F25-A37A-F58519E3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1847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DFFEACD-358C-4526-BEB2-0219F665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5757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HIDDEN TARGET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03C6959-64EE-4F61-A68C-434D47B8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94669BA-95E7-4474-95D3-2677499D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3B508D9-58FF-4402-9B2E-B5E09116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28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8EEA6DB-EAE4-480E-A6D3-ED9438F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Forbidden count = 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777BECC-3B97-466B-B5C5-530E4BAF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No target index may fall outside the ten-joint union.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79CC3F8-BC13-4882-A03B-63D2E4A2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4815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227B794-E2A3-4D23-B37E-E289E35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48150"/>
            <a:ext cx="428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1C2E672-CA47-4408-A254-C1FE7F89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At least one target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AD548FF-998A-42EF-BFF2-A9DEEEBA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8157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Every sample contributes a masked latent prediction.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EA3F6B5-1369-427A-AB8E-D2C2FA5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4FEA7ED-BC92-4C1F-A6BB-58B9D79D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428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E7E67E2-D8A7-472C-9E83-71A7DABA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At least one visible token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66A9A2D-1256-46FA-AA99-8A97157F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8157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The view encoder always retains contextual evidence.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DE29532-7824-4E00-91BC-6BF47123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762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Uniform sampling only. Motion magnitude never enters target selection.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14A1EF7-E13E-4CC2-BA90-EA91250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10DEB78-BFA8-4765-9C1C-ACFD6FA8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Source: uniform_neurologic_mask assertions in tutorial notebooks 00, 03, and 04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2AA3C60-8F86-43AF-B2FF-FCE678D8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4210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D90E25B-287F-45ED-8123-23E17A14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3EEEBD-B4FB-4CA1-A0D6-AB5287F2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 REALITY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4BAAF-1A41-4223-A3DB-E67A3CBB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Ninety-six clips come from only eighteen source videos, with normal gait concentrated in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9857D-3591-43F7-9888-3F4A6416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192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18D6D-1F6E-4909-99C0-9ECF7A4D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43075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112E1-1793-44A4-90A5-6471360A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02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sequences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79191-6309-4028-B788-84BEF1E0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five conditions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AE714-4414-4E8D-83D2-E701E384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192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DC9F2-B1B8-45D6-805C-76B88070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43075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E4961-007C-4832-931F-31AA7B42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002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videos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F4A09-F49A-4160-AAD4-4049AA2F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384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independent 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1B063-1D46-46FE-A3AB-07EE60FB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99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SEQUENCES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5E32B-A2A7-4FC8-87B8-D090D7E1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UNIQUE SOURCE VIDEOS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E5E1A-9C61-4B8C-B79C-4FB9A75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normal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7B25F-077B-4345-A8CE-1FF06767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76600"/>
            <a:ext cx="514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0E564-3E30-4D0F-85A5-44C9B6B7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76600"/>
            <a:ext cx="1313234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7CD68-7532-4EEF-8FE1-12DE7B06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384" y="3343275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8C62A-546D-4D64-9C7A-55CAD968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18E31-B3AA-4FA1-B314-463603C2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63E5E-7A99-4123-8A35-C7952070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0166F-90E9-4575-8F11-197F892B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70FC8-CD9B-484B-8A06-330CE05F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A9BE0-CC2D-49C0-B7D6-7B548E30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A575E-5064-4361-9174-E25F720A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572FC-C1E0-4852-9669-EBE36035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ACD86A-F786-4137-8752-086F7D0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90AE3E-9DA2-4B5A-8003-C31D558B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BA0BE-AF0B-4391-AEEF-0E637A95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43275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1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AA20E0-BDAB-4F8E-AB35-B36D61EE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parkinsons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5B9A70-04F3-427D-B640-E3DA411E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10000"/>
            <a:ext cx="514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0C5EB-E295-4336-BDF4-FC2068C8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10000"/>
            <a:ext cx="984926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082795-6B2E-48CA-B65A-053CF91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076" y="3876675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9BE0B4-676B-411E-B734-4ABEFE1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482FC7-1B8A-4135-BAB5-B9F813F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38308B-CBBE-4BD6-8561-B2F0C81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649FC8-9154-4A77-98CB-E17A48D1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4AF15C-C2F0-4574-B26B-9387F955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4EAC93-D434-4C28-A328-D872B7CB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A6BEFF-1957-46B7-AC80-BB3FEB7F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08A217-5D8B-4485-B13B-7483FED3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0C5BCA-A677-4859-AC0F-BCB4CD6C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6DB464-217D-47FA-A329-64EA8721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528521-B9D3-4664-BDA1-5CE77DA0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76675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C7A7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C7A7B"/>
                </a:solidFill>
                <a:latin typeface="Aptos Mono"/>
                <a:ea typeface="Aptos Mono"/>
                <a:cs typeface="Aptos Mono"/>
              </a:rPr>
              <a:t>2 videos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D08944-EB08-4D70-AC34-709BD2E2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stroke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387A5E-C520-432F-BC24-2DC9C375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43400"/>
            <a:ext cx="514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9DE271-62B9-4248-A024-390DC66A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43400"/>
            <a:ext cx="1313234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C91209-65D2-44C5-B13C-4F15FC91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384" y="4410075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EB20CA-604C-4166-B341-BE173BC8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484234-E6BE-48C5-ABF7-41375F30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4B91E1-6D47-4489-8463-223F7FB6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27CEEF-C1C8-4FAD-8348-531E8408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34A225-5519-4411-9947-604DB884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45A0C6-F636-45DC-A1A1-7C0EF9DD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A6F19E-74E9-426B-851F-BF532D1E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09EF29-418E-4EF7-9136-E31CAD7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1F34CB-DBEE-49DD-91D3-E0277783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5250C2-E607-49C4-9BDB-0A60097B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B0D8C7-0091-4B73-A4F1-2AA3B95E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410075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C7A7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C7A7B"/>
                </a:solidFill>
                <a:latin typeface="Aptos Mono"/>
                <a:ea typeface="Aptos Mono"/>
                <a:cs typeface="Aptos Mono"/>
              </a:rPr>
              <a:t>3 videos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E56E22-BB5F-41D9-B54E-2FEAF0F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cerebralpalsy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48E7D4-09F4-48CD-B85D-67A4C297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76800"/>
            <a:ext cx="514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3760FF-F9A8-4D5B-83FF-D098509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76800"/>
            <a:ext cx="1750979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493993F-74B1-48B8-8738-73D20097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29" y="4943475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21A793-B1E4-461A-ABB5-CB23CE5B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3DEEE2-493C-4C0E-99E7-6F3B0CC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49C674-3E36-4B4E-A476-E3064BB9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C10253-8086-4A88-B815-739EDE0D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214A6F-82DB-47DD-992A-71954FE6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E899FD-7E94-4AE3-BDAD-BC6A48CF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596F8E-E635-4DBA-86A0-6B6C55D1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818BB7-3F0C-4E7C-86D3-ED4F3A59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DF72B5-8AE6-4CDD-A113-0A58BCED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11BD36-34E1-4B46-94FB-AB16159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D92153D-4839-410E-AB4C-FFEF93BA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43475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C7A7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C7A7B"/>
                </a:solidFill>
                <a:latin typeface="Aptos Mono"/>
                <a:ea typeface="Aptos Mono"/>
                <a:cs typeface="Aptos Mono"/>
              </a:rPr>
              <a:t>2 videos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3843B06-3301-4596-84E6-5E2D51D4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myopathic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0481A2-FBCF-4F10-87F3-3867DAE7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10200"/>
            <a:ext cx="514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58AB794-A84C-4D7E-BC35-AC4F3F6E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10200"/>
            <a:ext cx="514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087C3D-2AEE-48CC-98AD-6DB33F9C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76875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47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AB85E60-B26B-4B54-AF5F-430B6BD2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1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EBE683-4EDC-4429-A708-316B297F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51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5546EC5-5B30-4304-98C9-655B5512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1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02EA03C-6643-4D3E-9817-6D789103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1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651CEEB-5620-4F61-B393-35212A27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1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188AFE4-5585-4EBA-978A-30CD1E3C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51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2A6EE1-24F4-4C6B-B78C-5C3D18BC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1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1544F0D-8EFD-4384-8328-7659A5EE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51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152006-CDDF-498A-8301-A61983F6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51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07A50C8-3679-467C-A662-EB9AA195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514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7A1C6CC-BE74-453A-A27E-1ECE8AD8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476875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C7A7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C7A7B"/>
                </a:solidFill>
                <a:latin typeface="Aptos Mono"/>
                <a:ea typeface="Aptos Mono"/>
                <a:cs typeface="Aptos Mono"/>
              </a:rPr>
              <a:t>10 videos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25E00A9-01AC-4C93-B03F-5CF9D12E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3A97AC2-C9F2-4AE3-92E1-BB9EEB67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962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4D699F7-E41A-4043-922A-422825EC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NORMAL: 12 CLIPS / 1 VIDEO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2FB22C2-358E-4C42-A75A-A81A92F7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0769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Clip count is not an independence count. Every reported score must name both.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D49FAB5-C2CA-4039-9D04-062A00DE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EF6199-A91C-41A7-8B4B-B038E5EA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Source: repository GAVD CSV census used by tutorial notebook 01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CE249B5-4153-4BC8-AA83-E24906F7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2982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DA7A05-1DF1-44D4-A563-6334E82A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043FDE-386D-4F96-AD8F-FB9C0029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TRACEABILITY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C12C3-EC43-4D73-99B2-E52068F6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Every training clip remains traceable from a CSV row back to its source-video frames.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985F3-657B-4000-B285-2259AAF9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SOURCE 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7C91D-98BD-4C84-9F91-6AF428B4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ARTIFACT 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0BF16-1E73-4DBF-9530-EEC0586C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E0DD1-6B13-4485-892E-60094855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condition-csv">
            <a:extLst xmlns:a="http://schemas.openxmlformats.org/drawingml/2006/main">
              <a:ext uri="{FF2B5EF4-FFF2-40B4-BE49-F238E27FC236}">
                <a16:creationId xmlns:a16="http://schemas.microsoft.com/office/drawing/2014/main" id="{04FFA772-F672-43D7-896B-49BC844B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752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5A2D4-C62A-416A-A976-29F87B14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Condition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D68EA-8E41-4C94-862E-CC5A2F4E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seq · frame_num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bbox · id · url</a:t>
            </a:r>
          </a:p>
        </p:txBody>
      </p:sp>
      <p:sp>
        <p:nvSpPr>
          <p:cNvPr id="11" name="manifest">
            <a:extLst xmlns:a="http://schemas.openxmlformats.org/drawingml/2006/main">
              <a:ext uri="{FF2B5EF4-FFF2-40B4-BE49-F238E27FC236}">
                <a16:creationId xmlns:a16="http://schemas.microsoft.com/office/drawing/2014/main" id="{CD973EE8-996B-4CDB-9FBA-39D525C4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43150"/>
            <a:ext cx="1752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C850F-326C-4C9B-A88D-403EF978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384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C96B4-5993-4407-910C-EF2EBAF3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C7A7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C7A7B"/>
                </a:solidFill>
                <a:latin typeface="Aptos Mono"/>
                <a:ea typeface="Aptos Mono"/>
                <a:cs typeface="Aptos Mono"/>
              </a:rPr>
              <a:t>one row / sequence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2C7A7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C7A7B"/>
                </a:solidFill>
                <a:latin typeface="Aptos Mono"/>
                <a:ea typeface="Aptos Mono"/>
                <a:cs typeface="Aptos Mono"/>
              </a:rPr>
              <a:t>video_id dedup</a:t>
            </a:r>
          </a:p>
        </p:txBody>
      </p:sp>
      <p:sp>
        <p:nvSpPr>
          <p:cNvPr id="14" name="youtube-cache">
            <a:extLst xmlns:a="http://schemas.openxmlformats.org/drawingml/2006/main">
              <a:ext uri="{FF2B5EF4-FFF2-40B4-BE49-F238E27FC236}">
                <a16:creationId xmlns:a16="http://schemas.microsoft.com/office/drawing/2014/main" id="{D66C6788-024F-4D04-9B09-595964EA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43150"/>
            <a:ext cx="1752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EF08D-A625-4722-A806-867E6B95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384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YouTube 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25A3D-75A5-46AD-A26D-939B1B8D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&lt;condition&gt;/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&lt;video_id&gt;.mp4</a:t>
            </a:r>
          </a:p>
        </p:txBody>
      </p:sp>
      <p:sp>
        <p:nvSpPr>
          <p:cNvPr id="17" name="decoder">
            <a:extLst xmlns:a="http://schemas.openxmlformats.org/drawingml/2006/main">
              <a:ext uri="{FF2B5EF4-FFF2-40B4-BE49-F238E27FC236}">
                <a16:creationId xmlns:a16="http://schemas.microsoft.com/office/drawing/2014/main" id="{FA9EA82A-6451-4E26-B16D-0F08F7C0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1752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2334F-7F11-43C7-A06E-515FBA2E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Frame decoder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B9A7D-0789-4520-857F-B3BD554F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813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probe true FPS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1-based span</a:t>
            </a:r>
          </a:p>
        </p:txBody>
      </p:sp>
      <p:sp>
        <p:nvSpPr>
          <p:cNvPr id="20" name="pose">
            <a:extLst xmlns:a="http://schemas.openxmlformats.org/drawingml/2006/main">
              <a:ext uri="{FF2B5EF4-FFF2-40B4-BE49-F238E27FC236}">
                <a16:creationId xmlns:a16="http://schemas.microsoft.com/office/drawing/2014/main" id="{E05BF46A-AE24-4C9F-865B-A91C486D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1752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CB9FE-50BD-4F59-9EB4-449D8D9B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384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Pose extraction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32A8C-C7C2-4550-B349-CC5E9490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9D7E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9D7E1"/>
                </a:solidFill>
                <a:latin typeface="Aptos Mono"/>
                <a:ea typeface="Aptos Mono"/>
                <a:cs typeface="Aptos Mono"/>
              </a:rPr>
              <a:t>bbox crop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9D7E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9D7E1"/>
                </a:solidFill>
                <a:latin typeface="Aptos Mono"/>
                <a:ea typeface="Aptos Mono"/>
                <a:cs typeface="Aptos Mono"/>
              </a:rPr>
              <a:t>33 landmarks</a:t>
            </a:r>
          </a:p>
        </p:txBody>
      </p:sp>
      <p:cxnSp>
        <p:nvCxnSpPr>
          <p:cNvPr id="2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62200" y="2914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2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514850" y="2914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15A47"/>
            </a:solidFill>
            <a:prstDash val="solid"/>
            <a:headEnd type="none" w="med" len="med"/>
          </a:ln>
        </p:spPr>
      </p:cxnSp>
      <p:cxnSp>
        <p:nvCxnSpPr>
          <p:cNvPr id="25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667500" y="2914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26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820150" y="2914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27" name="artifact-manifest">
            <a:extLst xmlns:a="http://schemas.openxmlformats.org/drawingml/2006/main">
              <a:ext uri="{FF2B5EF4-FFF2-40B4-BE49-F238E27FC236}">
                <a16:creationId xmlns:a16="http://schemas.microsoft.com/office/drawing/2014/main" id="{70584B90-E089-4343-97DB-531A5DEC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CE7667-FC8F-421E-A284-787D3C09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48250"/>
            <a:ext cx="14478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manifest.csv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20EC6-043D-49FC-93DC-FB9176A8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391150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C7A7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C7A7B"/>
                </a:solidFill>
                <a:latin typeface="Aptos Mono"/>
                <a:ea typeface="Aptos Mono"/>
                <a:cs typeface="Aptos Mono"/>
              </a:rPr>
              <a:t>audit + rerun</a:t>
            </a:r>
          </a:p>
        </p:txBody>
      </p:sp>
      <p:sp>
        <p:nvSpPr>
          <p:cNvPr id="30" name="artifact-span">
            <a:extLst xmlns:a="http://schemas.openxmlformats.org/drawingml/2006/main">
              <a:ext uri="{FF2B5EF4-FFF2-40B4-BE49-F238E27FC236}">
                <a16:creationId xmlns:a16="http://schemas.microsoft.com/office/drawing/2014/main" id="{9BFC1136-1E92-4B9B-BCC1-815A8157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5300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371A2F-D504-48D6-8098-87A57D90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48250"/>
            <a:ext cx="14478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decoded span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7FBF0-A24F-4571-BD17-ADA7621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391150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source frame IDs</a:t>
            </a:r>
          </a:p>
        </p:txBody>
      </p:sp>
      <p:sp>
        <p:nvSpPr>
          <p:cNvPr id="33" name="artifact-pose">
            <a:extLst xmlns:a="http://schemas.openxmlformats.org/drawingml/2006/main">
              <a:ext uri="{FF2B5EF4-FFF2-40B4-BE49-F238E27FC236}">
                <a16:creationId xmlns:a16="http://schemas.microsoft.com/office/drawing/2014/main" id="{46D49E8B-46B1-4A60-B1C0-8AA69585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53000"/>
            <a:ext cx="1752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36392D-5975-490A-BC06-AA29D156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48250"/>
            <a:ext cx="14478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pose NPZ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DFF011-176F-4C7C-B836-2F6FF34F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91150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[time,33,4]</a:t>
            </a:r>
          </a:p>
        </p:txBody>
      </p:sp>
      <p:cxnSp>
        <p:nvCxnSpPr>
          <p:cNvPr id="36" name=""/>
          <p:cNvCxnSpPr>
            <a:stCxn xmlns:a="http://schemas.openxmlformats.org/drawingml/2006/main" id="1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638550" y="3486150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37" name=""/>
          <p:cNvCxnSpPr>
            <a:stCxn xmlns:a="http://schemas.openxmlformats.org/drawingml/2006/main" id="1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7943850" y="3486150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38" name=""/>
          <p:cNvCxnSpPr>
            <a:stCxn xmlns:a="http://schemas.openxmlformats.org/drawingml/2006/main" id="2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0096500" y="3486150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15A47"/>
            </a:solidFill>
            <a:prstDash val="solid"/>
            <a:headEnd type="non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336092-661C-4A58-B3AA-12AEE566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3048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A67D3B-CF4D-446E-83FB-7501BD19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DOWNLOAD EACH UNIQUE VIDEO ONCE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512886-A843-4E5C-A250-B5B06A7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43600"/>
            <a:ext cx="708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Full videos are cached because frame_num refers to the original YouTube timeline.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E5BA7E-F0D5-47D8-9D6B-BCA22CCB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1A558D-692F-4B48-93C2-B0C08126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Sources: tutorial notebooks 01 and 02; GAVD ten-column CSV schema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EE0693-634C-4339-A337-AE782448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7323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E4FC4A5-AEB3-4B60-B301-DFBBFABA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DDA560-B90C-49A3-B2D4-BDF89AFF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POSE EXTRACTION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172AD-4631-40A0-8670-778FCBB3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Bounding-box isolation and explicit failed-frame handling keep the intended walker in the pose stream.</a:t>
            </a:r>
          </a:p>
        </p:txBody>
      </p:sp>
      <p:sp>
        <p:nvSpPr>
          <p:cNvPr id="4" name="source-frame">
            <a:extLst xmlns:a="http://schemas.openxmlformats.org/drawingml/2006/main">
              <a:ext uri="{FF2B5EF4-FFF2-40B4-BE49-F238E27FC236}">
                <a16:creationId xmlns:a16="http://schemas.microsoft.com/office/drawing/2014/main" id="{033D1A3D-5CF2-4E43-A7AF-BC896353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619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31007-027C-4230-96B8-20A4E5B6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SOURCE FRAME</a:t>
            </a:r>
          </a:p>
        </p:txBody>
      </p:sp>
      <p:sp>
        <p:nvSpPr>
          <p:cNvPr id="6" name="gavd-bbox">
            <a:extLst xmlns:a="http://schemas.openxmlformats.org/drawingml/2006/main">
              <a:ext uri="{FF2B5EF4-FFF2-40B4-BE49-F238E27FC236}">
                <a16:creationId xmlns:a16="http://schemas.microsoft.com/office/drawing/2014/main" id="{D75CB575-A184-4E03-A5F6-6DBC2EEA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1657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15A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91C92-598C-41E6-BCCF-C7505542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GAVD bbox</a:t>
            </a:r>
          </a:p>
        </p:txBody>
      </p:sp>
      <p:sp>
        <p:nvSpPr>
          <p:cNvPr id="8" name="joint-0">
            <a:extLst xmlns:a="http://schemas.openxmlformats.org/drawingml/2006/main">
              <a:ext uri="{FF2B5EF4-FFF2-40B4-BE49-F238E27FC236}">
                <a16:creationId xmlns:a16="http://schemas.microsoft.com/office/drawing/2014/main" id="{410AF222-978C-4959-B5AC-5B23C7E9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763" y="259175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9" name="joint-11">
            <a:extLst xmlns:a="http://schemas.openxmlformats.org/drawingml/2006/main">
              <a:ext uri="{FF2B5EF4-FFF2-40B4-BE49-F238E27FC236}">
                <a16:creationId xmlns:a16="http://schemas.microsoft.com/office/drawing/2014/main" id="{42DE9692-B839-4A67-BB90-CE3CC3B6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733" y="281844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0" name="joint-12">
            <a:extLst xmlns:a="http://schemas.openxmlformats.org/drawingml/2006/main">
              <a:ext uri="{FF2B5EF4-FFF2-40B4-BE49-F238E27FC236}">
                <a16:creationId xmlns:a16="http://schemas.microsoft.com/office/drawing/2014/main" id="{6032A5A6-B995-4BCD-941B-9A20240C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793" y="281844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1" name="joint-13">
            <a:extLst xmlns:a="http://schemas.openxmlformats.org/drawingml/2006/main">
              <a:ext uri="{FF2B5EF4-FFF2-40B4-BE49-F238E27FC236}">
                <a16:creationId xmlns:a16="http://schemas.microsoft.com/office/drawing/2014/main" id="{47AA07A2-4180-4F38-9480-2FEE8FA7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8" y="30718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2" name="joint-14">
            <a:extLst xmlns:a="http://schemas.openxmlformats.org/drawingml/2006/main">
              <a:ext uri="{FF2B5EF4-FFF2-40B4-BE49-F238E27FC236}">
                <a16:creationId xmlns:a16="http://schemas.microsoft.com/office/drawing/2014/main" id="{FC5A13C5-23D6-433C-806A-BD7B4138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808" y="30718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3" name="joint-15">
            <a:extLst xmlns:a="http://schemas.openxmlformats.org/drawingml/2006/main">
              <a:ext uri="{FF2B5EF4-FFF2-40B4-BE49-F238E27FC236}">
                <a16:creationId xmlns:a16="http://schemas.microsoft.com/office/drawing/2014/main" id="{A9D44294-7460-454A-90B3-7FA7B7BF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8" y="33385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4" name="joint-16">
            <a:extLst xmlns:a="http://schemas.openxmlformats.org/drawingml/2006/main">
              <a:ext uri="{FF2B5EF4-FFF2-40B4-BE49-F238E27FC236}">
                <a16:creationId xmlns:a16="http://schemas.microsoft.com/office/drawing/2014/main" id="{F5BB3C7F-3C87-442C-ADF1-1B9D2F74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148" y="33385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5" name="joint-23">
            <a:extLst xmlns:a="http://schemas.openxmlformats.org/drawingml/2006/main">
              <a:ext uri="{FF2B5EF4-FFF2-40B4-BE49-F238E27FC236}">
                <a16:creationId xmlns:a16="http://schemas.microsoft.com/office/drawing/2014/main" id="{44504401-5CF8-4414-A343-165963C9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25850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6" name="joint-24">
            <a:extLst xmlns:a="http://schemas.openxmlformats.org/drawingml/2006/main">
              <a:ext uri="{FF2B5EF4-FFF2-40B4-BE49-F238E27FC236}">
                <a16:creationId xmlns:a16="http://schemas.microsoft.com/office/drawing/2014/main" id="{16CCC2EB-157B-476E-BC3D-33B2FE31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5850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7" name="joint-25">
            <a:extLst xmlns:a="http://schemas.openxmlformats.org/drawingml/2006/main">
              <a:ext uri="{FF2B5EF4-FFF2-40B4-BE49-F238E27FC236}">
                <a16:creationId xmlns:a16="http://schemas.microsoft.com/office/drawing/2014/main" id="{765F975D-5960-4647-89BF-688E2C56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073" y="36452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8" name="joint-26">
            <a:extLst xmlns:a="http://schemas.openxmlformats.org/drawingml/2006/main">
              <a:ext uri="{FF2B5EF4-FFF2-40B4-BE49-F238E27FC236}">
                <a16:creationId xmlns:a16="http://schemas.microsoft.com/office/drawing/2014/main" id="{2AAE4356-30A8-4728-8059-0C17C972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453" y="36452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19" name="joint-27">
            <a:extLst xmlns:a="http://schemas.openxmlformats.org/drawingml/2006/main">
              <a:ext uri="{FF2B5EF4-FFF2-40B4-BE49-F238E27FC236}">
                <a16:creationId xmlns:a16="http://schemas.microsoft.com/office/drawing/2014/main" id="{8BE609A5-1DF5-441F-BDAE-1CB36BC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068" y="4038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20" name="joint-28">
            <a:extLst xmlns:a="http://schemas.openxmlformats.org/drawingml/2006/main">
              <a:ext uri="{FF2B5EF4-FFF2-40B4-BE49-F238E27FC236}">
                <a16:creationId xmlns:a16="http://schemas.microsoft.com/office/drawing/2014/main" id="{16BE638C-FF20-4847-BDCE-9E7C747B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458" y="4038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21" name="joint-31">
            <a:extLst xmlns:a="http://schemas.openxmlformats.org/drawingml/2006/main">
              <a:ext uri="{FF2B5EF4-FFF2-40B4-BE49-F238E27FC236}">
                <a16:creationId xmlns:a16="http://schemas.microsoft.com/office/drawing/2014/main" id="{93666543-F512-4052-BE80-CD315A0C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8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22" name="joint-32">
            <a:extLst xmlns:a="http://schemas.openxmlformats.org/drawingml/2006/main">
              <a:ext uri="{FF2B5EF4-FFF2-40B4-BE49-F238E27FC236}">
                <a16:creationId xmlns:a16="http://schemas.microsoft.com/office/drawing/2014/main" id="{D5D42B23-F901-40BC-B1A7-F8B25224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cxnSp>
        <p:nvCxnSpPr>
          <p:cNvPr id="23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>
            <a:off x="1669733" y="2625091"/>
            <a:ext cx="306705" cy="2266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8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976438" y="2625091"/>
            <a:ext cx="173355" cy="2266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736408" y="2851786"/>
            <a:ext cx="4133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9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>
            <a:off x="1549718" y="2851786"/>
            <a:ext cx="186690" cy="25336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11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>
            <a:off x="1496378" y="3105151"/>
            <a:ext cx="12001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10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2216468" y="2851786"/>
            <a:ext cx="53340" cy="25336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12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H="1">
            <a:off x="2323148" y="3105151"/>
            <a:ext cx="1333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1736408" y="2851786"/>
            <a:ext cx="6667" cy="4400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H="1">
            <a:off x="2076450" y="2851786"/>
            <a:ext cx="140018" cy="4400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5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1809750" y="3291841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15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H="1">
            <a:off x="1723073" y="3291841"/>
            <a:ext cx="86677" cy="3867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17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H="1">
            <a:off x="1683068" y="3678556"/>
            <a:ext cx="106680" cy="3933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19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H="1">
            <a:off x="1576388" y="4071938"/>
            <a:ext cx="17335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16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>
            <a:off x="2096453" y="3291841"/>
            <a:ext cx="46672" cy="3867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18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H="1">
            <a:off x="2136458" y="3678556"/>
            <a:ext cx="26670" cy="3933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20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2203133" y="4071938"/>
            <a:ext cx="4000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489309-346A-4AAE-B35F-8C3BC3A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952500" cy="1638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65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CE89CD-86FC-46EC-A4DB-FA33A16D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90A2"/>
          </a:solidFill>
          <a:ln xmlns:a="http://schemas.openxmlformats.org/drawingml/2006/main" w="19050">
            <a:solidFill>
              <a:srgbClr val="7890A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AA8CFB-4287-400F-BDCC-F89D920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243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9DB0B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0BF"/>
                </a:solidFill>
                <a:latin typeface="Aptos"/>
                <a:ea typeface="Aptos"/>
                <a:cs typeface="Aptos"/>
              </a:rPr>
              <a:t>other person</a:t>
            </a:r>
          </a:p>
        </p:txBody>
      </p:sp>
      <p:sp>
        <p:nvSpPr>
          <p:cNvPr id="42" name="bbox-crop">
            <a:extLst xmlns:a="http://schemas.openxmlformats.org/drawingml/2006/main">
              <a:ext uri="{FF2B5EF4-FFF2-40B4-BE49-F238E27FC236}">
                <a16:creationId xmlns:a16="http://schemas.microsoft.com/office/drawing/2014/main" id="{D0D30CA2-36A7-4FC9-8E99-DCD297B7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343150" cy="23812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BBD21C-8F68-4D56-8643-40153A13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CROP + PAD</a:t>
            </a:r>
          </a:p>
        </p:txBody>
      </p:sp>
      <p:sp>
        <p:nvSpPr>
          <p:cNvPr id="44" name="joint-0">
            <a:extLst xmlns:a="http://schemas.openxmlformats.org/drawingml/2006/main">
              <a:ext uri="{FF2B5EF4-FFF2-40B4-BE49-F238E27FC236}">
                <a16:creationId xmlns:a16="http://schemas.microsoft.com/office/drawing/2014/main" id="{0A3CA529-401C-4F66-9ECA-219E9599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763" y="270605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45" name="joint-11">
            <a:extLst xmlns:a="http://schemas.openxmlformats.org/drawingml/2006/main">
              <a:ext uri="{FF2B5EF4-FFF2-40B4-BE49-F238E27FC236}">
                <a16:creationId xmlns:a16="http://schemas.microsoft.com/office/drawing/2014/main" id="{3FACF24B-6F75-4B34-86AA-50E33D25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733" y="293274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46" name="joint-12">
            <a:extLst xmlns:a="http://schemas.openxmlformats.org/drawingml/2006/main">
              <a:ext uri="{FF2B5EF4-FFF2-40B4-BE49-F238E27FC236}">
                <a16:creationId xmlns:a16="http://schemas.microsoft.com/office/drawing/2014/main" id="{F6FC10B5-DCE9-4834-88A7-EC43E45A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793" y="293274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47" name="joint-13">
            <a:extLst xmlns:a="http://schemas.openxmlformats.org/drawingml/2006/main">
              <a:ext uri="{FF2B5EF4-FFF2-40B4-BE49-F238E27FC236}">
                <a16:creationId xmlns:a16="http://schemas.microsoft.com/office/drawing/2014/main" id="{1F200486-8717-48A2-A7A3-A9604E5B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718" y="3186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48" name="joint-14">
            <a:extLst xmlns:a="http://schemas.openxmlformats.org/drawingml/2006/main">
              <a:ext uri="{FF2B5EF4-FFF2-40B4-BE49-F238E27FC236}">
                <a16:creationId xmlns:a16="http://schemas.microsoft.com/office/drawing/2014/main" id="{93268A54-B678-4B2A-BF18-AF62408C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808" y="3186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49" name="joint-15">
            <a:extLst xmlns:a="http://schemas.openxmlformats.org/drawingml/2006/main">
              <a:ext uri="{FF2B5EF4-FFF2-40B4-BE49-F238E27FC236}">
                <a16:creationId xmlns:a16="http://schemas.microsoft.com/office/drawing/2014/main" id="{57D4DA1D-750B-4877-B2C0-AEC81D00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378" y="34528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50" name="joint-16">
            <a:extLst xmlns:a="http://schemas.openxmlformats.org/drawingml/2006/main">
              <a:ext uri="{FF2B5EF4-FFF2-40B4-BE49-F238E27FC236}">
                <a16:creationId xmlns:a16="http://schemas.microsoft.com/office/drawing/2014/main" id="{E1BF03B1-049D-40A5-A645-55709DA0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148" y="34528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51" name="joint-23">
            <a:extLst xmlns:a="http://schemas.openxmlformats.org/drawingml/2006/main">
              <a:ext uri="{FF2B5EF4-FFF2-40B4-BE49-F238E27FC236}">
                <a16:creationId xmlns:a16="http://schemas.microsoft.com/office/drawing/2014/main" id="{18AB2721-3677-43A9-9671-068E9BFF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37280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52" name="joint-24">
            <a:extLst xmlns:a="http://schemas.openxmlformats.org/drawingml/2006/main">
              <a:ext uri="{FF2B5EF4-FFF2-40B4-BE49-F238E27FC236}">
                <a16:creationId xmlns:a16="http://schemas.microsoft.com/office/drawing/2014/main" id="{36B8CC28-DD1D-4D28-95CA-DC72C9CB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280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53" name="joint-25">
            <a:extLst xmlns:a="http://schemas.openxmlformats.org/drawingml/2006/main">
              <a:ext uri="{FF2B5EF4-FFF2-40B4-BE49-F238E27FC236}">
                <a16:creationId xmlns:a16="http://schemas.microsoft.com/office/drawing/2014/main" id="{EDD5D727-8965-4F24-864E-BA616057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37595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54" name="joint-26">
            <a:extLst xmlns:a="http://schemas.openxmlformats.org/drawingml/2006/main">
              <a:ext uri="{FF2B5EF4-FFF2-40B4-BE49-F238E27FC236}">
                <a16:creationId xmlns:a16="http://schemas.microsoft.com/office/drawing/2014/main" id="{38273FA6-8C99-4480-B275-240E85D6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453" y="37595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55" name="joint-27">
            <a:extLst xmlns:a="http://schemas.openxmlformats.org/drawingml/2006/main">
              <a:ext uri="{FF2B5EF4-FFF2-40B4-BE49-F238E27FC236}">
                <a16:creationId xmlns:a16="http://schemas.microsoft.com/office/drawing/2014/main" id="{3C622286-98C2-414A-9AF1-28C812C9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068" y="4152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56" name="joint-28">
            <a:extLst xmlns:a="http://schemas.openxmlformats.org/drawingml/2006/main">
              <a:ext uri="{FF2B5EF4-FFF2-40B4-BE49-F238E27FC236}">
                <a16:creationId xmlns:a16="http://schemas.microsoft.com/office/drawing/2014/main" id="{07DA2C1B-B5B8-4D2E-BA9B-376867DC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458" y="4152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57" name="joint-31">
            <a:extLst xmlns:a="http://schemas.openxmlformats.org/drawingml/2006/main">
              <a:ext uri="{FF2B5EF4-FFF2-40B4-BE49-F238E27FC236}">
                <a16:creationId xmlns:a16="http://schemas.microsoft.com/office/drawing/2014/main" id="{7A7F2271-6B55-464A-A1DA-8987860B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388" y="4286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58" name="joint-32">
            <a:extLst xmlns:a="http://schemas.openxmlformats.org/drawingml/2006/main">
              <a:ext uri="{FF2B5EF4-FFF2-40B4-BE49-F238E27FC236}">
                <a16:creationId xmlns:a16="http://schemas.microsoft.com/office/drawing/2014/main" id="{51CCA35E-2992-4482-B50C-F5C5F44A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4286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cxnSp>
        <p:nvCxnSpPr>
          <p:cNvPr id="59" name=""/>
          <p:cNvCxnSpPr>
            <a:stCxn xmlns:a="http://schemas.openxmlformats.org/drawingml/2006/main" id="44" idx="6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H="1">
            <a:off x="5860733" y="2739391"/>
            <a:ext cx="306705" cy="2266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60" name=""/>
          <p:cNvCxnSpPr>
            <a:stCxn xmlns:a="http://schemas.openxmlformats.org/drawingml/2006/main" id="44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>
            <a:off x="6167438" y="2739391"/>
            <a:ext cx="173355" cy="2266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61" name=""/>
          <p:cNvCxnSpPr>
            <a:stCxn xmlns:a="http://schemas.openxmlformats.org/drawingml/2006/main" id="45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>
            <a:off x="5927408" y="2966086"/>
            <a:ext cx="4133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62" name=""/>
          <p:cNvCxnSpPr>
            <a:stCxn xmlns:a="http://schemas.openxmlformats.org/drawingml/2006/main" id="45" idx="6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H="1">
            <a:off x="5740718" y="2966086"/>
            <a:ext cx="186690" cy="25336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63" name=""/>
          <p:cNvCxnSpPr>
            <a:stCxn xmlns:a="http://schemas.openxmlformats.org/drawingml/2006/main" id="47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 flipH="1">
            <a:off x="5687378" y="3219451"/>
            <a:ext cx="12001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64" name=""/>
          <p:cNvCxnSpPr>
            <a:stCxn xmlns:a="http://schemas.openxmlformats.org/drawingml/2006/main" id="46" idx="6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6407468" y="2966086"/>
            <a:ext cx="53340" cy="25336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65" name=""/>
          <p:cNvCxnSpPr>
            <a:stCxn xmlns:a="http://schemas.openxmlformats.org/drawingml/2006/main" id="48" idx="6"/>
            <a:endCxn xmlns:a="http://schemas.openxmlformats.org/drawingml/2006/main" id="50" idx="2"/>
          </p:cNvCxnSpPr>
          <p:nvPr/>
        </p:nvCxnSpPr>
        <p:spPr>
          <a:xfrm xmlns:a="http://schemas.openxmlformats.org/drawingml/2006/main" flipH="1">
            <a:off x="6514148" y="3219451"/>
            <a:ext cx="1333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66" name=""/>
          <p:cNvCxnSpPr>
            <a:stCxn xmlns:a="http://schemas.openxmlformats.org/drawingml/2006/main" id="45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5927408" y="2966086"/>
            <a:ext cx="6667" cy="4400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67" name=""/>
          <p:cNvCxnSpPr>
            <a:stCxn xmlns:a="http://schemas.openxmlformats.org/drawingml/2006/main" id="46" idx="6"/>
            <a:endCxn xmlns:a="http://schemas.openxmlformats.org/drawingml/2006/main" id="52" idx="2"/>
          </p:cNvCxnSpPr>
          <p:nvPr/>
        </p:nvCxnSpPr>
        <p:spPr>
          <a:xfrm xmlns:a="http://schemas.openxmlformats.org/drawingml/2006/main" flipH="1">
            <a:off x="6267450" y="2966086"/>
            <a:ext cx="140018" cy="4400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68" name=""/>
          <p:cNvCxnSpPr>
            <a:stCxn xmlns:a="http://schemas.openxmlformats.org/drawingml/2006/main" id="51" idx="6"/>
            <a:endCxn xmlns:a="http://schemas.openxmlformats.org/drawingml/2006/main" id="52" idx="2"/>
          </p:cNvCxnSpPr>
          <p:nvPr/>
        </p:nvCxnSpPr>
        <p:spPr>
          <a:xfrm xmlns:a="http://schemas.openxmlformats.org/drawingml/2006/main">
            <a:off x="6000750" y="3406141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69" name=""/>
          <p:cNvCxnSpPr>
            <a:stCxn xmlns:a="http://schemas.openxmlformats.org/drawingml/2006/main" id="51" idx="6"/>
            <a:endCxn xmlns:a="http://schemas.openxmlformats.org/drawingml/2006/main" id="53" idx="2"/>
          </p:cNvCxnSpPr>
          <p:nvPr/>
        </p:nvCxnSpPr>
        <p:spPr>
          <a:xfrm xmlns:a="http://schemas.openxmlformats.org/drawingml/2006/main" flipH="1">
            <a:off x="5914073" y="3406141"/>
            <a:ext cx="86677" cy="3867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70" name=""/>
          <p:cNvCxnSpPr>
            <a:stCxn xmlns:a="http://schemas.openxmlformats.org/drawingml/2006/main" id="53" idx="6"/>
            <a:endCxn xmlns:a="http://schemas.openxmlformats.org/drawingml/2006/main" id="55" idx="2"/>
          </p:cNvCxnSpPr>
          <p:nvPr/>
        </p:nvCxnSpPr>
        <p:spPr>
          <a:xfrm xmlns:a="http://schemas.openxmlformats.org/drawingml/2006/main" flipH="1">
            <a:off x="5874068" y="3792856"/>
            <a:ext cx="106680" cy="3933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71" name=""/>
          <p:cNvCxnSpPr>
            <a:stCxn xmlns:a="http://schemas.openxmlformats.org/drawingml/2006/main" id="55" idx="6"/>
            <a:endCxn xmlns:a="http://schemas.openxmlformats.org/drawingml/2006/main" id="57" idx="2"/>
          </p:cNvCxnSpPr>
          <p:nvPr/>
        </p:nvCxnSpPr>
        <p:spPr>
          <a:xfrm xmlns:a="http://schemas.openxmlformats.org/drawingml/2006/main" flipH="1">
            <a:off x="5767388" y="4186238"/>
            <a:ext cx="17335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72" name=""/>
          <p:cNvCxnSpPr>
            <a:stCxn xmlns:a="http://schemas.openxmlformats.org/drawingml/2006/main" id="52" idx="6"/>
            <a:endCxn xmlns:a="http://schemas.openxmlformats.org/drawingml/2006/main" id="54" idx="2"/>
          </p:cNvCxnSpPr>
          <p:nvPr/>
        </p:nvCxnSpPr>
        <p:spPr>
          <a:xfrm xmlns:a="http://schemas.openxmlformats.org/drawingml/2006/main" flipH="1">
            <a:off x="6287453" y="3406141"/>
            <a:ext cx="46672" cy="3867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73" name=""/>
          <p:cNvCxnSpPr>
            <a:stCxn xmlns:a="http://schemas.openxmlformats.org/drawingml/2006/main" id="54" idx="6"/>
            <a:endCxn xmlns:a="http://schemas.openxmlformats.org/drawingml/2006/main" id="56" idx="2"/>
          </p:cNvCxnSpPr>
          <p:nvPr/>
        </p:nvCxnSpPr>
        <p:spPr>
          <a:xfrm xmlns:a="http://schemas.openxmlformats.org/drawingml/2006/main" flipH="1">
            <a:off x="6327458" y="3792856"/>
            <a:ext cx="26670" cy="3933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74" name=""/>
          <p:cNvCxnSpPr>
            <a:stCxn xmlns:a="http://schemas.openxmlformats.org/drawingml/2006/main" id="56" idx="6"/>
            <a:endCxn xmlns:a="http://schemas.openxmlformats.org/drawingml/2006/main" id="58" idx="2"/>
          </p:cNvCxnSpPr>
          <p:nvPr/>
        </p:nvCxnSpPr>
        <p:spPr>
          <a:xfrm xmlns:a="http://schemas.openxmlformats.org/drawingml/2006/main">
            <a:off x="6394133" y="4186238"/>
            <a:ext cx="4000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5F083A-0487-41AD-BB14-64E985B4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624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one intended walker</a:t>
            </a:r>
          </a:p>
        </p:txBody>
      </p:sp>
      <p:sp>
        <p:nvSpPr>
          <p:cNvPr id="76" name="pose-stream">
            <a:extLst xmlns:a="http://schemas.openxmlformats.org/drawingml/2006/main">
              <a:ext uri="{FF2B5EF4-FFF2-40B4-BE49-F238E27FC236}">
                <a16:creationId xmlns:a16="http://schemas.microsoft.com/office/drawing/2014/main" id="{0536F629-DF1B-4240-A6B0-F9595C10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18F7CBA-0111-4F4B-A505-B5222BB5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POSE STREAM</a:t>
            </a:r>
          </a:p>
        </p:txBody>
      </p:sp>
      <p:sp>
        <p:nvSpPr>
          <p:cNvPr id="78" name="joint-0">
            <a:extLst xmlns:a="http://schemas.openxmlformats.org/drawingml/2006/main">
              <a:ext uri="{FF2B5EF4-FFF2-40B4-BE49-F238E27FC236}">
                <a16:creationId xmlns:a16="http://schemas.microsoft.com/office/drawing/2014/main" id="{AFBF437B-AB1B-4F81-BABE-F71291C6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148" y="2480882"/>
            <a:ext cx="78105" cy="781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79" name="joint-11">
            <a:extLst xmlns:a="http://schemas.openxmlformats.org/drawingml/2006/main">
              <a:ext uri="{FF2B5EF4-FFF2-40B4-BE49-F238E27FC236}">
                <a16:creationId xmlns:a16="http://schemas.microsoft.com/office/drawing/2014/main" id="{E5E9085D-4416-4F29-927E-000B28D7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538" y="2723007"/>
            <a:ext cx="124968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80" name="joint-12">
            <a:extLst xmlns:a="http://schemas.openxmlformats.org/drawingml/2006/main">
              <a:ext uri="{FF2B5EF4-FFF2-40B4-BE49-F238E27FC236}">
                <a16:creationId xmlns:a16="http://schemas.microsoft.com/office/drawing/2014/main" id="{94254B8E-6CF9-4CFF-9DDD-9156B471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894" y="2723007"/>
            <a:ext cx="124968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81" name="joint-13">
            <a:extLst xmlns:a="http://schemas.openxmlformats.org/drawingml/2006/main">
              <a:ext uri="{FF2B5EF4-FFF2-40B4-BE49-F238E27FC236}">
                <a16:creationId xmlns:a16="http://schemas.microsoft.com/office/drawing/2014/main" id="{7E57A622-DD78-478F-A87E-9BBE3B74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381" y="3043238"/>
            <a:ext cx="78105" cy="781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82" name="joint-14">
            <a:extLst xmlns:a="http://schemas.openxmlformats.org/drawingml/2006/main">
              <a:ext uri="{FF2B5EF4-FFF2-40B4-BE49-F238E27FC236}">
                <a16:creationId xmlns:a16="http://schemas.microsoft.com/office/drawing/2014/main" id="{E8152E76-7476-4B68-8F84-714D1C6D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3915" y="3043238"/>
            <a:ext cx="78105" cy="781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83" name="joint-15">
            <a:extLst xmlns:a="http://schemas.openxmlformats.org/drawingml/2006/main">
              <a:ext uri="{FF2B5EF4-FFF2-40B4-BE49-F238E27FC236}">
                <a16:creationId xmlns:a16="http://schemas.microsoft.com/office/drawing/2014/main" id="{5EEE173E-3FC5-48D6-B967-DF4B43D4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897" y="3355657"/>
            <a:ext cx="78105" cy="781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84" name="joint-16">
            <a:extLst xmlns:a="http://schemas.openxmlformats.org/drawingml/2006/main">
              <a:ext uri="{FF2B5EF4-FFF2-40B4-BE49-F238E27FC236}">
                <a16:creationId xmlns:a16="http://schemas.microsoft.com/office/drawing/2014/main" id="{E4524AE3-9C6C-44A7-A866-515F0687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399" y="3355657"/>
            <a:ext cx="78105" cy="781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19050">
            <a:solidFill>
              <a:srgbClr val="6B7C8F"/>
            </a:solidFill>
            <a:prstDash val="solid"/>
          </a:ln>
        </p:spPr>
      </p:sp>
      <p:sp>
        <p:nvSpPr>
          <p:cNvPr id="85" name="joint-23">
            <a:extLst xmlns:a="http://schemas.openxmlformats.org/drawingml/2006/main">
              <a:ext uri="{FF2B5EF4-FFF2-40B4-BE49-F238E27FC236}">
                <a16:creationId xmlns:a16="http://schemas.microsoft.com/office/drawing/2014/main" id="{635AA4D0-AA8F-42F0-BDEE-E0D5949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454" y="3238500"/>
            <a:ext cx="124968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86" name="joint-24">
            <a:extLst xmlns:a="http://schemas.openxmlformats.org/drawingml/2006/main">
              <a:ext uri="{FF2B5EF4-FFF2-40B4-BE49-F238E27FC236}">
                <a16:creationId xmlns:a16="http://schemas.microsoft.com/office/drawing/2014/main" id="{D6095295-4641-4793-8989-3C6DCFBF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979" y="3238500"/>
            <a:ext cx="124968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87" name="joint-25">
            <a:extLst xmlns:a="http://schemas.openxmlformats.org/drawingml/2006/main">
              <a:ext uri="{FF2B5EF4-FFF2-40B4-BE49-F238E27FC236}">
                <a16:creationId xmlns:a16="http://schemas.microsoft.com/office/drawing/2014/main" id="{81FE95C2-ADA7-4305-9AF7-299B5187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022" y="3691509"/>
            <a:ext cx="124968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88" name="joint-26">
            <a:extLst xmlns:a="http://schemas.openxmlformats.org/drawingml/2006/main">
              <a:ext uri="{FF2B5EF4-FFF2-40B4-BE49-F238E27FC236}">
                <a16:creationId xmlns:a16="http://schemas.microsoft.com/office/drawing/2014/main" id="{8D528AAC-5FC8-4292-8EA2-CE71D50B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3691509"/>
            <a:ext cx="124968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89" name="joint-27">
            <a:extLst xmlns:a="http://schemas.openxmlformats.org/drawingml/2006/main">
              <a:ext uri="{FF2B5EF4-FFF2-40B4-BE49-F238E27FC236}">
                <a16:creationId xmlns:a16="http://schemas.microsoft.com/office/drawing/2014/main" id="{818628F8-BD48-427C-90B8-90D2D402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159" y="4152329"/>
            <a:ext cx="124968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90" name="joint-28">
            <a:extLst xmlns:a="http://schemas.openxmlformats.org/drawingml/2006/main">
              <a:ext uri="{FF2B5EF4-FFF2-40B4-BE49-F238E27FC236}">
                <a16:creationId xmlns:a16="http://schemas.microsoft.com/office/drawing/2014/main" id="{DF1FFB27-CCDC-4982-9E8C-5C4B6AFE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273" y="4152329"/>
            <a:ext cx="124968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91" name="joint-31">
            <a:extLst xmlns:a="http://schemas.openxmlformats.org/drawingml/2006/main">
              <a:ext uri="{FF2B5EF4-FFF2-40B4-BE49-F238E27FC236}">
                <a16:creationId xmlns:a16="http://schemas.microsoft.com/office/drawing/2014/main" id="{03B2BA9A-B178-4294-9338-C5342829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191" y="4308539"/>
            <a:ext cx="124968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sp>
        <p:nvSpPr>
          <p:cNvPr id="92" name="joint-32">
            <a:extLst xmlns:a="http://schemas.openxmlformats.org/drawingml/2006/main">
              <a:ext uri="{FF2B5EF4-FFF2-40B4-BE49-F238E27FC236}">
                <a16:creationId xmlns:a16="http://schemas.microsoft.com/office/drawing/2014/main" id="{3ACA8139-3AD6-423F-B5C9-263FFF60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241" y="4308539"/>
            <a:ext cx="124968" cy="124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19050">
            <a:solidFill>
              <a:srgbClr val="F15A47"/>
            </a:solidFill>
            <a:prstDash val="solid"/>
          </a:ln>
        </p:spPr>
      </p:sp>
      <p:cxnSp>
        <p:nvCxnSpPr>
          <p:cNvPr id="93" name=""/>
          <p:cNvCxnSpPr>
            <a:stCxn xmlns:a="http://schemas.openxmlformats.org/drawingml/2006/main" id="78" idx="6"/>
            <a:endCxn xmlns:a="http://schemas.openxmlformats.org/drawingml/2006/main" id="79" idx="2"/>
          </p:cNvCxnSpPr>
          <p:nvPr/>
        </p:nvCxnSpPr>
        <p:spPr>
          <a:xfrm xmlns:a="http://schemas.openxmlformats.org/drawingml/2006/main" flipH="1">
            <a:off x="9257538" y="2519935"/>
            <a:ext cx="382715" cy="26555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94" name=""/>
          <p:cNvCxnSpPr>
            <a:stCxn xmlns:a="http://schemas.openxmlformats.org/drawingml/2006/main" id="78" idx="6"/>
            <a:endCxn xmlns:a="http://schemas.openxmlformats.org/drawingml/2006/main" id="80" idx="2"/>
          </p:cNvCxnSpPr>
          <p:nvPr/>
        </p:nvCxnSpPr>
        <p:spPr>
          <a:xfrm xmlns:a="http://schemas.openxmlformats.org/drawingml/2006/main">
            <a:off x="9640253" y="2519935"/>
            <a:ext cx="179641" cy="26555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95" name=""/>
          <p:cNvCxnSpPr>
            <a:stCxn xmlns:a="http://schemas.openxmlformats.org/drawingml/2006/main" id="79" idx="6"/>
            <a:endCxn xmlns:a="http://schemas.openxmlformats.org/drawingml/2006/main" id="80" idx="2"/>
          </p:cNvCxnSpPr>
          <p:nvPr/>
        </p:nvCxnSpPr>
        <p:spPr>
          <a:xfrm xmlns:a="http://schemas.openxmlformats.org/drawingml/2006/main">
            <a:off x="9382506" y="2785491"/>
            <a:ext cx="43738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96" name=""/>
          <p:cNvCxnSpPr>
            <a:stCxn xmlns:a="http://schemas.openxmlformats.org/drawingml/2006/main" id="79" idx="6"/>
            <a:endCxn xmlns:a="http://schemas.openxmlformats.org/drawingml/2006/main" id="81" idx="2"/>
          </p:cNvCxnSpPr>
          <p:nvPr/>
        </p:nvCxnSpPr>
        <p:spPr>
          <a:xfrm xmlns:a="http://schemas.openxmlformats.org/drawingml/2006/main" flipH="1">
            <a:off x="9140381" y="2785491"/>
            <a:ext cx="242125" cy="29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97" name=""/>
          <p:cNvCxnSpPr>
            <a:stCxn xmlns:a="http://schemas.openxmlformats.org/drawingml/2006/main" id="81" idx="6"/>
            <a:endCxn xmlns:a="http://schemas.openxmlformats.org/drawingml/2006/main" id="83" idx="2"/>
          </p:cNvCxnSpPr>
          <p:nvPr/>
        </p:nvCxnSpPr>
        <p:spPr>
          <a:xfrm xmlns:a="http://schemas.openxmlformats.org/drawingml/2006/main" flipH="1">
            <a:off x="9077897" y="3082291"/>
            <a:ext cx="140589" cy="31241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98" name=""/>
          <p:cNvCxnSpPr>
            <a:stCxn xmlns:a="http://schemas.openxmlformats.org/drawingml/2006/main" id="80" idx="6"/>
            <a:endCxn xmlns:a="http://schemas.openxmlformats.org/drawingml/2006/main" id="82" idx="2"/>
          </p:cNvCxnSpPr>
          <p:nvPr/>
        </p:nvCxnSpPr>
        <p:spPr>
          <a:xfrm xmlns:a="http://schemas.openxmlformats.org/drawingml/2006/main">
            <a:off x="9944862" y="2785491"/>
            <a:ext cx="39053" cy="29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99" name=""/>
          <p:cNvCxnSpPr>
            <a:stCxn xmlns:a="http://schemas.openxmlformats.org/drawingml/2006/main" id="82" idx="6"/>
            <a:endCxn xmlns:a="http://schemas.openxmlformats.org/drawingml/2006/main" id="84" idx="2"/>
          </p:cNvCxnSpPr>
          <p:nvPr/>
        </p:nvCxnSpPr>
        <p:spPr>
          <a:xfrm xmlns:a="http://schemas.openxmlformats.org/drawingml/2006/main" flipH="1">
            <a:off x="10046399" y="3082291"/>
            <a:ext cx="15621" cy="31241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100" name=""/>
          <p:cNvCxnSpPr>
            <a:stCxn xmlns:a="http://schemas.openxmlformats.org/drawingml/2006/main" id="79" idx="6"/>
            <a:endCxn xmlns:a="http://schemas.openxmlformats.org/drawingml/2006/main" id="85" idx="2"/>
          </p:cNvCxnSpPr>
          <p:nvPr/>
        </p:nvCxnSpPr>
        <p:spPr>
          <a:xfrm xmlns:a="http://schemas.openxmlformats.org/drawingml/2006/main" flipH="1">
            <a:off x="9343454" y="2785491"/>
            <a:ext cx="39052" cy="51549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101" name=""/>
          <p:cNvCxnSpPr>
            <a:stCxn xmlns:a="http://schemas.openxmlformats.org/drawingml/2006/main" id="80" idx="6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H="1">
            <a:off x="9733979" y="2785491"/>
            <a:ext cx="210883" cy="51549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102" name=""/>
          <p:cNvCxnSpPr>
            <a:stCxn xmlns:a="http://schemas.openxmlformats.org/drawingml/2006/main" id="85" idx="6"/>
            <a:endCxn xmlns:a="http://schemas.openxmlformats.org/drawingml/2006/main" id="86" idx="2"/>
          </p:cNvCxnSpPr>
          <p:nvPr/>
        </p:nvCxnSpPr>
        <p:spPr>
          <a:xfrm xmlns:a="http://schemas.openxmlformats.org/drawingml/2006/main">
            <a:off x="9468422" y="3300984"/>
            <a:ext cx="26555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103" name=""/>
          <p:cNvCxnSpPr>
            <a:stCxn xmlns:a="http://schemas.openxmlformats.org/drawingml/2006/main" id="85" idx="6"/>
            <a:endCxn xmlns:a="http://schemas.openxmlformats.org/drawingml/2006/main" id="87" idx="2"/>
          </p:cNvCxnSpPr>
          <p:nvPr/>
        </p:nvCxnSpPr>
        <p:spPr>
          <a:xfrm xmlns:a="http://schemas.openxmlformats.org/drawingml/2006/main" flipH="1">
            <a:off x="9320022" y="3300984"/>
            <a:ext cx="148400" cy="45300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104" name=""/>
          <p:cNvCxnSpPr>
            <a:stCxn xmlns:a="http://schemas.openxmlformats.org/drawingml/2006/main" id="87" idx="6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H="1">
            <a:off x="9273159" y="3753993"/>
            <a:ext cx="171831" cy="4608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105" name=""/>
          <p:cNvCxnSpPr>
            <a:stCxn xmlns:a="http://schemas.openxmlformats.org/drawingml/2006/main" id="89" idx="6"/>
            <a:endCxn xmlns:a="http://schemas.openxmlformats.org/drawingml/2006/main" id="91" idx="2"/>
          </p:cNvCxnSpPr>
          <p:nvPr/>
        </p:nvCxnSpPr>
        <p:spPr>
          <a:xfrm xmlns:a="http://schemas.openxmlformats.org/drawingml/2006/main" flipH="1">
            <a:off x="9148191" y="4214813"/>
            <a:ext cx="249936" cy="1562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106" name=""/>
          <p:cNvCxnSpPr>
            <a:stCxn xmlns:a="http://schemas.openxmlformats.org/drawingml/2006/main" id="86" idx="6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H="1">
            <a:off x="9757410" y="3300984"/>
            <a:ext cx="101537" cy="45300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107" name=""/>
          <p:cNvCxnSpPr>
            <a:stCxn xmlns:a="http://schemas.openxmlformats.org/drawingml/2006/main" id="88" idx="6"/>
            <a:endCxn xmlns:a="http://schemas.openxmlformats.org/drawingml/2006/main" id="90" idx="2"/>
          </p:cNvCxnSpPr>
          <p:nvPr/>
        </p:nvCxnSpPr>
        <p:spPr>
          <a:xfrm xmlns:a="http://schemas.openxmlformats.org/drawingml/2006/main" flipH="1">
            <a:off x="9804273" y="3753993"/>
            <a:ext cx="78105" cy="4608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cxnSp>
        <p:nvCxnSpPr>
          <p:cNvPr id="108" name=""/>
          <p:cNvCxnSpPr>
            <a:stCxn xmlns:a="http://schemas.openxmlformats.org/drawingml/2006/main" id="90" idx="6"/>
            <a:endCxn xmlns:a="http://schemas.openxmlformats.org/drawingml/2006/main" id="92" idx="2"/>
          </p:cNvCxnSpPr>
          <p:nvPr/>
        </p:nvCxnSpPr>
        <p:spPr>
          <a:xfrm xmlns:a="http://schemas.openxmlformats.org/drawingml/2006/main">
            <a:off x="9929241" y="4214813"/>
            <a:ext cx="0" cy="1562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A2AF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BE2118-7825-4BA8-9CC5-93A093A8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3219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33 landmarks × (x, y, z, visibility)</a:t>
            </a:r>
          </a:p>
        </p:txBody>
      </p:sp>
      <p:cxnSp>
        <p:nvCxnSpPr>
          <p:cNvPr id="110" name=""/>
          <p:cNvCxnSpPr>
            <a:stCxn xmlns:a="http://schemas.openxmlformats.org/drawingml/2006/main" id="4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4229100" y="3505200"/>
            <a:ext cx="7239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15A47"/>
            </a:solidFill>
            <a:prstDash val="solid"/>
            <a:headEnd type="none" w="med" len="med"/>
          </a:ln>
        </p:spPr>
      </p:cxnSp>
      <p:cxnSp>
        <p:nvCxnSpPr>
          <p:cNvPr id="111" name=""/>
          <p:cNvCxnSpPr>
            <a:stCxn xmlns:a="http://schemas.openxmlformats.org/drawingml/2006/main" id="42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 flipV="1">
            <a:off x="7296150" y="3505200"/>
            <a:ext cx="7239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823AC50-D67C-4FD1-AEF3-B5AC7E83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FRAME STATUS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3C895FC-8611-42D6-AE0F-D77F782D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FE5C06B-7447-4391-A297-FF6566DB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026487B-AA36-48ED-90BA-AC70ED95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8C3C102-3E55-4BC5-9877-BA9A5A8E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FE7B1E0-5D14-40F0-8EB1-F25D0011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EF565B1-6157-403B-9D61-5A679B2F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FDEE5AF-BF5B-47C8-858A-006190D4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5F647A8-187C-41E2-91FC-A0B55FFE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51735E9-532E-4D57-9550-84D51A49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36C7570-FCFB-4DBD-960D-706F55D7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83A94B-0A9E-4D02-9412-0D93E5B0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1CDB78A-2A42-4313-BD78-F9F4B2E7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2EEAE2F-74DF-4F81-9E08-059E0B2F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F8188E8-34AF-4879-AC0A-18F353A1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FDDEB3C-09D6-488B-81CC-E608599D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DB05F46-4ABF-480E-9AF1-29C8E9DC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7A5E613-A92C-4F57-9411-AB8C75B8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63EA30C-B3FB-4587-8532-A5A6701F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3E6C99A-6B97-4790-9A92-C3AB45C3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5FB99FF-F8B5-4874-8393-1622E9E3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8C1870D-7F18-472F-B68E-9A44E9DD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86FBC21-4BFB-4AA8-A103-E5241B0D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3D76A48-1464-42E7-A0CB-168DAFFD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A06A2F8-A640-4CA8-912C-E32240B0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03301B7-0F4A-4D93-BB77-52A37A25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C81678B-3FEE-4812-9AEA-2FDB5216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A4BED22-B3B9-410D-AD3E-BCBA1748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5629FA8-0F45-45BB-8594-93AB09ED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A230332-1AD3-4464-AB83-FB36DDAA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77033DD-B8CB-45B2-A8C1-5427160C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229DF83-6D7E-4DB3-B7F5-EC3BCF6C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A21201A-DCC6-4968-B9F8-C554DA8F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BDB21EE-ACFD-456B-AA32-E34FB3F9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F703ABE-9D58-4BF8-8EE5-C9720F03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EF8EE7E-DF99-49D3-BFC2-6D8BA580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4483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6E1E65D-B211-41D9-8B04-1A36694E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467350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8ACC086-0271-4A87-95EB-C3FF66B8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10200"/>
            <a:ext cx="3562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Failed detections remain explicit, then interpolation uses visibility-aware rules.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B75CA6A-9380-4008-87D1-4713C78B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3238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7721F38-A7A6-49C4-B2CE-60886973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z IS RELATIVE MONOCULAR DEPTH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9B51D72-6C6D-4FF0-A6D7-94BBE84C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9626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It is not calibrated 3D ground truth.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18ABBAD-BD91-4399-9D8C-CA717D9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2273669-1320-4FA1-BDFF-1A0C4BDC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Source: tutorial notebook 02; MediaPipe BlazePose output contract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025693E-1209-4FFD-AAA0-8ED7696A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87353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DE7668F-8C29-4CC1-9043-91CCF429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D52F3BF-D719-4A85-98AB-D41C668D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TOKENIZATION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4FE3C-56C8-4FB5-9AB9-E89321D5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Four-frame joint patches convert a cleaned clip into the exact token lattice used by both encoders.</a:t>
            </a:r>
          </a:p>
        </p:txBody>
      </p:sp>
      <p:sp>
        <p:nvSpPr>
          <p:cNvPr id="4" name="prep-0">
            <a:extLst xmlns:a="http://schemas.openxmlformats.org/drawingml/2006/main">
              <a:ext uri="{FF2B5EF4-FFF2-40B4-BE49-F238E27FC236}">
                <a16:creationId xmlns:a16="http://schemas.microsoft.com/office/drawing/2014/main" id="{FFC0ADA5-1873-43B9-92E8-CDE49958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466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F6B31-A202-4DC9-8F51-57E9BFD7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162050" cy="32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Interpolate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D9E3C-C44C-4610-820B-9D4EE469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visibility-aware</a:t>
            </a:r>
          </a:p>
        </p:txBody>
      </p:sp>
      <p:sp>
        <p:nvSpPr>
          <p:cNvPr id="7" name="prep-1">
            <a:extLst xmlns:a="http://schemas.openxmlformats.org/drawingml/2006/main">
              <a:ext uri="{FF2B5EF4-FFF2-40B4-BE49-F238E27FC236}">
                <a16:creationId xmlns:a16="http://schemas.microsoft.com/office/drawing/2014/main" id="{C1D3E74C-EBA5-4990-9AC6-D6ED703C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09750"/>
            <a:ext cx="1466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CA5EB-3572-4B63-B7B4-6B05F700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1162050" cy="32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6EAE0-E519-43A1-96B5-CBB87092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47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mid-hip origin</a:t>
            </a:r>
          </a:p>
        </p:txBody>
      </p:sp>
      <p:cxnSp>
        <p:nvCxnSpPr>
          <p:cNvPr id="10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76450" y="2219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11" name="prep-2">
            <a:extLst xmlns:a="http://schemas.openxmlformats.org/drawingml/2006/main">
              <a:ext uri="{FF2B5EF4-FFF2-40B4-BE49-F238E27FC236}">
                <a16:creationId xmlns:a16="http://schemas.microsoft.com/office/drawing/2014/main" id="{5C540AD1-4981-43A8-A2E3-11EACF67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09750"/>
            <a:ext cx="1466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57333-A7E7-4C08-A423-650B1885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05000"/>
            <a:ext cx="1162050" cy="32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3EE48-4BF4-463C-AF03-25BD8AE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shoulder/hip scale</a:t>
            </a:r>
          </a:p>
        </p:txBody>
      </p:sp>
      <p:cxnSp>
        <p:nvCxnSpPr>
          <p:cNvPr id="1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790950" y="2219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15" name="prep-3">
            <a:extLst xmlns:a="http://schemas.openxmlformats.org/drawingml/2006/main">
              <a:ext uri="{FF2B5EF4-FFF2-40B4-BE49-F238E27FC236}">
                <a16:creationId xmlns:a16="http://schemas.microsoft.com/office/drawing/2014/main" id="{D2C01DBC-535F-41F2-89E6-62ED544B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09750"/>
            <a:ext cx="1466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46C3C-2EE2-4BE7-A0E8-EE08AEED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1162050" cy="32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AC47C-0060-4D34-9A4F-325561EA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64 frames, real</a:t>
            </a:r>
          </a:p>
        </p:txBody>
      </p:sp>
      <p:cxnSp>
        <p:nvCxnSpPr>
          <p:cNvPr id="18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505450" y="2219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19" name="prep-4">
            <a:extLst xmlns:a="http://schemas.openxmlformats.org/drawingml/2006/main">
              <a:ext uri="{FF2B5EF4-FFF2-40B4-BE49-F238E27FC236}">
                <a16:creationId xmlns:a16="http://schemas.microsoft.com/office/drawing/2014/main" id="{1A844245-3EC3-4641-AFE7-4C19F73D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09750"/>
            <a:ext cx="1466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708FF-747C-43FF-A16A-E9B9D1BA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1162050" cy="32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62F16-C7E6-417E-A156-BEA608D1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9D7E1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9D7E1"/>
                </a:solidFill>
                <a:latin typeface="Aptos Mono"/>
                <a:ea typeface="Aptos Mono"/>
                <a:cs typeface="Aptos Mono"/>
              </a:rPr>
              <a:t>x, y, relative z</a:t>
            </a:r>
          </a:p>
        </p:txBody>
      </p:sp>
      <p:cxnSp>
        <p:nvCxnSpPr>
          <p:cNvPr id="2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219950" y="2219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B793A-953C-48C0-A6F9-714B8165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2057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A9868-B8E6-4F88-9019-47E89372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50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[64, 33, 3]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9F363-84C6-4BB7-9940-415B9ADA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1DEC6-9047-434C-A34D-68501274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PATCHIFY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0A6A35-8CB6-4564-8290-3F47949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 consecutive frames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ACA510-3F61-4D7B-ACA4-0DC06F81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42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63C013-0645-44CA-BB13-E9A53B48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5D4D13-0333-4D59-B852-36F62282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342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CECB47-3116-4A62-B8E5-A928FCCC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767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4A3342-18D4-4A30-B1B7-A3654CBA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342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FF82D-D64F-41B2-946B-EA42D46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C22E28-1607-4EAC-B4D4-06E79FFA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342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472FC4-25D2-45AC-A1C5-0F05FF69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767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688604-003E-46D1-B088-DF0C4FD8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× one joint × 3 coordinates</a:t>
            </a:r>
          </a:p>
        </p:txBody>
      </p:sp>
      <p:sp>
        <p:nvSpPr>
          <p:cNvPr id="37" name="patch-vector">
            <a:extLst xmlns:a="http://schemas.openxmlformats.org/drawingml/2006/main">
              <a:ext uri="{FF2B5EF4-FFF2-40B4-BE49-F238E27FC236}">
                <a16:creationId xmlns:a16="http://schemas.microsoft.com/office/drawing/2014/main" id="{226A287B-86BF-4248-B61D-A34315E6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1828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9744B8-CBE0-4568-904D-D64CC3ED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patch vector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A55B12-9DDC-4B15-91D0-C3F41DB0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4 × 3 = 12 values</a:t>
            </a:r>
          </a:p>
        </p:txBody>
      </p:sp>
      <p:sp>
        <p:nvSpPr>
          <p:cNvPr id="40" name="token-lattice">
            <a:extLst xmlns:a="http://schemas.openxmlformats.org/drawingml/2006/main">
              <a:ext uri="{FF2B5EF4-FFF2-40B4-BE49-F238E27FC236}">
                <a16:creationId xmlns:a16="http://schemas.microsoft.com/office/drawing/2014/main" id="{94B2AD5F-9F95-4A94-8785-604E198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67100"/>
            <a:ext cx="59055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cxnSp>
        <p:nvCxnSpPr>
          <p:cNvPr id="41" name=""/>
          <p:cNvCxnSpPr>
            <a:stCxn xmlns:a="http://schemas.openxmlformats.org/drawingml/2006/main" id="3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2324100" y="4248150"/>
            <a:ext cx="81915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42" name=""/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4972050" y="4248150"/>
            <a:ext cx="4762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863AD5-24AB-4456-9A8B-545B0CA6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385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TOKEN LATTICE · SCHEMATIC SLICE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CD6726-BF97-44ED-84E4-96BD0389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59E839-9918-4F5A-9BEB-7D077068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604D8F-5638-4CA0-B2BB-6C80125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7E9460-7A9F-4183-A72E-E17AA40A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539B84-DB86-476D-BD73-D507BB09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2BEAF2-CD2E-4949-97BA-01CC236C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C57DF9-9866-4C05-AF5C-964108A5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95C8B3-AA6E-4B72-BD0A-ECD37609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6E1C4C-7F32-4318-A552-FFB84171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D4DF05-504D-4649-826B-AD12093F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5BEF9C-2251-4593-BEFA-C02F733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5A919A-BDDA-45CD-92CB-71E2FFD0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1D63F3-2A63-402C-AA3F-4AF04FE4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E73F47-028C-46B4-864F-2B82C6AA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5CBBC3-8C99-4B15-A54F-069E08E3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3270BF-F4D0-4B85-9BB5-762169CB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386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522898-0C1C-4A1B-AFEA-8FFBFBDC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A42509-713F-4F4E-BBD8-9965FCD8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08B651-D850-4383-8097-A1749472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513E19-61A6-46C4-B56D-28F33F96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8DA9BA-3AF4-480D-89C1-A008CB4B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E55E5A6-28C6-4CBC-9CA5-A0F2010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78A16E7-235D-449F-B0B7-7341B7B5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1BBDA6-7997-435E-B361-FB5F78FF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7BF4E18-9A3D-4764-B9DF-8572CE3D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F0E7E6-8EF4-49D8-B550-B5C4B38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38424E-13FE-4777-9DFC-7E8F7101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05253D-393D-407B-8A90-B5C39800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87E8FA-325A-42FA-B3C6-3CCAD984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CE32DCE-0B7C-45F5-8403-98DB00AF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91EA06-5663-4F34-A47A-B8BED00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AC69D7-EB67-4617-BB86-0E9FF9F6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2576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EC7621-4702-4CF3-9DA8-6F65A2C8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5BAB8C-67B1-4413-BD41-EF7DCFD9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6BCF644-E466-4060-9E8D-DF0C4208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CF0BC7C-ADE8-455C-9E37-64B28AF9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A088DB2-6BC6-4A51-B36E-4F3E09F4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85796B3-D31D-4952-B2F9-3CC60164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2EC1FDB-E364-4CCD-BDB8-9E7442F4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C0102E-7B7C-4CED-BA6D-D05F80C4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1103A3-1577-4742-83DA-0FF1CE78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DB1705D-854C-466E-9E4D-E286AF2C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D3D81D9-2B14-47A4-82A8-C8229F20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9DA957B-922E-43FB-B18D-3EFBB62E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9D6E780-7884-4727-9BB1-F3DFEBBA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BDC0C5A-344E-4D5C-BF98-F6008668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29EB61-C257-4EB4-8B75-4606D9DE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ED0F6EC-83CD-47F8-8110-1E9E17A0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F2D7BAB-DAA9-4CDC-A30B-10E93C91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73F9F3B-5631-4815-86DB-80D2C959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FE2B1C-7A4F-42A7-80C1-638CFD60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6159459-3BAB-4A27-936B-B238F55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D6F9F0F-EB1C-4C5D-ABEB-08A9E2DA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2674009-5F6C-405A-89F9-052DACAF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F90EBC-3E46-4311-B280-312C6FAD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9E4039F-CA4A-4115-A0A9-53EB5603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0BE375-5AE6-4A37-8AEF-6BB3C88A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C757DFD-8011-48E4-A312-720C886B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B61027F-93B6-40F6-804C-8A1596FD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4AFFFB3-4498-4086-BBA8-6718A7AB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3D31116-AB2D-4FA7-BFCC-5A9F4DD1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B7A7555-B63F-4BEF-99F8-32D84FF1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32E6E55-DD95-4516-BCE5-D61A52B9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DBD6D85-2D47-4320-B024-3CA04F2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69582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264954D-CAD0-498D-BDB1-C4903E1E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486C8FB-4312-43B3-9E09-D2E8275F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C20B36B-9297-491C-9841-21F7B09E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D5F63DC-5404-4287-A293-ADEC97E1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DD22B0A-2373-436B-8119-972460F2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1480DED-0A1A-4E22-B22C-87E5896C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F31A4D7-3372-43E8-83C8-6B47142E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33E551C-F337-44C1-AF9E-D5788C65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9325433-6C65-4551-9132-9CA54610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87E4418-619B-4E8D-A6A5-D5F16056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A3A63E4-7D69-4410-9164-253EEDC7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F9480EA-0612-4B12-B55B-43C6044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6C8A5FB-7E0B-45EF-AE3C-5E72CEC4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EDE87BB-F83D-4C66-8C8A-E4114FA5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F1DB0D5-5625-43F1-9C17-C8A5752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045FAC9-6194-4DDE-ADE7-C2E9ECCF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914900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9511E3A-1331-4482-A79F-7F5D830B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5C82586-15F4-4883-825A-BFE66A1A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39B7D75-54AF-4545-873F-477D62C8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E4F6CAF-45D8-4845-B7F9-E29F947E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5AA6488-B023-4A2F-8E89-0A5E9591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9B03A6A-3E22-4D6E-88F2-855168DA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F58F0EF-A4B7-456F-8087-6DA9F4F1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9F215FE-016E-4055-B0DD-647CDC73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3E9182A-F90E-4F40-A118-DE886EFC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4F2909B-D8E2-4683-A236-B2F29D67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A5D1BFB-E69A-4390-B0C7-9C143CC2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A812541-03CC-4B40-9430-24639042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C6F49AD-E509-442E-B807-E005C7CE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A66E6A7-4D81-4C7B-B545-D7D9FB47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24B8855-B85E-44D4-9AA7-AAC099C7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E63E1EC-B8C2-42B6-86BB-0B2893A8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133975"/>
            <a:ext cx="228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80C2CAB-B118-41ED-A40C-17E54527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16 time segments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800EBCA-FD93-448C-B545-D46FFBAA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772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full lattice: 16 × 33 = 528 tokens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BF18F08-5958-44EB-88B5-5D87E881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0579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One token represents one joint over one four-frame segment.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FBC31B3-D134-46A6-A0C9-75E61C6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B8369BD-C569-4507-849E-9B41F2E8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Sources: tutorial notebooks 00 and 04; real-mode default T = 64, segment length = 4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DDEBC3A-8CB5-4AE2-8583-36C3647F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2631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9146C2-8ED7-4EA8-AF72-5382A0EC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6E2AA0-DE08-48A1-A9E2-915A5C1D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ONE TRAINING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18C07-C0E7-4252-AF61-E66BFCCE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Three coupled updates make S-JEPA work: predictor gradients, teacher EMA, and center EMA.</a:t>
            </a:r>
          </a:p>
        </p:txBody>
      </p:sp>
      <p:sp>
        <p:nvSpPr>
          <p:cNvPr id="4" name="sample">
            <a:extLst xmlns:a="http://schemas.openxmlformats.org/drawingml/2006/main">
              <a:ext uri="{FF2B5EF4-FFF2-40B4-BE49-F238E27FC236}">
                <a16:creationId xmlns:a16="http://schemas.microsoft.com/office/drawing/2014/main" id="{C0BF077A-B98B-4749-9F1A-D815D753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676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6C78B-9C00-433B-9C80-8775EB47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1 ·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F666C-41FB-4D66-8052-540AE96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FB2A6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FB2A6"/>
                </a:solidFill>
                <a:latin typeface="Aptos Mono"/>
                <a:ea typeface="Aptos Mono"/>
                <a:cs typeface="Aptos Mono"/>
              </a:rPr>
              <a:t>uniform ten-joint mask</a:t>
            </a:r>
          </a:p>
        </p:txBody>
      </p:sp>
      <p:sp>
        <p:nvSpPr>
          <p:cNvPr id="7" name="online">
            <a:extLst xmlns:a="http://schemas.openxmlformats.org/drawingml/2006/main">
              <a:ext uri="{FF2B5EF4-FFF2-40B4-BE49-F238E27FC236}">
                <a16:creationId xmlns:a16="http://schemas.microsoft.com/office/drawing/2014/main" id="{84411417-97FD-45BF-85C7-3753380E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4C56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00F61-8129-48D9-B2A1-142F1F44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050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2A · Online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E6794-8512-4F16-A26D-A8491E3A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479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FE5DE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BFE5DE"/>
                </a:solidFill>
                <a:latin typeface="Aptos Mono"/>
                <a:ea typeface="Aptos Mono"/>
                <a:cs typeface="Aptos Mono"/>
              </a:rPr>
              <a:t>view encoder + predictor</a:t>
            </a:r>
          </a:p>
        </p:txBody>
      </p:sp>
      <p:sp>
        <p:nvSpPr>
          <p:cNvPr id="10" name="teacher">
            <a:extLst xmlns:a="http://schemas.openxmlformats.org/drawingml/2006/main">
              <a:ext uri="{FF2B5EF4-FFF2-40B4-BE49-F238E27FC236}">
                <a16:creationId xmlns:a16="http://schemas.microsoft.com/office/drawing/2014/main" id="{B8E488D9-EA30-45E4-AB77-B1FFBD0C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2895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5A4D1C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EBC2D-DBB2-459D-B49C-AA5B5535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242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2B · Teacher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70E1B-10F6-4183-899A-F5F3E30B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671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9EAB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9EAB3"/>
                </a:solidFill>
                <a:latin typeface="Aptos Mono"/>
                <a:ea typeface="Aptos Mono"/>
                <a:cs typeface="Aptos Mono"/>
              </a:rPr>
              <a:t>full target encoder</a:t>
            </a:r>
          </a:p>
        </p:txBody>
      </p:sp>
      <p:sp>
        <p:nvSpPr>
          <p:cNvPr id="13" name="objective">
            <a:extLst xmlns:a="http://schemas.openxmlformats.org/drawingml/2006/main">
              <a:ext uri="{FF2B5EF4-FFF2-40B4-BE49-F238E27FC236}">
                <a16:creationId xmlns:a16="http://schemas.microsoft.com/office/drawing/2014/main" id="{26BB5160-F9A9-4ED3-A482-70E16224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1935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823C2-01C4-47D7-BEEB-8142D1C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146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· 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8EEE4-BE4B-4A4E-B923-E8BB5B6E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centered latent CE</a:t>
            </a:r>
          </a:p>
        </p:txBody>
      </p:sp>
      <p:sp>
        <p:nvSpPr>
          <p:cNvPr id="16" name="record">
            <a:extLst xmlns:a="http://schemas.openxmlformats.org/drawingml/2006/main">
              <a:ext uri="{FF2B5EF4-FFF2-40B4-BE49-F238E27FC236}">
                <a16:creationId xmlns:a16="http://schemas.microsoft.com/office/drawing/2014/main" id="{929D07FA-E4D0-4F72-B304-F6493D5D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26860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5270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8B344-9E77-4C7F-A2AA-BCD22DCC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4 · Record diagnostics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FDFEB-67E7-4F5D-9F11-B7A04C52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loss · entropy · feature spread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86000" y="2257425"/>
            <a:ext cx="571500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86000" y="2867025"/>
            <a:ext cx="571500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67250" y="2257425"/>
            <a:ext cx="628650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2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667250" y="2867025"/>
            <a:ext cx="628650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2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05650" y="28670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15A47"/>
            </a:solidFill>
            <a:prstDash val="solid"/>
            <a:headEnd type="non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AEF08-9DC8-4C79-91F8-CDADAC86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1FE449-B743-46AE-ADC4-F3785150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7177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PARALLEL BRANCHES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4F2EB-5968-47BB-9087-096CD0E1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F6C663-0F7E-4FDF-AF7C-51CE1E37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409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D27E1C-8205-4ED8-BB55-96E1C3C6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GRADIENT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3CF2F-0885-4BB4-BFCA-F5B1FB43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10075"/>
            <a:ext cx="472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AdamW updates view encoder + predictor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E868DD-0AB1-4DB7-878E-1EF72FDF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19625"/>
            <a:ext cx="523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Teacher receives no gradient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DE34E3-11D4-4745-A13E-195218AC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48175"/>
            <a:ext cx="3752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52708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8433A0-DD1A-4AC7-9A5F-149B8BA4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FE5D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BFE5DE"/>
                </a:solidFill>
                <a:latin typeface="Aptos Mono"/>
                <a:ea typeface="Aptos Mono"/>
                <a:cs typeface="Aptos Mono"/>
              </a:rPr>
              <a:t>AdamW.step()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A828D4-2446-442E-9BBC-201C8F2D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409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C35179-4329-4FD8-8C2B-51C7D4D3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TEACHER EMA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F803D0-86BD-4B99-8C57-63876FB2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24425"/>
            <a:ext cx="472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θtarget ← m θtarget + (1−m) θview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BDDA40-4F51-4618-9C8E-3B74A5E8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33975"/>
            <a:ext cx="523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tutorial: .996 smoke / .9999 real → 1.0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1AEBF5-FCDC-4E19-9FF2-28E0DE29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62525"/>
            <a:ext cx="3752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52708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F677E9-327B-4A57-BD57-F7A15951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101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no_grad · cosine momentum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B59A3D-ABB8-4A32-8941-E6292C40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409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080318-6312-482E-ABD8-D68A5316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CENTER EMA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78438A-A471-4674-85A4-F05CBC7D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38775"/>
            <a:ext cx="472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center ← .9 center + .1 batch target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644BDF-8A6A-4BA4-8FA2-0D128B88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48325"/>
            <a:ext cx="523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stabilizes sharpened target distribution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142503-77C9-4D2D-B728-93064148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76875"/>
            <a:ext cx="3752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52708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5F76B7-A3D2-4C3D-8D13-D7FC2CF9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245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β = 0.9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AAE168-FDFC-4B44-AD14-A26832F3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3333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D73507-9A9E-4523-BA1A-14202495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PREDICTOR τ = .10 · TARGET τ = .06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63D757-9C59-4B8E-9B0C-F28D943F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019800"/>
            <a:ext cx="741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9D7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7E1"/>
                </a:solidFill>
                <a:latin typeface="Aptos"/>
                <a:ea typeface="Aptos"/>
                <a:cs typeface="Aptos"/>
              </a:rPr>
              <a:t>Teacher EMA, center EMA, and AdamW are three different state updates.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EF2343-06C2-4ED1-994D-364E74A3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40F17A-29A7-4EC7-A4C9-72863653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Source: S-JEPA, ECCV 2024; tutorial training loop in notebook 04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9F235D-AA20-46F0-83D5-C2F238C2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0746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7DC719-C6FE-45C5-843A-45CF2AD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71B387-7EB0-4423-9717-8269931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COLLAPSE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E2BAE-9F89-4EAB-B0C0-B1CDC17A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A falling loss is insufficient evidence that the representation learned motion.</a:t>
            </a:r>
          </a:p>
        </p:txBody>
      </p:sp>
      <p:sp>
        <p:nvSpPr>
          <p:cNvPr id="4" name="diagnostic-header">
            <a:extLst xmlns:a="http://schemas.openxmlformats.org/drawingml/2006/main">
              <a:ext uri="{FF2B5EF4-FFF2-40B4-BE49-F238E27FC236}">
                <a16:creationId xmlns:a16="http://schemas.microsoft.com/office/drawing/2014/main" id="{AF1B7041-7032-4D27-9184-1765766F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442CD-7D61-47E0-B092-57B37DD9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7520C-EBA0-410C-8751-512B0EEF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145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WHAT HEALTHY EVIDENCE LOOKS LIKE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617A7-D3B8-4009-ADE5-0389EDC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14525"/>
            <a:ext cx="440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FAILURE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E0E3D-3BC3-4582-A87E-F3DB3AF9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D4F2A-FB62-4AA3-8769-7B1B66F5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99865-1D73-473D-923F-ED929DB9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Finite latent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B4281-6CD4-4E71-8753-8842684D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52675"/>
            <a:ext cx="3619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Finite across steps; no sudden blow-up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FAA08-06E8-41C0-B662-0B44D1C5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52675"/>
            <a:ext cx="4400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NaN or Inf points to data, masking, or optimizer 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E941F-5DC9-45E7-B617-9A5E62D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6B38F-9AFA-491B-8AE4-A52402B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9B352-CDDC-40D2-AFF6-944C6168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 + predictor entropy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7ED23-CF82-4F92-A784-63191456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43225"/>
            <a:ext cx="3619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Neither distribution saturates; gap stays interpretable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95F4A-5146-4A57-9CC5-4FAF7C13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43225"/>
            <a:ext cx="4400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Very low entropy can indicate collapse; a widening gap signals mismatch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83C7E-24E4-457B-80D6-6A77C693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04FD4-C620-4600-9D2F-C8D462F6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E7BDE-AA76-441E-9655-09F658F5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2CDFF-6F45-4702-AFCF-E4AE55F0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Feature standard deviation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5D00B-BCA4-48C1-A0FA-8639D985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33775"/>
            <a:ext cx="3619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Remains clearly above zero across embedding dimensions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D5F12-E4BC-45F5-BC4A-60292DD0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33775"/>
            <a:ext cx="4400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Near-zero spread means clips map to nearly the same vector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F49E9-CCDF-49AB-A2A7-12933DED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41AB0-E209-4BF5-BFE0-06570C44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8E43B-6D7B-4C39-85F8-6B7D255E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Inter-sample cosine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42F09-D1D5-4662-BD30-014BDC1D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24325"/>
            <a:ext cx="3619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Not every clip pair approaches 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7BB1F5-6AC3-4C76-91F4-B85AD3B5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24325"/>
            <a:ext cx="4400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Near-one similarity across all samples means representation collapse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A42288-D377-44F3-90BB-54136ECB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18D60-CD0C-4EF2-8081-D77FD719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082139-B5CD-43F2-968D-1F92DCCA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8EB49-12A2-4D32-B8DE-7AA992E4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EMA parameter change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E28C51-57E2-4ECF-8709-67954505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14875"/>
            <a:ext cx="3619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Positive after an update, then decays with momentum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03015A-0241-4F47-9E2E-C124FAD1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14875"/>
            <a:ext cx="4400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Exactly zero means the target encoder is not tracking the view encoder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A9B7C5-36B1-486E-A2CE-23747CBC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191243-CCC2-4EF5-91D8-0C1321B9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E48C4A-34F0-4967-A765-0BFB3B0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Mask audit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0638B7-9989-4D17-8BA5-F6C2DC77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05425"/>
            <a:ext cx="3619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Forbidden target count stays exactly zero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D125BC-EC57-4079-9170-4E9432D2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05425"/>
            <a:ext cx="4400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Any nonzero count violates the experiment before accuracy is considered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86E95E-E272-409B-BD52-65ED99B6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EC4084-3779-4435-84F8-46B834B7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2019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AE9157-B48C-443C-B801-593C240F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HARD STOP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799116-53BA-44DE-986B-9197DE2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62650"/>
            <a:ext cx="874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Do not continue to the classifier if the mask, mode fingerprint, loss, or teacher update fails its assertion.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FF25AC-D237-4F03-BF6A-1F659AB5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88A315-66E3-40B3-8C7E-E5AC1E0F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Sources: tutorial notebook 04 training history and collapse diagnostics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1B90A6-703A-4CEC-874F-56501DA8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620955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5D39AF-6658-4DC4-9DD5-408308DD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F17AA1-0F46-45D3-9426-3D606A73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REPRESENTATION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A5EE5-FC0B-475D-911D-6486D019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frozen target encoder produces one auditable embedding per sequence before any classifier sees labels.</a:t>
            </a:r>
          </a:p>
        </p:txBody>
      </p:sp>
      <p:sp>
        <p:nvSpPr>
          <p:cNvPr id="4" name="poses">
            <a:extLst xmlns:a="http://schemas.openxmlformats.org/drawingml/2006/main">
              <a:ext uri="{FF2B5EF4-FFF2-40B4-BE49-F238E27FC236}">
                <a16:creationId xmlns:a16="http://schemas.microsoft.com/office/drawing/2014/main" id="{E418EFC9-E158-4EC4-9068-97A68098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714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E7445-B0AD-4673-95DD-582CE555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Pose clips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91242-F840-4BDA-9483-CF551BDF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all five conditions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[T,33,3]</a:t>
            </a:r>
          </a:p>
        </p:txBody>
      </p:sp>
      <p:sp>
        <p:nvSpPr>
          <p:cNvPr id="7" name="frozen-encoder">
            <a:extLst xmlns:a="http://schemas.openxmlformats.org/drawingml/2006/main">
              <a:ext uri="{FF2B5EF4-FFF2-40B4-BE49-F238E27FC236}">
                <a16:creationId xmlns:a16="http://schemas.microsoft.com/office/drawing/2014/main" id="{0C444855-160A-4902-A46F-18A44BF7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DD634-CF90-4514-A89C-928D70FD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504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Frozen teacher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12459-584C-4C95-AF93-0FD83291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19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target encoder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no fine-tuning</a:t>
            </a:r>
          </a:p>
        </p:txBody>
      </p:sp>
      <p:sp>
        <p:nvSpPr>
          <p:cNvPr id="10" name="pool">
            <a:extLst xmlns:a="http://schemas.openxmlformats.org/drawingml/2006/main">
              <a:ext uri="{FF2B5EF4-FFF2-40B4-BE49-F238E27FC236}">
                <a16:creationId xmlns:a16="http://schemas.microsoft.com/office/drawing/2014/main" id="{5824E502-5B4C-4CDD-A089-19116B20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6F3D8-BC8C-46D6-AABB-B37F3634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1314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Pool 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94175-83E3-4EB5-99BE-217DA4EF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1940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C7A7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C7A7B"/>
                </a:solidFill>
                <a:latin typeface="Aptos Mono"/>
                <a:ea typeface="Aptos Mono"/>
                <a:cs typeface="Aptos Mono"/>
              </a:rPr>
              <a:t>one vector / clip</a:t>
            </a:r>
          </a:p>
        </p:txBody>
      </p:sp>
      <p:sp>
        <p:nvSpPr>
          <p:cNvPr id="13" name="embedding-artifact">
            <a:extLst xmlns:a="http://schemas.openxmlformats.org/drawingml/2006/main">
              <a:ext uri="{FF2B5EF4-FFF2-40B4-BE49-F238E27FC236}">
                <a16:creationId xmlns:a16="http://schemas.microsoft.com/office/drawing/2014/main" id="{8C62FBD4-4C90-4FC5-8DB5-5848695F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0A040-2686-4DEF-9652-DCEF2210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Embedding artifact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419A9-9220-4967-B560-46386686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1940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9D7E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9D7E1"/>
                </a:solidFill>
                <a:latin typeface="Aptos Mono"/>
                <a:ea typeface="Aptos Mono"/>
                <a:cs typeface="Aptos Mono"/>
              </a:rPr>
              <a:t>sequence_embeddings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9D7E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9D7E1"/>
                </a:solidFill>
                <a:latin typeface="Aptos Mono"/>
                <a:ea typeface="Aptos Mono"/>
                <a:cs typeface="Aptos Mono"/>
              </a:rPr>
              <a:t>.parquet</a:t>
            </a:r>
          </a:p>
        </p:txBody>
      </p:sp>
      <p:sp>
        <p:nvSpPr>
          <p:cNvPr id="16" name="classifier-input">
            <a:extLst xmlns:a="http://schemas.openxmlformats.org/drawingml/2006/main">
              <a:ext uri="{FF2B5EF4-FFF2-40B4-BE49-F238E27FC236}">
                <a16:creationId xmlns:a16="http://schemas.microsoft.com/office/drawing/2014/main" id="{48E2FAE9-C0F2-4536-8FB2-56455C2A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9525">
            <a:solidFill>
              <a:srgbClr val="F15A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D069D-A1CF-4309-83EF-58CDDA8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Classifier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491AE-6D2E-46A3-8294-D72A16D9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embedding + label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+ video_id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24100" y="2895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2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10100" y="2895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2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05600" y="2895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2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182100" y="2895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15A47"/>
            </a:solidFill>
            <a:prstDash val="solid"/>
            <a:head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960FE-2D0B-45A9-B40C-BABE39D7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190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84DD6-7C2E-4849-B4DD-3B3537C1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8595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5CB78-A520-4F9F-A579-05EF3CF4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145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LABELS ENTER HERE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E180CF-F489-409E-9424-5A60DA1B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8B6FE8-6ED5-42DE-9740-5304F082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INSPECT BEFORE CLASSIFYING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BEEB95-0884-4D2C-9991-90B85CC0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7B620D-F596-4F45-A7DB-820D3A06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Nearest clips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8BFB7F-91AE-496A-B186-C47A3A55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Do neighbors share plausible motion rather than only a source video?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1B9541-6F09-45D9-BB44-00F4FABE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CF8B23-E8A3-418F-AABF-B9098ACE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Normal reference distance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376377-F1C0-4A66-8034-16292564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How far is each clip from the normal embedding distribution?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EB2057-9C8E-4BCC-8D52-C56B765F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D0AEE3-91AA-4B90-B264-ACC3FB57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2D projection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98DDD6-CF74-4652-BB5B-85775F91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Use PCA or UMAP descriptively, never as evidence of clinical separation.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09DA66-4DF8-48D4-BDAE-223DB47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102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9598C7-4D80-4B80-8C3E-82524DD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53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Provenance columns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E4AA38-178B-4839-8E3D-4324DA5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1975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Retain sequence_id, condition, video_id, mode, and checkpoint fingerprint.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07FB80-DFF3-468D-8F63-7379D18C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No real-mode S-JEPA classification outcome is asserted in this deck.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D82F28-0764-498C-A2BE-8878CB60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237594-53E0-440B-B657-DCF9E09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Sources: tutorial notebooks 05 and 06; frozen target-encoder downstream protocol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CD2F17-F477-4F48-BCAE-E39BD961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25464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2070147-686B-4D05-961E-6D142EF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25E1D2E-9E49-46C8-867E-0E8167B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EVALUATION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5F253-1C96-477F-89FC-01D8A183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capstone reports two exploratory views while Lane B remains the generalization gate.</a:t>
            </a:r>
          </a:p>
        </p:txBody>
      </p:sp>
      <p:sp>
        <p:nvSpPr>
          <p:cNvPr id="4" name="eval-input">
            <a:extLst xmlns:a="http://schemas.openxmlformats.org/drawingml/2006/main">
              <a:ext uri="{FF2B5EF4-FFF2-40B4-BE49-F238E27FC236}">
                <a16:creationId xmlns:a16="http://schemas.microsoft.com/office/drawing/2014/main" id="{0B6364C4-E548-41AF-A29E-05AD4EC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C1F4B-EDEA-41BE-8EEC-95E0FD04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7165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Evaluation 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43A59-A4F9-40DA-ABEB-12FD663D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9D7E1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9D7E1"/>
                </a:solidFill>
                <a:latin typeface="Aptos Mono"/>
                <a:ea typeface="Aptos Mono"/>
                <a:cs typeface="Aptos Mono"/>
              </a:rPr>
              <a:t>embedding + condition + video_id</a:t>
            </a:r>
          </a:p>
        </p:txBody>
      </p:sp>
      <p:sp>
        <p:nvSpPr>
          <p:cNvPr id="7" name="lane-a">
            <a:extLst xmlns:a="http://schemas.openxmlformats.org/drawingml/2006/main">
              <a:ext uri="{FF2B5EF4-FFF2-40B4-BE49-F238E27FC236}">
                <a16:creationId xmlns:a16="http://schemas.microsoft.com/office/drawing/2014/main" id="{F45D5B8F-096C-423B-8983-67E75A39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1435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8E8AC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6B528-18DC-46FC-9663-AB227264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790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0EF82-F910-4B5E-B489-6AC174B5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LANE A · EXPLORATORY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784FD-16C0-47EB-9941-4FB4FB50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Report A1 and A2 separately</a:t>
            </a:r>
          </a:p>
        </p:txBody>
      </p:sp>
      <p:sp>
        <p:nvSpPr>
          <p:cNvPr id="11" name="a-split">
            <a:extLst xmlns:a="http://schemas.openxmlformats.org/drawingml/2006/main">
              <a:ext uri="{FF2B5EF4-FFF2-40B4-BE49-F238E27FC236}">
                <a16:creationId xmlns:a16="http://schemas.microsoft.com/office/drawing/2014/main" id="{92D151DF-EF3A-45BF-854F-131C0AB1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3525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B8647-B4B8-41A4-B909-C4AD05FE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04775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A1 · 96 clips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2A0ED-F7B0-4F21-9288-3F6ACAC1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stratified split</a:t>
            </a:r>
          </a:p>
        </p:txBody>
      </p:sp>
      <p:sp>
        <p:nvSpPr>
          <p:cNvPr id="14" name="a-scale">
            <a:extLst xmlns:a="http://schemas.openxmlformats.org/drawingml/2006/main">
              <a:ext uri="{FF2B5EF4-FFF2-40B4-BE49-F238E27FC236}">
                <a16:creationId xmlns:a16="http://schemas.microsoft.com/office/drawing/2014/main" id="{7F54F4CB-0FBC-46AD-A05E-2BE642A6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13525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FA98A-D653-4BC2-BABC-53BB0F47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104775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A2 · 68 exp5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7082E-D69C-4EE6-B3FB-22FEE05D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38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exact 47/21</a:t>
            </a:r>
          </a:p>
        </p:txBody>
      </p:sp>
      <p:sp>
        <p:nvSpPr>
          <p:cNvPr id="17" name="a-rf">
            <a:extLst xmlns:a="http://schemas.openxmlformats.org/drawingml/2006/main">
              <a:ext uri="{FF2B5EF4-FFF2-40B4-BE49-F238E27FC236}">
                <a16:creationId xmlns:a16="http://schemas.microsoft.com/office/drawing/2014/main" id="{2922B5EF-F4E8-4EEC-9F4F-EC388E54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00500"/>
            <a:ext cx="13525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10BF7-E618-4B24-B641-4DB1CBF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104775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Shared RF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08EB2-FBE8-49CC-BD92-25134C36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scaled · 100 · d5</a:t>
            </a:r>
          </a:p>
        </p:txBody>
      </p:sp>
      <p:cxnSp>
        <p:nvCxnSpPr>
          <p:cNvPr id="2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171700" y="4419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21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848100" y="4419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C14E"/>
            </a:solidFill>
            <a:prstDash val="solid"/>
            <a:head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76EA5-AF67-415C-9573-7ED7071E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2209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483BD-3794-4F06-AB8A-2A5F71C2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292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SEQUENCE-LEVEL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CA090-D8A0-4BF0-A623-796A77A4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8160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A1 is stratified; A2 is exact exp5. Both remain exploratory.</a:t>
            </a:r>
          </a:p>
        </p:txBody>
      </p:sp>
      <p:sp>
        <p:nvSpPr>
          <p:cNvPr id="25" name="lane-b">
            <a:extLst xmlns:a="http://schemas.openxmlformats.org/drawingml/2006/main">
              <a:ext uri="{FF2B5EF4-FFF2-40B4-BE49-F238E27FC236}">
                <a16:creationId xmlns:a16="http://schemas.microsoft.com/office/drawing/2014/main" id="{DC9937F3-BB49-487D-98F3-05E6B9C5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1435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DCEAE5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5B8FAC-301C-4D3D-BF51-14D3D2C0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BDF87-E639-458A-BDC7-D93D6B1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7657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LANE B · GENERALIZATION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17C0D-AB7C-46FB-BEE5-9D076587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76625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Group every stage by source video</a:t>
            </a:r>
          </a:p>
        </p:txBody>
      </p:sp>
      <p:sp>
        <p:nvSpPr>
          <p:cNvPr id="29" name="b-fold">
            <a:extLst xmlns:a="http://schemas.openxmlformats.org/drawingml/2006/main">
              <a:ext uri="{FF2B5EF4-FFF2-40B4-BE49-F238E27FC236}">
                <a16:creationId xmlns:a16="http://schemas.microsoft.com/office/drawing/2014/main" id="{6880C7B6-A202-4C79-8898-7FF5930D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00500"/>
            <a:ext cx="13525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641D55-A2FA-4E20-9683-793855A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104775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Outer fold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924743-5AE1-4652-B28E-8413D8F5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video groups</a:t>
            </a:r>
          </a:p>
        </p:txBody>
      </p:sp>
      <p:sp>
        <p:nvSpPr>
          <p:cNvPr id="32" name="b-pretrain">
            <a:extLst xmlns:a="http://schemas.openxmlformats.org/drawingml/2006/main">
              <a:ext uri="{FF2B5EF4-FFF2-40B4-BE49-F238E27FC236}">
                <a16:creationId xmlns:a16="http://schemas.microsoft.com/office/drawing/2014/main" id="{02D1E98A-548A-4870-AF2C-C77E2C19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13525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A3643A-3533-4CA8-BC20-24CCB980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104775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Pretrain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1C155-709C-4804-9AAC-3DE79770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normal fold only</a:t>
            </a:r>
          </a:p>
        </p:txBody>
      </p:sp>
      <p:sp>
        <p:nvSpPr>
          <p:cNvPr id="35" name="b-score">
            <a:extLst xmlns:a="http://schemas.openxmlformats.org/drawingml/2006/main">
              <a:ext uri="{FF2B5EF4-FFF2-40B4-BE49-F238E27FC236}">
                <a16:creationId xmlns:a16="http://schemas.microsoft.com/office/drawing/2014/main" id="{83540D97-BE5B-42BC-B53B-29107465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13525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0F62E0-37EC-44D3-9F7A-B8A1AF56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95750"/>
            <a:ext cx="104775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Fit + 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CD77AA-DA8A-4537-8BF3-56C7A47D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386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held-out video</a:t>
            </a:r>
          </a:p>
        </p:txBody>
      </p:sp>
      <p:cxnSp>
        <p:nvCxnSpPr>
          <p:cNvPr id="38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001000" y="4419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cxnSp>
        <p:nvCxnSpPr>
          <p:cNvPr id="39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677400" y="4419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C9B07E-0219-400D-9995-6D2014A9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00650"/>
            <a:ext cx="2209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4C29A4-A18E-46FA-8177-4390C313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2922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BLOCKED: 1 NORMAL VIDEO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D76BA1-F0CD-4AA2-866D-958ACC73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24450"/>
            <a:ext cx="2343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Five-class grouped evaluation needs more independent normal videos.</a:t>
            </a:r>
          </a:p>
        </p:txBody>
      </p:sp>
      <p:cxnSp>
        <p:nvCxnSpPr>
          <p:cNvPr id="43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181350" y="2438400"/>
            <a:ext cx="29146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F2C14E"/>
            </a:solidFill>
            <a:prstDash val="solid"/>
            <a:headEnd type="none" w="med" len="med"/>
          </a:ln>
        </p:spPr>
      </p:cxnSp>
      <p:cxnSp>
        <p:nvCxnSpPr>
          <p:cNvPr id="44" name=""/>
          <p:cNvCxnSpPr>
            <a:stCxn xmlns:a="http://schemas.openxmlformats.org/drawingml/2006/main" id="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096000" y="2438400"/>
            <a:ext cx="29146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4BB371-AE23-4D29-8012-C4F38A56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2608EF-18DC-49A4-8A20-3E1555CB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Fold-local S-JEPA pretraining is required in Lane B. Grouping only the Random Forest would still leak representation learning.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BF518C-7AF8-484A-9D23-47B63C6F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54D5F5-F414-4E0E-93A2-EEFB9F7E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Source: tutorial notebook 06 evaluation contract and source-video audit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9ACBEF-05EF-4337-AF93-F4D77D27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898086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2BB98E4-DCD3-4F7D-BFED-0CB69139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BC289A3-4032-4D5F-9F36-EB262BD5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EXACT EXP5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A776C-256D-4246-83AF-BEFFFDF7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exp5 reaches 76.2% accuracy, but all 21 test clips share source videos with training.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51F08-3E2F-4320-9C01-A3B90F60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PREDICTED CLASS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BFC7C-BF12-4581-9CE0-268AC75C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ACTUAL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036F5-FD3A-4A08-AC24-65704AC5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574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EA583-CC18-435E-BCAE-A8357781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33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F5DAC-8684-4C4D-8B2E-41D2823E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574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MYO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58E12-29DD-4F02-A50D-DCA64533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623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MYO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2AE70-7EAD-4880-9EA7-DFA110E2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574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NORM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A28E8-9A5B-4266-82EB-1C9A84B7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90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NORM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FEC1E-4541-4A6C-AB8E-EAA93E5A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574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PD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EADDF-30E7-417C-9752-EDE0F0D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9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PD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8EF2A-8DCA-405C-98B1-1DFADEE9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574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STR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C64ED-E9D7-41C7-83D6-120FD02A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482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F1E8"/>
                </a:solidFill>
                <a:latin typeface="Aptos Mono"/>
                <a:ea typeface="Aptos Mono"/>
                <a:cs typeface="Aptos Mono"/>
              </a:rPr>
              <a:t>STR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0DD11-8F34-449C-8B71-126A3EA4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431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E8F88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FFA11-A572-4A0A-8B09-04C68091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574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4EB49-5552-48A1-996D-855694E4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B3C3B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3FB5E-F905-43C6-A9FE-BC4C23F9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F2A9F-85DA-45BF-8033-2D66C897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431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E3241E-A1DE-48DF-9448-92EA2B83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574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F13AAC-856D-4E5B-AD3B-A70DE057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B3C3B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328FA-52B0-456C-B4CD-5A2ACB17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0DAC2-1AF8-4A09-8B84-D5E0E330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640E3-3D73-45BD-8305-958F0CAE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0D5D2-8378-43A0-8EDA-D7EA5D40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718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66AF1-C175-4880-9CE7-FF261C3D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861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7D916-A115-4211-AA6C-E00489B0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2658E-2AB2-4870-8494-9D03E658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0B5AA1-DD18-4182-AFFF-6D7B8F05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718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5BDD4E-01E6-43F0-B5E4-1A9EB672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861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073BA-DEFA-43D9-8739-5CE0DB3D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1A231B-1F9D-4B20-B303-9E5017C3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861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4DFB23-EA5D-426E-BA19-619380B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718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9187C3-A42B-41C8-A8E2-21DCE621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D8514E-03BD-428A-9655-FB5E4855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004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627073-A45B-42AB-9476-0CF2BFC6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82799C-9BB7-45AD-B092-E0D0C68E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D5622B-4C98-4708-943C-56BB0E45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147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28CF1F-7F91-4096-AF3D-656BCFE9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004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E8F88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2D01EE-7BA5-4D05-8865-9F1CA301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147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62328A-B349-406A-80B7-FD018266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04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032885-CF78-4060-8996-16D4D431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147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C7A86D-CCF3-43E9-81F8-C3FE540F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B4626F-62E9-44A0-AAA8-FA030BF6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01B250-0AE7-4D64-9E8F-4799CE90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291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B3C3B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A1582E-6ABF-493C-A448-65BD66CA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CF6B45-607A-4F59-A41F-C0E352C3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291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7B27C8-368F-40C2-8668-E4764008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434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B4AEB1-842E-4626-9A34-E3A80325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291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5C32C9-6D6A-4333-BCD1-78C36437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434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59ED55-E3B5-4FE0-98E2-5A6A04FA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7A6A1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A0E6B4-B71C-440C-9045-051049DC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D63D6C-D48C-40A5-9DBC-B1A5AFD0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291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693275-0225-46C3-AF30-9DE11174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434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993509-994C-48E6-986E-A47C7AB3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577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B3C3B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BFB624-7D9A-4086-8203-35F8270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720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5A9C86-AA33-41AC-B8A2-0F2FA3D2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B3C3B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EB5DD2-D650-438B-B67D-4873565F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720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D7D5E6-BBAE-4558-98B2-A43A5ADB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577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1C7DDA-05E9-40E6-BF39-E42037C9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C11496-C08C-457B-B42F-402333DF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577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D5C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853E18-238F-4AC3-854A-CB04EB3B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720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7790A3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7B07A7-C003-4FF4-B2BC-2A90C3C1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577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7A6A1"/>
          </a:solidFill>
          <a:ln xmlns:a="http://schemas.openxmlformats.org/drawingml/2006/main" w="9525">
            <a:solidFill>
              <a:srgbClr val="284D6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A133AD-F331-4D8C-944B-08862AB2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720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699E3C-3B11-4D20-A1D5-63DB75A9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3880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Rows and columns: cerebral palsy, myopathic, normal, Parkinson's, stroke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9830F9-67A0-48BB-AFB4-B08BA957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526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70647E-AE81-4895-A193-E7A0E7F7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76450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76.2%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9D95087-DBB5-457E-8EF6-0EBB8511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test accuracy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D11D33-A20A-431B-8F0F-175F74DA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7177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16 correct / 21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D9B65A-DDE4-4D26-BD82-38EB6CF5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7202AC-036C-45ED-A810-774601B8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0.728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B57AD6B-87F9-421D-95CE-93A32261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336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macro-F1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C7B287-03E0-44FC-B858-886BF47D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7177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five classes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F6CB38-68D9-46E9-B63B-A719620D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576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A531AF-485C-4BA6-8992-2DD91619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21 / 21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EE66792-7C8E-46B6-B74B-45BAE170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test clips overlap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C736470-1E77-4753-B35E-DD649C55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7672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with training videos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2C761C-030E-44A4-9C4A-8B2410C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63E9A1-D4F5-4DAD-8CF1-325871E7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81400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3173B50-4043-4CEE-A204-BA5283D8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386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videos cross split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000917-C55D-406F-981E-03C7D87F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7672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source overlap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5B0A68A-F2F7-4239-A46F-13E50A39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19700"/>
            <a:ext cx="3981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4F2245B-E2AD-4B98-82E6-717D5EB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48275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SEQUENCE-LEVEL REFERENCE · NOT GENERALIZATION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B4C4205-B994-46CB-8B4E-B216F97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57850"/>
            <a:ext cx="398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All 12 normal clips come from a single source video.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A637C1-54CC-4617-9093-6D7BF7F3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96A4845-6E76-4A93-B89F-354D02D4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B9C9D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9D5"/>
                </a:solidFill>
                <a:latin typeface="Aptos"/>
                <a:ea typeface="Aptos"/>
                <a:cs typeface="Aptos"/>
              </a:rPr>
              <a:t>Source: exact exp5 split and Random Forest audit reproduced in tutorial notebook 06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8E0B75-0C3F-4F5C-AC41-E7F0123C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B9C9D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9C9D5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52210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D5D4D8-495D-4A04-AFDF-A1EEE07E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5E35D0-850A-4E4D-AAEF-8B261D0D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RUNBOOK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12204-0029-4765-9DAB-5FDFA736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Run smoke first, then earn each real-mode claim with artifacts and independent-video counts.</a:t>
            </a:r>
          </a:p>
        </p:txBody>
      </p:sp>
      <p:sp>
        <p:nvSpPr>
          <p:cNvPr id="4" name="run-0">
            <a:extLst xmlns:a="http://schemas.openxmlformats.org/drawingml/2006/main">
              <a:ext uri="{FF2B5EF4-FFF2-40B4-BE49-F238E27FC236}">
                <a16:creationId xmlns:a16="http://schemas.microsoft.com/office/drawing/2014/main" id="{C7E4440A-73FB-480A-8199-5DCF02D1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352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83B87-13ED-48A8-819D-DFD1C990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C2EB0-B526-4C4B-AC85-113CEA2F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Finite 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7ED43-AEC9-40E7-A06B-DD75B07C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loss + no teacher grads</a:t>
            </a:r>
          </a:p>
        </p:txBody>
      </p:sp>
      <p:sp>
        <p:nvSpPr>
          <p:cNvPr id="8" name="run-1">
            <a:extLst xmlns:a="http://schemas.openxmlformats.org/drawingml/2006/main">
              <a:ext uri="{FF2B5EF4-FFF2-40B4-BE49-F238E27FC236}">
                <a16:creationId xmlns:a16="http://schemas.microsoft.com/office/drawing/2014/main" id="{7B03DD8E-4CE5-461B-B59E-4032788B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43250"/>
            <a:ext cx="1352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2A355-3F97-4ED5-AD40-57826B01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2897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787ED-A6C2-431F-B052-1B3C3EA8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57575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Audit manifest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5B0E0-2717-47A7-A074-BB5929E9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147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96 clips / 18 videos</a:t>
            </a:r>
          </a:p>
        </p:txBody>
      </p:sp>
      <p:cxnSp>
        <p:nvCxnSpPr>
          <p:cNvPr id="12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62150" y="2476500"/>
            <a:ext cx="209550" cy="11049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13" name="run-2">
            <a:extLst xmlns:a="http://schemas.openxmlformats.org/drawingml/2006/main">
              <a:ext uri="{FF2B5EF4-FFF2-40B4-BE49-F238E27FC236}">
                <a16:creationId xmlns:a16="http://schemas.microsoft.com/office/drawing/2014/main" id="{7818259B-3C73-4EDE-8BFD-ADA0AB31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1352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07D38-24C2-4E66-909B-2F5AE890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2407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EAB0A-93F6-47C9-8523-382D069B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52675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Watch one clip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B390C-54C0-410E-8B2F-E7B0D31C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bbox + pose coverage</a:t>
            </a:r>
          </a:p>
        </p:txBody>
      </p: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524250" y="2476500"/>
            <a:ext cx="209550" cy="11049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18" name="run-3">
            <a:extLst xmlns:a="http://schemas.openxmlformats.org/drawingml/2006/main">
              <a:ext uri="{FF2B5EF4-FFF2-40B4-BE49-F238E27FC236}">
                <a16:creationId xmlns:a16="http://schemas.microsoft.com/office/drawing/2014/main" id="{5DD4A9AB-1786-40F9-BF53-11BAB280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43250"/>
            <a:ext cx="1352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E711A-64BD-43F3-B53E-BCD507C9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2897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8189C-1CE3-4324-96D8-51F1BD18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57575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Prove mask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38649-89A8-41D2-949A-FA4A51F9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147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forbidden count = 0</a:t>
            </a:r>
          </a:p>
        </p:txBody>
      </p:sp>
      <p:cxnSp>
        <p:nvCxnSpPr>
          <p:cNvPr id="22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86350" y="2476500"/>
            <a:ext cx="209550" cy="11049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23" name="run-4">
            <a:extLst xmlns:a="http://schemas.openxmlformats.org/drawingml/2006/main">
              <a:ext uri="{FF2B5EF4-FFF2-40B4-BE49-F238E27FC236}">
                <a16:creationId xmlns:a16="http://schemas.microsoft.com/office/drawing/2014/main" id="{752574C0-F916-44CF-8990-36B1B44F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1352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50E3A-D512-4E18-BF60-1DCCC6AE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2407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1019C-4992-4ADA-85F3-2B9D10F3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52675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Pretrain normal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5834DD-1AF7-49C2-8913-28C1473D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98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checkpoint + collapse log</a:t>
            </a:r>
          </a:p>
        </p:txBody>
      </p:sp>
      <p:cxnSp>
        <p:nvCxnSpPr>
          <p:cNvPr id="27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6648450" y="2476500"/>
            <a:ext cx="209550" cy="11049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28" name="run-5">
            <a:extLst xmlns:a="http://schemas.openxmlformats.org/drawingml/2006/main">
              <a:ext uri="{FF2B5EF4-FFF2-40B4-BE49-F238E27FC236}">
                <a16:creationId xmlns:a16="http://schemas.microsoft.com/office/drawing/2014/main" id="{C1A69516-1FF3-4B32-9C90-441E8A97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1352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A987C-39CF-464A-BA73-FC070F34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2897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5A47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0A3F43-84F0-4D97-94E5-D1A8CA34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57575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Inspect latents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9687F-5F14-41C6-8323-DB78FF34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147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neighbors + provenance</a:t>
            </a:r>
          </a:p>
        </p:txBody>
      </p:sp>
      <p:cxnSp>
        <p:nvCxnSpPr>
          <p:cNvPr id="32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10550" y="2476500"/>
            <a:ext cx="209550" cy="11049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33" name="run-6">
            <a:extLst xmlns:a="http://schemas.openxmlformats.org/drawingml/2006/main">
              <a:ext uri="{FF2B5EF4-FFF2-40B4-BE49-F238E27FC236}">
                <a16:creationId xmlns:a16="http://schemas.microsoft.com/office/drawing/2014/main" id="{B1C0DDBA-2302-489B-B83A-5D04BD26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38350"/>
            <a:ext cx="1352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F4DF0B-F165-4AF0-94F3-B7FEC78A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55B82E-69F6-4726-903F-0B0848FC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52675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Compare lanes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732C4E-C974-488C-91B8-BFF1D8E0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098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C9D7E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C9D7E1"/>
                </a:solidFill>
                <a:latin typeface="Aptos Mono"/>
                <a:ea typeface="Aptos Mono"/>
                <a:cs typeface="Aptos Mono"/>
              </a:rPr>
              <a:t>A reported · B blocked</a:t>
            </a:r>
          </a:p>
        </p:txBody>
      </p:sp>
      <p:cxnSp>
        <p:nvCxnSpPr>
          <p:cNvPr id="37" name=""/>
          <p:cNvCxnSpPr>
            <a:stCxn xmlns:a="http://schemas.openxmlformats.org/drawingml/2006/main" id="28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9772650" y="2476500"/>
            <a:ext cx="209550" cy="11049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C7A7B"/>
            </a:solidFill>
            <a:prstDash val="solid"/>
            <a:headEnd type="non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46E013-1A09-4729-A024-F1B9B87E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71F9ED-CCC2-468F-8F73-BCCBF9B0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CFFFA4-DC4B-49D5-96C8-9857AE12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15A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5A47"/>
                </a:solidFill>
                <a:latin typeface="Aptos"/>
                <a:ea typeface="Aptos"/>
                <a:cs typeface="Aptos"/>
              </a:rPr>
              <a:t>REAL-MODE GATES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0BFA9F-787B-4B32-9D4D-350E1C23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AA9EFC-E2FB-4554-9E0C-E76AA4FD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0C06CB-EC1A-4C11-84F7-346ECEA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A missing source video or pose cache stops the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4092F7-38CC-4E10-905B-488177D3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D29FD0-05D0-41D7-B27F-EBF772EB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595AE1-8AC5-447C-B5AB-66E48A8B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1495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Mode, mask list, config, and dataset fingerprint must match.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609506-81C1-4C63-85A2-0A4282FC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48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A8D322-2287-4D3C-A9D0-C33281DF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3993FB-600A-4EB6-A564-55CD6D80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1495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Lane B needs multiple normal videos and fold-local S-JEPA pretraining.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7E90F9-C3A5-45CE-9BAC-D4D3FE47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E422EF-422F-4C1A-8C4B-5E056779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062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Research comparison, not diagnosis. Report independent videos beside every score.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3A7AE2-B86B-4329-A347-F582917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C8B700-7D8C-4578-8F8C-44B446B5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B7C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F"/>
                </a:solidFill>
                <a:latin typeface="Aptos"/>
                <a:ea typeface="Aptos"/>
                <a:cs typeface="Aptos"/>
              </a:rPr>
              <a:t>Start: gait/penny/gavd3/README.md · local uv and Google Colab instructions included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FFEE27-FE35-4D29-A58A-4B95186A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B7C8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0914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2026-08-01T08:08:48.7600000Z</dcterms:created>
  <dcterms:modified xsi:type="dcterms:W3CDTF">2026-08-01T08:08:48.7600000Z</dcterms:modified>
</coreProperties>
</file>