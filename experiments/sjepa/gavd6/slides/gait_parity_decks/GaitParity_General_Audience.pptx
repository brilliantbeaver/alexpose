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e1adfe090c4dd4" /><Relationship Type="http://schemas.openxmlformats.org/officeDocument/2006/relationships/extended-properties" Target="/docProps/app.xml" Id="R6498ea1cdddf4995" /><Relationship Type="http://schemas.openxmlformats.org/officeDocument/2006/relationships/officeDocument" Target="/ppt/presentation.xml" Id="R78502bb0bc4045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b3d192206046a2"/>
  </p:sldMasterIdLst>
  <p:notesMasterIdLst>
    <p:notesMasterId xmlns:r="http://schemas.openxmlformats.org/officeDocument/2006/relationships" r:id="Rc977bb7cf4924bd2"/>
  </p:notesMasterIdLst>
  <p:sldIdLst>
    <p:sldId xmlns:r="http://schemas.openxmlformats.org/officeDocument/2006/relationships" id="256" r:id="R723e842700c643d6"/>
    <p:sldId xmlns:r="http://schemas.openxmlformats.org/officeDocument/2006/relationships" id="257" r:id="Rf4e196b3d0f14e7a"/>
    <p:sldId xmlns:r="http://schemas.openxmlformats.org/officeDocument/2006/relationships" id="258" r:id="R23c88bfa17db4a69"/>
    <p:sldId xmlns:r="http://schemas.openxmlformats.org/officeDocument/2006/relationships" id="259" r:id="R6507d2b00a994430"/>
    <p:sldId xmlns:r="http://schemas.openxmlformats.org/officeDocument/2006/relationships" id="260" r:id="R44334ada784948f6"/>
    <p:sldId xmlns:r="http://schemas.openxmlformats.org/officeDocument/2006/relationships" id="261" r:id="Re41fb250fd674da9"/>
    <p:sldId xmlns:r="http://schemas.openxmlformats.org/officeDocument/2006/relationships" id="262" r:id="R2efd079ff48d4e36"/>
    <p:sldId xmlns:r="http://schemas.openxmlformats.org/officeDocument/2006/relationships" id="263" r:id="R4a7d2259cc1a4882"/>
    <p:sldId xmlns:r="http://schemas.openxmlformats.org/officeDocument/2006/relationships" id="264" r:id="Rc8fcafab6738443d"/>
    <p:sldId xmlns:r="http://schemas.openxmlformats.org/officeDocument/2006/relationships" id="265" r:id="Rf149dd08c4424d46"/>
    <p:sldId xmlns:r="http://schemas.openxmlformats.org/officeDocument/2006/relationships" id="266" r:id="R733ecaa459a94b0e"/>
    <p:sldId xmlns:r="http://schemas.openxmlformats.org/officeDocument/2006/relationships" id="267" r:id="Rae9df4555b8e4c7e"/>
    <p:sldId xmlns:r="http://schemas.openxmlformats.org/officeDocument/2006/relationships" id="268" r:id="R65030dded8e948ec"/>
    <p:sldId xmlns:r="http://schemas.openxmlformats.org/officeDocument/2006/relationships" id="269" r:id="R8542c9302c0d4b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d1b66254934eaf" /><Relationship Type="http://schemas.openxmlformats.org/officeDocument/2006/relationships/slideMaster" Target="/ppt/slideMasters/slideMaster1.xml" Id="R0bb3d192206046a2" /><Relationship Type="http://schemas.openxmlformats.org/officeDocument/2006/relationships/notesMaster" Target="/ppt/notesMasters/notesMaster1.xml" Id="Rc977bb7cf4924bd2" /><Relationship Type="http://schemas.openxmlformats.org/officeDocument/2006/relationships/presProps" Target="/ppt/presProps.xml" Id="R7897bf1f75d74fac" /><Relationship Type="http://schemas.openxmlformats.org/officeDocument/2006/relationships/tableStyles" Target="/ppt/tableStyles.xml" Id="Rd32d878de2e548ba" /><Relationship Type="http://schemas.openxmlformats.org/officeDocument/2006/relationships/slide" Target="/ppt/slides/slide1.xml" Id="R723e842700c643d6" /><Relationship Type="http://schemas.openxmlformats.org/officeDocument/2006/relationships/slide" Target="/ppt/slides/slide2.xml" Id="Rf4e196b3d0f14e7a" /><Relationship Type="http://schemas.openxmlformats.org/officeDocument/2006/relationships/slide" Target="/ppt/slides/slide3.xml" Id="R23c88bfa17db4a69" /><Relationship Type="http://schemas.openxmlformats.org/officeDocument/2006/relationships/slide" Target="/ppt/slides/slide4.xml" Id="R6507d2b00a994430" /><Relationship Type="http://schemas.openxmlformats.org/officeDocument/2006/relationships/slide" Target="/ppt/slides/slide5.xml" Id="R44334ada784948f6" /><Relationship Type="http://schemas.openxmlformats.org/officeDocument/2006/relationships/slide" Target="/ppt/slides/slide6.xml" Id="Re41fb250fd674da9" /><Relationship Type="http://schemas.openxmlformats.org/officeDocument/2006/relationships/slide" Target="/ppt/slides/slide7.xml" Id="R2efd079ff48d4e36" /><Relationship Type="http://schemas.openxmlformats.org/officeDocument/2006/relationships/slide" Target="/ppt/slides/slide8.xml" Id="R4a7d2259cc1a4882" /><Relationship Type="http://schemas.openxmlformats.org/officeDocument/2006/relationships/slide" Target="/ppt/slides/slide9.xml" Id="Rc8fcafab6738443d" /><Relationship Type="http://schemas.openxmlformats.org/officeDocument/2006/relationships/slide" Target="/ppt/slides/slide10.xml" Id="Rf149dd08c4424d46" /><Relationship Type="http://schemas.openxmlformats.org/officeDocument/2006/relationships/slide" Target="/ppt/slides/slide11.xml" Id="R733ecaa459a94b0e" /><Relationship Type="http://schemas.openxmlformats.org/officeDocument/2006/relationships/slide" Target="/ppt/slides/slide12.xml" Id="Rae9df4555b8e4c7e" /><Relationship Type="http://schemas.openxmlformats.org/officeDocument/2006/relationships/slide" Target="/ppt/slides/slide13.xml" Id="R65030dded8e948ec" /><Relationship Type="http://schemas.openxmlformats.org/officeDocument/2006/relationships/slide" Target="/ppt/slides/slide14.xml" Id="R8542c9302c0d4b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12fdf196514d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ef9d13e44849ab" /><Relationship Type="http://schemas.openxmlformats.org/officeDocument/2006/relationships/notesMaster" Target="/ppt/notesMasters/notesMaster1.xml" Id="Rdca4235248004b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5e108246494172" /><Relationship Type="http://schemas.openxmlformats.org/officeDocument/2006/relationships/notesMaster" Target="/ppt/notesMasters/notesMaster1.xml" Id="R0192b6abcc7b47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c1d787580e4b71" /><Relationship Type="http://schemas.openxmlformats.org/officeDocument/2006/relationships/notesMaster" Target="/ppt/notesMasters/notesMaster1.xml" Id="R2d8a02bda30643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30852256d64b6d" /><Relationship Type="http://schemas.openxmlformats.org/officeDocument/2006/relationships/notesMaster" Target="/ppt/notesMasters/notesMaster1.xml" Id="R89266206205849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be151fbb7e4f85" /><Relationship Type="http://schemas.openxmlformats.org/officeDocument/2006/relationships/notesMaster" Target="/ppt/notesMasters/notesMaster1.xml" Id="R0a4a1c64a4b840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470c0c61864185" /><Relationship Type="http://schemas.openxmlformats.org/officeDocument/2006/relationships/notesMaster" Target="/ppt/notesMasters/notesMaster1.xml" Id="R24bfaf6e88c049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18959e3c2e48d0" /><Relationship Type="http://schemas.openxmlformats.org/officeDocument/2006/relationships/notesMaster" Target="/ppt/notesMasters/notesMaster1.xml" Id="Rdd6b679770214e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e6708bf719457f" /><Relationship Type="http://schemas.openxmlformats.org/officeDocument/2006/relationships/notesMaster" Target="/ppt/notesMasters/notesMaster1.xml" Id="R8afad36df2a84f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183a0cfc4f4fdd" /><Relationship Type="http://schemas.openxmlformats.org/officeDocument/2006/relationships/notesMaster" Target="/ppt/notesMasters/notesMaster1.xml" Id="R83f225125d4844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61293ab26b4de0" /><Relationship Type="http://schemas.openxmlformats.org/officeDocument/2006/relationships/notesMaster" Target="/ppt/notesMasters/notesMaster1.xml" Id="Rf5810a6ec9d740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5adda60e6c43dc" /><Relationship Type="http://schemas.openxmlformats.org/officeDocument/2006/relationships/notesMaster" Target="/ppt/notesMasters/notesMaster1.xml" Id="R15a96d67439f4f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a6bd0eaa8544c5" /><Relationship Type="http://schemas.openxmlformats.org/officeDocument/2006/relationships/notesMaster" Target="/ppt/notesMasters/notesMaster1.xml" Id="R93f63754d1724a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7d022ad2ff40ab" /><Relationship Type="http://schemas.openxmlformats.org/officeDocument/2006/relationships/notesMaster" Target="/ppt/notesMasters/notesMaster1.xml" Id="Rf82c7dff302f46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38f02a8f4c4707" /><Relationship Type="http://schemas.openxmlformats.org/officeDocument/2006/relationships/notesMaster" Target="/ppt/notesMasters/notesMaster1.xml" Id="Rbb396378c3f242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/Users/theodoremui/Downloads/GaitParity Study.pdf</a:t>
            </a:r>
          </a:p>
          <a:p xmlns:a="http://schemas.openxmlformats.org/drawingml/2006/main">
            <a:r>
              <a:t>- /Users/theodoremui/dev/alexpose/experiments/sjepa/gavd6/notes/research/programs/gait_parity/tutorials/02-current-direction-and-results.md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/Users/theodoremui/Downloads/GaitParity Study.pdf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/Users/theodoremui/dev/alexpose/experiments/sjepa/gavd6/notebooks/foundations/01_gavd_manifest_and_youtube.ipynb</a:t>
            </a:r>
          </a:p>
          <a:p xmlns:a="http://schemas.openxmlformats.org/drawingml/2006/main">
            <a:r>
              <a:t>- /Users/theodoremui/dev/alexpose/experiments/sjepa/gavd6/notebooks/foundations/04_pretrain_sjepa_on_normal.ipynb</a:t>
            </a:r>
          </a:p>
          <a:p xmlns:a="http://schemas.openxmlformats.org/drawingml/2006/main">
            <a:r>
              <a:t>- /Users/theodoremui/dev/alexpose/experiments/sjepa/gavd6/notebooks/foundations/05_inspect_latent_motion.ipynb</a:t>
            </a:r>
          </a:p>
          <a:p xmlns:a="http://schemas.openxmlformats.org/drawingml/2006/main">
            <a:r>
              <a:t>- /Users/theodoremui/dev/alexpose/experiments/sjepa/gavd6/notebooks/foundations/06_capstone_health_condition_classifiers.ipynb</a:t>
            </a:r>
          </a:p>
          <a:p xmlns:a="http://schemas.openxmlformats.org/drawingml/2006/main">
            <a:r>
              <a:t>- /Users/theodoremui/dev/alexpose/experiments/sjepa/gavd6/slides/gait_parity_decks/images/foundations-pipeline.svg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/Users/theodoremui/dev/alexpose/experiments/sjepa/gavd6/notebooks/foundations/04_pretrain_sjepa_on_normal.ipynb</a:t>
            </a:r>
          </a:p>
          <a:p xmlns:a="http://schemas.openxmlformats.org/drawingml/2006/main">
            <a:r>
              <a:t>- /Users/theodoremui/dev/alexpose/experiments/sjepa/gavd6/notebooks/foundations/06_capstone_health_condition_classifiers.ipynb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/Users/theodoremui/dev/alexpose/experiments/sjepa/gavd6/notebooks/foundations/06_capstone_health_condition_classifiers.ipynb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  <a:p xmlns:a="http://schemas.openxmlformats.org/drawingml/2006/main">
            <a:r>
              <a:t>- /Users/theodoremui/dev/alexpose/experiments/sjepa/gavd6/slides/gait_parity_decks/images/gait-parity-core.svg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/Users/theodoremui/dev/alexpose/experiments/sjepa/gavd6/artifacts/notebook_runs/organized-2026-08-23/experiments/idea05_signed_laterality/01_probe.ipynb</a:t>
            </a:r>
          </a:p>
          <a:p xmlns:a="http://schemas.openxmlformats.org/drawingml/2006/main">
            <a:r>
              <a:t>- /Users/theodoremui/dev/alexpose/experiments/sjepa/gavd6/slides/gait_parity_decks/images/notebook-05a-signed-laterality-probe.png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  <a:p xmlns:a="http://schemas.openxmlformats.org/drawingml/2006/main">
            <a:r>
              <a:t>- /Users/theodoremui/dev/alexpose/experiments/sjepa/gavd6/slides/gait_parity_decks/images/model-comparisons.svg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/Users/theodoremui/dev/alexpose/experiments/sjepa/gavd6/artifacts/notebook_runs/organized-2026-08-23/experiments/idea09_reflection_equivariance/06_cpu_replication.ipynb</a:t>
            </a:r>
          </a:p>
          <a:p xmlns:a="http://schemas.openxmlformats.org/drawingml/2006/main">
            <a:r>
              <a:t>- /Users/theodoremui/dev/alexpose/experiments/sjepa/gavd6/slides/gait_parity_decks/images/notebook-09f-full-gavd-audit.png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/Users/theodoremui/dev/alexpose/experiments/sjepa/gavd6/notes/research/programs/gait_parity/tutorials/02-current-direction-and-results.md</a:t>
            </a:r>
          </a:p>
          <a:p xmlns:a="http://schemas.openxmlformats.org/drawingml/2006/main">
            <a:r>
              <a:t>- /Users/theodoremui/dev/alexpose/experiments/sjepa/gavd6/slides/gait_parity_decks/images/current-evidence-status.svg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/Users/theodoremui/dev/alexpose/experiments/sjepa/gavd6/notes/research/programs/gait_parity/tutorials/03-planned-research-direction.md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  <a:p xmlns:a="http://schemas.openxmlformats.org/drawingml/2006/main">
            <a:r>
              <a:t>- /Users/theodoremui/dev/alexpose/experiments/sjepa/gavd6/slides/gait_parity_decks/images/planned-research-ladder.svg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research mentor meeting notes, 2026-08-23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  <a:p xmlns:a="http://schemas.openxmlformats.org/drawingml/2006/main">
            <a:r>
              <a:t>- /Users/theodoremui/dev/alexpose/experiments/sjepa/gavd6/notes/research/programs/gait_parity/tutorials/03-planned-research-direction.md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/Users/theodoremui/dev/alexpose/experiments/sjepa/gavd6/notes/research/programs/gait_parity/tutorials/02-current-direction-and-results.md</a:t>
            </a:r>
          </a:p>
          <a:p xmlns:a="http://schemas.openxmlformats.org/drawingml/2006/main">
            <a:r>
              <a:t>- /Users/theodoremui/dev/alexpose/experiments/sjepa/gavd6/notes/research/programs/gait_parity/tutorials/03-planned-research-direction.md</a:t>
            </a:r>
          </a:p>
          <a:p xmlns:a="http://schemas.openxmlformats.org/drawingml/2006/main">
            <a:r>
              <a:t>- User-provided research mentor meeting notes, 2026-08-23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36e66f28849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94ea79174e4cd2" /><Relationship Type="http://schemas.openxmlformats.org/officeDocument/2006/relationships/slideLayout" Target="/ppt/slideLayouts/slideLayout1.xml" Id="Re688e7b17dbb45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88e7b17dbb45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f3fca724949a0" /><Relationship Type="http://schemas.openxmlformats.org/officeDocument/2006/relationships/notesSlide" Target="/ppt/notesSlides/notesSlide1.xml" Id="Rb5b07d8efcd948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6eaa7de914e88" /><Relationship Type="http://schemas.openxmlformats.org/officeDocument/2006/relationships/notesSlide" Target="/ppt/notesSlides/notesSlide2.xml" Id="R6fe332781dc54c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c097d3a224f2e" /><Relationship Type="http://schemas.openxmlformats.org/officeDocument/2006/relationships/notesSlide" Target="/ppt/notesSlides/notesSlide3.xml" Id="R86bb6348b38b4f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8e139a1cb4d33" /><Relationship Type="http://schemas.openxmlformats.org/officeDocument/2006/relationships/image" Target="/ppt/media/image.png" Id="R7f63d2c59acb4274" /><Relationship Type="http://schemas.openxmlformats.org/officeDocument/2006/relationships/notesSlide" Target="/ppt/notesSlides/notesSlide4.xml" Id="R3a096faa251842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f8a2cb72f4bc4" /><Relationship Type="http://schemas.openxmlformats.org/officeDocument/2006/relationships/notesSlide" Target="/ppt/notesSlides/notesSlide5.xml" Id="Rc7b10f2ab36143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1a8c9c6034307" /><Relationship Type="http://schemas.openxmlformats.org/officeDocument/2006/relationships/notesSlide" Target="/ppt/notesSlides/notesSlide6.xml" Id="R192eaa0fc4ab4d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f2246ba764fb6" /><Relationship Type="http://schemas.openxmlformats.org/officeDocument/2006/relationships/image" Target="/ppt/media/image2.png" Id="R921be68829784912" /><Relationship Type="http://schemas.openxmlformats.org/officeDocument/2006/relationships/notesSlide" Target="/ppt/notesSlides/notesSlide7.xml" Id="R7cebf311c1924c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2a597690e4f3c" /><Relationship Type="http://schemas.openxmlformats.org/officeDocument/2006/relationships/image" Target="/ppt/media/image3.png" Id="R2b0f50531d5e479b" /><Relationship Type="http://schemas.openxmlformats.org/officeDocument/2006/relationships/notesSlide" Target="/ppt/notesSlides/notesSlide8.xml" Id="Rd2b45fef7e184e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3451acfd940c6" /><Relationship Type="http://schemas.openxmlformats.org/officeDocument/2006/relationships/image" Target="/ppt/media/image4.png" Id="R493aa353055f492c" /><Relationship Type="http://schemas.openxmlformats.org/officeDocument/2006/relationships/notesSlide" Target="/ppt/notesSlides/notesSlide9.xml" Id="R7609a8c7796a4d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67dcf55b04df1" /><Relationship Type="http://schemas.openxmlformats.org/officeDocument/2006/relationships/chart" Target="/ppt/slides/charts/chart1.xml" Id="Ra6b81faced26474b" /><Relationship Type="http://schemas.openxmlformats.org/officeDocument/2006/relationships/notesSlide" Target="/ppt/notesSlides/notesSlide10.xml" Id="R4009652264b148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40f43517f43b0" /><Relationship Type="http://schemas.openxmlformats.org/officeDocument/2006/relationships/image" Target="/ppt/media/image5.png" Id="R9fc79b6b9908499f" /><Relationship Type="http://schemas.openxmlformats.org/officeDocument/2006/relationships/notesSlide" Target="/ppt/notesSlides/notesSlide11.xml" Id="Rb99751d2f65b46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15e3951be43e2" /><Relationship Type="http://schemas.openxmlformats.org/officeDocument/2006/relationships/image" Target="/ppt/media/image6.png" Id="R5ed8678326c04cea" /><Relationship Type="http://schemas.openxmlformats.org/officeDocument/2006/relationships/notesSlide" Target="/ppt/notesSlides/notesSlide12.xml" Id="Rab9300a441d340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413c8a27f4bb9" /><Relationship Type="http://schemas.openxmlformats.org/officeDocument/2006/relationships/notesSlide" Target="/ppt/notesSlides/notesSlide13.xml" Id="Re284b8f9c4b84d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1d7fc53614267" /><Relationship Type="http://schemas.openxmlformats.org/officeDocument/2006/relationships/notesSlide" Target="/ppt/notesSlides/notesSlide14.xml" Id="R3c515f54ef08414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Worst layer swap residual</c:v>
          </c:tx>
          <c:spPr>
            <a:solidFill xmlns:a="http://schemas.openxmlformats.org/drawingml/2006/main">
              <a:srgbClr val="3D8DF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D95D5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A9D8F"/>
              </a:solidFill>
            </c:spPr>
          </c:dPt>
          <c:cat>
            <c:strLit>
              <c:ptCount val="3"/>
              <c:pt idx="0">
                <c:v>Standard</c:v>
              </c:pt>
              <c:pt idx="1">
                <c:v>Paired control</c:v>
              </c:pt>
              <c:pt idx="2">
                <c:v>Equivariant</c:v>
              </c:pt>
            </c:strLit>
          </c:cat>
          <c:val>
            <c:numLit>
              <c:formatCode>General</c:formatCode>
              <c:ptCount val="3"/>
              <c:pt idx="0">
                <c:v>0</c:v>
              </c:pt>
              <c:pt idx="1">
                <c:v>5.9</c:v>
              </c:pt>
              <c:pt idx="2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19B47-06AE-4C86-9C9D-D93FC1F4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DFB4C-EBF6-409C-B8D0-AF26C278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GENERAL AUDIENCE RESEARCH BRIEFING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AB6D4-228E-4564-8D3A-811E4E67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GaitParity: From Movement Video to Trustworthy Left–Right Gait Measures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2CD8B-DFBC-411B-9E99-6C8E1A1E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A reflection-aware world model for biomechanics and ambient intelligence—built with explicit tests for what it knows.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16A4F-2486-4A2A-A230-8256DDAB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335F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E1BE6-D432-474A-A40B-285674EA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42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result: exact mirror geometry. Next test: participant-held-out force-plate prediction.</a:t>
            </a:r>
          </a:p>
        </p:txBody>
      </p:sp>
    </p:spTree>
    <p:extLst>
      <p:ext uri="{BB962C8B-B14F-4D97-AF65-F5344CB8AC3E}">
        <p14:creationId xmlns:p14="http://schemas.microsoft.com/office/powerpoint/2010/main" val="14601913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E1351-0C21-40F6-899B-B505ADD9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7E3A5-1D33-4836-90EC-76B3944F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25428-AFDE-481B-985D-0E0E1528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opportunity is measurement outside the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C4168-C8FA-45B9-B86E-D6550C48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190C2-4936-44C4-8031-6DF83E34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8F9B5-F95D-4516-9812-B125C344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Ambient cameras can observe many more steps than a short clinical visit—but observation is not mechanics.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622F4-C1FA-45F5-A70F-ED49AE8A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3486150" cy="43053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D780D-99F7-4F1B-BFA8-D6D42B34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3486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BB19A-E921-48F8-A970-79DEFF36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78593-EDCF-4B55-B3D3-FEB7050B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Everyday movement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F2599-D48B-4B4A-82A5-95EC8DFC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0670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Homes and clinics could observe how gait changes across days, fatigue, medication, or recovery.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507B0-AE6C-4500-958A-14674548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71650"/>
            <a:ext cx="3486150" cy="43053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EB2E8-6B23-4767-8F9F-20ACC980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71650"/>
            <a:ext cx="3486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5CB24-F095-4BC4-AA2C-802BF9EA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2A8E7-5500-4504-B9B2-71E8F067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Which side contributes?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6DAEC-D4BE-4905-89F3-9A7BB427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0670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Balance and propulsion depend on what each leg does—not only where landmarks appear in the image.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D90CA-BA78-42E6-A310-412E4B74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71650"/>
            <a:ext cx="3486150" cy="43053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69E27-D193-4508-8DC8-D2420F27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71650"/>
            <a:ext cx="3486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D57F3E-F082-4B2B-9D75-FF0C77A8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2A6E4-AD19-4604-856A-C724148F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16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Separate body from camera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169E1-37CF-48F6-BD68-1182E240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670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 flipped image, new viewpoint, or occluded heel must not become a false biomechanical change.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3861E-570C-44FD-B552-934DEFEE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668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34D2A3-16D8-4A26-8399-D674DD2C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system needs physical movement understanding, not just pose tracking.</a:t>
            </a:r>
          </a:p>
        </p:txBody>
      </p:sp>
    </p:spTree>
    <p:extLst>
      <p:ext uri="{BB962C8B-B14F-4D97-AF65-F5344CB8AC3E}">
        <p14:creationId xmlns:p14="http://schemas.microsoft.com/office/powerpoint/2010/main" val="642168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C77E3-8BA5-4786-9AFC-1B10156B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8A698-8E8F-4714-A4A3-681375FC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F705F-92F7-4327-9133-3C42D198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side error has two different consequences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95860-2100-4DA2-873F-112923A7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67BFD-35A9-42B6-9A8E-11778D80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F5307-6D9B-4F51-835F-6A618B0A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5191125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162F8-D5E2-4B71-B5A3-13854470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5191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3DF69-9211-4973-8E68-CEBDDBCD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4772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BIOMECHANICS / BALANCE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CB920-DFF3-4808-8026-4BD41C60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4772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Wrong sign, wrong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47A14-E245-4334-921A-5735D8C8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47720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 right-minus-left measure tells us which side contributes more. If the sign silently flips, the result can point to the wrong limb or hide compensation.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57B2A-AD33-470F-BE2A-7CFF1025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381125"/>
            <a:ext cx="5191125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407AD-3300-42A5-9B1E-1E554280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381125"/>
            <a:ext cx="5191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379C1-CAB3-446C-9338-3BE3FEC3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90675"/>
            <a:ext cx="4772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AMBIENT 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69841-67DD-4C14-8850-418B0CBA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95475"/>
            <a:ext cx="4772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Wrong cause, wrong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33625-68B6-4CB0-9D8D-96C09F72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24125"/>
            <a:ext cx="47720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An ambient system must know whether the person changed, the camera changed, or the pose estimator simply lost a landmark.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53F3B-A334-4FCF-8BAF-D8272367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D54C0-7745-4964-B4DB-7C5A479F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24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GaitParity isolates the first requirement with an anatomical-mirror test.</a:t>
            </a:r>
          </a:p>
        </p:txBody>
      </p:sp>
    </p:spTree>
    <p:extLst>
      <p:ext uri="{BB962C8B-B14F-4D97-AF65-F5344CB8AC3E}">
        <p14:creationId xmlns:p14="http://schemas.microsoft.com/office/powerpoint/2010/main" val="973157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9A337-E356-4E12-8405-BB18043D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FC8A7-E735-43C3-8DC0-416FAA4D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PREVIOUS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2576C-958F-49B5-A0FC-DDB5A236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Previous work established the full learning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59A2A-ACDF-4A53-9A8A-46EC1790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D0F5E-FD54-4A71-90E1-72245257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820DA-99ED-4422-9CBF-1D0AD353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Video → skeletons → masked motion prediction → fixed representations → audited readouts.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53E17-8C40-458D-A31F-FE75CD85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3d2c59acb4274"/>
          <a:stretch xmlns:a="http://schemas.openxmlformats.org/drawingml/2006/main"/>
        </p:blipFill>
        <p:spPr>
          <a:xfrm xmlns:a="http://schemas.openxmlformats.org/drawingml/2006/main">
            <a:off x="865414" y="1828800"/>
            <a:ext cx="9851571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49BA7-E618-4BEB-BC25-C6F64088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6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069B4-BC5E-40C4-90E8-CB810E36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21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pipeline is valuable as a research instrument; its data boundaries prevent clinical claims from the current corpus.</a:t>
            </a:r>
          </a:p>
        </p:txBody>
      </p:sp>
    </p:spTree>
    <p:extLst>
      <p:ext uri="{BB962C8B-B14F-4D97-AF65-F5344CB8AC3E}">
        <p14:creationId xmlns:p14="http://schemas.microsoft.com/office/powerpoint/2010/main" val="18024857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87E29-09B2-4EF8-AD3E-6D000D7F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5AF66-3F1C-4447-953E-DA04A308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PREVIOUS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C0758-5374-403D-999C-9A58A973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earlier model learned motion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5EE36-9953-4928-8CF5-0956944F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79FD9-AD57-49AB-977C-07D49DCE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660B7-54AC-4125-A43B-E041A22D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Training remained finite, feature variation stayed healthy, and condition information was readable.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D4467-483B-4BF3-A3F2-44AB8B82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33337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48202-2644-4B83-B4DA-CB392FF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0.558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519A9-F08B-42F3-BF66-A2110B96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final JEPA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B0B97-5A4E-41DF-8651-5ABB9005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2876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After the five-stage curriculum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B3F1E-B2FE-429A-9D6D-B7ADE517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857375"/>
            <a:ext cx="33337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CE6C5-C025-48F9-8B53-FA4541FF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43125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0.414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A1529-2B78-4164-8E9A-C65215F2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92417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final feature std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9092F-742B-4C29-B2AE-42435C52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514725"/>
            <a:ext cx="2876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 obvious total constant collapse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CA06D-9F7B-47E1-A734-7BB6A3C7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57375"/>
            <a:ext cx="33337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0B14B-B414-4A5B-9139-8199E444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43125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0.724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0D40A-861A-434C-BB57-1F802A24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2417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all-96 accuracy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0D659-AFE1-48FA-8390-B45494C9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14725"/>
            <a:ext cx="2876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Descriptive; source-exposed and label-informed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3BE6E-2CAD-4A62-9700-B7C47791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00575"/>
            <a:ext cx="10668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7F8BA0-EE04-47F0-BAE0-D60F7FB0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DFE45-A598-4A77-BB57-E95F7291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910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system found structure in the corpus. It did not establish performance on a new source video, new patient, or physical outcome.</a:t>
            </a:r>
          </a:p>
        </p:txBody>
      </p:sp>
    </p:spTree>
    <p:extLst>
      <p:ext uri="{BB962C8B-B14F-4D97-AF65-F5344CB8AC3E}">
        <p14:creationId xmlns:p14="http://schemas.microsoft.com/office/powerpoint/2010/main" val="1261034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D252F-5DFD-4D24-AC32-A82BF4F0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89B5C-BEC7-4D8A-83AD-0CA22334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PREVIOUS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BAB5C-D854-4EB0-BFA3-54183D51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893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main limitation was not model size—it was evidence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DF57C-B7D5-4E94-BC87-9EE2F654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62BED-C9F2-4403-A195-77A588C0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34F5E-B857-49C2-81E7-735A3AFF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Many clips can still come from the same source video, and the encoder had seen every classifier-test row.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B39B1-7F53-4B6F-83CC-034798C6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5191125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799B9-56D2-4031-A872-2E3523A3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5191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18A42-35F1-4130-9698-C8DF4959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72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WHAT LOOKED PROMISING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E4C38-D71A-4DB1-A2E3-DF7AAD41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4772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Grouped normal-vs-abnormal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26CA8-C0CD-4CAB-825E-59761E5C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47720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Accuracy 0.843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Macro-F1 0.821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ROC-AUC 0.952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classifier split by source video.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38344-CFF9-4F65-BF7A-1CE13586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790700"/>
            <a:ext cx="5191125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24EE5-09C9-49C6-BF04-BF5FD4FB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790700"/>
            <a:ext cx="5191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0">
            <a:solidFill>
              <a:srgbClr val="D95D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69051-3A17-430A-B63F-6B27B3AC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4772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5D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5D5D"/>
                </a:solidFill>
                <a:latin typeface="Arial"/>
                <a:ea typeface="Arial"/>
                <a:cs typeface="Arial"/>
              </a:rPr>
              <a:t>WHY CLAIMS STAY NARROW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B2C9C-1767-43F3-8DF9-E36A9E6C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05050"/>
            <a:ext cx="4772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Encoder-transductive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C77DA-66BE-4E8B-8604-E805CD41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33700"/>
            <a:ext cx="47720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All 159 rows—including classifier-test rows—were used during representation training. The result is in-corpus signal, not unseen-source generalization.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2A423-9274-4882-9F4E-35FB8D95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09745-0FED-4B8C-89F8-8F8FA5B9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24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new study moves the independence boundary to the participant before any fitting.</a:t>
            </a:r>
          </a:p>
        </p:txBody>
      </p:sp>
    </p:spTree>
    <p:extLst>
      <p:ext uri="{BB962C8B-B14F-4D97-AF65-F5344CB8AC3E}">
        <p14:creationId xmlns:p14="http://schemas.microsoft.com/office/powerpoint/2010/main" val="5438685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91520-CD46-48A2-A1CE-B99DBEEC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DBCF7-38F1-482F-9E8B-8095E33F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GAITPARITY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2918C-4AD3-45E9-8320-644E7E03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mirror rule separates anatomy from observation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F7F92-360A-4C63-8CCA-48F7DA7D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25280-47C8-47F2-9AB9-752A1D23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B5F2F-0888-45E5-A104-06402C5F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 body mirror swaps left and right. A camera move observes the same left and right from somewhere else.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372D5-A88E-4EE3-AA2F-7766209B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e68829784912"/>
          <a:stretch xmlns:a="http://schemas.openxmlformats.org/drawingml/2006/main"/>
        </p:blipFill>
        <p:spPr>
          <a:xfrm xmlns:a="http://schemas.openxmlformats.org/drawingml/2006/main">
            <a:off x="3179041" y="1828800"/>
            <a:ext cx="5224318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96E70-9CC6-4629-8AB4-D4C0CBA6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6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470E3-BEB2-48FC-B652-4CE2680E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21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Invariant to camera change. Equivariant—predictably sign-flipping—under anatomical reflection.</a:t>
            </a:r>
          </a:p>
        </p:txBody>
      </p:sp>
    </p:spTree>
    <p:extLst>
      <p:ext uri="{BB962C8B-B14F-4D97-AF65-F5344CB8AC3E}">
        <p14:creationId xmlns:p14="http://schemas.microsoft.com/office/powerpoint/2010/main" val="1861435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11E26-4FE3-418C-B99B-994ACE38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0">
            <a:solidFill>
              <a:srgbClr val="D95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006BC-842D-4B94-8609-B1C6A98F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5D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5D5D"/>
                </a:solidFill>
                <a:latin typeface="Arial"/>
                <a:ea typeface="Arial"/>
                <a:cs typeface="Arial"/>
              </a:rPr>
              <a:t>GAITPARITY RESULT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EEE4C-DE0D-4F3F-B3DE-5E971196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old representation failed the signed mirror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94071-C657-4406-9326-DF5B9BEE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9C398-36E0-4C77-9515-07EE47EE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6A2A1-F55E-423D-9523-C16EAB3E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This was an informative null result, not a reason to abandon the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685DF-DF60-4E44-880B-4460E6C0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f50531d5e479b"/>
          <a:stretch xmlns:a="http://schemas.openxmlformats.org/drawingml/2006/main"/>
        </p:blipFill>
        <p:spPr>
          <a:xfrm xmlns:a="http://schemas.openxmlformats.org/drawingml/2006/main">
            <a:off x="1481138" y="1828800"/>
            <a:ext cx="8620125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A681B-C8BC-45A2-B84A-9816BBB4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6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5D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8C72A-715A-4856-AC20-282D66B3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21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Learned R² = −0.068 · mirror slope = −0.337 · sign consistency = 0.444</a:t>
            </a:r>
          </a:p>
        </p:txBody>
      </p:sp>
    </p:spTree>
    <p:extLst>
      <p:ext uri="{BB962C8B-B14F-4D97-AF65-F5344CB8AC3E}">
        <p14:creationId xmlns:p14="http://schemas.microsoft.com/office/powerpoint/2010/main" val="20045931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0788F-EBBD-4C7E-9125-112632D7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9F36D-3016-4252-BF84-0ED752DE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E93FF-FCA4-49B6-B987-65B7B18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Three models isolate what the mirror-aware architecture adds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58762-4DF8-4026-82BE-1FA11AB8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36FE5-B9C5-43BB-AF08-3E62DC85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232D5-C5AC-4F5C-BFDE-022680FB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Every serious comparison sees the original walk and its mirror and returns an exactly sign-flipping output.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C3B25-F1E6-46E9-994E-EB257F92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aa353055f492c"/>
          <a:stretch xmlns:a="http://schemas.openxmlformats.org/drawingml/2006/main"/>
        </p:blipFill>
        <p:spPr>
          <a:xfrm xmlns:a="http://schemas.openxmlformats.org/drawingml/2006/main">
            <a:off x="2096861" y="1828800"/>
            <a:ext cx="7388679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FE802-9E0A-48EC-B324-16EDF106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6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9AC7A-0C9F-454D-BD71-B2A1DA8C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21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Only the equivariant model is forced to keep the mirror rule organized throughout its internal layers.</a:t>
            </a:r>
          </a:p>
        </p:txBody>
      </p:sp>
    </p:spTree>
    <p:extLst>
      <p:ext uri="{BB962C8B-B14F-4D97-AF65-F5344CB8AC3E}">
        <p14:creationId xmlns:p14="http://schemas.microsoft.com/office/powerpoint/2010/main" val="8790992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9B27E-4526-48F8-B03E-7F2AF2E5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611CE-8CF5-4829-9DE3-F51B87A0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GAITPARITY RESULT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23590-3518-42A7-BFAE-20158203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new encoder passes the exact geometry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84EDC-576C-46B6-BEA0-556A7426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A71C0-63BD-4CBA-842D-2DD5BF97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EB283-3C67-4F7D-8257-9FDBAF75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deliberately unrestricted model breaks the rule. The equivariant model satisfies it across layers, regimes, and seeds.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5534B-780F-4165-B11F-7140EFE6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905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781050" y="2076450"/>
          <a:ext xmlns:a="http://schemas.openxmlformats.org/drawingml/2006/main" cx="5238750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b81faced26474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2884C-5FFE-46C7-B26D-6A1C1DC2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577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Lower is better; pass gate = 5×10⁻⁵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7C08A-6F67-47CC-B047-F3DE30AF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4577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0FDBF-612F-4F2D-AF90-3C54D0C8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45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64D4F-F512-4141-9D28-08D57F7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CHANNEL HEALTH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5767D-3977-42A8-987C-400EE688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66950"/>
            <a:ext cx="403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Exact—and non-empty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60A69-2C5A-4D2A-A7ED-13DD9C24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Odd/even energy ratio 0.022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Odd effective rank 1.532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All registered health gates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0AA55-1289-43AE-8176-9A541B76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24275"/>
            <a:ext cx="445770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A29B6-7D2D-499B-8D4F-93B1EB2B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24275"/>
            <a:ext cx="445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E836B-B9E2-433F-886F-89B37398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33825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2B206-6064-4484-AFEF-96086C5B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38625"/>
            <a:ext cx="403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geometry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189F1-2772-43CB-9945-89975FD9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67275"/>
            <a:ext cx="4038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86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96 sequences · 18 videos · 394 windows · 3 seeds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 force target. No participant-held-out clinical endpoint.</a:t>
            </a:r>
          </a:p>
        </p:txBody>
      </p:sp>
    </p:spTree>
    <p:extLst>
      <p:ext uri="{BB962C8B-B14F-4D97-AF65-F5344CB8AC3E}">
        <p14:creationId xmlns:p14="http://schemas.microsoft.com/office/powerpoint/2010/main" val="14808442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84CB7-13C8-4B94-AB83-B5CC5002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19BC9-8277-4BF6-8791-B9C7D67A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8269D-5197-43B4-B16C-D02168A3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evidence has advanced one rung—not the entire ladder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FA608-7BD3-4629-8388-C5165C40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BCC9F-1776-4D4A-B77C-F73C25B3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56B9D-6038-478D-8429-45963B0C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project now has a checked instrument and a successful local feasibility audit.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1E004-6556-4D22-9634-560C5D1D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79b6b9908499f"/>
          <a:stretch xmlns:a="http://schemas.openxmlformats.org/drawingml/2006/main"/>
        </p:blipFill>
        <p:spPr>
          <a:xfrm xmlns:a="http://schemas.openxmlformats.org/drawingml/2006/main">
            <a:off x="1653540" y="1828800"/>
            <a:ext cx="8275320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44210-372D-437E-99CD-64036E21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6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D2E8B-F0A7-4312-BFCB-BF10CBA7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21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next meaningful claim requires force measurements and people the model has not encountered.</a:t>
            </a:r>
          </a:p>
        </p:txBody>
      </p:sp>
    </p:spTree>
    <p:extLst>
      <p:ext uri="{BB962C8B-B14F-4D97-AF65-F5344CB8AC3E}">
        <p14:creationId xmlns:p14="http://schemas.microsoft.com/office/powerpoint/2010/main" val="11971303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A7663-A4C0-4964-B5D3-5FF8C1B2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2EA00-C118-4D79-A8ED-A989A15E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PLANNED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6E530-6632-40CF-824C-9BB10F8B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planned study tests usefulness, not just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8A73D-0EB1-4FF2-BB62-FB7EF738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A5FA4-67EB-45B0-A080-9E1597C3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A1681-A590-4D7A-B305-757FDF66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Force plates provide an independent signed propulsion target. People—not gait cycles—define the outer split.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C510D-8BA1-434C-8E02-4FB9E333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8678326c04cea"/>
          <a:stretch xmlns:a="http://schemas.openxmlformats.org/drawingml/2006/main"/>
        </p:blipFill>
        <p:spPr>
          <a:xfrm xmlns:a="http://schemas.openxmlformats.org/drawingml/2006/main">
            <a:off x="2096861" y="1828800"/>
            <a:ext cx="7388679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D2103-AB25-4787-A323-326FC0B2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6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80C55-DE53-429C-9F2D-0E2DED94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21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Success requires a practically meaningful force-MAE advantage over output repair and matched two-branch fusion.</a:t>
            </a:r>
          </a:p>
        </p:txBody>
      </p:sp>
    </p:spTree>
    <p:extLst>
      <p:ext uri="{BB962C8B-B14F-4D97-AF65-F5344CB8AC3E}">
        <p14:creationId xmlns:p14="http://schemas.microsoft.com/office/powerpoint/2010/main" val="2622207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6B0FF4-1801-41E3-A5E0-C7BD6173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93A2D-7090-430A-9E03-DE343935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16F75-D554-4C63-9B06-C501B8BA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Beyond GaitParity: Biomech-JEPA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63BA2-039C-4926-B5EF-32857A6C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B91FA-D867-408E-AECF-C1255259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E630C-FA72-4B1B-A086-F9D9A0CF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larger research direction is a typed human-motion world model that can estimate, generate, and judge whether movement is physically grounded.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2F138-04F6-4C7D-9A03-C9BB1521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8384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1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B6EBB-2903-4C3F-BA3B-0E286AC9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384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1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B2009-20E3-47E5-BE17-C7075912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384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1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AA8BF-C434-4A5B-A800-29CEB63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384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1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0680C-C4A4-4E52-B455-1F5EA110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809750" cy="2190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497BC-CE80-4115-94DC-CD970894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7E039-A931-466C-B3BA-C9D0C527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543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RGB video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Depth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Wearables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8D6AC-2611-48CA-B4A2-695A7E75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38350"/>
            <a:ext cx="2047875" cy="2190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17BFF-6857-4D76-A6F9-DE85B699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76475"/>
            <a:ext cx="1781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CANONICAL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5BD7E-A1DF-4987-ADBD-8D2A0959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00350"/>
            <a:ext cx="1781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Body · scene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Contact · dynamics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81457-0D48-4ECB-8A51-30237E34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038350"/>
            <a:ext cx="2047875" cy="2190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A909B-EDBB-408A-A9A8-9508211B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276475"/>
            <a:ext cx="1781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BIOMECH-JEPA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493066-6ED8-489B-910E-81B1A429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800350"/>
            <a:ext cx="1781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Mask and predict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Future state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Counterfactual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83405-BC17-4552-923C-4D176A8C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38350"/>
            <a:ext cx="1809750" cy="2190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4811F2-AA53-4F4B-B7E9-EA57B96E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764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PHYSICS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FF8747-47F6-43A5-BB35-0A3E388A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00350"/>
            <a:ext cx="1543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OpenSim / robot sim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Force residuals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Groundedness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B7BF93-EA73-4473-82A2-42B54B28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38350"/>
            <a:ext cx="1428750" cy="2190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5D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DCED7F-0783-4EF4-87D3-C5974C9B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764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5D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5D5D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F97BF9-A94F-47E6-9DD3-4674CAF0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00350"/>
            <a:ext cx="1162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Estimate</a:t>
            </a:r>
          </a:p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Generate</a:t>
            </a:r>
          </a:p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Ask tools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62CE27-1D73-4487-8052-8D74C9C1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9791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17E420-DCB5-4C7E-88D0-E148D113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1965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Simulation should teach and adjudicate; the learned model should amortize the pipeline.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F2D396-92F4-4687-B597-02F46021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625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Qwen agent can actively call depth, segmentation, monocular motion, and physics tools when uncertainty justifies the cost.</a:t>
            </a:r>
          </a:p>
        </p:txBody>
      </p:sp>
    </p:spTree>
    <p:extLst>
      <p:ext uri="{BB962C8B-B14F-4D97-AF65-F5344CB8AC3E}">
        <p14:creationId xmlns:p14="http://schemas.microsoft.com/office/powerpoint/2010/main" val="2378069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CB1A9-9184-48C9-8139-D5C60194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96425-52B0-4E24-BA13-817454BC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3F716-DFA8-4ADF-B45A-C5C98E78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867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trustworthy movement model must respect anatomy before claiming mechanics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64762-35A8-493E-BC42-BFE56BF1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322F5-6895-40FC-83F0-B54FDE11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593EE-A580-4FD0-ACA5-FD712DB9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1043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562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GaitParity converts left–right understanding into a rule that can fail, a control that should fail, and a study that can decide whether the rule improves physical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EC1D3-E6C2-4A12-BB1C-3412AAE6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91538-F310-4F20-BA3D-E727A568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8DB9B-B129-41DC-874F-44A5A6FF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C9D9B-CEA2-44B5-B3FA-D5209491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Exact geometry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7015E-D9B0-4C60-90BA-52C91CAA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equivariant implementation passes the intended mirror contract.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16803-1F87-4AEE-81BC-F5224ACA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289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172D6-12FF-4A69-A9B8-646B1DF4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289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0">
            <a:solidFill>
              <a:srgbClr val="D95D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6B8BC-D01E-4F69-9265-3C3DA9AF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385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5D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5D5D"/>
                </a:solidFill>
                <a:latin typeface="Arial"/>
                <a:ea typeface="Arial"/>
                <a:cs typeface="Arial"/>
              </a:rPr>
              <a:t>LIMIT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F6809-4E2C-4A43-875E-D96261B8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43300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 force claim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E1E73-297C-4780-B70B-CA542BAA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719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Current GAVD evidence is local, transductive, and outcome-free.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85B64-128D-43E0-9B36-316073A7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28722-B1CD-4331-9372-A5CF87FE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7E098-9CD8-46E8-8C12-54C5F09E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12E87-171F-4C4F-81C2-7472D07B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367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stronger world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73D19-24E0-4D8D-8959-F94E5E71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Body, scene, contact, dynamics, and uncertainty can become one predictive state.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6520A1-5E3A-4520-8F74-E2287F2E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5450"/>
            <a:ext cx="9753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F9957-B0E5-426E-A850-AB875948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6737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right next step is the participant-held-out force-plate study.</a:t>
            </a:r>
          </a:p>
        </p:txBody>
      </p:sp>
    </p:spTree>
    <p:extLst>
      <p:ext uri="{BB962C8B-B14F-4D97-AF65-F5344CB8AC3E}">
        <p14:creationId xmlns:p14="http://schemas.microsoft.com/office/powerpoint/2010/main" val="136592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2026-08-23T23:09:46.7360000Z</dcterms:created>
  <dcterms:modified xsi:type="dcterms:W3CDTF">2026-08-23T23:09:46.7360000Z</dcterms:modified>
</coreProperties>
</file>