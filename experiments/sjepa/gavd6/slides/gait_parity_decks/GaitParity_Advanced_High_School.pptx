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147cea37ab4454" /><Relationship Type="http://schemas.openxmlformats.org/officeDocument/2006/relationships/extended-properties" Target="/docProps/app.xml" Id="Re4e09bf137a54bf9" /><Relationship Type="http://schemas.openxmlformats.org/officeDocument/2006/relationships/officeDocument" Target="/ppt/presentation.xml" Id="R48f0076d3a3a40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0d7a6e38c480e"/>
  </p:sldMasterIdLst>
  <p:notesMasterIdLst>
    <p:notesMasterId xmlns:r="http://schemas.openxmlformats.org/officeDocument/2006/relationships" r:id="Raf165a3b4ddc4dc9"/>
  </p:notesMasterIdLst>
  <p:sldIdLst>
    <p:sldId xmlns:r="http://schemas.openxmlformats.org/officeDocument/2006/relationships" id="256" r:id="Rff4271b703c74934"/>
    <p:sldId xmlns:r="http://schemas.openxmlformats.org/officeDocument/2006/relationships" id="257" r:id="R2845e08ddfdf4715"/>
    <p:sldId xmlns:r="http://schemas.openxmlformats.org/officeDocument/2006/relationships" id="258" r:id="R14cb3b4c47d34979"/>
    <p:sldId xmlns:r="http://schemas.openxmlformats.org/officeDocument/2006/relationships" id="259" r:id="R305ed71bc16d492f"/>
    <p:sldId xmlns:r="http://schemas.openxmlformats.org/officeDocument/2006/relationships" id="260" r:id="R4a7d26339473412b"/>
    <p:sldId xmlns:r="http://schemas.openxmlformats.org/officeDocument/2006/relationships" id="261" r:id="R6f59454e94ee4319"/>
    <p:sldId xmlns:r="http://schemas.openxmlformats.org/officeDocument/2006/relationships" id="262" r:id="R157504f6528148ee"/>
    <p:sldId xmlns:r="http://schemas.openxmlformats.org/officeDocument/2006/relationships" id="263" r:id="Ra670593a6a184612"/>
    <p:sldId xmlns:r="http://schemas.openxmlformats.org/officeDocument/2006/relationships" id="264" r:id="R9f22bf9de7f948b0"/>
    <p:sldId xmlns:r="http://schemas.openxmlformats.org/officeDocument/2006/relationships" id="265" r:id="R31e240d2368d448e"/>
    <p:sldId xmlns:r="http://schemas.openxmlformats.org/officeDocument/2006/relationships" id="266" r:id="R9b2f79b913024d04"/>
    <p:sldId xmlns:r="http://schemas.openxmlformats.org/officeDocument/2006/relationships" id="267" r:id="Ra4f612afe4d24c3c"/>
    <p:sldId xmlns:r="http://schemas.openxmlformats.org/officeDocument/2006/relationships" id="268" r:id="R0535aa6252cb4350"/>
    <p:sldId xmlns:r="http://schemas.openxmlformats.org/officeDocument/2006/relationships" id="269" r:id="R586fd21730b8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9f52260e514b4d" /><Relationship Type="http://schemas.openxmlformats.org/officeDocument/2006/relationships/slideMaster" Target="/ppt/slideMasters/slideMaster1.xml" Id="R5fc0d7a6e38c480e" /><Relationship Type="http://schemas.openxmlformats.org/officeDocument/2006/relationships/notesMaster" Target="/ppt/notesMasters/notesMaster1.xml" Id="Raf165a3b4ddc4dc9" /><Relationship Type="http://schemas.openxmlformats.org/officeDocument/2006/relationships/presProps" Target="/ppt/presProps.xml" Id="R4265c5d1d847463d" /><Relationship Type="http://schemas.openxmlformats.org/officeDocument/2006/relationships/tableStyles" Target="/ppt/tableStyles.xml" Id="R991da2b925844a28" /><Relationship Type="http://schemas.openxmlformats.org/officeDocument/2006/relationships/slide" Target="/ppt/slides/slide1.xml" Id="Rff4271b703c74934" /><Relationship Type="http://schemas.openxmlformats.org/officeDocument/2006/relationships/slide" Target="/ppt/slides/slide2.xml" Id="R2845e08ddfdf4715" /><Relationship Type="http://schemas.openxmlformats.org/officeDocument/2006/relationships/slide" Target="/ppt/slides/slide3.xml" Id="R14cb3b4c47d34979" /><Relationship Type="http://schemas.openxmlformats.org/officeDocument/2006/relationships/slide" Target="/ppt/slides/slide4.xml" Id="R305ed71bc16d492f" /><Relationship Type="http://schemas.openxmlformats.org/officeDocument/2006/relationships/slide" Target="/ppt/slides/slide5.xml" Id="R4a7d26339473412b" /><Relationship Type="http://schemas.openxmlformats.org/officeDocument/2006/relationships/slide" Target="/ppt/slides/slide6.xml" Id="R6f59454e94ee4319" /><Relationship Type="http://schemas.openxmlformats.org/officeDocument/2006/relationships/slide" Target="/ppt/slides/slide7.xml" Id="R157504f6528148ee" /><Relationship Type="http://schemas.openxmlformats.org/officeDocument/2006/relationships/slide" Target="/ppt/slides/slide8.xml" Id="Ra670593a6a184612" /><Relationship Type="http://schemas.openxmlformats.org/officeDocument/2006/relationships/slide" Target="/ppt/slides/slide9.xml" Id="R9f22bf9de7f948b0" /><Relationship Type="http://schemas.openxmlformats.org/officeDocument/2006/relationships/slide" Target="/ppt/slides/slide10.xml" Id="R31e240d2368d448e" /><Relationship Type="http://schemas.openxmlformats.org/officeDocument/2006/relationships/slide" Target="/ppt/slides/slide11.xml" Id="R9b2f79b913024d04" /><Relationship Type="http://schemas.openxmlformats.org/officeDocument/2006/relationships/slide" Target="/ppt/slides/slide12.xml" Id="Ra4f612afe4d24c3c" /><Relationship Type="http://schemas.openxmlformats.org/officeDocument/2006/relationships/slide" Target="/ppt/slides/slide13.xml" Id="R0535aa6252cb4350" /><Relationship Type="http://schemas.openxmlformats.org/officeDocument/2006/relationships/slide" Target="/ppt/slides/slide14.xml" Id="R586fd21730b8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dabf6ff069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f59f6fdbc946df" /><Relationship Type="http://schemas.openxmlformats.org/officeDocument/2006/relationships/notesMaster" Target="/ppt/notesMasters/notesMaster1.xml" Id="R34d484d56e6145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8c00634344826" /><Relationship Type="http://schemas.openxmlformats.org/officeDocument/2006/relationships/notesMaster" Target="/ppt/notesMasters/notesMaster1.xml" Id="R26e2e8f610f8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4ced4348d44e0" /><Relationship Type="http://schemas.openxmlformats.org/officeDocument/2006/relationships/notesMaster" Target="/ppt/notesMasters/notesMaster1.xml" Id="R24a510e46a3742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84d03fec91469d" /><Relationship Type="http://schemas.openxmlformats.org/officeDocument/2006/relationships/notesMaster" Target="/ppt/notesMasters/notesMaster1.xml" Id="Rc719dc841b414c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8cbea631d4aaf" /><Relationship Type="http://schemas.openxmlformats.org/officeDocument/2006/relationships/notesMaster" Target="/ppt/notesMasters/notesMaster1.xml" Id="Rfde18bfdbbfb4b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d035dc9e6476d" /><Relationship Type="http://schemas.openxmlformats.org/officeDocument/2006/relationships/notesMaster" Target="/ppt/notesMasters/notesMaster1.xml" Id="Rf38ed6a298a8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d19003026c4c31" /><Relationship Type="http://schemas.openxmlformats.org/officeDocument/2006/relationships/notesMaster" Target="/ppt/notesMasters/notesMaster1.xml" Id="Rba95d543cc454b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b8cd8b701f4e37" /><Relationship Type="http://schemas.openxmlformats.org/officeDocument/2006/relationships/notesMaster" Target="/ppt/notesMasters/notesMaster1.xml" Id="R3799b6b14b0a44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19da63b89e4c71" /><Relationship Type="http://schemas.openxmlformats.org/officeDocument/2006/relationships/notesMaster" Target="/ppt/notesMasters/notesMaster1.xml" Id="R46feed5d9b374c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494e6865fd44fa" /><Relationship Type="http://schemas.openxmlformats.org/officeDocument/2006/relationships/notesMaster" Target="/ppt/notesMasters/notesMaster1.xml" Id="R5c41e9b67bf74c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243224a9d5411a" /><Relationship Type="http://schemas.openxmlformats.org/officeDocument/2006/relationships/notesMaster" Target="/ppt/notesMasters/notesMaster1.xml" Id="R9be9d30638f446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d86195ffff4e46" /><Relationship Type="http://schemas.openxmlformats.org/officeDocument/2006/relationships/notesMaster" Target="/ppt/notesMasters/notesMaster1.xml" Id="R0e3922f65d1544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955d56fddb4808" /><Relationship Type="http://schemas.openxmlformats.org/officeDocument/2006/relationships/notesMaster" Target="/ppt/notesMasters/notesMaster1.xml" Id="Ra8c112251b044d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0d3000326d4c5e" /><Relationship Type="http://schemas.openxmlformats.org/officeDocument/2006/relationships/notesMaster" Target="/ppt/notesMasters/notesMaster1.xml" Id="Rf7dcb9031753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scientific question: can a movement model keep left and right straight when the body is mirrored?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/Users/theodoremui/Downloads/GaitParity Study.pdf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/Users/theodoremui/Downloads/GaitParity Study.pdf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/Users/theodoremui/dev/alexpose/experiments/sjepa/gavd6/notebooks/foundations/01_gavd_manifest_and_youtube.ipynb</a:t>
            </a:r>
          </a:p>
          <a:p xmlns:a="http://schemas.openxmlformats.org/drawingml/2006/main">
            <a:r>
              <a:t>- /Users/theodoremui/dev/alexpose/experiments/sjepa/gavd6/slides/gait_parity_decks/images/prior-sjepa-pipeline.svg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/Users/theodoremui/dev/alexpose/experiments/sjepa/gavd6/notebooks/foundations/04_pretrain_sjepa_on_normal.ipynb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/Users/theodoremui/dev/alexpose/experiments/sjepa/gavd6/notebooks/foundations/06_capstone_health_condition_classifiers.ipynb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/Users/theodoremui/dev/alexpose/experiments/sjepa/gavd6/slides/gait_parity_decks/images/mirror-versus-camera.svg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this an informative null result: it stops the project from presenting a weak side signal as a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/Users/theodoremui/dev/alexpose/experiments/sjepa/gavd6/artifacts/notebook_runs/organized-2026-08-23/experiments/idea05_signed_laterality/01_probe.ipynb</a:t>
            </a:r>
          </a:p>
          <a:p xmlns:a="http://schemas.openxmlformats.org/drawingml/2006/main">
            <a:r>
              <a:t>- /Users/theodoremui/dev/alexpose/experiments/sjepa/gavd6/slides/gait_parity_decks/images/notebook-05a-signed-laterality-probe.png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/Users/theodoremui/dev/alexpose/experiments/sjepa/gavd6/slides/gait_parity_decks/images/model-comparisons.svg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/Users/theodoremui/dev/alexpose/experiments/sjepa/gavd6/artifacts/notebook_runs/organized-2026-08-23/experiments/idea09_reflection_equivariance/06_cpu_replication.ipynb</a:t>
            </a:r>
          </a:p>
          <a:p xmlns:a="http://schemas.openxmlformats.org/drawingml/2006/main">
            <a:r>
              <a:t>- /Users/theodoremui/dev/alexpose/experiments/sjepa/gavd6/slides/gait_parity_decks/images/notebook-09f-full-gavd-audit.png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/Users/theodoremui/dev/alexpose/experiments/sjepa/gavd6/artifacts/notebook_runs/organized-2026-08-23/experiments/idea09_reflection_equivariance/06_cpu_replication.ipynb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/Users/theodoremui/dev/alexpose/experiments/sjepa/gavd6/notes/research/programs/gait_parity/METHODOLOGY.md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  <a:p xmlns:a="http://schemas.openxmlformats.org/drawingml/2006/main">
            <a:r>
              <a:t>- /Users/theodoremui/dev/alexpose/experiments/sjepa/gavd6/slides/gait_parity_decks/images/participant-safe-split.svg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research mentor meeting notes, 2026-08-23</a:t>
            </a:r>
          </a:p>
          <a:p xmlns:a="http://schemas.openxmlformats.org/drawingml/2006/main">
            <a:r>
              <a:t>- /Users/theodoremui/dev/alexpose/experiments/sjepa/gavd6/notes/research/programs/gait_parity/README_LONG_TERM.md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/Users/theodoremui/dev/alexpose/experiments/sjepa/gavd6/notes/research/programs/gait_parity/tutorials/02-current-direction-and-results.md</a:t>
            </a:r>
          </a:p>
          <a:p xmlns:a="http://schemas.openxmlformats.org/drawingml/2006/main">
            <a:r>
              <a:t>- /Users/theodoremui/dev/alexpose/experiments/sjepa/gavd6/notes/research/programs/gait_parity/tutorials/03-planned-research-direction.md</a:t>
            </a:r>
          </a:p>
          <a:p xmlns:a="http://schemas.openxmlformats.org/drawingml/2006/main">
            <a:r>
              <a:t>- User-provided research mentor meeting notes, 2026-08-23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112ef015049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e05a0bb2141c1" /><Relationship Type="http://schemas.openxmlformats.org/officeDocument/2006/relationships/slideLayout" Target="/ppt/slideLayouts/slideLayout1.xml" Id="R4c85716fc24a4e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85716fc24a4e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120638b204fa9" /><Relationship Type="http://schemas.openxmlformats.org/officeDocument/2006/relationships/notesSlide" Target="/ppt/notesSlides/notesSlide1.xml" Id="Rfd2955c445c3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1d418bee740f6" /><Relationship Type="http://schemas.openxmlformats.org/officeDocument/2006/relationships/notesSlide" Target="/ppt/notesSlides/notesSlide2.xml" Id="R3c96954da668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2d8fa958f4c7e" /><Relationship Type="http://schemas.openxmlformats.org/officeDocument/2006/relationships/image" Target="/ppt/media/image.png" Id="Ra97644c8972e4b6d" /><Relationship Type="http://schemas.openxmlformats.org/officeDocument/2006/relationships/notesSlide" Target="/ppt/notesSlides/notesSlide3.xml" Id="Rba6a9c61a035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4b5d78dda470c" /><Relationship Type="http://schemas.openxmlformats.org/officeDocument/2006/relationships/notesSlide" Target="/ppt/notesSlides/notesSlide4.xml" Id="Re14751a657a44d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1142651f8407c" /><Relationship Type="http://schemas.openxmlformats.org/officeDocument/2006/relationships/notesSlide" Target="/ppt/notesSlides/notesSlide5.xml" Id="R8ac89b93731744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1f70374ee4319" /><Relationship Type="http://schemas.openxmlformats.org/officeDocument/2006/relationships/chart" Target="/ppt/slides/charts/chart1.xml" Id="Re2d5e804a0ab4f0c" /><Relationship Type="http://schemas.openxmlformats.org/officeDocument/2006/relationships/notesSlide" Target="/ppt/notesSlides/notesSlide6.xml" Id="R190fa86b0ff346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e838aed984636" /><Relationship Type="http://schemas.openxmlformats.org/officeDocument/2006/relationships/image" Target="/ppt/media/image2.png" Id="R81b5adff518a48ca" /><Relationship Type="http://schemas.openxmlformats.org/officeDocument/2006/relationships/notesSlide" Target="/ppt/notesSlides/notesSlide7.xml" Id="Rb02f23180b364c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7007d3d764d6e" /><Relationship Type="http://schemas.openxmlformats.org/officeDocument/2006/relationships/image" Target="/ppt/media/image3.png" Id="Ra108452b08cf4de9" /><Relationship Type="http://schemas.openxmlformats.org/officeDocument/2006/relationships/notesSlide" Target="/ppt/notesSlides/notesSlide8.xml" Id="Rdb4f4ce6a6604d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6de407ca54f0c" /><Relationship Type="http://schemas.openxmlformats.org/officeDocument/2006/relationships/image" Target="/ppt/media/image4.png" Id="R8fe44615c0a141dc" /><Relationship Type="http://schemas.openxmlformats.org/officeDocument/2006/relationships/notesSlide" Target="/ppt/notesSlides/notesSlide9.xml" Id="R456c0d453e3e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8e111c9f04d99" /><Relationship Type="http://schemas.openxmlformats.org/officeDocument/2006/relationships/chart" Target="/ppt/slides/charts/chart2.xml" Id="R0217f08b405145a8" /><Relationship Type="http://schemas.openxmlformats.org/officeDocument/2006/relationships/notesSlide" Target="/ppt/notesSlides/notesSlide10.xml" Id="Rf42053e6b9cf4a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fb71a34894acb" /><Relationship Type="http://schemas.openxmlformats.org/officeDocument/2006/relationships/notesSlide" Target="/ppt/notesSlides/notesSlide11.xml" Id="R8d8d5e92ee4c47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eee122d94424" /><Relationship Type="http://schemas.openxmlformats.org/officeDocument/2006/relationships/image" Target="/ppt/media/image5.png" Id="Raa2d9b637a294731" /><Relationship Type="http://schemas.openxmlformats.org/officeDocument/2006/relationships/notesSlide" Target="/ppt/notesSlides/notesSlide12.xml" Id="R860e4cfd7b6e4d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476a3f63b4d1b" /><Relationship Type="http://schemas.openxmlformats.org/officeDocument/2006/relationships/notesSlide" Target="/ppt/notesSlides/notesSlide13.xml" Id="R6e336aecc82942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4958759f4493e" /><Relationship Type="http://schemas.openxmlformats.org/officeDocument/2006/relationships/notesSlide" Target="/ppt/notesSlides/notesSlide14.xml" Id="R4c6ba201b3c245f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52606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3"/>
              <c:pt idx="0">
                <c:v>Missingness only</c:v>
              </c:pt>
              <c:pt idx="1">
                <c:v>S-JEPA features</c:v>
              </c:pt>
              <c:pt idx="2">
                <c:v>Grouped N vs A</c:v>
              </c:pt>
            </c:strLit>
          </c:cat>
          <c:val>
            <c:numLit>
              <c:formatCode>General</c:formatCode>
              <c:ptCount val="3"/>
              <c:pt idx="0">
                <c:v>0.414</c:v>
              </c:pt>
              <c:pt idx="1">
                <c:v>0.724</c:v>
              </c:pt>
              <c:pt idx="2">
                <c:v>0.843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2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Worst layer swap residual</c:v>
          </c:tx>
          <c:spPr>
            <a:solidFill xmlns:a="http://schemas.openxmlformats.org/drawingml/2006/main">
              <a:srgbClr val="3D8DFF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D95D5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3"/>
              <c:pt idx="0">
                <c:v>Standard</c:v>
              </c:pt>
              <c:pt idx="1">
                <c:v>Paired control</c:v>
              </c:pt>
              <c:pt idx="2">
                <c:v>Equivariant</c:v>
              </c:pt>
            </c:strLit>
          </c:cat>
          <c:val>
            <c:numLit>
              <c:formatCode>General</c:formatCode>
              <c:ptCount val="3"/>
              <c:pt idx="0">
                <c:v>0</c:v>
              </c:pt>
              <c:pt idx="1">
                <c:v>5.9</c:v>
              </c:pt>
              <c:pt idx="2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0EC90-34E7-41EF-84DA-1B497DE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29767-F724-4D8E-ACDB-12675F20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ADVANCED HIGH-SCHOOL RESEARCH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B8C40-53DA-4DCF-8184-B04824C8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GaitParity: Teaching AI Which Side of the Body Is Which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C6570-E2C1-4648-9EB4-93162C9A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A mirror test for movement models—and a path from video skeletons toward trustworthy biomechanics.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00422-EC0C-4BBC-BB41-6DACD64B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335F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F54EB-AF9F-4DD1-9214-FA8360B2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 → physical rule → controlled audit → force-plate study → physics-grounded world model</a:t>
            </a:r>
          </a:p>
        </p:txBody>
      </p:sp>
    </p:spTree>
    <p:extLst>
      <p:ext uri="{BB962C8B-B14F-4D97-AF65-F5344CB8AC3E}">
        <p14:creationId xmlns:p14="http://schemas.microsoft.com/office/powerpoint/2010/main" val="91787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CA57C-3BFC-4B15-8D2D-F134249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C1158-AF36-485F-936B-A338E2C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8EF7B-F1D8-4CB5-84CF-5AEDD2D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left and right are not interchangeable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5950B-6AD3-41A2-9F3F-1864C46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26C0A-5835-4974-AD0B-9B0AF0FE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A4F93-58A3-443B-9313-18FB552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same movement can look similar while each leg contributes very differently.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F2E3D-C4F1-4D8C-A137-F17EDCC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FDBB6-4578-43B0-9E3E-B9F743A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30E6A-1632-4A45-A9D4-F054157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BIOMECHANICS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5B807-9662-4237-A725-AFDF026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6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Balance is often a side-to-side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8549E-C025-4673-B965-B10E09C3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After stroke, one leg may push less or support the body differently.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Force plates measure that difference. Video alone can hide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F0342-5863-4144-86E6-89B2347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E1A55-4EBE-442A-AC4F-E6A0E0D2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CBF78-71B0-468B-ACCA-AEF8F2C0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AMBIENT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A9CC4-1F2E-4605-A10F-33B25235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083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Cameras can create a false side 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D6514-4B05-407C-8501-A57E0B5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flipped feed, a new viewpoint, or a missing heel can make the same person look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useful room-scale system must separate anatomy from observation.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B88B8-90C5-415E-AB65-5F8DEFC7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CEC49-0298-49E6-978B-D5965A3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body mirror should flip a signed asymmetry. A camera move should not.</a:t>
            </a:r>
          </a:p>
        </p:txBody>
      </p:sp>
    </p:spTree>
    <p:extLst>
      <p:ext uri="{BB962C8B-B14F-4D97-AF65-F5344CB8AC3E}">
        <p14:creationId xmlns:p14="http://schemas.microsoft.com/office/powerpoint/2010/main" val="1810074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EC4A3-B9C1-4E30-989A-BD04502E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30E35-15EC-4E44-A96B-8D8B262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PREVIOUS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E932C-615C-49B4-AF2D-C25C2D5F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earlier project built a complete motion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4C4BF-272F-492A-B18F-A966FDA3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F36E4-8053-4BD2-8167-13E47DC6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C8256-E893-4355-AD03-6C6207DB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Public gait video became a fixed-length skeleton sequence, then a self-supervised motion representation.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5758B-314A-45D0-9EA5-AEA2BAF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644c8972e4b6d"/>
          <a:stretch xmlns:a="http://schemas.openxmlformats.org/drawingml/2006/main"/>
        </p:blipFill>
        <p:spPr>
          <a:xfrm xmlns:a="http://schemas.openxmlformats.org/drawingml/2006/main">
            <a:off x="693543" y="1828800"/>
            <a:ext cx="10195313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1207B-2D60-42C0-AEAB-C921C975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31C75-151E-4167-8CCE-D7DC1449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96 canonical sequences came from 18 source videos. The source video—not the clip—is the real independence boundary.</a:t>
            </a:r>
          </a:p>
        </p:txBody>
      </p:sp>
    </p:spTree>
    <p:extLst>
      <p:ext uri="{BB962C8B-B14F-4D97-AF65-F5344CB8AC3E}">
        <p14:creationId xmlns:p14="http://schemas.microsoft.com/office/powerpoint/2010/main" val="401033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AB251D-FDC7-41DF-A945-8BC72FD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FF62-4EB7-491E-99F0-B7CF1C91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BF20-6CDD-41D2-B62E-74E9E388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S-JEPA learns by predicting what was hidden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6412C-38AA-400A-9000-8CE3E942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1A4E7-83DD-408D-8360-7374DCE8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3EDB9-3B1B-4920-936B-788173A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model does not reconstruct pixels. It predicts a useful representation of missing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BFB5E-2E43-475A-8C54-402A32EC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88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D6B20-96CE-493C-BCD2-2795E48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7FBE0-4512-494B-BF2A-62AB10B0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85750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E51D1-FA12-4842-A155-C29E9487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2424113" cy="2428875"/>
          </a:xfrm>
          <a:prstGeom xmlns:a="http://schemas.openxmlformats.org/drawingml/2006/main" prst="roundRect">
            <a:avLst>
              <a:gd name="adj" fmla="val 471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924F1-2986-44B7-8229-91CA83D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3081D-EEFA-4A67-B048-0AA2CAA3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0812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4E2B0-2F57-49DF-A3E0-3CA2FF03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08121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64 frames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33 body landmarks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visibility carried along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E60F4-190E-4D69-A6CC-FCC36071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2076450"/>
            <a:ext cx="2424113" cy="2428875"/>
          </a:xfrm>
          <a:prstGeom xmlns:a="http://schemas.openxmlformats.org/drawingml/2006/main" prst="roundRect">
            <a:avLst>
              <a:gd name="adj" fmla="val 47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DA6D3-B0E6-4BA0-BFF8-BD380F4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247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C86FC-2A43-45E6-A745-2F992C2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628900"/>
            <a:ext cx="20812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7EFA8-D761-40BC-9931-215B313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333750"/>
            <a:ext cx="208121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Mask selected joints and times without inventing a fake injury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0520C-E062-4757-B369-0A0B2FC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76450"/>
            <a:ext cx="2424113" cy="2428875"/>
          </a:xfrm>
          <a:prstGeom xmlns:a="http://schemas.openxmlformats.org/drawingml/2006/main" prst="roundRect">
            <a:avLst>
              <a:gd name="adj" fmla="val 471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61A1F-D0BF-42DB-8963-7201F44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47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92F06-76CD-4C61-B250-DFE53105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28900"/>
            <a:ext cx="20812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845E3-05D5-4737-B597-A2CF7B5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33750"/>
            <a:ext cx="208121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 visible motion to predict the hidden target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5F174-7ABD-4F42-A230-78AED0A6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088" y="2076450"/>
            <a:ext cx="2424113" cy="2428875"/>
          </a:xfrm>
          <a:prstGeom xmlns:a="http://schemas.openxmlformats.org/drawingml/2006/main" prst="roundRect">
            <a:avLst>
              <a:gd name="adj" fmla="val 471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DE4F1-CCA2-405F-8E5B-FA9089BC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47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CD673-B11B-4682-9311-067CE4B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628900"/>
            <a:ext cx="208121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BB85C-B41D-4F7C-B0B3-4BC9CE1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3333750"/>
            <a:ext cx="2081213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Check feature variation, confounds, splits, and downstream readouts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1D4EE-BE25-429D-A721-E2CB10B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91100"/>
            <a:ext cx="8229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3967B-486C-4171-8A2B-7971A502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91125"/>
            <a:ext cx="765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31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objective teaches motion structure. It does not automatically teach physics or left–right meaning.</a:t>
            </a:r>
          </a:p>
        </p:txBody>
      </p:sp>
    </p:spTree>
    <p:extLst>
      <p:ext uri="{BB962C8B-B14F-4D97-AF65-F5344CB8AC3E}">
        <p14:creationId xmlns:p14="http://schemas.microsoft.com/office/powerpoint/2010/main" val="14594878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0392A-43F2-4654-834C-F41034C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868E9-F422-4F0B-9579-9A2A8DD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PREVIOUS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F4F88-BDB0-4EF5-B0E8-0D91F305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training run learned—but did not become a 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7BA5E-FD27-40D0-A37E-D13DEBC0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A696F-9EAB-40DB-920A-C33A629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030D1-2FB8-4B59-B17F-81E00C3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representation stayed varied and the prediction loss fell substantially.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39FA3-EB25-49E9-BE20-E3A0DDE2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8C15B-E95B-4CC5-A6D7-71997C68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6.56 → 0.59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51C8D-F1C4-405F-BC8B-32023EB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JEPA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A2807-7717-4161-BC9C-D8B2369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Normal-only Stage 0, 300 epochs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B0F9F-A295-4A9A-B69F-3CF40FB8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8CAD6-6DDF-4269-A293-BEDCFEE0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.296 → .465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2E923-FE55-4DA2-8E53-0D0BEB7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feature spread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B2249-2A8C-479C-B834-F9A5F6A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Evidence against total constant collapse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C4EA1-4F51-4187-A8DB-42787B3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57375"/>
            <a:ext cx="33337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9EF62-D3D9-460C-9023-542E59D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0.414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ED1A6-91BC-413F-AD10-F1820646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241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final feature std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D7955-AC39-4428-ACC3-270285BE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14725"/>
            <a:ext cx="2876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After five condition-aware stages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D3891-CCC9-4D61-A218-BC762214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10668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2AEF5-5D6B-4D78-AFFC-3F101B5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this supports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AB78C-6BFE-4F12-AE4D-47667C55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910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learning system ran correctly and produced nontrivial features. These are training-health results—not clinical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223850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7061D-CD8F-4939-91AF-B7EAF3B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6436C-046B-41CB-8886-8D1CE109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PREVIOUS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9C55F-AD62-4ACB-B73A-D4B48D9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Condition labels were readable inside the exposed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57DD7-5825-4508-B3D5-13CF3701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3A901-C136-4BA9-95B7-915C844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9B469-0D91-4C9F-BF17-A34B9F0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harder question is whether the same signal survives new source videos and new people.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42B00-EE55-4BF1-B187-67244B3F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64770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5905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d5e804a0ab4f0c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01151-CA49-41FA-B8A0-F933744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3905250" cy="400050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8699B-497A-409E-9525-860C1EC8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3905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C3CD5-2C19-4646-AEAD-77C04E8A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READ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DA32F-1521-45D8-AEBB-EAA3722F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486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74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Useful signal, limited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1E3F6-DDD7-4726-9F7A-7ABE172E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4861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All-96 five-class accuracy: 0.724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Grouped normal-vs-abnormal: 0.843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encoder had still seen every held-out classifier row. This is not unseen-person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5960491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27D12-1929-479C-9B7E-E3E4ECF7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C53FD-F24E-4079-A8D1-A095BE81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GAITPARITY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EAD94-F2B0-41DD-B92B-B03B9BD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anatomical mirror creates a testable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B1767-1474-4192-87E1-2FA78DD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F4982-3A92-480C-951E-E524517F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1C1DC-218E-453E-B72C-EBD34FF3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Mirroring the body exchanges anatomy. Moving the camera only changes how the same anatomy is observed.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593C4-E865-44DA-AD58-BBD83AF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5adff518a48ca"/>
          <a:stretch xmlns:a="http://schemas.openxmlformats.org/drawingml/2006/main"/>
        </p:blipFill>
        <p:spPr>
          <a:xfrm xmlns:a="http://schemas.openxmlformats.org/drawingml/2006/main">
            <a:off x="1812681" y="1828800"/>
            <a:ext cx="7957038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3F857-C857-4A84-B1B1-4BFD4758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ECF7B-4788-428D-8F44-1AB87340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Overall pace should stay similar. A right-minus-left quantity must reverse sign.</a:t>
            </a:r>
          </a:p>
        </p:txBody>
      </p:sp>
    </p:spTree>
    <p:extLst>
      <p:ext uri="{BB962C8B-B14F-4D97-AF65-F5344CB8AC3E}">
        <p14:creationId xmlns:p14="http://schemas.microsoft.com/office/powerpoint/2010/main" val="1743804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017DF-E228-4483-A8FD-89F6063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F30F6-B9B1-4486-B345-A33F8C4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GAITPARITY RESULT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3E594-3CC5-4D53-9AA3-1A2908F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first signed-laterality test failed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4F795-D4DA-45EE-992A-BD3FBA56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CB654-8C56-4830-8F8F-8CAE9AA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37147-9FD6-49D3-8E04-B580CA7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simple reader could not recover the constructed left–right score from the old representation.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1E3DC-CFF2-42F0-8072-BAA0D5C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8452b08cf4de9"/>
          <a:stretch xmlns:a="http://schemas.openxmlformats.org/drawingml/2006/main"/>
        </p:blipFill>
        <p:spPr>
          <a:xfrm xmlns:a="http://schemas.openxmlformats.org/drawingml/2006/main">
            <a:off x="1481138" y="1828800"/>
            <a:ext cx="8620125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0C0C5-B66A-4003-87D1-B3192423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5D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FC7A4-4604-4C9F-AC26-B533DF2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Learned R² = −0.068 · mirror slope = −0.337, not near −1 · sign consistency = 0.444</a:t>
            </a:r>
          </a:p>
        </p:txBody>
      </p:sp>
    </p:spTree>
    <p:extLst>
      <p:ext uri="{BB962C8B-B14F-4D97-AF65-F5344CB8AC3E}">
        <p14:creationId xmlns:p14="http://schemas.microsoft.com/office/powerpoint/2010/main" val="2130516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231C7-6C73-4A3A-8A39-1392D9B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77DAD-1382-449A-875E-4423094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GAITPARITY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024A9-0D6A-403A-89BE-35DADD41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experiment compares three matched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3AAD5-209A-4738-B896-4CE0983B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037A6-2704-41B4-A56D-19FAFC3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73DF5-B2F2-476C-AE70-4A2924C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hard baseline is not an ordinary model. Three lines of arithmetic can already force the final answer to flip.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267BC-2183-466F-B5CD-5232F11B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44615c0a141dc"/>
          <a:stretch xmlns:a="http://schemas.openxmlformats.org/drawingml/2006/main"/>
        </p:blipFill>
        <p:spPr>
          <a:xfrm xmlns:a="http://schemas.openxmlformats.org/drawingml/2006/main">
            <a:off x="2096861" y="1828800"/>
            <a:ext cx="7388679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3BC0D-BBEA-42AF-AB5E-718F838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3EB1D-C4E1-4058-B5D4-9ACE9706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3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equivariant model must beat output repair and equally capable two-branch fusion—not merely a weaker one-view model.</a:t>
            </a:r>
          </a:p>
        </p:txBody>
      </p:sp>
    </p:spTree>
    <p:extLst>
      <p:ext uri="{BB962C8B-B14F-4D97-AF65-F5344CB8AC3E}">
        <p14:creationId xmlns:p14="http://schemas.microsoft.com/office/powerpoint/2010/main" val="1775205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951DF-7FF7-4669-95A2-9A726D8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12B84-99D1-49B9-B490-B92C80E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GAITPARITY RESULT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EEB10-2451-4F42-BA85-5A02FC98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controlled audit can detect broken mirror geometry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6CD70-26C3-4E16-8539-F72A5198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A5AF-607F-4025-B252-9B795ED3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37EC4-E894-44E2-8760-377B0A1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Across matched runs, the equivariant encoder followed the rule exactly; the unrestricted control did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95BC4-51E5-4E97-A3A2-2606820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905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81050" y="2076450"/>
          <a:ext xmlns:a="http://schemas.openxmlformats.org/drawingml/2006/main" cx="523875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17f08b405145a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3B2D9-E0EE-41B0-867B-69B6381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577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Lower is better; pass gate = 5×10⁻⁵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47EED-D08F-42FF-BA7F-C55AF217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4577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3862C-F590-4F55-BB46-9F15B6DE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45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8C3B9-618D-42B1-A4D9-1790DA8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CHANNEL HEALTH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9B20C-B1E0-4F3A-B3E8-BCD1E65F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66950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Exact—and non-empty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64233-F549-4238-A973-C9F434F5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Odd/even energy ratio 0.022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Odd effective rank 1.532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 registered health gates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FDFA4-019C-4C6E-BD43-3E6FBD31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445770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1F71C-6256-4DD5-961D-B980979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24275"/>
            <a:ext cx="4457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6CB9A-B573-4E38-8224-E7414C5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33825"/>
            <a:ext cx="403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B678E-61E4-4B6D-B159-48BA5B7C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38625"/>
            <a:ext cx="4038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geometry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148095-E5C7-473C-86AC-B945745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4038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86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96 sequences · 18 videos · 394 windows · 3 seeds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force target. No participant-held-out clinical endpoint.</a:t>
            </a:r>
          </a:p>
        </p:txBody>
      </p:sp>
    </p:spTree>
    <p:extLst>
      <p:ext uri="{BB962C8B-B14F-4D97-AF65-F5344CB8AC3E}">
        <p14:creationId xmlns:p14="http://schemas.microsoft.com/office/powerpoint/2010/main" val="12113266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AFE731-B18C-4D0F-9C0A-C52D0BD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167A0-554A-4C75-BB30-5743E59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D6278-189D-4FA9-9C5A-6D08E3F0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the current evidence supports—and where it stops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A3F68-1E49-4DD3-8BEF-71CBC11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4B3F8-D464-4FC6-AE98-E446C814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B4B71-D599-466E-895C-8F354F1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Passing a rule is not the same as solving a biomechanical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20149-7C31-4947-A95D-072C4AF2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F13CF-61E0-4CC7-A0CE-93F5BA1D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61F8C-7262-424F-9FC9-304A9A5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SUPPORTED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5A9F3-FB52-48DC-B441-BFD1868F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trustworthy research instrument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5FD2D-2F70-412D-96D8-74AC26F9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✓ Correct anatomical reflection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✓ Exact layerwise swap behavior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✓ Audit catches the unrestricted control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✓ Odd channel passes registered health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2CF27-B11B-4215-8F50-89190CF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7B164-201F-4D14-95F1-B824046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90700"/>
            <a:ext cx="5191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solidFill>
              <a:srgbClr val="D95D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B2992-DED7-4A63-A85E-BCAFD9F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4772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NOT YET SUPPORTED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97FE8-E041-4A54-A7AD-D27FD000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47720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useful clinical measurement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82A7D-6C29-4E57-9DFC-7B84807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33700"/>
            <a:ext cx="477202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force-plate target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participant-held-out endpoint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balance or diagnosis result</a:t>
            </a:r>
          </a:p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GPU replication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C159C-2FB8-4AF3-A992-23C56AC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668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FA887-038E-4E3C-9472-92B27A7A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honest claim is engineering feasibility plus a clear reason to run the force-plate study.</a:t>
            </a:r>
          </a:p>
        </p:txBody>
      </p:sp>
    </p:spTree>
    <p:extLst>
      <p:ext uri="{BB962C8B-B14F-4D97-AF65-F5344CB8AC3E}">
        <p14:creationId xmlns:p14="http://schemas.microsoft.com/office/powerpoint/2010/main" val="3707684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66BE3-CB06-4B0D-AEC9-CF8DE86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A87DD-EE5B-41E7-BF51-506EF4E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PLANNED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43731-39B8-423B-A3CD-0F378FAF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decisive study gives one person one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9286F-AD5F-46D5-B5D1-C244AFD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9388F-98EC-4586-8528-5490E3FC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D9F27-9062-4230-A5FF-D87C9A06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 cycles from one participant stay together during training, tuning, and testing.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18579-8846-4D83-AB07-6DE12F7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d9b637a294731"/>
          <a:stretch xmlns:a="http://schemas.openxmlformats.org/drawingml/2006/main"/>
        </p:blipFill>
        <p:spPr>
          <a:xfrm xmlns:a="http://schemas.openxmlformats.org/drawingml/2006/main">
            <a:off x="3328307" y="1828800"/>
            <a:ext cx="4925786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F3EA0-816F-43BC-9511-09F30416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66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B4781-9A94-4216-8895-CBFAB0E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21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75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question: does the equivariant encoder reduce participant-level force MAE beyond output repair and the paired control?</a:t>
            </a:r>
          </a:p>
        </p:txBody>
      </p:sp>
    </p:spTree>
    <p:extLst>
      <p:ext uri="{BB962C8B-B14F-4D97-AF65-F5344CB8AC3E}">
        <p14:creationId xmlns:p14="http://schemas.microsoft.com/office/powerpoint/2010/main" val="15695974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6082A-3551-4733-8935-A1043AF5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24C88-D1C8-41B2-BFA6-32AEEDEA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E7C7-742D-4D5E-BA93-BB1E38B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Future direction: a physics-grounded movement world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3A51D-24C1-47FD-ABF5-D1B39B1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8D4EA-9E79-4659-9E7A-8B6BA9D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DCB99-3674-4D3F-A297-55FCF4D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GaitParity can become one structural rule inside a larger Biomech-JEPA that represents the body, scene, contact, dynamics, and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0FCBB-2AD2-401E-9F07-73B27B64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EA63E-0B0E-47D0-9449-03D4CB4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2EC36-54B7-4D78-A41D-ED221EDB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23086-3AA4-4E1A-9A72-97788A54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3845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1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68F67-93EA-489B-9D59-4A8B0BD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AABB4-23CD-4297-A4F5-18E5EA9E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E791E-D884-415D-94CC-A3A6C4E3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543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RGB video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Wearables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4A5A1-8A9E-4C37-851D-EC4A86BE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2047875" cy="2190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3063C-E55E-4C51-BB3E-17803ECC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76475"/>
            <a:ext cx="178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CANONICAL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9E8C1-A4D4-4626-BD0C-3F711C34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00350"/>
            <a:ext cx="1781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Body · scene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Contact · dynamics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BCA8F-4DCF-4B4E-85C0-615A7D88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38350"/>
            <a:ext cx="2047875" cy="2190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6D5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7DC43-6D2A-4425-A3DF-CF620DBF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76475"/>
            <a:ext cx="1781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5B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D5BD0"/>
                </a:solidFill>
                <a:latin typeface="Arial"/>
                <a:ea typeface="Arial"/>
                <a:cs typeface="Arial"/>
              </a:rPr>
              <a:t>BIOMECH-JEPA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6C6F1-4D60-4C24-89E5-131B3DE2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00350"/>
            <a:ext cx="17811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Mask and predict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Future state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Counterfactual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9EB25-1F1F-49C7-BDCA-3A78932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A11E6-9445-4F9D-85B2-6135FC4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76475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PHYSICS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B354F-8272-4DB0-AD96-F0C8542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0350"/>
            <a:ext cx="1543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OpenSim / robot sim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Force residuals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Groundedness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1BF5B-B933-4133-9701-574B8BF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428750" cy="2190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95D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CDDE5-EFA8-477F-951C-D3FFA6B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764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5D5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5D5D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C87374-932C-4F55-8EC7-9AA8272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162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Estimate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Generate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Ask tools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E5FB0-AE9B-47BD-A379-07E2ABE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7917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05448-457F-4D85-AF8A-125B507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first decisive experiment should start from clean biomechanical state—not raw video.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DEC137-B938-4A35-96BC-0A2E7201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55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 bridge to ambient video with depth, segmentation, monocular motion, simulation teachers, and an active Qwen tool agent.</a:t>
            </a:r>
          </a:p>
        </p:txBody>
      </p:sp>
    </p:spTree>
    <p:extLst>
      <p:ext uri="{BB962C8B-B14F-4D97-AF65-F5344CB8AC3E}">
        <p14:creationId xmlns:p14="http://schemas.microsoft.com/office/powerpoint/2010/main" val="17573438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68F84-8B4D-49CD-B0FE-966D8AF4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1706E-D6A0-4323-AC82-491F076F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A24F9-ABFB-45C6-B08C-D37F3548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mirror rule turns a vague goal into a falsifiable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EDF7F-4D46-4C84-BDEA-42EBB0D0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5440C-805A-4032-9F1B-6C1D170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C"/>
          </a:solidFill>
          <a:ln xmlns:a="http://schemas.openxmlformats.org/drawingml/2006/main" w="0">
            <a:solidFill>
              <a:srgbClr val="C9D2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DD005-110F-42C1-A2C4-2E86A247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439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56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We are not yet estimating force from everyday video. We now have a precise rule, a model that follows it, and an experiment that can decide whether it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7BC14-0FA1-4D25-A5F2-A1BEF30D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EE04A-B096-49B5-9249-FE5EB56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A5C80-B00B-42AE-B41B-AD2423B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12543-F32B-47EF-82BA-C75915F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Motion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4E49A-6F56-4BE9-BA82-967C8064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Earlier S-JEPA runs produced nontrivial but confounded representations.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3E52B-E70E-4B27-AA84-01337507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695F-A45A-4DB1-9E11-B7C2C2B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5EFAE-89DF-4587-AE48-51D36362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BDF49-E329-4FBB-A104-0136D02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Left–right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D4C22-B0EC-4AA1-8FB1-E4009AD6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equivariant encoder passes the exact mirror contract across matched audits.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A2DC0-71A8-4F31-96C3-CA0F2DE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C9D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18DDA-CA37-4B43-ACED-07F4945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8E0AF-9C97-4445-BE9C-D8DE131A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A26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A261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258DE-99F4-41E0-A2E0-B034CD0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724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Physical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510C-4E5A-4C5F-A97E-4B4BC31F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719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Force plates and new participants must test whether structure becomes useful.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0E0F9-228A-42B2-8606-B0741C3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05450"/>
            <a:ext cx="9753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7A08D-24F1-4DBE-8345-2626BD19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stronger claim requires a stronger gate.</a:t>
            </a:r>
          </a:p>
        </p:txBody>
      </p:sp>
    </p:spTree>
    <p:extLst>
      <p:ext uri="{BB962C8B-B14F-4D97-AF65-F5344CB8AC3E}">
        <p14:creationId xmlns:p14="http://schemas.microsoft.com/office/powerpoint/2010/main" val="827028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2026-08-23T23:09:46.2510000Z</dcterms:created>
  <dcterms:modified xsi:type="dcterms:W3CDTF">2026-08-23T23:09:46.2510000Z</dcterms:modified>
</coreProperties>
</file>