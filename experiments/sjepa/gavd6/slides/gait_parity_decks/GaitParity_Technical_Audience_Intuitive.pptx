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98cff77be041f1" /><Relationship Type="http://schemas.openxmlformats.org/officeDocument/2006/relationships/extended-properties" Target="/docProps/app.xml" Id="R779acbcbd9b04a90" /><Relationship Type="http://schemas.openxmlformats.org/officeDocument/2006/relationships/officeDocument" Target="/ppt/presentation.xml" Id="R95c605f24e674386" /></Relationships>
</file>

<file path=ppt/presentation.xml><?xml version="1.0" encoding="utf-8"?>
<p:presentation xmlns:p="http://schemas.openxmlformats.org/presentationml/2006/main">
  <p:sldMasterIdLst>
    <p:sldMasterId xmlns:r="http://schemas.openxmlformats.org/officeDocument/2006/relationships" id="2147483648" r:id="R0b2e3b30df1545b8"/>
  </p:sldMasterIdLst>
  <p:notesMasterIdLst>
    <p:notesMasterId xmlns:r="http://schemas.openxmlformats.org/officeDocument/2006/relationships" r:id="Raed822862c4d437d"/>
  </p:notesMasterIdLst>
  <p:sldIdLst>
    <p:sldId xmlns:r="http://schemas.openxmlformats.org/officeDocument/2006/relationships" id="256" r:id="Rf9b8fa9632384ff3"/>
    <p:sldId xmlns:r="http://schemas.openxmlformats.org/officeDocument/2006/relationships" id="257" r:id="Rc3314724d91f4623"/>
    <p:sldId xmlns:r="http://schemas.openxmlformats.org/officeDocument/2006/relationships" id="258" r:id="R633bb57061cb44e0"/>
    <p:sldId xmlns:r="http://schemas.openxmlformats.org/officeDocument/2006/relationships" id="259" r:id="Rf01e0285a2dd4d9e"/>
    <p:sldId xmlns:r="http://schemas.openxmlformats.org/officeDocument/2006/relationships" id="260" r:id="R8ea7a283b9284f4c"/>
    <p:sldId xmlns:r="http://schemas.openxmlformats.org/officeDocument/2006/relationships" id="261" r:id="R96b59f3eecfe4886"/>
    <p:sldId xmlns:r="http://schemas.openxmlformats.org/officeDocument/2006/relationships" id="262" r:id="R76428b8089e442a0"/>
    <p:sldId xmlns:r="http://schemas.openxmlformats.org/officeDocument/2006/relationships" id="263" r:id="Rc1033bc09fb94d4a"/>
    <p:sldId xmlns:r="http://schemas.openxmlformats.org/officeDocument/2006/relationships" id="264" r:id="R2890776f11a948c0"/>
    <p:sldId xmlns:r="http://schemas.openxmlformats.org/officeDocument/2006/relationships" id="265" r:id="R7c657cddb0304109"/>
    <p:sldId xmlns:r="http://schemas.openxmlformats.org/officeDocument/2006/relationships" id="266" r:id="Re0c9ec1315024206"/>
    <p:sldId xmlns:r="http://schemas.openxmlformats.org/officeDocument/2006/relationships" id="267" r:id="R31f5f4d19b5843be"/>
    <p:sldId xmlns:r="http://schemas.openxmlformats.org/officeDocument/2006/relationships" id="268" r:id="R2c5ade8d32d54fcf"/>
    <p:sldId xmlns:r="http://schemas.openxmlformats.org/officeDocument/2006/relationships" id="269" r:id="R33391a6b49be4c71"/>
    <p:sldId xmlns:r="http://schemas.openxmlformats.org/officeDocument/2006/relationships" id="270" r:id="R8a51bbd934344d0f"/>
    <p:sldId xmlns:r="http://schemas.openxmlformats.org/officeDocument/2006/relationships" id="271" r:id="R248247dad5fd4934"/>
    <p:sldId xmlns:r="http://schemas.openxmlformats.org/officeDocument/2006/relationships" id="272" r:id="Ra7d4269f0cbc43fb"/>
    <p:sldId xmlns:r="http://schemas.openxmlformats.org/officeDocument/2006/relationships" id="273" r:id="R6a5cbff228f24863"/>
    <p:sldId xmlns:r="http://schemas.openxmlformats.org/officeDocument/2006/relationships" id="274" r:id="Rb3facc94c5234e1d"/>
    <p:sldId xmlns:r="http://schemas.openxmlformats.org/officeDocument/2006/relationships" id="275" r:id="Rb7a0e4dd21c94216"/>
    <p:sldId xmlns:r="http://schemas.openxmlformats.org/officeDocument/2006/relationships" id="276" r:id="R39b5165f557f46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e24e41033f74b43" /><Relationship Type="http://schemas.openxmlformats.org/officeDocument/2006/relationships/slideMaster" Target="/ppt/slideMasters/slideMaster1.xml" Id="R0b2e3b30df1545b8" /><Relationship Type="http://schemas.openxmlformats.org/officeDocument/2006/relationships/notesMaster" Target="/ppt/notesMasters/notesMaster1.xml" Id="Raed822862c4d437d" /><Relationship Type="http://schemas.openxmlformats.org/officeDocument/2006/relationships/presProps" Target="/ppt/presProps.xml" Id="R2ac9d74a87b9420e" /><Relationship Type="http://schemas.openxmlformats.org/officeDocument/2006/relationships/tableStyles" Target="/ppt/tableStyles.xml" Id="R0ca68ef251034ef3" /><Relationship Type="http://schemas.openxmlformats.org/officeDocument/2006/relationships/slide" Target="/ppt/slides/slide1.xml" Id="Rf9b8fa9632384ff3" /><Relationship Type="http://schemas.openxmlformats.org/officeDocument/2006/relationships/slide" Target="/ppt/slides/slide2.xml" Id="Rc3314724d91f4623" /><Relationship Type="http://schemas.openxmlformats.org/officeDocument/2006/relationships/slide" Target="/ppt/slides/slide3.xml" Id="R633bb57061cb44e0" /><Relationship Type="http://schemas.openxmlformats.org/officeDocument/2006/relationships/slide" Target="/ppt/slides/slide4.xml" Id="Rf01e0285a2dd4d9e" /><Relationship Type="http://schemas.openxmlformats.org/officeDocument/2006/relationships/slide" Target="/ppt/slides/slide5.xml" Id="R8ea7a283b9284f4c" /><Relationship Type="http://schemas.openxmlformats.org/officeDocument/2006/relationships/slide" Target="/ppt/slides/slide6.xml" Id="R96b59f3eecfe4886" /><Relationship Type="http://schemas.openxmlformats.org/officeDocument/2006/relationships/slide" Target="/ppt/slides/slide7.xml" Id="R76428b8089e442a0" /><Relationship Type="http://schemas.openxmlformats.org/officeDocument/2006/relationships/slide" Target="/ppt/slides/slide8.xml" Id="Rc1033bc09fb94d4a" /><Relationship Type="http://schemas.openxmlformats.org/officeDocument/2006/relationships/slide" Target="/ppt/slides/slide9.xml" Id="R2890776f11a948c0" /><Relationship Type="http://schemas.openxmlformats.org/officeDocument/2006/relationships/slide" Target="/ppt/slides/slide10.xml" Id="R7c657cddb0304109" /><Relationship Type="http://schemas.openxmlformats.org/officeDocument/2006/relationships/slide" Target="/ppt/slides/slide11.xml" Id="Re0c9ec1315024206" /><Relationship Type="http://schemas.openxmlformats.org/officeDocument/2006/relationships/slide" Target="/ppt/slides/slide12.xml" Id="R31f5f4d19b5843be" /><Relationship Type="http://schemas.openxmlformats.org/officeDocument/2006/relationships/slide" Target="/ppt/slides/slide13.xml" Id="R2c5ade8d32d54fcf" /><Relationship Type="http://schemas.openxmlformats.org/officeDocument/2006/relationships/slide" Target="/ppt/slides/slide14.xml" Id="R33391a6b49be4c71" /><Relationship Type="http://schemas.openxmlformats.org/officeDocument/2006/relationships/slide" Target="/ppt/slides/slide15.xml" Id="R8a51bbd934344d0f" /><Relationship Type="http://schemas.openxmlformats.org/officeDocument/2006/relationships/slide" Target="/ppt/slides/slide16.xml" Id="R248247dad5fd4934" /><Relationship Type="http://schemas.openxmlformats.org/officeDocument/2006/relationships/slide" Target="/ppt/slides/slide17.xml" Id="Ra7d4269f0cbc43fb" /><Relationship Type="http://schemas.openxmlformats.org/officeDocument/2006/relationships/slide" Target="/ppt/slides/slide18.xml" Id="R6a5cbff228f24863" /><Relationship Type="http://schemas.openxmlformats.org/officeDocument/2006/relationships/slide" Target="/ppt/slides/slide19.xml" Id="Rb3facc94c5234e1d" /><Relationship Type="http://schemas.openxmlformats.org/officeDocument/2006/relationships/slide" Target="/ppt/slides/slide20.xml" Id="Rb7a0e4dd21c94216" /><Relationship Type="http://schemas.openxmlformats.org/officeDocument/2006/relationships/slide" Target="/ppt/slides/slide21.xml" Id="R39b5165f557f46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6a64bb399742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b801bc53f74627" /><Relationship Type="http://schemas.openxmlformats.org/officeDocument/2006/relationships/notesMaster" Target="/ppt/notesMasters/notesMaster1.xml" Id="Rf94644973ffb45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4021ac8eff4770" /><Relationship Type="http://schemas.openxmlformats.org/officeDocument/2006/relationships/notesMaster" Target="/ppt/notesMasters/notesMaster1.xml" Id="R9f15807eb2af41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e2e99bdc214d57" /><Relationship Type="http://schemas.openxmlformats.org/officeDocument/2006/relationships/notesMaster" Target="/ppt/notesMasters/notesMaster1.xml" Id="Rfe2d3ba65b8343d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769636fd7124667" /><Relationship Type="http://schemas.openxmlformats.org/officeDocument/2006/relationships/notesMaster" Target="/ppt/notesMasters/notesMaster1.xml" Id="R5a07b3474a8a4c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4b1558ecb147c2" /><Relationship Type="http://schemas.openxmlformats.org/officeDocument/2006/relationships/notesMaster" Target="/ppt/notesMasters/notesMaster1.xml" Id="R97a79d0ef60243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f92af748e14453" /><Relationship Type="http://schemas.openxmlformats.org/officeDocument/2006/relationships/notesMaster" Target="/ppt/notesMasters/notesMaster1.xml" Id="R9b367310d358436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00e3643d7f4daf" /><Relationship Type="http://schemas.openxmlformats.org/officeDocument/2006/relationships/notesMaster" Target="/ppt/notesMasters/notesMaster1.xml" Id="Rc0cdc650d12540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a4a802b068344c7" /><Relationship Type="http://schemas.openxmlformats.org/officeDocument/2006/relationships/notesMaster" Target="/ppt/notesMasters/notesMaster1.xml" Id="R80f4766524d340c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739fa76314441f" /><Relationship Type="http://schemas.openxmlformats.org/officeDocument/2006/relationships/notesMaster" Target="/ppt/notesMasters/notesMaster1.xml" Id="Rde5ccb7b3fb646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f43fbd3b5b493f" /><Relationship Type="http://schemas.openxmlformats.org/officeDocument/2006/relationships/notesMaster" Target="/ppt/notesMasters/notesMaster1.xml" Id="Ra4f28ded125a4c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c502dd64644ab1" /><Relationship Type="http://schemas.openxmlformats.org/officeDocument/2006/relationships/notesMaster" Target="/ppt/notesMasters/notesMaster1.xml" Id="Rbd980113776c4b0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b0100d56324b87" /><Relationship Type="http://schemas.openxmlformats.org/officeDocument/2006/relationships/notesMaster" Target="/ppt/notesMasters/notesMaster1.xml" Id="R3bf2b317350542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170c023e0b4d01" /><Relationship Type="http://schemas.openxmlformats.org/officeDocument/2006/relationships/notesMaster" Target="/ppt/notesMasters/notesMaster1.xml" Id="R56be7fcd163d42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0d4808991a4f83" /><Relationship Type="http://schemas.openxmlformats.org/officeDocument/2006/relationships/notesMaster" Target="/ppt/notesMasters/notesMaster1.xml" Id="Rd665e78d92bd48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4f05dd798e47c4" /><Relationship Type="http://schemas.openxmlformats.org/officeDocument/2006/relationships/notesMaster" Target="/ppt/notesMasters/notesMaster1.xml" Id="Rd9791ceef702463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376cf20c684733" /><Relationship Type="http://schemas.openxmlformats.org/officeDocument/2006/relationships/notesMaster" Target="/ppt/notesMasters/notesMaster1.xml" Id="R7a1fb20727004ec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1c4b5386fd4396" /><Relationship Type="http://schemas.openxmlformats.org/officeDocument/2006/relationships/notesMaster" Target="/ppt/notesMasters/notesMaster1.xml" Id="R51fd32300517492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68062f33aec4c2e" /><Relationship Type="http://schemas.openxmlformats.org/officeDocument/2006/relationships/notesMaster" Target="/ppt/notesMasters/notesMaster1.xml" Id="Rbc7b9779b9c24e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72a68eca754019" /><Relationship Type="http://schemas.openxmlformats.org/officeDocument/2006/relationships/notesMaster" Target="/ppt/notesMasters/notesMaster1.xml" Id="R94de625577af40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8fb39a56e2a4fab" /><Relationship Type="http://schemas.openxmlformats.org/officeDocument/2006/relationships/notesMaster" Target="/ppt/notesMasters/notesMaster1.xml" Id="Rc32fc5f5f21f474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b6016eed80947e4" /><Relationship Type="http://schemas.openxmlformats.org/officeDocument/2006/relationships/notesMaster" Target="/ppt/notesMasters/notesMaster1.xml" Id="R58d9fc67ca3740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I will describe GaitParity, a controlled study of whether a movement model preserves left and right anatomy when a body is mirrored. This is a small but important test within a larger goal: learning physical movement from ordinary video, rather than stopping at pose or joint trajectories.</a:t>
            </a:r>
          </a:p>
          <a:p xmlns:a="http://schemas.openxmlformats.org/drawingml/2006/main">
            <a:r>
              <a:t/>
            </a:r>
          </a:p>
          <a:p xmlns:a="http://schemas.openxmlformats.org/drawingml/2006/main">
            <a:r>
              <a:t>I will begin with the gap between what a camera observes and what biomechanics needs. I will then summarize the earlier S-JEPA results, explain the signed-laterality failure that motivated this study, present the controlled parity experiment, and end with the force-plate study and Biomech-JEPA research direction.</a:t>
            </a:r>
          </a:p>
          <a:p xmlns:a="http://schemas.openxmlformats.org/drawingml/2006/main">
            <a:r>
              <a:t/>
            </a:r>
          </a:p>
          <a:p xmlns:a="http://schemas.openxmlformats.org/drawingml/2006/main">
            <a:r>
              <a:t>[Sources]</a:t>
            </a:r>
          </a:p>
          <a:p xmlns:a="http://schemas.openxmlformats.org/drawingml/2006/main">
            <a:r>
              <a:t>- /Users/theodoremui/dev/alexpose/experiments/sjepa/gavd6/notebooks/foundations/04_pretrain_sjepa_on_normal.ipynb</a:t>
            </a:r>
          </a:p>
          <a:p xmlns:a="http://schemas.openxmlformats.org/drawingml/2006/main">
            <a:r>
              <a:t>- /Users/theodoremui/dev/alexpose/experiments/sjepa/gavd6/artifacts/notebook_runs/organized-2026-08-23/experiments/idea05_signed_laterality/01_probe.ipynb</a:t>
            </a:r>
          </a:p>
          <a:p xmlns:a="http://schemas.openxmlformats.org/drawingml/2006/main">
            <a:r>
              <a:t>- /Users/theodoremui/dev/alexpose/experiments/sjepa/gavd6/artifacts/notebook_runs/organized-2026-08-23/experiments/idea09_reflection_equivariance/06_cpu_replication.ipynb</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problem is that video gives us an observation of movement, not a direct measurement of the physical causes. Two people can produce similar joint trajectories while using different muscle strategies, distributing weight differently, or contacting the ground in different ways. Even for one person, partial occlusion can make several physical explanations consistent with the same image.</a:t>
            </a:r>
          </a:p>
          <a:p xmlns:a="http://schemas.openxmlformats.org/drawingml/2006/main">
            <a:r>
              <a:t/>
            </a:r>
          </a:p>
          <a:p xmlns:a="http://schemas.openxmlformats.org/drawingml/2006/main">
            <a:r>
              <a:t>That means the model should not behave like a deterministic simulator that claims one certain answer from pixels. It should estimate a hidden physical state, express uncertainty when the video is ambiguous, and use additional tools or measurements when the observation is not sufficient.</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/Users/theodoremui/dev/alexpose/experiments/sjepa/gavd6/notes/research/programs/gait_parity/tutorials/03-planned-research-direction.md</a:t>
            </a:r>
          </a:p>
          <a:p xmlns:a="http://schemas.openxmlformats.org/drawingml/2006/main">
            <a:r>
              <a:t>- User-provided research mentor meeting notes, 2026-08-23</a:t>
            </a:r>
          </a:p>
          <a:p xmlns:a="http://schemas.openxmlformats.org/drawingml/2006/main">
            <a:r>
              <a:t>- https://health.ucdavis.edu/news/headlines/innovative-research-looks-at-walking-and-healthy-aging/2024/08</a:t>
            </a:r>
          </a:p>
          <a:p xmlns:a="http://schemas.openxmlformats.org/drawingml/2006/main">
            <a:r>
              <a:t>- UC Davis Health photograph: Patten_URC_exwidebody1.jpg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gap matters because the clinical question is often about how movement is produced, not simply what the pose looks like. In stroke gait, for example, we may care about how much each leg contributes to forward propulsion. In balance assessment, we need to know where support and contact are changing, especially near a loss of stability.</a:t>
            </a:r>
          </a:p>
          <a:p xmlns:a="http://schemas.openxmlformats.org/drawingml/2006/main">
            <a:r>
              <a:t/>
            </a:r>
          </a:p>
          <a:p xmlns:a="http://schemas.openxmlformats.org/drawingml/2006/main">
            <a:r>
              <a:t>We also need to separate a measured direction from a clinical interpretation. A negative right-minus-left propulsion value tells us which side produced less force in that measurement. It does not, by itself, identify the impaired side, because people may compensate in ways that redistribute force. Keeping those concepts separate prevents a mathematically correct sign from becoming an incorrect clinical claim.</a:t>
            </a:r>
          </a:p>
          <a:p xmlns:a="http://schemas.openxmlformats.org/drawingml/2006/main">
            <a:r>
              <a:t/>
            </a:r>
          </a:p>
          <a:p xmlns:a="http://schemas.openxmlformats.org/drawingml/2006/main">
            <a:r>
              <a:t>[Sources]</a:t>
            </a:r>
          </a:p>
          <a:p xmlns:a="http://schemas.openxmlformats.org/drawingml/2006/main">
            <a:r>
              <a:t>- /Users/theodoremui/Downloads/GaitParity Study.pdf</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/Users/theodoremui/dev/alexpose/experiments/sjepa/gavd6/notes/research/programs/gait_parity/tutorials/03-planned-research-direction.md</a:t>
            </a:r>
          </a:p>
          <a:p xmlns:a="http://schemas.openxmlformats.org/drawingml/2006/main">
            <a:r>
              <a:t>- https://commons.wikimedia.org/wiki/File:Biomechanics_lab_with_force_plate.jpg</a:t>
            </a:r>
          </a:p>
          <a:p xmlns:a="http://schemas.openxmlformats.org/drawingml/2006/main">
            <a:r>
              <a:t>- Photo: Apfriesen, CC BY-SA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Ambient intelligence adds another layer of difficulty: the camera and the environment change even when the person does not. A new viewpoint changes projection and occlusion. A mirrored video exchanges anatomical left and right. A missing heel or knee should increase uncertainty, but it should not automatically reverse the estimated side.</a:t>
            </a:r>
          </a:p>
          <a:p xmlns:a="http://schemas.openxmlformats.org/drawingml/2006/main">
            <a:r>
              <a:t/>
            </a:r>
          </a:p>
          <a:p xmlns:a="http://schemas.openxmlformats.org/drawingml/2006/main">
            <a:r>
              <a:t>These cases require different model responses. The representation should ignore camera-related nuisance changes, transform predictably when anatomy is mirrored, and remain sensitive to genuine changes in dynamics. One generic instruction to “make every augmented view look the same” cannot express all three requirements. We need selective symmetry, where the response depends on what the transformation means physically.</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/Users/theodoremui/dev/alexpose/experiments/sjepa/gavd6/notes/research/programs/gait_parity/README_LONG_TERM.md</a:t>
            </a:r>
          </a:p>
          <a:p xmlns:a="http://schemas.openxmlformats.org/drawingml/2006/main">
            <a:r>
              <a:t>- User-provided research mentor meeting notes, 2026-08-23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makes the distinction concrete. If we reflect the body, left and right anatomy exchange roles. A signed quantity such as right-minus-left propulsion should therefore reverse sign. We call that an odd target. A quantity such as overall walking pace should stay the same under reflection, so it is an even target.</a:t>
            </a:r>
          </a:p>
          <a:p xmlns:a="http://schemas.openxmlformats.org/drawingml/2006/main">
            <a:r>
              <a:t/>
            </a:r>
          </a:p>
          <a:p xmlns:a="http://schemas.openxmlformats.org/drawingml/2006/main">
            <a:r>
              <a:t>A camera move is different. It changes the image coordinates and may hide different joints, but it does not exchange the person’s anatomy. After we place the motion in a consistent body-centered coordinate system, both pace and anatomical propulsion difference should remain stable. This simple rule becomes the measurement contract for the rest of the study.</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/Users/theodoremui/dev/alexpose/experiments/sjepa/gavd6/notes/research/programs/gait_parity/METHODOLOGY.md</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separate the evidence into four levels because each level supports a different claim. First, does the architecture obey the mirror rule exactly? Second, do the left-right channels contain nontrivial, participant-varying information rather than collapsing to zero? Third, does that organization improve prediction of a meaningful physical target on people who were not used for fitting? Finally, does the result survive new views and an independent replication cohort?</a:t>
            </a:r>
          </a:p>
          <a:p xmlns:a="http://schemas.openxmlformats.org/drawingml/2006/main">
            <a:r>
              <a:t/>
            </a:r>
          </a:p>
          <a:p xmlns:a="http://schemas.openxmlformats.org/drawingml/2006/main">
            <a:r>
              <a:t>The current work reaches the first two levels locally. The decisive question is still ahead: does internal reflection structure improve force prediction beyond a simple sign-corrected output or a generic two-view model?</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/Users/theodoremui/dev/alexpose/experiments/sjepa/gavd6/notes/research/programs/gait_parity/tutorials/03-planned-research-direction.md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S-JEPA work established the pipeline that makes this question testable. Public gait videos were converted into tracked skeleton sequences, normalized into fixed 64-frame windows, and divided into context landmarks and masked target landmarks. The model then learned to predict missing motion features without using a clinical label for every training step.</a:t>
            </a:r>
          </a:p>
          <a:p xmlns:a="http://schemas.openxmlformats.org/drawingml/2006/main">
            <a:r>
              <a:t/>
            </a:r>
          </a:p>
          <a:p xmlns:a="http://schemas.openxmlformats.org/drawingml/2006/main">
            <a:r>
              <a:t>The key bookkeeping unit is the source video. The dataset contains 96 canonical sequences derived from only 18 uploaded recordings, so several clips can share the same person, camera, and environment. Treating those clips as independent would overstate generalization. Every later evaluation therefore needs to respect the source or participant boundary before any component is fitted.</a:t>
            </a:r>
          </a:p>
          <a:p xmlns:a="http://schemas.openxmlformats.org/drawingml/2006/main">
            <a:r>
              <a:t/>
            </a:r>
          </a:p>
          <a:p xmlns:a="http://schemas.openxmlformats.org/drawingml/2006/main">
            <a:r>
              <a:t>[Sources]</a:t>
            </a:r>
          </a:p>
          <a:p xmlns:a="http://schemas.openxmlformats.org/drawingml/2006/main">
            <a:r>
              <a:t>- /Users/theodoremui/dev/alexpose/experiments/sjepa/gavd6/notebooks/foundations/01_gavd_manifest_and_youtube.ipynb</a:t>
            </a:r>
          </a:p>
          <a:p xmlns:a="http://schemas.openxmlformats.org/drawingml/2006/main">
            <a:r>
              <a:t>- /Users/theodoremui/dev/alexpose/experiments/sjepa/gavd6/notebooks/foundations/04_pretrain_sjepa_on_normal.ipynb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foundation model trained successfully in the narrow engineering sense. Its prediction loss fell from 6.557 at the beginning of the curriculum to 0.558, and the final feature standard deviation of 0.414 argues against the entire representation becoming constant.</a:t>
            </a:r>
          </a:p>
          <a:p xmlns:a="http://schemas.openxmlformats.org/drawingml/2006/main">
            <a:r>
              <a:t/>
            </a:r>
          </a:p>
          <a:p xmlns:a="http://schemas.openxmlformats.org/drawingml/2006/main">
            <a:r>
              <a:t>However, successful optimization is not the same as scientific understanding. The cosine silhouette score is only 0.0278, which means the five condition groups overlap strongly in the learned space. These results support a limited statement: the encoder learned nontrivial motion structure. They do not show that it recovered a physical variable, separated diagnoses cleanly, or generalized to a new patient.</a:t>
            </a:r>
          </a:p>
          <a:p xmlns:a="http://schemas.openxmlformats.org/drawingml/2006/main">
            <a:r>
              <a:t/>
            </a:r>
          </a:p>
          <a:p xmlns:a="http://schemas.openxmlformats.org/drawingml/2006/main">
            <a:r>
              <a:t>[Sources]</a:t>
            </a:r>
          </a:p>
          <a:p xmlns:a="http://schemas.openxmlformats.org/drawingml/2006/main">
            <a:r>
              <a:t>- /Users/theodoremui/dev/alexpose/experiments/sjepa/gavd6/notebooks/foundations/04_pretrain_sjepa_on_normal.ipynb</a:t>
            </a:r>
          </a:p>
          <a:p xmlns:a="http://schemas.openxmlformats.org/drawingml/2006/main">
            <a:r>
              <a:t>- /Users/theodoremui/dev/alexpose/experiments/sjepa/gavd6/notebooks/foundations/05_inspect_latent_motion.ipynb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earlier classification results looked promising at first glance. A grouped normal-versus-abnormal readout reached 0.843 accuracy, 0.821 macro-F1, and 0.952 ROC-AUC. But the representation encoder had already trained on every row later used by the classifier test, and later curriculum stages also used condition labels.</a:t>
            </a:r>
          </a:p>
          <a:p xmlns:a="http://schemas.openxmlformats.org/drawingml/2006/main">
            <a:r>
              <a:t/>
            </a:r>
          </a:p>
          <a:p xmlns:a="http://schemas.openxmlformats.org/drawingml/2006/main">
            <a:r>
              <a:t>So these numbers demonstrate that condition information is readable within this corpus; they do not establish prospective performance. A clean split at the final classifier is not enough if the encoder has already seen the evaluation examples. This lesson directly shapes GaitParity: sources or participants must be separated before every fitted stage, not only before the last readout.</a:t>
            </a:r>
          </a:p>
          <a:p xmlns:a="http://schemas.openxmlformats.org/drawingml/2006/main">
            <a:r>
              <a:t/>
            </a:r>
          </a:p>
          <a:p xmlns:a="http://schemas.openxmlformats.org/drawingml/2006/main">
            <a:r>
              <a:t>[Sources]</a:t>
            </a:r>
          </a:p>
          <a:p xmlns:a="http://schemas.openxmlformats.org/drawingml/2006/main">
            <a:r>
              <a:t>- /Users/theodoremui/dev/alexpose/experiments/sjepa/gavd6/notebooks/foundations/06_capstone_health_condition_classifiers.ipynb</a:t>
            </a:r>
          </a:p>
          <a:p xmlns:a="http://schemas.openxmlformats.org/drawingml/2006/main">
            <a:r>
              <a:t>- /Users/theodoremui/dev/alexpose/experiments/sjepa/gavd6/notes/research/programs/gait_parity/METHODOLOGY.md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next asked whether the saved representation preserved a simple signed left-right signal. A ridge model was trained in five source-disjoint folds to predict a target constructed directly from pose coordinates. The same target was nearly recoverable from the raw coordinates, so the decoding task itself was feasible.</a:t>
            </a:r>
          </a:p>
          <a:p xmlns:a="http://schemas.openxmlformats.org/drawingml/2006/main">
            <a:r>
              <a:t/>
            </a:r>
          </a:p>
          <a:p xmlns:a="http://schemas.openxmlformats.org/drawingml/2006/main">
            <a:r>
              <a:t>The learned features did not preserve it: cross-validated R-squared was −0.0678, sign consistency was 0.444, and the response to mirroring had a slope of −0.337 instead of the required −1. This is an informative null result. It does not say that clinically meaningful force asymmetry is impossible; it says that the existing representation should not be presented as if signed anatomy emerged automatically.</a:t>
            </a:r>
          </a:p>
          <a:p xmlns:a="http://schemas.openxmlformats.org/drawingml/2006/main">
            <a:r>
              <a:t/>
            </a:r>
          </a:p>
          <a:p xmlns:a="http://schemas.openxmlformats.org/drawingml/2006/main">
            <a:r>
              <a:t>[Sources]</a:t>
            </a:r>
          </a:p>
          <a:p xmlns:a="http://schemas.openxmlformats.org/drawingml/2006/main">
            <a:r>
              <a:t>- /Users/theodoremui/dev/alexpose/experiments/sjepa/gavd6/artifacts/notebook_runs/organized-2026-08-23/experiments/idea05_signed_laterality/01_probe.ipynb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test parity rigorously, reflection has to be defined as part of the measurement process. We negate the mediolateral coordinate, swap every paired left-right landmark identity, and also swap the corresponding visibility and confidence values. Time, forward motion, and vertical direction remain unchanged.</a:t>
            </a:r>
          </a:p>
          <a:p xmlns:a="http://schemas.openxmlformats.org/drawingml/2006/main">
            <a:r>
              <a:t/>
            </a:r>
          </a:p>
          <a:p xmlns:a="http://schemas.openxmlformats.org/drawingml/2006/main">
            <a:r>
              <a:t>That last visibility step is easy to miss. If the coordinates are reflected but the missingness pattern stays attached to the old side, the model sees an impossible body and can exploit that shortcut. Applying reflection twice should recover the original input, but that involution test is only a starting check. We also test known odd and even targets on real examples.</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compares three architectures so that we can identify what, if anything, internal parity contributes. The first is an output-repair baseline: it evaluates the original and mirrored inputs and subtracts the two predictions, which guarantees the final sign flip with a few lines of arithmetic.</a:t>
            </a:r>
          </a:p>
          <a:p xmlns:a="http://schemas.openxmlformats.org/drawingml/2006/main">
            <a:r>
              <a:t/>
            </a:r>
          </a:p>
          <a:p xmlns:a="http://schemas.openxmlformats.org/drawingml/2006/main">
            <a:r>
              <a:t>The second model processes both views jointly but places no constraint on how their features interact. This controls for the extra view, extra capacity, and cross-view communication. The third model uses the same information but constrains its internal even and odd channels to respond correctly when the branches are exchanged. The co-primary comparisons tell us whether that internal organization adds value beyond either cheap output repair or generic two-view fusion.</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exact transformation rule is not enough, because a useless representation can satisfy it. An odd channel that is always zero passes the equation perfectly: zero is equal to its own negative. We therefore treat exact parity as a contract test, not as evidence of useful information.</a:t>
            </a:r>
          </a:p>
          <a:p xmlns:a="http://schemas.openxmlformats.org/drawingml/2006/main">
            <a:r>
              <a:t/>
            </a:r>
          </a:p>
          <a:p xmlns:a="http://schemas.openxmlformats.org/drawingml/2006/main">
            <a:r>
              <a:t>Before any downstream interpretation, the audit checks whether the odd channel has measurable energy and variance, whether that variation spans more than one trivial direction, and whether a common offset dominates the signal. We also include positive controls that should fail when the implementation is intentionally broken. These gates prevent an empty or shortcut solution from being mistaken for a scientific result.</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GAVD experiment uses 96 sequences from 18 source videos, producing 394 training windows. Each architecture is trained with seeds 7, 19, and 31. We compare one regime with equal exposure—300 updates and 2,400 example presentations—and another with a closely matched compute proxy of roughly 183 billion operations.</a:t>
            </a:r>
          </a:p>
          <a:p xmlns:a="http://schemas.openxmlformats.org/drawingml/2006/main">
            <a:r>
              <a:t/>
            </a:r>
          </a:p>
          <a:p xmlns:a="http://schemas.openxmlformats.org/drawingml/2006/main">
            <a:r>
              <a:t>The models are not falsely described as having equal parameter counts: they contain 41,696, 84,256, and 50,272 parameters. Instead, we report those differences and control the comparisons through matched data exposure, closely matched computation, and paired random seeds. This experiment isolates implementation geometry; it does not contain an independent force target.</a:t>
            </a:r>
          </a:p>
          <a:p xmlns:a="http://schemas.openxmlformats.org/drawingml/2006/main">
            <a:r>
              <a:t/>
            </a:r>
          </a:p>
          <a:p xmlns:a="http://schemas.openxmlformats.org/drawingml/2006/main">
            <a:r>
              <a:t>[Sources]</a:t>
            </a:r>
          </a:p>
          <a:p xmlns:a="http://schemas.openxmlformats.org/drawingml/2006/main">
            <a:r>
              <a:t>- /Users/theodoremui/dev/alexpose/experiments/sjepa/gavd6/artifacts/notebook_runs/organized-2026-08-23/experiments/idea09_reflection_equivariance/06_cpu_replication.ipynb</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result is in panel A. The commutation residual measures the mismatch between two routes: mirror the input and then encode it, or encode it first and then swap the model’s left-right channels. Across both matching regimes, that mismatch is exactly zero for the constrained encoder. The unrestricted two-view control has residuals of 5.900 under equal exposure and 5.286 under matched compute.</a:t>
            </a:r>
          </a:p>
          <a:p xmlns:a="http://schemas.openxmlformats.org/drawingml/2006/main">
            <a:r>
              <a:t/>
            </a:r>
          </a:p>
          <a:p xmlns:a="http://schemas.openxmlformats.org/drawingml/2006/main">
            <a:r>
              <a:t>The remaining panels test whether the internal channels are alive. The registered gates pass, including positive controls, but the odd-to-even energy ratio is only 0.022 and the effective odd-channel rank is 1.532. So the correct conclusion is exact, nonempty geometry with modest internal diversity—not demonstrated biomechanical utility.</a:t>
            </a:r>
          </a:p>
          <a:p xmlns:a="http://schemas.openxmlformats.org/drawingml/2006/main">
            <a:r>
              <a:t/>
            </a:r>
          </a:p>
          <a:p xmlns:a="http://schemas.openxmlformats.org/drawingml/2006/main">
            <a:r>
              <a:t>[Sources]</a:t>
            </a:r>
          </a:p>
          <a:p xmlns:a="http://schemas.openxmlformats.org/drawingml/2006/main">
            <a:r>
              <a:t>- /Users/theodoremui/dev/alexpose/experiments/sjepa/gavd6/artifacts/notebook_runs/organized-2026-08-23/experiments/idea09_reflection_equivariance/06_cpu_replication.ipynb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this point, the supported claim is precise: we have an inspectable model and audit that enforce the intended anatomical reflection rule, survive saving and reloading, handle masks consistently, and distinguish the constrained model from a strong unrestricted control.</a:t>
            </a:r>
          </a:p>
          <a:p xmlns:a="http://schemas.openxmlformats.org/drawingml/2006/main">
            <a:r>
              <a:t/>
            </a:r>
          </a:p>
          <a:p xmlns:a="http://schemas.openxmlformats.org/drawingml/2006/main">
            <a:r>
              <a:t>Several stronger claims remain open. There is no force target in this experiment, no held-out participant cohort, no demonstrated robustness or label-efficiency advantage, and no GPU replication. The low odd-channel energy and modest rank make the next experiment especially important. We now need to test whether this organization improves a physical measurement, rather than assuming that correct geometry automatically creates useful biomechanics.</a:t>
            </a:r>
          </a:p>
          <a:p xmlns:a="http://schemas.openxmlformats.org/drawingml/2006/main">
            <a:r>
              <a:t/>
            </a:r>
          </a:p>
          <a:p xmlns:a="http://schemas.openxmlformats.org/drawingml/2006/main">
            <a:r>
              <a:t>[Sources]</a:t>
            </a:r>
          </a:p>
          <a:p xmlns:a="http://schemas.openxmlformats.org/drawingml/2006/main">
            <a:r>
              <a:t>- /Users/theodoremui/dev/alexpose/experiments/sjepa/gavd6/artifacts/notebook_runs/organized-2026-08-23/experiments/idea09_reflection_equivariance/06_cpu_replication.ipynb</a:t>
            </a:r>
          </a:p>
          <a:p xmlns:a="http://schemas.openxmlformats.org/drawingml/2006/main">
            <a:r>
              <a:t>- /Users/theodoremui/dev/alexpose/experiments/sjepa/gavd6/notes/research/programs/gait_parity/tutorials/02-current-direction-and-results.md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planned study separates the research stages so that one dataset is not asked to support every claim. AMASS provides broad human-motion pretraining. BABEL walking examples narrow the motion prior toward gait without introducing the final clinical outcome. A force-plate cohort then supplies the signed right-minus-left propulsion target, with participants split before any task-specific fitting.</a:t>
            </a:r>
          </a:p>
          <a:p xmlns:a="http://schemas.openxmlformats.org/drawingml/2006/main">
            <a:r>
              <a:t/>
            </a:r>
          </a:p>
          <a:p xmlns:a="http://schemas.openxmlformats.org/drawingml/2006/main">
            <a:r>
              <a:t>MoVi provides a separate test of real viewpoint stability, and a sealed cohort is reserved for replication after the analysis is frozen. GAVD remains an implementation audit only. For the force claim, the independent observations are people—not individual gait cycles extracted from the same person.</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/Users/theodoremui/dev/alexpose/experiments/sjepa/gavd6/notes/research/programs/gait_parity/tutorials/03-planned-research-direction.md</a:t>
            </a:r>
          </a:p>
          <a:p xmlns:a="http://schemas.openxmlformats.org/drawingml/2006/main">
            <a:r>
              <a:t>- /Users/theodoremui/dev/alexpose/experiments/sjepa/gavd6/notes/research/programs/gait_parity/README_LONG_TERM.md</a:t>
            </a:r>
          </a:p>
          <a:p xmlns:a="http://schemas.openxmlformats.org/drawingml/2006/main">
            <a:r>
              <a:t>- https://www.polyu.edu.hk/bme/research/research-laboratories-and-facilities/</a:t>
            </a:r>
          </a:p>
          <a:p xmlns:a="http://schemas.openxmlformats.org/drawingml/2006/main">
            <a:r>
              <a:t>- Hong Kong Polytechnic University Department of Biomedical Engineering photograph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outcome table is defined in advance to keep the interpretation honest. The primary unit is the participant, and the primary metric is mean absolute force error averaged over each participant’s original and mirrored examples. The equivariant model must show a meaningful advantage over both the output-repair baseline and the unrestricted two-view model.</a:t>
            </a:r>
          </a:p>
          <a:p xmlns:a="http://schemas.openxmlformats.org/drawingml/2006/main">
            <a:r>
              <a:t/>
            </a:r>
          </a:p>
          <a:p xmlns:a="http://schemas.openxmlformats.org/drawingml/2006/main">
            <a:r>
              <a:t>If it ties output repair, then the simple arithmetic solution is preferable for this task. If the uncertainty intervals are wide, the result is inconclusive rather than evidence of equivalence. Secondary measures—sign accuracy, calibration, label efficiency, corruption robustness, and view stability—help explain the primary result but do not replace it.</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/Users/theodoremui/dev/alexpose/experiments/sjepa/gavd6/notes/research/programs/gait_parity/METHODOLOGY.md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GaitParity clears the force-prediction gate, the larger direction is Biomech-JEPA: a world model that represents the body, scene, objects, contacts, dynamics, and uncertainty as related parts of one physical state. That shared state can support both discriminative questions—such as whether a movement is physically grounded—and generative predictions of future body and object keypoints.</a:t>
            </a:r>
          </a:p>
          <a:p xmlns:a="http://schemas.openxmlformats.org/drawingml/2006/main">
            <a:r>
              <a:t/>
            </a:r>
          </a:p>
          <a:p xmlns:a="http://schemas.openxmlformats.org/drawingml/2006/main">
            <a:r>
              <a:t>Depth estimation, segmentation, and monocular body reconstruction provide additional observations. OpenSim or robot simulation can provide a correction signal during training and flag predictions that violate physical constraints. A Qwen-based policy can learn when an expensive tool call is worth making, but it should route evidence rather than invent biomechanical truth.</a:t>
            </a:r>
          </a:p>
          <a:p xmlns:a="http://schemas.openxmlformats.org/drawingml/2006/main">
            <a:r>
              <a:t/>
            </a:r>
          </a:p>
          <a:p xmlns:a="http://schemas.openxmlformats.org/drawingml/2006/main">
            <a:r>
              <a:t>[Sources]</a:t>
            </a:r>
          </a:p>
          <a:p xmlns:a="http://schemas.openxmlformats.org/drawingml/2006/main">
            <a:r>
              <a:t>- User-provided research mentor meeting notes, 2026-08-23</a:t>
            </a:r>
          </a:p>
          <a:p xmlns:a="http://schemas.openxmlformats.org/drawingml/2006/main">
            <a:r>
              <a:t>- /Users/theodoremui/dev/alexpose/experiments/sjepa/gavd6/notes/research/programs/gait_parity/README_LONG_TERM.md</a:t>
            </a:r>
          </a:p>
          <a:p xmlns:a="http://schemas.openxmlformats.org/drawingml/2006/main">
            <a:r>
              <a:t>- /Users/theodoremui/dev/alexpose/experiments/sjepa/gavd6/notes/research/programs/gait_parity/tutorials/03-planned-research-direction.md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research program naturally combines three kinds of expertise. The Delp biomechanics lab can define the physical targets, force-plate protocol, OpenSim comparisons, and clinically meaningful error measures. The HAI ambient intelligence lab can define realistic variation in viewpoint, depth, scene context, occlusion, and uncertainty. The world-model effort connects those measurements through an auditable representation and an active tool-use policy.</a:t>
            </a:r>
          </a:p>
          <a:p xmlns:a="http://schemas.openxmlformats.org/drawingml/2006/main">
            <a:r>
              <a:t/>
            </a:r>
          </a:p>
          <a:p xmlns:a="http://schemas.openxmlformats.org/drawingml/2006/main">
            <a:r>
              <a:t>I see this as a proposed structure rather than a fixed division of labor. A strong first shared deliverable would be PhysMoveBench: one benchmark where force, contact, viewpoint, occlusion, and uncertainty are evaluated under a frozen protocol. That gives the collaboration a common measurement language before scaling the model.</a:t>
            </a:r>
          </a:p>
          <a:p xmlns:a="http://schemas.openxmlformats.org/drawingml/2006/main">
            <a:r>
              <a:t/>
            </a:r>
          </a:p>
          <a:p xmlns:a="http://schemas.openxmlformats.org/drawingml/2006/main">
            <a:r>
              <a:t>[Sources]</a:t>
            </a:r>
          </a:p>
          <a:p xmlns:a="http://schemas.openxmlformats.org/drawingml/2006/main">
            <a:r>
              <a:t>- User-provided research mentor meeting notes, 2026-08-23</a:t>
            </a:r>
          </a:p>
          <a:p xmlns:a="http://schemas.openxmlformats.org/drawingml/2006/main">
            <a:r>
              <a:t>- /Users/theodoremui/dev/alexpose/experiments/sjepa/gavd6/notes/research/programs/gait_parity/tutorials/03-planned-research-direction.md</a:t>
            </a:r>
          </a:p>
          <a:p xmlns:a="http://schemas.openxmlformats.org/drawingml/2006/main">
            <a:r>
              <a:t>- /Users/theodoremui/dev/alexpose/experiments/sjepa/gavd6/notes/research/programs/gait_parity/README_LONG_TERM.md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began with a simple gap: observing a skeleton is not the same as understanding the physical process that produced it. GaitParity now gives us a precise anatomical rule, an implementation that satisfies that rule exactly, a control that fails for the expected reason, and health checks that rule out an empty odd channel.</a:t>
            </a:r>
          </a:p>
          <a:p xmlns:a="http://schemas.openxmlformats.org/drawingml/2006/main">
            <a:r>
              <a:t/>
            </a:r>
          </a:p>
          <a:p xmlns:a="http://schemas.openxmlformats.org/drawingml/2006/main">
            <a:r>
              <a:t>The next step is to earn the stronger claim with held-out people, force plates, real viewpoint changes, and independent replication. The long-term goal is not to replace physics with a language model. It is to learn an efficient physical state estimator whose symmetry, uncertainty, and tool calls remain measurable and testable.</a:t>
            </a:r>
          </a:p>
          <a:p xmlns:a="http://schemas.openxmlformats.org/drawingml/2006/main">
            <a:r>
              <a:t/>
            </a:r>
          </a:p>
          <a:p xmlns:a="http://schemas.openxmlformats.org/drawingml/2006/main">
            <a:r>
              <a:t>[Sources]</a:t>
            </a:r>
          </a:p>
          <a:p xmlns:a="http://schemas.openxmlformats.org/drawingml/2006/main">
            <a:r>
              <a:t>- /Users/theodoremui/dev/alexpose/experiments/sjepa/gavd6/notes/research/programs/gait_parity/tutorials/02-current-direction-and-results.md</a:t>
            </a:r>
          </a:p>
          <a:p xmlns:a="http://schemas.openxmlformats.org/drawingml/2006/main">
            <a:r>
              <a:t>- /Users/theodoremui/dev/alexpose/experiments/sjepa/gavd6/notes/research/programs/gait_parity/tutorials/03-planned-research-direction.md</a:t>
            </a:r>
          </a:p>
          <a:p xmlns:a="http://schemas.openxmlformats.org/drawingml/2006/main">
            <a:r>
              <a:t>- User-provided research mentor meeting notes, 2026-08-23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cf357c6ebe4e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79bfbb63734527" /><Relationship Type="http://schemas.openxmlformats.org/officeDocument/2006/relationships/slideLayout" Target="/ppt/slideLayouts/slideLayout1.xml" Id="Re06306f03f6b4a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6306f03f6b4a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faaac111d544380" /><Relationship Type="http://schemas.openxmlformats.org/officeDocument/2006/relationships/notesSlide" Target="/ppt/notesSlides/notesSlide1.xml" Id="R7a4aa8ed9dcc4f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52ac5b868d43aa" /><Relationship Type="http://schemas.openxmlformats.org/officeDocument/2006/relationships/image" Target="/ppt/media/image.jpeg" Id="R15470cdcdd5b4f90" /><Relationship Type="http://schemas.openxmlformats.org/officeDocument/2006/relationships/notesSlide" Target="/ppt/notesSlides/notesSlide2.xml" Id="R07ed9106c76b48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b59174975f4ba7" /><Relationship Type="http://schemas.openxmlformats.org/officeDocument/2006/relationships/image" Target="/ppt/media/image2.jpeg" Id="R1547de3f2d4146cb" /><Relationship Type="http://schemas.openxmlformats.org/officeDocument/2006/relationships/notesSlide" Target="/ppt/notesSlides/notesSlide3.xml" Id="R2b1abde2ec994f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26fe01c01f4199" /><Relationship Type="http://schemas.openxmlformats.org/officeDocument/2006/relationships/notesSlide" Target="/ppt/notesSlides/notesSlide4.xml" Id="R17723a37a5584f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fa1fa16f1f407e" /><Relationship Type="http://schemas.openxmlformats.org/officeDocument/2006/relationships/notesSlide" Target="/ppt/notesSlides/notesSlide5.xml" Id="R9610103028a54f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05d70a9fa04140" /><Relationship Type="http://schemas.openxmlformats.org/officeDocument/2006/relationships/notesSlide" Target="/ppt/notesSlides/notesSlide6.xml" Id="R06ab385922394f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660aa1e5c0d4349" /><Relationship Type="http://schemas.openxmlformats.org/officeDocument/2006/relationships/notesSlide" Target="/ppt/notesSlides/notesSlide7.xml" Id="R47594b2e9f1645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123439042054007" /><Relationship Type="http://schemas.openxmlformats.org/officeDocument/2006/relationships/notesSlide" Target="/ppt/notesSlides/notesSlide8.xml" Id="R997302d1af2e47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ebf0f72fe645c7" /><Relationship Type="http://schemas.openxmlformats.org/officeDocument/2006/relationships/notesSlide" Target="/ppt/notesSlides/notesSlide9.xml" Id="R0eeadf59a7b346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ffad6495374ac9" /><Relationship Type="http://schemas.openxmlformats.org/officeDocument/2006/relationships/notesSlide" Target="/ppt/notesSlides/notesSlide10.xml" Id="R2b3c4fa9775e47e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ea580c64d14749" /><Relationship Type="http://schemas.openxmlformats.org/officeDocument/2006/relationships/notesSlide" Target="/ppt/notesSlides/notesSlide11.xml" Id="R5d5f38a772ec4a8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f40036187a440f" /><Relationship Type="http://schemas.openxmlformats.org/officeDocument/2006/relationships/notesSlide" Target="/ppt/notesSlides/notesSlide12.xml" Id="Rfdd9bbf7f90140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794817510fa4ce4" /><Relationship Type="http://schemas.openxmlformats.org/officeDocument/2006/relationships/notesSlide" Target="/ppt/notesSlides/notesSlide13.xml" Id="Ra5742f28d3324b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b7f856b108249b6" /><Relationship Type="http://schemas.openxmlformats.org/officeDocument/2006/relationships/notesSlide" Target="/ppt/notesSlides/notesSlide14.xml" Id="R6dfc6efedb424e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0875ae9fadf4759" /><Relationship Type="http://schemas.openxmlformats.org/officeDocument/2006/relationships/chart" Target="/ppt/slides/charts/chart1.xml" Id="Rafe0a8f572e143f3" /><Relationship Type="http://schemas.openxmlformats.org/officeDocument/2006/relationships/notesSlide" Target="/ppt/notesSlides/notesSlide15.xml" Id="Ra844fceb1f3b4c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c3384f93322458e" /><Relationship Type="http://schemas.openxmlformats.org/officeDocument/2006/relationships/notesSlide" Target="/ppt/notesSlides/notesSlide16.xml" Id="R5564d7810b814f3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64b8c2f2ea74433" /><Relationship Type="http://schemas.openxmlformats.org/officeDocument/2006/relationships/image" Target="/ppt/media/image3.jpeg" Id="R588fef00172446a0" /><Relationship Type="http://schemas.openxmlformats.org/officeDocument/2006/relationships/notesSlide" Target="/ppt/notesSlides/notesSlide17.xml" Id="Rc53d0d115bc0460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2930934dd49485d" /><Relationship Type="http://schemas.openxmlformats.org/officeDocument/2006/relationships/notesSlide" Target="/ppt/notesSlides/notesSlide18.xml" Id="Rc28fba2a8b7e479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e037f37fd934313" /><Relationship Type="http://schemas.openxmlformats.org/officeDocument/2006/relationships/notesSlide" Target="/ppt/notesSlides/notesSlide19.xml" Id="Rb5674cfd2cb148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fd84998bf214374" /><Relationship Type="http://schemas.openxmlformats.org/officeDocument/2006/relationships/notesSlide" Target="/ppt/notesSlides/notesSlide20.xml" Id="Ra91f5fe47b5d42f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f30f3557c0f4c02" /><Relationship Type="http://schemas.openxmlformats.org/officeDocument/2006/relationships/notesSlide" Target="/ppt/notesSlides/notesSlide21.xml" Id="Rcfa077d345b7442a" /></Relationships>
</file>

<file path=ppt/slides/charts/chart1.xml><?xml version="1.0" encoding="utf-8"?>
<c:chartSpace xmlns:c="http://schemas.openxmlformats.org/drawingml/2006/chart">
  <c:lang val="en-US"/>
  <c:chart>
    <c:plotArea>
      <c:barChart>
        <c:barDir val="bar"/>
        <c:grouping val="clustered"/>
        <c:varyColors val="0"/>
        <c:ser>
          <c:idx val="0"/>
          <c:order val="0"/>
          <c:tx>
            <c:v>Mirror-rule error</c:v>
          </c:tx>
          <c:spPr>
            <a:solidFill xmlns:a="http://schemas.openxmlformats.org/drawingml/2006/main">
              <a:srgbClr val="D95D5D"/>
            </a:solidFill>
          </c:spPr>
          <c:dPt>
            <c:idx val="1"/>
            <c:invertIfNegative val="0"/>
            <c:spPr>
              <a:solidFill xmlns:a="http://schemas.openxmlformats.org/drawingml/2006/main">
                <a:srgbClr val="2A9D8F"/>
              </a:solidFill>
            </c:spPr>
          </c:dPt>
          <c:cat>
            <c:strLit>
              <c:ptCount val="2"/>
              <c:pt idx="0">
                <c:v>Paired control</c:v>
              </c:pt>
              <c:pt idx="1">
                <c:v>Equivariant</c:v>
              </c:pt>
            </c:strLit>
          </c:cat>
          <c:val>
            <c:numLit>
              <c:formatCode>General</c:formatCode>
              <c:ptCount val="2"/>
              <c:pt idx="0">
                <c:v>5.9</c:v>
              </c:pt>
              <c:pt idx="1">
                <c:v>0</c:v>
              </c:pt>
            </c:numLit>
          </c:val>
        </c:ser>
        <c:dLbls>
          <c:txPr>
            <a:bodyPr xmlns:a="http://schemas.openxmlformats.org/drawingml/2006/main" anchorCtr="1"/>
            <a:lstStyle xmlns:a="http://schemas.openxmlformats.org/drawingml/2006/main"/>
            <a:p xmlns:a="http://schemas.openxmlformats.org/drawingml/2006/main">
              <a:pPr>
                <a:defRPr sz="1200" b="1">
                  <a:solidFill>
                    <a:srgbClr val="111827"/>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majorGridlines>
          <c:spPr>
            <a:ln xmlns:a="http://schemas.openxmlformats.org/drawingml/2006/main" w="9525">
              <a:solidFill>
                <a:srgbClr val="E5E7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2606D"/>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11827"/>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6F8263-BF0C-494E-9350-478D3721177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CB2B88B2-9DED-4C24-8FD3-CBB52C816698}"/>
              </a:ext>
            </a:extLst>
          </p:cNvPr>
          <p:cNvSpPr>
            <a:spLocks xmlns:a="http://schemas.openxmlformats.org/drawingml/2006/main" noGrp="1"/>
          </p:cNvSpPr>
          <p:nvPr/>
        </p:nvSpPr>
        <p:spPr>
          <a:xfrm xmlns:a="http://schemas.openxmlformats.org/drawingml/2006/main">
            <a:off x="609600" y="5524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125" b="1">
                <a:solidFill>
                  <a:srgbClr val="6D5BD0"/>
                </a:solidFill>
                <a:latin typeface="Arial"/>
                <a:ea typeface="Arial"/>
                <a:cs typeface="Arial"/>
              </a:defRPr>
            </a:pPr>
            <a:r>
              <a:rPr sz="1125" b="1">
                <a:solidFill>
                  <a:srgbClr val="6D5BD0"/>
                </a:solidFill>
                <a:latin typeface="Arial"/>
                <a:ea typeface="Arial"/>
                <a:cs typeface="Arial"/>
              </a:rPr>
              <a:t>TECHNICAL LAB MEETING</a:t>
            </a:r>
          </a:p>
        </p:txBody>
      </p:sp>
      <p:sp>
        <p:nvSpPr>
          <p:cNvPr id="3" name="">
            <a:extLst xmlns:a="http://schemas.openxmlformats.org/drawingml/2006/main">
              <a:ext uri="{FF2B5EF4-FFF2-40B4-BE49-F238E27FC236}">
                <a16:creationId xmlns:a16="http://schemas.microsoft.com/office/drawing/2014/main" id="{F6B1F454-72B5-4FCD-959A-E2D9C255169F}"/>
              </a:ext>
            </a:extLst>
          </p:cNvPr>
          <p:cNvSpPr>
            <a:spLocks xmlns:a="http://schemas.openxmlformats.org/drawingml/2006/main" noGrp="1"/>
          </p:cNvSpPr>
          <p:nvPr/>
        </p:nvSpPr>
        <p:spPr>
          <a:xfrm xmlns:a="http://schemas.openxmlformats.org/drawingml/2006/main">
            <a:off x="609600" y="140970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GaitParity: Reflection-Equivariant S-JEPA for Signed Gait Asymmetry</a:t>
            </a:r>
          </a:p>
        </p:txBody>
      </p:sp>
      <p:sp>
        <p:nvSpPr>
          <p:cNvPr id="4" name="">
            <a:extLst xmlns:a="http://schemas.openxmlformats.org/drawingml/2006/main">
              <a:ext uri="{FF2B5EF4-FFF2-40B4-BE49-F238E27FC236}">
                <a16:creationId xmlns:a16="http://schemas.microsoft.com/office/drawing/2014/main" id="{405806BA-4018-4A28-A8BD-6A0D7B6D22E5}"/>
              </a:ext>
            </a:extLst>
          </p:cNvPr>
          <p:cNvSpPr>
            <a:spLocks xmlns:a="http://schemas.openxmlformats.org/drawingml/2006/main" noGrp="1"/>
          </p:cNvSpPr>
          <p:nvPr/>
        </p:nvSpPr>
        <p:spPr>
          <a:xfrm xmlns:a="http://schemas.openxmlformats.org/drawingml/2006/main">
            <a:off x="647700" y="3571875"/>
            <a:ext cx="9334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75" b="0">
                <a:solidFill>
                  <a:srgbClr val="D9E2EC"/>
                </a:solidFill>
                <a:latin typeface="Arial"/>
                <a:ea typeface="Arial"/>
                <a:cs typeface="Arial"/>
              </a:defRPr>
            </a:pPr>
            <a:r>
              <a:rPr sz="1875" b="0">
                <a:solidFill>
                  <a:srgbClr val="D9E2EC"/>
                </a:solidFill>
                <a:latin typeface="Arial"/>
                <a:ea typeface="Arial"/>
                <a:cs typeface="Arial"/>
              </a:rPr>
              <a:t>A controlled test of whether movement representations preserve anatomical left and right.</a:t>
            </a:r>
          </a:p>
        </p:txBody>
      </p:sp>
      <p:sp>
        <p:nvSpPr>
          <p:cNvPr id="5" name="">
            <a:extLst xmlns:a="http://schemas.openxmlformats.org/drawingml/2006/main">
              <a:ext uri="{FF2B5EF4-FFF2-40B4-BE49-F238E27FC236}">
                <a16:creationId xmlns:a16="http://schemas.microsoft.com/office/drawing/2014/main" id="{FFEF71A6-89EF-4967-B47E-BB93E4DD95BA}"/>
              </a:ext>
            </a:extLst>
          </p:cNvPr>
          <p:cNvSpPr>
            <a:spLocks xmlns:a="http://schemas.openxmlformats.org/drawingml/2006/main" noGrp="1"/>
          </p:cNvSpPr>
          <p:nvPr/>
        </p:nvSpPr>
        <p:spPr>
          <a:xfrm xmlns:a="http://schemas.openxmlformats.org/drawingml/2006/main">
            <a:off x="609600" y="5172075"/>
            <a:ext cx="10972800" cy="876300"/>
          </a:xfrm>
          <a:prstGeom xmlns:a="http://schemas.openxmlformats.org/drawingml/2006/main" prst="roundRect">
            <a:avLst>
              <a:gd name="adj" fmla="val 13043"/>
            </a:avLst>
          </a:prstGeom>
          <a:solidFill xmlns:a="http://schemas.openxmlformats.org/drawingml/2006/main">
            <a:srgbClr val="173F5F"/>
          </a:solidFill>
          <a:ln xmlns:a="http://schemas.openxmlformats.org/drawingml/2006/main" w="9525">
            <a:solidFill>
              <a:srgbClr val="335F7F"/>
            </a:solidFill>
            <a:prstDash val="solid"/>
          </a:ln>
        </p:spPr>
      </p:sp>
      <p:sp>
        <p:nvSpPr>
          <p:cNvPr id="6" name="">
            <a:extLst xmlns:a="http://schemas.openxmlformats.org/drawingml/2006/main">
              <a:ext uri="{FF2B5EF4-FFF2-40B4-BE49-F238E27FC236}">
                <a16:creationId xmlns:a16="http://schemas.microsoft.com/office/drawing/2014/main" id="{CA468CE8-DB49-4CD3-96A7-1BFFE65920BA}"/>
              </a:ext>
            </a:extLst>
          </p:cNvPr>
          <p:cNvSpPr>
            <a:spLocks xmlns:a="http://schemas.openxmlformats.org/drawingml/2006/main" noGrp="1"/>
          </p:cNvSpPr>
          <p:nvPr/>
        </p:nvSpPr>
        <p:spPr>
          <a:xfrm xmlns:a="http://schemas.openxmlformats.org/drawingml/2006/main">
            <a:off x="876300" y="5410200"/>
            <a:ext cx="10429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Current result: exact mirror geometry. Next decision: held-out force prediction.</a:t>
            </a:r>
          </a:p>
        </p:txBody>
      </p:sp>
    </p:spTree>
    <p:extLst>
      <p:ext uri="{BB962C8B-B14F-4D97-AF65-F5344CB8AC3E}">
        <p14:creationId xmlns:p14="http://schemas.microsoft.com/office/powerpoint/2010/main" val="868591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1E0ACA4-6A6B-4C25-B0AE-393A3949316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F4C2EFF6-0CCC-4D0A-B0B4-2AFC0CF33980}"/>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MOTIVATION</a:t>
            </a:r>
          </a:p>
        </p:txBody>
      </p:sp>
      <p:sp>
        <p:nvSpPr>
          <p:cNvPr id="3" name="">
            <a:extLst xmlns:a="http://schemas.openxmlformats.org/drawingml/2006/main">
              <a:ext uri="{FF2B5EF4-FFF2-40B4-BE49-F238E27FC236}">
                <a16:creationId xmlns:a16="http://schemas.microsoft.com/office/drawing/2014/main" id="{A1C046A5-6802-42FF-B44B-7BCAAB887C26}"/>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Video shows movement—not the forces behind it</a:t>
            </a:r>
          </a:p>
        </p:txBody>
      </p:sp>
      <p:sp>
        <p:nvSpPr>
          <p:cNvPr id="4" name="">
            <a:extLst xmlns:a="http://schemas.openxmlformats.org/drawingml/2006/main">
              <a:ext uri="{FF2B5EF4-FFF2-40B4-BE49-F238E27FC236}">
                <a16:creationId xmlns:a16="http://schemas.microsoft.com/office/drawing/2014/main" id="{89DFFE50-BA64-4789-A3B4-5989ADA6D77E}"/>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EE7FEF8-83ED-4924-A5BB-979D5213C78C}"/>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FFD27E9-39C8-495B-96C9-AEA0D1693A03}"/>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Ambient cameras can observe walking in natural settings, but they do not directly measure the physical state.</a:t>
            </a:r>
          </a:p>
        </p:txBody>
      </p:sp>
      <p:sp>
        <p:nvSpPr>
          <p:cNvPr id="7" name="">
            <a:extLst xmlns:a="http://schemas.openxmlformats.org/drawingml/2006/main">
              <a:ext uri="{FF2B5EF4-FFF2-40B4-BE49-F238E27FC236}">
                <a16:creationId xmlns:a16="http://schemas.microsoft.com/office/drawing/2014/main" id="{F2B4894A-8435-4A4E-869A-3B3F2E3E6C60}"/>
              </a:ext>
            </a:extLst>
          </p:cNvPr>
          <p:cNvSpPr>
            <a:spLocks xmlns:a="http://schemas.openxmlformats.org/drawingml/2006/main" noGrp="1"/>
          </p:cNvSpPr>
          <p:nvPr/>
        </p:nvSpPr>
        <p:spPr>
          <a:xfrm xmlns:a="http://schemas.openxmlformats.org/drawingml/2006/main">
            <a:off x="457200" y="1657350"/>
            <a:ext cx="4933950" cy="3924300"/>
          </a:xfrm>
          <a:prstGeom xmlns:a="http://schemas.openxmlformats.org/drawingml/2006/main" prst="roundRect">
            <a:avLst>
              <a:gd name="adj" fmla="val 2913"/>
            </a:avLst>
          </a:prstGeom>
          <a:solidFill xmlns:a="http://schemas.openxmlformats.org/drawingml/2006/main">
            <a:srgbClr val="F3F6F9"/>
          </a:solidFill>
          <a:ln xmlns:a="http://schemas.openxmlformats.org/drawingml/2006/main" w="9525">
            <a:solidFill>
              <a:srgbClr val="C9D2D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5470cdcdd5b4f90"/>
          <a:srcRect xmlns:a="http://schemas.openxmlformats.org/drawingml/2006/main" l="0" t="24801" r="0" b="24801"/>
          <a:stretch xmlns:a="http://schemas.openxmlformats.org/drawingml/2006/main">
            <a:fillRect l="0" t="0" r="0" b="0"/>
          </a:stretch>
        </p:blipFill>
        <p:spPr>
          <a:xfrm xmlns:a="http://schemas.openxmlformats.org/drawingml/2006/main">
            <a:off x="533400" y="1733550"/>
            <a:ext cx="4781550" cy="3771900"/>
          </a:xfrm>
          <a:prstGeom xmlns:a="http://schemas.openxmlformats.org/drawingml/2006/main" prst="roundRect">
            <a:avLst>
              <a:gd name="adj" fmla="val 3030"/>
            </a:avLst>
          </a:prstGeom>
        </p:spPr>
      </p:pic>
      <p:sp>
        <p:nvSpPr>
          <p:cNvPr id="9" name="">
            <a:extLst xmlns:a="http://schemas.openxmlformats.org/drawingml/2006/main">
              <a:ext uri="{FF2B5EF4-FFF2-40B4-BE49-F238E27FC236}">
                <a16:creationId xmlns:a16="http://schemas.microsoft.com/office/drawing/2014/main" id="{B5AB9657-F038-4E6D-A411-ABA190D6D8C1}"/>
              </a:ext>
            </a:extLst>
          </p:cNvPr>
          <p:cNvSpPr>
            <a:spLocks xmlns:a="http://schemas.openxmlformats.org/drawingml/2006/main" noGrp="1"/>
          </p:cNvSpPr>
          <p:nvPr/>
        </p:nvSpPr>
        <p:spPr>
          <a:xfrm xmlns:a="http://schemas.openxmlformats.org/drawingml/2006/main">
            <a:off x="5753100" y="1752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a:solidFill>
                  <a:srgbClr val="6D5BD0"/>
                </a:solidFill>
                <a:latin typeface="Arial"/>
                <a:ea typeface="Arial"/>
                <a:cs typeface="Arial"/>
              </a:defRPr>
            </a:pPr>
            <a:r>
              <a:rPr sz="975" b="1">
                <a:solidFill>
                  <a:srgbClr val="6D5BD0"/>
                </a:solidFill>
                <a:latin typeface="Arial"/>
                <a:ea typeface="Arial"/>
                <a:cs typeface="Arial"/>
              </a:rPr>
              <a:t>WHAT THE CAMERA MISSES</a:t>
            </a:r>
          </a:p>
        </p:txBody>
      </p:sp>
      <p:sp>
        <p:nvSpPr>
          <p:cNvPr id="10" name="">
            <a:extLst xmlns:a="http://schemas.openxmlformats.org/drawingml/2006/main">
              <a:ext uri="{FF2B5EF4-FFF2-40B4-BE49-F238E27FC236}">
                <a16:creationId xmlns:a16="http://schemas.microsoft.com/office/drawing/2014/main" id="{B12E4261-E87C-46A1-9D57-3CC44C80CECE}"/>
              </a:ext>
            </a:extLst>
          </p:cNvPr>
          <p:cNvSpPr>
            <a:spLocks xmlns:a="http://schemas.openxmlformats.org/drawingml/2006/main" noGrp="1"/>
          </p:cNvSpPr>
          <p:nvPr/>
        </p:nvSpPr>
        <p:spPr>
          <a:xfrm xmlns:a="http://schemas.openxmlformats.org/drawingml/2006/main">
            <a:off x="5753100" y="209550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667"/>
          </a:bodyPr>
          <a:lstStyle xmlns:a="http://schemas.openxmlformats.org/drawingml/2006/main"/>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The same visible motion can have different causes</a:t>
            </a:r>
          </a:p>
        </p:txBody>
      </p:sp>
      <p:sp>
        <p:nvSpPr>
          <p:cNvPr id="11" name="">
            <a:extLst xmlns:a="http://schemas.openxmlformats.org/drawingml/2006/main">
              <a:ext uri="{FF2B5EF4-FFF2-40B4-BE49-F238E27FC236}">
                <a16:creationId xmlns:a16="http://schemas.microsoft.com/office/drawing/2014/main" id="{2424816A-E6F4-4FB6-9A50-78E55D8AA204}"/>
              </a:ext>
            </a:extLst>
          </p:cNvPr>
          <p:cNvSpPr>
            <a:spLocks xmlns:a="http://schemas.openxmlformats.org/drawingml/2006/main" noGrp="1"/>
          </p:cNvSpPr>
          <p:nvPr/>
        </p:nvSpPr>
        <p:spPr>
          <a:xfrm xmlns:a="http://schemas.openxmlformats.org/drawingml/2006/main">
            <a:off x="5753100" y="2905125"/>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Video gives pixels and projected joints</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Force, contact, and muscle control stay hidden</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Occlusion can support several physical explanations</a:t>
            </a:r>
          </a:p>
        </p:txBody>
      </p:sp>
      <p:sp>
        <p:nvSpPr>
          <p:cNvPr id="12" name="">
            <a:extLst xmlns:a="http://schemas.openxmlformats.org/drawingml/2006/main">
              <a:ext uri="{FF2B5EF4-FFF2-40B4-BE49-F238E27FC236}">
                <a16:creationId xmlns:a16="http://schemas.microsoft.com/office/drawing/2014/main" id="{32531B0B-DABA-4100-B958-75B6E3A4D4F2}"/>
              </a:ext>
            </a:extLst>
          </p:cNvPr>
          <p:cNvSpPr>
            <a:spLocks xmlns:a="http://schemas.openxmlformats.org/drawingml/2006/main" noGrp="1"/>
          </p:cNvSpPr>
          <p:nvPr/>
        </p:nvSpPr>
        <p:spPr>
          <a:xfrm xmlns:a="http://schemas.openxmlformats.org/drawingml/2006/main">
            <a:off x="5753100" y="4762500"/>
            <a:ext cx="4953000" cy="819150"/>
          </a:xfrm>
          <a:prstGeom xmlns:a="http://schemas.openxmlformats.org/drawingml/2006/main" prst="roundRect">
            <a:avLst>
              <a:gd name="adj" fmla="val 13953"/>
            </a:avLst>
          </a:prstGeom>
          <a:solidFill xmlns:a="http://schemas.openxmlformats.org/drawingml/2006/main">
            <a:srgbClr val="EAF5FB"/>
          </a:solidFill>
          <a:ln xmlns:a="http://schemas.openxmlformats.org/drawingml/2006/main" w="9525">
            <a:solidFill>
              <a:srgbClr val="6D5BD0"/>
            </a:solidFill>
            <a:prstDash val="solid"/>
          </a:ln>
        </p:spPr>
      </p:sp>
      <p:sp>
        <p:nvSpPr>
          <p:cNvPr id="13" name="">
            <a:extLst xmlns:a="http://schemas.openxmlformats.org/drawingml/2006/main">
              <a:ext uri="{FF2B5EF4-FFF2-40B4-BE49-F238E27FC236}">
                <a16:creationId xmlns:a16="http://schemas.microsoft.com/office/drawing/2014/main" id="{CDE72AF2-A63F-40F1-9AF5-04048D78CD38}"/>
              </a:ext>
            </a:extLst>
          </p:cNvPr>
          <p:cNvSpPr>
            <a:spLocks xmlns:a="http://schemas.openxmlformats.org/drawingml/2006/main" noGrp="1"/>
          </p:cNvSpPr>
          <p:nvPr/>
        </p:nvSpPr>
        <p:spPr>
          <a:xfrm xmlns:a="http://schemas.openxmlformats.org/drawingml/2006/main">
            <a:off x="5981700" y="4962525"/>
            <a:ext cx="449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4211"/>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Infer the hidden physics—and report when the evidence is weak.</a:t>
            </a:r>
          </a:p>
        </p:txBody>
      </p:sp>
    </p:spTree>
    <p:extLst>
      <p:ext uri="{BB962C8B-B14F-4D97-AF65-F5344CB8AC3E}">
        <p14:creationId xmlns:p14="http://schemas.microsoft.com/office/powerpoint/2010/main" val="9260581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718F33E-F7BA-41F6-93F6-1F00C37F84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49E2009B-A4D4-4660-9CD5-9D0D3EDF0833}"/>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MOTIVATION</a:t>
            </a:r>
          </a:p>
        </p:txBody>
      </p:sp>
      <p:sp>
        <p:nvSpPr>
          <p:cNvPr id="3" name="">
            <a:extLst xmlns:a="http://schemas.openxmlformats.org/drawingml/2006/main">
              <a:ext uri="{FF2B5EF4-FFF2-40B4-BE49-F238E27FC236}">
                <a16:creationId xmlns:a16="http://schemas.microsoft.com/office/drawing/2014/main" id="{466BC511-3658-47C8-A582-3B04331BAC3C}"/>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Biomechanics asks what generated the motion</a:t>
            </a:r>
          </a:p>
        </p:txBody>
      </p:sp>
      <p:sp>
        <p:nvSpPr>
          <p:cNvPr id="4" name="">
            <a:extLst xmlns:a="http://schemas.openxmlformats.org/drawingml/2006/main">
              <a:ext uri="{FF2B5EF4-FFF2-40B4-BE49-F238E27FC236}">
                <a16:creationId xmlns:a16="http://schemas.microsoft.com/office/drawing/2014/main" id="{DDC65222-16AB-4E79-BB54-F425DE288B45}"/>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D85DD73-800D-4D68-9F55-9042F03A592B}"/>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DB6A78D2-577F-4C6A-9998-A385E4A6420D}"/>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A joint trajectory describes motion. A biomechanical measurement explains support, force, and control.</a:t>
            </a:r>
          </a:p>
        </p:txBody>
      </p:sp>
      <p:sp>
        <p:nvSpPr>
          <p:cNvPr id="7" name="">
            <a:extLst xmlns:a="http://schemas.openxmlformats.org/drawingml/2006/main">
              <a:ext uri="{FF2B5EF4-FFF2-40B4-BE49-F238E27FC236}">
                <a16:creationId xmlns:a16="http://schemas.microsoft.com/office/drawing/2014/main" id="{10F0C11C-D08B-4B56-8228-8733394AF642}"/>
              </a:ext>
            </a:extLst>
          </p:cNvPr>
          <p:cNvSpPr>
            <a:spLocks xmlns:a="http://schemas.openxmlformats.org/drawingml/2006/main" noGrp="1"/>
          </p:cNvSpPr>
          <p:nvPr/>
        </p:nvSpPr>
        <p:spPr>
          <a:xfrm xmlns:a="http://schemas.openxmlformats.org/drawingml/2006/main">
            <a:off x="6800850" y="1657350"/>
            <a:ext cx="4933950" cy="3924300"/>
          </a:xfrm>
          <a:prstGeom xmlns:a="http://schemas.openxmlformats.org/drawingml/2006/main" prst="roundRect">
            <a:avLst>
              <a:gd name="adj" fmla="val 2913"/>
            </a:avLst>
          </a:prstGeom>
          <a:solidFill xmlns:a="http://schemas.openxmlformats.org/drawingml/2006/main">
            <a:srgbClr val="F3F6F9"/>
          </a:solidFill>
          <a:ln xmlns:a="http://schemas.openxmlformats.org/drawingml/2006/main" w="9525">
            <a:solidFill>
              <a:srgbClr val="C9D2D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547de3f2d4146cb"/>
          <a:srcRect xmlns:a="http://schemas.openxmlformats.org/drawingml/2006/main" l="2462" t="0" r="2462" b="0"/>
          <a:stretch xmlns:a="http://schemas.openxmlformats.org/drawingml/2006/main">
            <a:fillRect l="0" t="0" r="0" b="0"/>
          </a:stretch>
        </p:blipFill>
        <p:spPr>
          <a:xfrm xmlns:a="http://schemas.openxmlformats.org/drawingml/2006/main">
            <a:off x="6877050" y="1733550"/>
            <a:ext cx="4781550" cy="3771900"/>
          </a:xfrm>
          <a:prstGeom xmlns:a="http://schemas.openxmlformats.org/drawingml/2006/main" prst="roundRect">
            <a:avLst>
              <a:gd name="adj" fmla="val 3030"/>
            </a:avLst>
          </a:prstGeom>
        </p:spPr>
      </p:pic>
      <p:sp>
        <p:nvSpPr>
          <p:cNvPr id="9" name="">
            <a:extLst xmlns:a="http://schemas.openxmlformats.org/drawingml/2006/main">
              <a:ext uri="{FF2B5EF4-FFF2-40B4-BE49-F238E27FC236}">
                <a16:creationId xmlns:a16="http://schemas.microsoft.com/office/drawing/2014/main" id="{0D17523D-F43C-4E8C-81CD-EC91E288F7D6}"/>
              </a:ext>
            </a:extLst>
          </p:cNvPr>
          <p:cNvSpPr>
            <a:spLocks xmlns:a="http://schemas.openxmlformats.org/drawingml/2006/main" noGrp="1"/>
          </p:cNvSpPr>
          <p:nvPr/>
        </p:nvSpPr>
        <p:spPr>
          <a:xfrm xmlns:a="http://schemas.openxmlformats.org/drawingml/2006/main">
            <a:off x="457200" y="1752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a:solidFill>
                  <a:srgbClr val="6D5BD0"/>
                </a:solidFill>
                <a:latin typeface="Arial"/>
                <a:ea typeface="Arial"/>
                <a:cs typeface="Arial"/>
              </a:defRPr>
            </a:pPr>
            <a:r>
              <a:rPr sz="975" b="1">
                <a:solidFill>
                  <a:srgbClr val="6D5BD0"/>
                </a:solidFill>
                <a:latin typeface="Arial"/>
                <a:ea typeface="Arial"/>
                <a:cs typeface="Arial"/>
              </a:rPr>
              <a:t>WHY THE PHYSICS MATTERS</a:t>
            </a:r>
          </a:p>
        </p:txBody>
      </p:sp>
      <p:sp>
        <p:nvSpPr>
          <p:cNvPr id="10" name="">
            <a:extLst xmlns:a="http://schemas.openxmlformats.org/drawingml/2006/main">
              <a:ext uri="{FF2B5EF4-FFF2-40B4-BE49-F238E27FC236}">
                <a16:creationId xmlns:a16="http://schemas.microsoft.com/office/drawing/2014/main" id="{8BDA1F06-8839-4BE1-989E-CDABE78CBCA8}"/>
              </a:ext>
            </a:extLst>
          </p:cNvPr>
          <p:cNvSpPr>
            <a:spLocks xmlns:a="http://schemas.openxmlformats.org/drawingml/2006/main" noGrp="1"/>
          </p:cNvSpPr>
          <p:nvPr/>
        </p:nvSpPr>
        <p:spPr>
          <a:xfrm xmlns:a="http://schemas.openxmlformats.org/drawingml/2006/main">
            <a:off x="457200" y="209550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6667"/>
          </a:bodyPr>
          <a:lstStyle xmlns:a="http://schemas.openxmlformats.org/drawingml/2006/main"/>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A pose can look right while the conclusion is wrong</a:t>
            </a:r>
          </a:p>
        </p:txBody>
      </p:sp>
      <p:sp>
        <p:nvSpPr>
          <p:cNvPr id="11" name="">
            <a:extLst xmlns:a="http://schemas.openxmlformats.org/drawingml/2006/main">
              <a:ext uri="{FF2B5EF4-FFF2-40B4-BE49-F238E27FC236}">
                <a16:creationId xmlns:a16="http://schemas.microsoft.com/office/drawing/2014/main" id="{F3B894C2-1D1E-4609-914A-26DB1F975450}"/>
              </a:ext>
            </a:extLst>
          </p:cNvPr>
          <p:cNvSpPr>
            <a:spLocks xmlns:a="http://schemas.openxmlformats.org/drawingml/2006/main" noGrp="1"/>
          </p:cNvSpPr>
          <p:nvPr/>
        </p:nvSpPr>
        <p:spPr>
          <a:xfrm xmlns:a="http://schemas.openxmlformats.org/drawingml/2006/main">
            <a:off x="457200" y="2905125"/>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Stroke: which leg contributes less propulsion?</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Balance: is the body still recoverably stable?</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Follow-up care: did the person change—or the camera?</a:t>
            </a:r>
          </a:p>
        </p:txBody>
      </p:sp>
      <p:sp>
        <p:nvSpPr>
          <p:cNvPr id="12" name="">
            <a:extLst xmlns:a="http://schemas.openxmlformats.org/drawingml/2006/main">
              <a:ext uri="{FF2B5EF4-FFF2-40B4-BE49-F238E27FC236}">
                <a16:creationId xmlns:a16="http://schemas.microsoft.com/office/drawing/2014/main" id="{4D79D903-8884-4054-B5E7-3BA8A2F5C38B}"/>
              </a:ext>
            </a:extLst>
          </p:cNvPr>
          <p:cNvSpPr>
            <a:spLocks xmlns:a="http://schemas.openxmlformats.org/drawingml/2006/main" noGrp="1"/>
          </p:cNvSpPr>
          <p:nvPr/>
        </p:nvSpPr>
        <p:spPr>
          <a:xfrm xmlns:a="http://schemas.openxmlformats.org/drawingml/2006/main">
            <a:off x="457200" y="4762500"/>
            <a:ext cx="4953000" cy="819150"/>
          </a:xfrm>
          <a:prstGeom xmlns:a="http://schemas.openxmlformats.org/drawingml/2006/main" prst="roundRect">
            <a:avLst>
              <a:gd name="adj" fmla="val 13953"/>
            </a:avLst>
          </a:prstGeom>
          <a:solidFill xmlns:a="http://schemas.openxmlformats.org/drawingml/2006/main">
            <a:srgbClr val="EAF5FB"/>
          </a:solidFill>
          <a:ln xmlns:a="http://schemas.openxmlformats.org/drawingml/2006/main" w="9525">
            <a:solidFill>
              <a:srgbClr val="6D5BD0"/>
            </a:solidFill>
            <a:prstDash val="solid"/>
          </a:ln>
        </p:spPr>
      </p:sp>
      <p:sp>
        <p:nvSpPr>
          <p:cNvPr id="13" name="">
            <a:extLst xmlns:a="http://schemas.openxmlformats.org/drawingml/2006/main">
              <a:ext uri="{FF2B5EF4-FFF2-40B4-BE49-F238E27FC236}">
                <a16:creationId xmlns:a16="http://schemas.microsoft.com/office/drawing/2014/main" id="{9F008ABA-74C5-4A3D-8463-F665E09D82C0}"/>
              </a:ext>
            </a:extLst>
          </p:cNvPr>
          <p:cNvSpPr>
            <a:spLocks xmlns:a="http://schemas.openxmlformats.org/drawingml/2006/main" noGrp="1"/>
          </p:cNvSpPr>
          <p:nvPr/>
        </p:nvSpPr>
        <p:spPr>
          <a:xfrm xmlns:a="http://schemas.openxmlformats.org/drawingml/2006/main">
            <a:off x="685800" y="4962525"/>
            <a:ext cx="449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4211"/>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Signed left–right differences are a clear first test because mirroring should reverse them.</a:t>
            </a:r>
          </a:p>
        </p:txBody>
      </p:sp>
    </p:spTree>
    <p:extLst>
      <p:ext uri="{BB962C8B-B14F-4D97-AF65-F5344CB8AC3E}">
        <p14:creationId xmlns:p14="http://schemas.microsoft.com/office/powerpoint/2010/main" val="16445897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863D7C2-C0BE-4B30-BA3B-9CD99CD9E9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06148D9C-4CCE-445D-8A51-6E017093B60B}"/>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MOTIVATION</a:t>
            </a:r>
          </a:p>
        </p:txBody>
      </p:sp>
      <p:sp>
        <p:nvSpPr>
          <p:cNvPr id="3" name="">
            <a:extLst xmlns:a="http://schemas.openxmlformats.org/drawingml/2006/main">
              <a:ext uri="{FF2B5EF4-FFF2-40B4-BE49-F238E27FC236}">
                <a16:creationId xmlns:a16="http://schemas.microsoft.com/office/drawing/2014/main" id="{27EBE3C6-B868-43B0-BED7-7FFD406B5538}"/>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57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Ambient settings change the observation—not always the person</a:t>
            </a:r>
          </a:p>
        </p:txBody>
      </p:sp>
      <p:sp>
        <p:nvSpPr>
          <p:cNvPr id="4" name="">
            <a:extLst xmlns:a="http://schemas.openxmlformats.org/drawingml/2006/main">
              <a:ext uri="{FF2B5EF4-FFF2-40B4-BE49-F238E27FC236}">
                <a16:creationId xmlns:a16="http://schemas.microsoft.com/office/drawing/2014/main" id="{D2FC7104-78C2-40F5-8CE2-924FCF0BB97B}"/>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B47974E-78F4-4E6B-8392-2CDBDEC7C82E}"/>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CFEBA022-EDF3-4AF8-9489-C07B955CB135}"/>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model needs a different response for each kind of change.</a:t>
            </a:r>
          </a:p>
        </p:txBody>
      </p:sp>
      <p:sp>
        <p:nvSpPr>
          <p:cNvPr id="7" name="">
            <a:extLst xmlns:a="http://schemas.openxmlformats.org/drawingml/2006/main">
              <a:ext uri="{FF2B5EF4-FFF2-40B4-BE49-F238E27FC236}">
                <a16:creationId xmlns:a16="http://schemas.microsoft.com/office/drawing/2014/main" id="{DDF7166C-D8CE-4BD9-B28C-7B70F94A34CA}"/>
              </a:ext>
            </a:extLst>
          </p:cNvPr>
          <p:cNvSpPr>
            <a:spLocks xmlns:a="http://schemas.openxmlformats.org/drawingml/2006/main" noGrp="1"/>
          </p:cNvSpPr>
          <p:nvPr/>
        </p:nvSpPr>
        <p:spPr>
          <a:xfrm xmlns:a="http://schemas.openxmlformats.org/drawingml/2006/main">
            <a:off x="590550" y="19431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3D8DFF"/>
                </a:solidFill>
                <a:latin typeface="Arial"/>
                <a:ea typeface="Arial"/>
                <a:cs typeface="Arial"/>
              </a:defRPr>
            </a:pPr>
            <a:r>
              <a:rPr sz="1350" b="1">
                <a:solidFill>
                  <a:srgbClr val="3D8DFF"/>
                </a:solidFill>
                <a:latin typeface="Arial"/>
                <a:ea typeface="Arial"/>
                <a:cs typeface="Arial"/>
              </a:rPr>
              <a:t>VIEW</a:t>
            </a:r>
          </a:p>
        </p:txBody>
      </p:sp>
      <p:sp>
        <p:nvSpPr>
          <p:cNvPr id="8" name="">
            <a:extLst xmlns:a="http://schemas.openxmlformats.org/drawingml/2006/main">
              <a:ext uri="{FF2B5EF4-FFF2-40B4-BE49-F238E27FC236}">
                <a16:creationId xmlns:a16="http://schemas.microsoft.com/office/drawing/2014/main" id="{D0168951-1644-4343-B0BE-3C0A0136D3D3}"/>
              </a:ext>
            </a:extLst>
          </p:cNvPr>
          <p:cNvSpPr>
            <a:spLocks xmlns:a="http://schemas.openxmlformats.org/drawingml/2006/main" noGrp="1"/>
          </p:cNvSpPr>
          <p:nvPr/>
        </p:nvSpPr>
        <p:spPr>
          <a:xfrm xmlns:a="http://schemas.openxmlformats.org/drawingml/2006/main">
            <a:off x="1676400" y="19050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New camera angle</a:t>
            </a:r>
          </a:p>
        </p:txBody>
      </p:sp>
      <p:sp>
        <p:nvSpPr>
          <p:cNvPr id="9" name="">
            <a:extLst xmlns:a="http://schemas.openxmlformats.org/drawingml/2006/main">
              <a:ext uri="{FF2B5EF4-FFF2-40B4-BE49-F238E27FC236}">
                <a16:creationId xmlns:a16="http://schemas.microsoft.com/office/drawing/2014/main" id="{AFB91438-4EF0-4F5E-AE06-F08BDA4C2CA3}"/>
              </a:ext>
            </a:extLst>
          </p:cNvPr>
          <p:cNvSpPr>
            <a:spLocks xmlns:a="http://schemas.openxmlformats.org/drawingml/2006/main" noGrp="1"/>
          </p:cNvSpPr>
          <p:nvPr/>
        </p:nvSpPr>
        <p:spPr>
          <a:xfrm xmlns:a="http://schemas.openxmlformats.org/drawingml/2006/main">
            <a:off x="5219700" y="19050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Keep the anatomical answer stable after body-frame normalization.</a:t>
            </a:r>
          </a:p>
        </p:txBody>
      </p:sp>
      <p:sp>
        <p:nvSpPr>
          <p:cNvPr id="10" name="">
            <a:extLst xmlns:a="http://schemas.openxmlformats.org/drawingml/2006/main">
              <a:ext uri="{FF2B5EF4-FFF2-40B4-BE49-F238E27FC236}">
                <a16:creationId xmlns:a16="http://schemas.microsoft.com/office/drawing/2014/main" id="{EA3CD861-A459-434F-9DF0-C0677817E6AE}"/>
              </a:ext>
            </a:extLst>
          </p:cNvPr>
          <p:cNvSpPr>
            <a:spLocks xmlns:a="http://schemas.openxmlformats.org/drawingml/2006/main" noGrp="1"/>
          </p:cNvSpPr>
          <p:nvPr/>
        </p:nvSpPr>
        <p:spPr>
          <a:xfrm xmlns:a="http://schemas.openxmlformats.org/drawingml/2006/main">
            <a:off x="1676400" y="2724150"/>
            <a:ext cx="897255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1" name="">
            <a:extLst xmlns:a="http://schemas.openxmlformats.org/drawingml/2006/main">
              <a:ext uri="{FF2B5EF4-FFF2-40B4-BE49-F238E27FC236}">
                <a16:creationId xmlns:a16="http://schemas.microsoft.com/office/drawing/2014/main" id="{2AA355DE-3C43-4025-9F6A-A319F7226761}"/>
              </a:ext>
            </a:extLst>
          </p:cNvPr>
          <p:cNvSpPr>
            <a:spLocks xmlns:a="http://schemas.openxmlformats.org/drawingml/2006/main" noGrp="1"/>
          </p:cNvSpPr>
          <p:nvPr/>
        </p:nvSpPr>
        <p:spPr>
          <a:xfrm xmlns:a="http://schemas.openxmlformats.org/drawingml/2006/main">
            <a:off x="590550" y="306705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831"/>
          </a:bodyPr>
          <a:lstStyle xmlns:a="http://schemas.openxmlformats.org/drawingml/2006/main"/>
          <a:p xmlns:a="http://schemas.openxmlformats.org/drawingml/2006/main">
            <a:pPr algn="ctr">
              <a:defRPr sz="1350" b="1">
                <a:solidFill>
                  <a:srgbClr val="D95D5D"/>
                </a:solidFill>
                <a:latin typeface="Arial"/>
                <a:ea typeface="Arial"/>
                <a:cs typeface="Arial"/>
              </a:defRPr>
            </a:pPr>
            <a:r>
              <a:rPr sz="1350" b="1">
                <a:solidFill>
                  <a:srgbClr val="D95D5D"/>
                </a:solidFill>
                <a:latin typeface="Arial"/>
                <a:ea typeface="Arial"/>
                <a:cs typeface="Arial"/>
              </a:rPr>
              <a:t>MIRROR</a:t>
            </a:r>
          </a:p>
        </p:txBody>
      </p:sp>
      <p:sp>
        <p:nvSpPr>
          <p:cNvPr id="12" name="">
            <a:extLst xmlns:a="http://schemas.openxmlformats.org/drawingml/2006/main">
              <a:ext uri="{FF2B5EF4-FFF2-40B4-BE49-F238E27FC236}">
                <a16:creationId xmlns:a16="http://schemas.microsoft.com/office/drawing/2014/main" id="{CD8CACEB-BFD4-489C-B8CF-E63541E603AD}"/>
              </a:ext>
            </a:extLst>
          </p:cNvPr>
          <p:cNvSpPr>
            <a:spLocks xmlns:a="http://schemas.openxmlformats.org/drawingml/2006/main" noGrp="1"/>
          </p:cNvSpPr>
          <p:nvPr/>
        </p:nvSpPr>
        <p:spPr>
          <a:xfrm xmlns:a="http://schemas.openxmlformats.org/drawingml/2006/main">
            <a:off x="1676400" y="30289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Mirrored video</a:t>
            </a:r>
          </a:p>
        </p:txBody>
      </p:sp>
      <p:sp>
        <p:nvSpPr>
          <p:cNvPr id="13" name="">
            <a:extLst xmlns:a="http://schemas.openxmlformats.org/drawingml/2006/main">
              <a:ext uri="{FF2B5EF4-FFF2-40B4-BE49-F238E27FC236}">
                <a16:creationId xmlns:a16="http://schemas.microsoft.com/office/drawing/2014/main" id="{AE63A6CE-E00F-4156-9029-8EFC5DBC0610}"/>
              </a:ext>
            </a:extLst>
          </p:cNvPr>
          <p:cNvSpPr>
            <a:spLocks xmlns:a="http://schemas.openxmlformats.org/drawingml/2006/main" noGrp="1"/>
          </p:cNvSpPr>
          <p:nvPr/>
        </p:nvSpPr>
        <p:spPr>
          <a:xfrm xmlns:a="http://schemas.openxmlformats.org/drawingml/2006/main">
            <a:off x="5219700" y="302895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Reverse a signed left–right measurement because anatomy is exchanged.</a:t>
            </a:r>
          </a:p>
        </p:txBody>
      </p:sp>
      <p:sp>
        <p:nvSpPr>
          <p:cNvPr id="14" name="">
            <a:extLst xmlns:a="http://schemas.openxmlformats.org/drawingml/2006/main">
              <a:ext uri="{FF2B5EF4-FFF2-40B4-BE49-F238E27FC236}">
                <a16:creationId xmlns:a16="http://schemas.microsoft.com/office/drawing/2014/main" id="{6BC2DECA-7364-45D3-9BF6-7105574A7A30}"/>
              </a:ext>
            </a:extLst>
          </p:cNvPr>
          <p:cNvSpPr>
            <a:spLocks xmlns:a="http://schemas.openxmlformats.org/drawingml/2006/main" noGrp="1"/>
          </p:cNvSpPr>
          <p:nvPr/>
        </p:nvSpPr>
        <p:spPr>
          <a:xfrm xmlns:a="http://schemas.openxmlformats.org/drawingml/2006/main">
            <a:off x="1676400" y="3848100"/>
            <a:ext cx="897255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5" name="">
            <a:extLst xmlns:a="http://schemas.openxmlformats.org/drawingml/2006/main">
              <a:ext uri="{FF2B5EF4-FFF2-40B4-BE49-F238E27FC236}">
                <a16:creationId xmlns:a16="http://schemas.microsoft.com/office/drawing/2014/main" id="{02708766-24C0-42EB-BDE7-29C863B604F4}"/>
              </a:ext>
            </a:extLst>
          </p:cNvPr>
          <p:cNvSpPr>
            <a:spLocks xmlns:a="http://schemas.openxmlformats.org/drawingml/2006/main" noGrp="1"/>
          </p:cNvSpPr>
          <p:nvPr/>
        </p:nvSpPr>
        <p:spPr>
          <a:xfrm xmlns:a="http://schemas.openxmlformats.org/drawingml/2006/main">
            <a:off x="590550" y="41910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F4A261"/>
                </a:solidFill>
                <a:latin typeface="Arial"/>
                <a:ea typeface="Arial"/>
                <a:cs typeface="Arial"/>
              </a:defRPr>
            </a:pPr>
            <a:r>
              <a:rPr sz="1350" b="1">
                <a:solidFill>
                  <a:srgbClr val="F4A261"/>
                </a:solidFill>
                <a:latin typeface="Arial"/>
                <a:ea typeface="Arial"/>
                <a:cs typeface="Arial"/>
              </a:rPr>
              <a:t>MASK</a:t>
            </a:r>
          </a:p>
        </p:txBody>
      </p:sp>
      <p:sp>
        <p:nvSpPr>
          <p:cNvPr id="16" name="">
            <a:extLst xmlns:a="http://schemas.openxmlformats.org/drawingml/2006/main">
              <a:ext uri="{FF2B5EF4-FFF2-40B4-BE49-F238E27FC236}">
                <a16:creationId xmlns:a16="http://schemas.microsoft.com/office/drawing/2014/main" id="{2682BD51-A704-439C-9228-839AF5447A6A}"/>
              </a:ext>
            </a:extLst>
          </p:cNvPr>
          <p:cNvSpPr>
            <a:spLocks xmlns:a="http://schemas.openxmlformats.org/drawingml/2006/main" noGrp="1"/>
          </p:cNvSpPr>
          <p:nvPr/>
        </p:nvSpPr>
        <p:spPr>
          <a:xfrm xmlns:a="http://schemas.openxmlformats.org/drawingml/2006/main">
            <a:off x="1676400" y="41529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Missing joint</a:t>
            </a:r>
          </a:p>
        </p:txBody>
      </p:sp>
      <p:sp>
        <p:nvSpPr>
          <p:cNvPr id="17" name="">
            <a:extLst xmlns:a="http://schemas.openxmlformats.org/drawingml/2006/main">
              <a:ext uri="{FF2B5EF4-FFF2-40B4-BE49-F238E27FC236}">
                <a16:creationId xmlns:a16="http://schemas.microsoft.com/office/drawing/2014/main" id="{DC0370E9-4E69-4723-AE77-1D3AD4035B3D}"/>
              </a:ext>
            </a:extLst>
          </p:cNvPr>
          <p:cNvSpPr>
            <a:spLocks xmlns:a="http://schemas.openxmlformats.org/drawingml/2006/main" noGrp="1"/>
          </p:cNvSpPr>
          <p:nvPr/>
        </p:nvSpPr>
        <p:spPr>
          <a:xfrm xmlns:a="http://schemas.openxmlformats.org/drawingml/2006/main">
            <a:off x="5219700" y="41529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Increase uncertainty; do not flip the predicted side because a heel disappears.</a:t>
            </a:r>
          </a:p>
        </p:txBody>
      </p:sp>
      <p:sp>
        <p:nvSpPr>
          <p:cNvPr id="18" name="">
            <a:extLst xmlns:a="http://schemas.openxmlformats.org/drawingml/2006/main">
              <a:ext uri="{FF2B5EF4-FFF2-40B4-BE49-F238E27FC236}">
                <a16:creationId xmlns:a16="http://schemas.microsoft.com/office/drawing/2014/main" id="{59E47E40-CF0F-48EA-8FB2-0D858BA85AF6}"/>
              </a:ext>
            </a:extLst>
          </p:cNvPr>
          <p:cNvSpPr>
            <a:spLocks xmlns:a="http://schemas.openxmlformats.org/drawingml/2006/main" noGrp="1"/>
          </p:cNvSpPr>
          <p:nvPr/>
        </p:nvSpPr>
        <p:spPr>
          <a:xfrm xmlns:a="http://schemas.openxmlformats.org/drawingml/2006/main">
            <a:off x="1676400" y="5467350"/>
            <a:ext cx="8972550" cy="590550"/>
          </a:xfrm>
          <a:prstGeom xmlns:a="http://schemas.openxmlformats.org/drawingml/2006/main" prst="roundRect">
            <a:avLst>
              <a:gd name="adj" fmla="val 19355"/>
            </a:avLst>
          </a:prstGeom>
          <a:solidFill xmlns:a="http://schemas.openxmlformats.org/drawingml/2006/main">
            <a:srgbClr val="EAF5FB"/>
          </a:solidFill>
          <a:ln xmlns:a="http://schemas.openxmlformats.org/drawingml/2006/main" w="9525">
            <a:solidFill>
              <a:srgbClr val="6D5BD0"/>
            </a:solidFill>
            <a:prstDash val="solid"/>
          </a:ln>
        </p:spPr>
      </p:sp>
      <p:sp>
        <p:nvSpPr>
          <p:cNvPr id="19" name="">
            <a:extLst xmlns:a="http://schemas.openxmlformats.org/drawingml/2006/main">
              <a:ext uri="{FF2B5EF4-FFF2-40B4-BE49-F238E27FC236}">
                <a16:creationId xmlns:a16="http://schemas.microsoft.com/office/drawing/2014/main" id="{589EBC28-B67B-4B94-B26A-3B7712514FDD}"/>
              </a:ext>
            </a:extLst>
          </p:cNvPr>
          <p:cNvSpPr>
            <a:spLocks xmlns:a="http://schemas.openxmlformats.org/drawingml/2006/main" noGrp="1"/>
          </p:cNvSpPr>
          <p:nvPr/>
        </p:nvSpPr>
        <p:spPr>
          <a:xfrm xmlns:a="http://schemas.openxmlformats.org/drawingml/2006/main">
            <a:off x="1924050" y="562927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474"/>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One rule for every video augmentation is not enough.</a:t>
            </a:r>
          </a:p>
        </p:txBody>
      </p:sp>
    </p:spTree>
    <p:extLst>
      <p:ext uri="{BB962C8B-B14F-4D97-AF65-F5344CB8AC3E}">
        <p14:creationId xmlns:p14="http://schemas.microsoft.com/office/powerpoint/2010/main" val="1667112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770246A-BEBF-4B25-B1A6-2A6C2766C6D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420579BA-2104-4A0A-82C4-D3EB04CDCC34}"/>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MOTIVATION</a:t>
            </a:r>
          </a:p>
        </p:txBody>
      </p:sp>
      <p:sp>
        <p:nvSpPr>
          <p:cNvPr id="3" name="">
            <a:extLst xmlns:a="http://schemas.openxmlformats.org/drawingml/2006/main">
              <a:ext uri="{FF2B5EF4-FFF2-40B4-BE49-F238E27FC236}">
                <a16:creationId xmlns:a16="http://schemas.microsoft.com/office/drawing/2014/main" id="{6156330D-C3E1-45B3-A522-06A4696933AD}"/>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A body mirror and a camera move mean different things</a:t>
            </a:r>
          </a:p>
        </p:txBody>
      </p:sp>
      <p:sp>
        <p:nvSpPr>
          <p:cNvPr id="4" name="">
            <a:extLst xmlns:a="http://schemas.openxmlformats.org/drawingml/2006/main">
              <a:ext uri="{FF2B5EF4-FFF2-40B4-BE49-F238E27FC236}">
                <a16:creationId xmlns:a16="http://schemas.microsoft.com/office/drawing/2014/main" id="{00F8ACF0-B0B7-489B-85EA-F361D1086FEF}"/>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15670DC-1B70-48D1-B7BC-285FCBEC1593}"/>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05912DF-CD67-4FA4-8677-49E2FB7A7158}"/>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A reflection changes anatomical identity. A viewpoint change only changes how anatomy is observed.</a:t>
            </a:r>
          </a:p>
        </p:txBody>
      </p:sp>
      <p:sp>
        <p:nvSpPr>
          <p:cNvPr id="7" name="">
            <a:extLst xmlns:a="http://schemas.openxmlformats.org/drawingml/2006/main">
              <a:ext uri="{FF2B5EF4-FFF2-40B4-BE49-F238E27FC236}">
                <a16:creationId xmlns:a16="http://schemas.microsoft.com/office/drawing/2014/main" id="{3184FDEE-E024-4D77-9E19-1D80D9C24836}"/>
              </a:ext>
            </a:extLst>
          </p:cNvPr>
          <p:cNvSpPr>
            <a:spLocks xmlns:a="http://schemas.openxmlformats.org/drawingml/2006/main" noGrp="1"/>
          </p:cNvSpPr>
          <p:nvPr/>
        </p:nvSpPr>
        <p:spPr>
          <a:xfrm xmlns:a="http://schemas.openxmlformats.org/drawingml/2006/main">
            <a:off x="723900" y="1924050"/>
            <a:ext cx="4476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4125" b="1">
                <a:solidFill>
                  <a:srgbClr val="D95D5D"/>
                </a:solidFill>
                <a:latin typeface="Arial"/>
                <a:ea typeface="Arial"/>
                <a:cs typeface="Arial"/>
              </a:defRPr>
            </a:pPr>
            <a:r>
              <a:rPr sz="4125" b="1">
                <a:solidFill>
                  <a:srgbClr val="D95D5D"/>
                </a:solidFill>
                <a:latin typeface="Arial"/>
                <a:ea typeface="Arial"/>
                <a:cs typeface="Arial"/>
              </a:rPr>
              <a:t>L  ↔  R</a:t>
            </a:r>
          </a:p>
        </p:txBody>
      </p:sp>
      <p:sp>
        <p:nvSpPr>
          <p:cNvPr id="8" name="">
            <a:extLst xmlns:a="http://schemas.openxmlformats.org/drawingml/2006/main">
              <a:ext uri="{FF2B5EF4-FFF2-40B4-BE49-F238E27FC236}">
                <a16:creationId xmlns:a16="http://schemas.microsoft.com/office/drawing/2014/main" id="{B56476ED-3059-4EEF-AC98-096DD6109C20}"/>
              </a:ext>
            </a:extLst>
          </p:cNvPr>
          <p:cNvSpPr>
            <a:spLocks xmlns:a="http://schemas.openxmlformats.org/drawingml/2006/main" noGrp="1"/>
          </p:cNvSpPr>
          <p:nvPr/>
        </p:nvSpPr>
        <p:spPr>
          <a:xfrm xmlns:a="http://schemas.openxmlformats.org/drawingml/2006/main">
            <a:off x="723900" y="2857500"/>
            <a:ext cx="4476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175" b="1">
                <a:solidFill>
                  <a:srgbClr val="102A43"/>
                </a:solidFill>
                <a:latin typeface="Arial"/>
                <a:ea typeface="Arial"/>
                <a:cs typeface="Arial"/>
              </a:defRPr>
            </a:pPr>
            <a:r>
              <a:rPr sz="2175" b="1">
                <a:solidFill>
                  <a:srgbClr val="102A43"/>
                </a:solidFill>
                <a:latin typeface="Arial"/>
                <a:ea typeface="Arial"/>
                <a:cs typeface="Arial"/>
              </a:rPr>
              <a:t>Mirror the body</a:t>
            </a:r>
          </a:p>
        </p:txBody>
      </p:sp>
      <p:sp>
        <p:nvSpPr>
          <p:cNvPr id="9" name="">
            <a:extLst xmlns:a="http://schemas.openxmlformats.org/drawingml/2006/main">
              <a:ext uri="{FF2B5EF4-FFF2-40B4-BE49-F238E27FC236}">
                <a16:creationId xmlns:a16="http://schemas.microsoft.com/office/drawing/2014/main" id="{DB0BAFD4-18D9-4D25-B7B2-A1BA291309EB}"/>
              </a:ext>
            </a:extLst>
          </p:cNvPr>
          <p:cNvSpPr>
            <a:spLocks xmlns:a="http://schemas.openxmlformats.org/drawingml/2006/main" noGrp="1"/>
          </p:cNvSpPr>
          <p:nvPr/>
        </p:nvSpPr>
        <p:spPr>
          <a:xfrm xmlns:a="http://schemas.openxmlformats.org/drawingml/2006/main">
            <a:off x="1066800" y="3533775"/>
            <a:ext cx="3810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Left and right exchange</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Signed difference flips</a:t>
            </a:r>
          </a:p>
        </p:txBody>
      </p:sp>
      <p:sp>
        <p:nvSpPr>
          <p:cNvPr id="10" name="">
            <a:extLst xmlns:a="http://schemas.openxmlformats.org/drawingml/2006/main">
              <a:ext uri="{FF2B5EF4-FFF2-40B4-BE49-F238E27FC236}">
                <a16:creationId xmlns:a16="http://schemas.microsoft.com/office/drawing/2014/main" id="{1564B3BB-CD64-4C12-93B6-F35FA9DD3665}"/>
              </a:ext>
            </a:extLst>
          </p:cNvPr>
          <p:cNvSpPr>
            <a:spLocks xmlns:a="http://schemas.openxmlformats.org/drawingml/2006/main" noGrp="1"/>
          </p:cNvSpPr>
          <p:nvPr/>
        </p:nvSpPr>
        <p:spPr>
          <a:xfrm xmlns:a="http://schemas.openxmlformats.org/drawingml/2006/main">
            <a:off x="6000750" y="1847850"/>
            <a:ext cx="9525" cy="285750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1" name="">
            <a:extLst xmlns:a="http://schemas.openxmlformats.org/drawingml/2006/main">
              <a:ext uri="{FF2B5EF4-FFF2-40B4-BE49-F238E27FC236}">
                <a16:creationId xmlns:a16="http://schemas.microsoft.com/office/drawing/2014/main" id="{58FD8105-579C-409C-BDFC-54B1EEA588BF}"/>
              </a:ext>
            </a:extLst>
          </p:cNvPr>
          <p:cNvSpPr>
            <a:spLocks xmlns:a="http://schemas.openxmlformats.org/drawingml/2006/main" noGrp="1"/>
          </p:cNvSpPr>
          <p:nvPr/>
        </p:nvSpPr>
        <p:spPr>
          <a:xfrm xmlns:a="http://schemas.openxmlformats.org/drawingml/2006/main">
            <a:off x="6572250" y="2028825"/>
            <a:ext cx="4381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0047"/>
          </a:bodyPr>
          <a:lstStyle xmlns:a="http://schemas.openxmlformats.org/drawingml/2006/main"/>
          <a:p xmlns:a="http://schemas.openxmlformats.org/drawingml/2006/main">
            <a:pPr algn="ctr">
              <a:defRPr sz="2325" b="1">
                <a:solidFill>
                  <a:srgbClr val="3D8DFF"/>
                </a:solidFill>
                <a:latin typeface="Arial"/>
                <a:ea typeface="Arial"/>
                <a:cs typeface="Arial"/>
              </a:defRPr>
            </a:pPr>
            <a:r>
              <a:rPr sz="2325" b="1">
                <a:solidFill>
                  <a:srgbClr val="3D8DFF"/>
                </a:solidFill>
                <a:latin typeface="Arial"/>
                <a:ea typeface="Arial"/>
                <a:cs typeface="Arial"/>
              </a:rPr>
              <a:t>same person     camera moves →</a:t>
            </a:r>
          </a:p>
        </p:txBody>
      </p:sp>
      <p:sp>
        <p:nvSpPr>
          <p:cNvPr id="12" name="">
            <a:extLst xmlns:a="http://schemas.openxmlformats.org/drawingml/2006/main">
              <a:ext uri="{FF2B5EF4-FFF2-40B4-BE49-F238E27FC236}">
                <a16:creationId xmlns:a16="http://schemas.microsoft.com/office/drawing/2014/main" id="{28DF7C07-47C5-4DC4-A5F1-9BB2492C7F5F}"/>
              </a:ext>
            </a:extLst>
          </p:cNvPr>
          <p:cNvSpPr>
            <a:spLocks xmlns:a="http://schemas.openxmlformats.org/drawingml/2006/main" noGrp="1"/>
          </p:cNvSpPr>
          <p:nvPr/>
        </p:nvSpPr>
        <p:spPr>
          <a:xfrm xmlns:a="http://schemas.openxmlformats.org/drawingml/2006/main">
            <a:off x="6572250" y="2857500"/>
            <a:ext cx="438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175" b="1">
                <a:solidFill>
                  <a:srgbClr val="102A43"/>
                </a:solidFill>
                <a:latin typeface="Arial"/>
                <a:ea typeface="Arial"/>
                <a:cs typeface="Arial"/>
              </a:defRPr>
            </a:pPr>
            <a:r>
              <a:rPr sz="2175" b="1">
                <a:solidFill>
                  <a:srgbClr val="102A43"/>
                </a:solidFill>
                <a:latin typeface="Arial"/>
                <a:ea typeface="Arial"/>
                <a:cs typeface="Arial"/>
              </a:rPr>
              <a:t>Move the camera</a:t>
            </a:r>
          </a:p>
        </p:txBody>
      </p:sp>
      <p:sp>
        <p:nvSpPr>
          <p:cNvPr id="13" name="">
            <a:extLst xmlns:a="http://schemas.openxmlformats.org/drawingml/2006/main">
              <a:ext uri="{FF2B5EF4-FFF2-40B4-BE49-F238E27FC236}">
                <a16:creationId xmlns:a16="http://schemas.microsoft.com/office/drawing/2014/main" id="{DD857CD2-7403-4D3D-8A0F-E7D9C0566028}"/>
              </a:ext>
            </a:extLst>
          </p:cNvPr>
          <p:cNvSpPr>
            <a:spLocks xmlns:a="http://schemas.openxmlformats.org/drawingml/2006/main" noGrp="1"/>
          </p:cNvSpPr>
          <p:nvPr/>
        </p:nvSpPr>
        <p:spPr>
          <a:xfrm xmlns:a="http://schemas.openxmlformats.org/drawingml/2006/main">
            <a:off x="6915150" y="3533775"/>
            <a:ext cx="3810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Anatomy stays fixed</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Physical answer stays stable</a:t>
            </a:r>
          </a:p>
        </p:txBody>
      </p:sp>
      <p:sp>
        <p:nvSpPr>
          <p:cNvPr id="14" name="">
            <a:extLst xmlns:a="http://schemas.openxmlformats.org/drawingml/2006/main">
              <a:ext uri="{FF2B5EF4-FFF2-40B4-BE49-F238E27FC236}">
                <a16:creationId xmlns:a16="http://schemas.microsoft.com/office/drawing/2014/main" id="{79259EA8-82EE-4142-9733-D283E1182FB4}"/>
              </a:ext>
            </a:extLst>
          </p:cNvPr>
          <p:cNvSpPr>
            <a:spLocks xmlns:a="http://schemas.openxmlformats.org/drawingml/2006/main" noGrp="1"/>
          </p:cNvSpPr>
          <p:nvPr/>
        </p:nvSpPr>
        <p:spPr>
          <a:xfrm xmlns:a="http://schemas.openxmlformats.org/drawingml/2006/main">
            <a:off x="1714500" y="5153025"/>
            <a:ext cx="8763000" cy="666750"/>
          </a:xfrm>
          <a:prstGeom xmlns:a="http://schemas.openxmlformats.org/drawingml/2006/main" prst="roundRect">
            <a:avLst>
              <a:gd name="adj" fmla="val 17143"/>
            </a:avLst>
          </a:prstGeom>
          <a:solidFill xmlns:a="http://schemas.openxmlformats.org/drawingml/2006/main">
            <a:srgbClr val="EAF5FB"/>
          </a:solidFill>
          <a:ln xmlns:a="http://schemas.openxmlformats.org/drawingml/2006/main" w="9525">
            <a:solidFill>
              <a:srgbClr val="6D5BD0"/>
            </a:solidFill>
            <a:prstDash val="solid"/>
          </a:ln>
        </p:spPr>
      </p:sp>
      <p:sp>
        <p:nvSpPr>
          <p:cNvPr id="15" name="">
            <a:extLst xmlns:a="http://schemas.openxmlformats.org/drawingml/2006/main">
              <a:ext uri="{FF2B5EF4-FFF2-40B4-BE49-F238E27FC236}">
                <a16:creationId xmlns:a16="http://schemas.microsoft.com/office/drawing/2014/main" id="{7F18FCC8-4AC5-4B6D-A2C0-F96F0511616A}"/>
              </a:ext>
            </a:extLst>
          </p:cNvPr>
          <p:cNvSpPr>
            <a:spLocks xmlns:a="http://schemas.openxmlformats.org/drawingml/2006/main" noGrp="1"/>
          </p:cNvSpPr>
          <p:nvPr/>
        </p:nvSpPr>
        <p:spPr>
          <a:xfrm xmlns:a="http://schemas.openxmlformats.org/drawingml/2006/main">
            <a:off x="2047875" y="534352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500" b="1">
                <a:solidFill>
                  <a:srgbClr val="102A43"/>
                </a:solidFill>
                <a:latin typeface="Arial"/>
                <a:ea typeface="Arial"/>
                <a:cs typeface="Arial"/>
              </a:defRPr>
            </a:pPr>
            <a:r>
              <a:rPr sz="1500" b="1">
                <a:solidFill>
                  <a:srgbClr val="102A43"/>
                </a:solidFill>
                <a:latin typeface="Arial"/>
                <a:ea typeface="Arial"/>
                <a:cs typeface="Arial"/>
              </a:rPr>
              <a:t>Right-minus-left propulsion flips under a body mirror, but not under a camera move.</a:t>
            </a:r>
          </a:p>
        </p:txBody>
      </p:sp>
    </p:spTree>
    <p:extLst>
      <p:ext uri="{BB962C8B-B14F-4D97-AF65-F5344CB8AC3E}">
        <p14:creationId xmlns:p14="http://schemas.microsoft.com/office/powerpoint/2010/main" val="6806762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4E72A69-E664-4018-8405-15A80997E1E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3E0FDB8F-550D-4B5F-A60F-6A3B9653D5B6}"/>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RESEARCH QUESTION</a:t>
            </a:r>
          </a:p>
        </p:txBody>
      </p:sp>
      <p:sp>
        <p:nvSpPr>
          <p:cNvPr id="3" name="">
            <a:extLst xmlns:a="http://schemas.openxmlformats.org/drawingml/2006/main">
              <a:ext uri="{FF2B5EF4-FFF2-40B4-BE49-F238E27FC236}">
                <a16:creationId xmlns:a16="http://schemas.microsoft.com/office/drawing/2014/main" id="{541ECD34-11C2-4F73-AD05-DCB986FA8ADB}"/>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Each experiment earns one stronger claim</a:t>
            </a:r>
          </a:p>
        </p:txBody>
      </p:sp>
      <p:sp>
        <p:nvSpPr>
          <p:cNvPr id="4" name="">
            <a:extLst xmlns:a="http://schemas.openxmlformats.org/drawingml/2006/main">
              <a:ext uri="{FF2B5EF4-FFF2-40B4-BE49-F238E27FC236}">
                <a16:creationId xmlns:a16="http://schemas.microsoft.com/office/drawing/2014/main" id="{2724C01A-8CDE-4CA3-8800-EF62FB771268}"/>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9E1800D7-060C-46DA-B928-F5B8B607EB50}"/>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3CBA9120-930A-44A5-858D-C60A897F0812}"/>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Passing a lower step cannot substitute for the next test.</a:t>
            </a:r>
          </a:p>
        </p:txBody>
      </p:sp>
      <p:sp>
        <p:nvSpPr>
          <p:cNvPr id="7" name="">
            <a:extLst xmlns:a="http://schemas.openxmlformats.org/drawingml/2006/main">
              <a:ext uri="{FF2B5EF4-FFF2-40B4-BE49-F238E27FC236}">
                <a16:creationId xmlns:a16="http://schemas.microsoft.com/office/drawing/2014/main" id="{F9EFCA12-1510-4AFE-8006-3BA6AC9A8C18}"/>
              </a:ext>
            </a:extLst>
          </p:cNvPr>
          <p:cNvSpPr>
            <a:spLocks xmlns:a="http://schemas.openxmlformats.org/drawingml/2006/main" noGrp="1"/>
          </p:cNvSpPr>
          <p:nvPr/>
        </p:nvSpPr>
        <p:spPr>
          <a:xfrm xmlns:a="http://schemas.openxmlformats.org/drawingml/2006/main">
            <a:off x="2919413" y="2714625"/>
            <a:ext cx="24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24983"/>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41B8410B-2ED1-4259-A2A7-9A1C54EAFC93}"/>
              </a:ext>
            </a:extLst>
          </p:cNvPr>
          <p:cNvSpPr>
            <a:spLocks xmlns:a="http://schemas.openxmlformats.org/drawingml/2006/main" noGrp="1"/>
          </p:cNvSpPr>
          <p:nvPr/>
        </p:nvSpPr>
        <p:spPr>
          <a:xfrm xmlns:a="http://schemas.openxmlformats.org/drawingml/2006/main">
            <a:off x="514350"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2A9D8F"/>
                </a:solidFill>
                <a:latin typeface="Arial"/>
                <a:ea typeface="Arial"/>
                <a:cs typeface="Arial"/>
              </a:defRPr>
            </a:pPr>
            <a:r>
              <a:rPr sz="2175" b="1">
                <a:solidFill>
                  <a:srgbClr val="2A9D8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4DEFFB1C-FF90-4A3E-B8F9-E43CCE326E64}"/>
              </a:ext>
            </a:extLst>
          </p:cNvPr>
          <p:cNvSpPr>
            <a:spLocks xmlns:a="http://schemas.openxmlformats.org/drawingml/2006/main" noGrp="1"/>
          </p:cNvSpPr>
          <p:nvPr/>
        </p:nvSpPr>
        <p:spPr>
          <a:xfrm xmlns:a="http://schemas.openxmlformats.org/drawingml/2006/main">
            <a:off x="533400" y="2743200"/>
            <a:ext cx="2271713" cy="47625"/>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10" name="">
            <a:extLst xmlns:a="http://schemas.openxmlformats.org/drawingml/2006/main">
              <a:ext uri="{FF2B5EF4-FFF2-40B4-BE49-F238E27FC236}">
                <a16:creationId xmlns:a16="http://schemas.microsoft.com/office/drawing/2014/main" id="{23B46D52-49E7-4E94-8060-46E2E2B6DEB2}"/>
              </a:ext>
            </a:extLst>
          </p:cNvPr>
          <p:cNvSpPr>
            <a:spLocks xmlns:a="http://schemas.openxmlformats.org/drawingml/2006/main" noGrp="1"/>
          </p:cNvSpPr>
          <p:nvPr/>
        </p:nvSpPr>
        <p:spPr>
          <a:xfrm xmlns:a="http://schemas.openxmlformats.org/drawingml/2006/main">
            <a:off x="533400" y="2971800"/>
            <a:ext cx="2271713"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Rule</a:t>
            </a:r>
          </a:p>
        </p:txBody>
      </p:sp>
      <p:sp>
        <p:nvSpPr>
          <p:cNvPr id="11" name="">
            <a:extLst xmlns:a="http://schemas.openxmlformats.org/drawingml/2006/main">
              <a:ext uri="{FF2B5EF4-FFF2-40B4-BE49-F238E27FC236}">
                <a16:creationId xmlns:a16="http://schemas.microsoft.com/office/drawing/2014/main" id="{BF029981-4C89-4521-8ED3-64C5336E3DF0}"/>
              </a:ext>
            </a:extLst>
          </p:cNvPr>
          <p:cNvSpPr>
            <a:spLocks xmlns:a="http://schemas.openxmlformats.org/drawingml/2006/main" noGrp="1"/>
          </p:cNvSpPr>
          <p:nvPr/>
        </p:nvSpPr>
        <p:spPr>
          <a:xfrm xmlns:a="http://schemas.openxmlformats.org/drawingml/2006/main">
            <a:off x="590550" y="3733800"/>
            <a:ext cx="21574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Does mirroring produce the exact response?</a:t>
            </a:r>
          </a:p>
        </p:txBody>
      </p:sp>
      <p:sp>
        <p:nvSpPr>
          <p:cNvPr id="12" name="">
            <a:extLst xmlns:a="http://schemas.openxmlformats.org/drawingml/2006/main">
              <a:ext uri="{FF2B5EF4-FFF2-40B4-BE49-F238E27FC236}">
                <a16:creationId xmlns:a16="http://schemas.microsoft.com/office/drawing/2014/main" id="{DA718502-BAB0-497D-9A3D-22A7A9EF45C0}"/>
              </a:ext>
            </a:extLst>
          </p:cNvPr>
          <p:cNvSpPr>
            <a:spLocks xmlns:a="http://schemas.openxmlformats.org/drawingml/2006/main" noGrp="1"/>
          </p:cNvSpPr>
          <p:nvPr/>
        </p:nvSpPr>
        <p:spPr>
          <a:xfrm xmlns:a="http://schemas.openxmlformats.org/drawingml/2006/main">
            <a:off x="5667375" y="2714625"/>
            <a:ext cx="24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24983"/>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F1E9DE8F-3BCD-4940-BF9F-EBD209BF234F}"/>
              </a:ext>
            </a:extLst>
          </p:cNvPr>
          <p:cNvSpPr>
            <a:spLocks xmlns:a="http://schemas.openxmlformats.org/drawingml/2006/main" noGrp="1"/>
          </p:cNvSpPr>
          <p:nvPr/>
        </p:nvSpPr>
        <p:spPr>
          <a:xfrm xmlns:a="http://schemas.openxmlformats.org/drawingml/2006/main">
            <a:off x="3262313"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2A9D8F"/>
                </a:solidFill>
                <a:latin typeface="Arial"/>
                <a:ea typeface="Arial"/>
                <a:cs typeface="Arial"/>
              </a:defRPr>
            </a:pPr>
            <a:r>
              <a:rPr sz="2175" b="1">
                <a:solidFill>
                  <a:srgbClr val="2A9D8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EA88F2AE-FF40-4C04-B5A1-7B6AABC036D1}"/>
              </a:ext>
            </a:extLst>
          </p:cNvPr>
          <p:cNvSpPr>
            <a:spLocks xmlns:a="http://schemas.openxmlformats.org/drawingml/2006/main" noGrp="1"/>
          </p:cNvSpPr>
          <p:nvPr/>
        </p:nvSpPr>
        <p:spPr>
          <a:xfrm xmlns:a="http://schemas.openxmlformats.org/drawingml/2006/main">
            <a:off x="3281363" y="2743200"/>
            <a:ext cx="2271713" cy="47625"/>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15" name="">
            <a:extLst xmlns:a="http://schemas.openxmlformats.org/drawingml/2006/main">
              <a:ext uri="{FF2B5EF4-FFF2-40B4-BE49-F238E27FC236}">
                <a16:creationId xmlns:a16="http://schemas.microsoft.com/office/drawing/2014/main" id="{FE9DBC95-5295-4180-9642-BBAAEEB82734}"/>
              </a:ext>
            </a:extLst>
          </p:cNvPr>
          <p:cNvSpPr>
            <a:spLocks xmlns:a="http://schemas.openxmlformats.org/drawingml/2006/main" noGrp="1"/>
          </p:cNvSpPr>
          <p:nvPr/>
        </p:nvSpPr>
        <p:spPr>
          <a:xfrm xmlns:a="http://schemas.openxmlformats.org/drawingml/2006/main">
            <a:off x="3281363" y="2971800"/>
            <a:ext cx="2271713"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Information</a:t>
            </a:r>
          </a:p>
        </p:txBody>
      </p:sp>
      <p:sp>
        <p:nvSpPr>
          <p:cNvPr id="16" name="">
            <a:extLst xmlns:a="http://schemas.openxmlformats.org/drawingml/2006/main">
              <a:ext uri="{FF2B5EF4-FFF2-40B4-BE49-F238E27FC236}">
                <a16:creationId xmlns:a16="http://schemas.microsoft.com/office/drawing/2014/main" id="{8DD71238-CAED-4561-9963-4FFD682A0DA1}"/>
              </a:ext>
            </a:extLst>
          </p:cNvPr>
          <p:cNvSpPr>
            <a:spLocks xmlns:a="http://schemas.openxmlformats.org/drawingml/2006/main" noGrp="1"/>
          </p:cNvSpPr>
          <p:nvPr/>
        </p:nvSpPr>
        <p:spPr>
          <a:xfrm xmlns:a="http://schemas.openxmlformats.org/drawingml/2006/main">
            <a:off x="3338513" y="3733800"/>
            <a:ext cx="21574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Are the parity channels non-empty?</a:t>
            </a:r>
          </a:p>
        </p:txBody>
      </p:sp>
      <p:sp>
        <p:nvSpPr>
          <p:cNvPr id="17" name="">
            <a:extLst xmlns:a="http://schemas.openxmlformats.org/drawingml/2006/main">
              <a:ext uri="{FF2B5EF4-FFF2-40B4-BE49-F238E27FC236}">
                <a16:creationId xmlns:a16="http://schemas.microsoft.com/office/drawing/2014/main" id="{AEA825CA-3AC0-45AA-BD4A-1FF1E63CA414}"/>
              </a:ext>
            </a:extLst>
          </p:cNvPr>
          <p:cNvSpPr>
            <a:spLocks xmlns:a="http://schemas.openxmlformats.org/drawingml/2006/main" noGrp="1"/>
          </p:cNvSpPr>
          <p:nvPr/>
        </p:nvSpPr>
        <p:spPr>
          <a:xfrm xmlns:a="http://schemas.openxmlformats.org/drawingml/2006/main">
            <a:off x="8415338" y="2714625"/>
            <a:ext cx="24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24983"/>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F84C9A5B-EE12-41F3-9165-AE40E3F14246}"/>
              </a:ext>
            </a:extLst>
          </p:cNvPr>
          <p:cNvSpPr>
            <a:spLocks xmlns:a="http://schemas.openxmlformats.org/drawingml/2006/main" noGrp="1"/>
          </p:cNvSpPr>
          <p:nvPr/>
        </p:nvSpPr>
        <p:spPr>
          <a:xfrm xmlns:a="http://schemas.openxmlformats.org/drawingml/2006/main">
            <a:off x="6010275"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F4A261"/>
                </a:solidFill>
                <a:latin typeface="Arial"/>
                <a:ea typeface="Arial"/>
                <a:cs typeface="Arial"/>
              </a:defRPr>
            </a:pPr>
            <a:r>
              <a:rPr sz="2175" b="1">
                <a:solidFill>
                  <a:srgbClr val="F4A261"/>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9D7CA3E8-07CC-42E7-A3ED-B4559D1801E3}"/>
              </a:ext>
            </a:extLst>
          </p:cNvPr>
          <p:cNvSpPr>
            <a:spLocks xmlns:a="http://schemas.openxmlformats.org/drawingml/2006/main" noGrp="1"/>
          </p:cNvSpPr>
          <p:nvPr/>
        </p:nvSpPr>
        <p:spPr>
          <a:xfrm xmlns:a="http://schemas.openxmlformats.org/drawingml/2006/main">
            <a:off x="6029325" y="2743200"/>
            <a:ext cx="2271713" cy="47625"/>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0" name="">
            <a:extLst xmlns:a="http://schemas.openxmlformats.org/drawingml/2006/main">
              <a:ext uri="{FF2B5EF4-FFF2-40B4-BE49-F238E27FC236}">
                <a16:creationId xmlns:a16="http://schemas.microsoft.com/office/drawing/2014/main" id="{8EAD65D7-3A2A-439C-A450-3AB231CDE82E}"/>
              </a:ext>
            </a:extLst>
          </p:cNvPr>
          <p:cNvSpPr>
            <a:spLocks xmlns:a="http://schemas.openxmlformats.org/drawingml/2006/main" noGrp="1"/>
          </p:cNvSpPr>
          <p:nvPr/>
        </p:nvSpPr>
        <p:spPr>
          <a:xfrm xmlns:a="http://schemas.openxmlformats.org/drawingml/2006/main">
            <a:off x="6029325" y="2971800"/>
            <a:ext cx="2271713"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Utility</a:t>
            </a:r>
          </a:p>
        </p:txBody>
      </p:sp>
      <p:sp>
        <p:nvSpPr>
          <p:cNvPr id="21" name="">
            <a:extLst xmlns:a="http://schemas.openxmlformats.org/drawingml/2006/main">
              <a:ext uri="{FF2B5EF4-FFF2-40B4-BE49-F238E27FC236}">
                <a16:creationId xmlns:a16="http://schemas.microsoft.com/office/drawing/2014/main" id="{1B24666D-5AB2-422D-BA8F-0FC8EE9DC33C}"/>
              </a:ext>
            </a:extLst>
          </p:cNvPr>
          <p:cNvSpPr>
            <a:spLocks xmlns:a="http://schemas.openxmlformats.org/drawingml/2006/main" noGrp="1"/>
          </p:cNvSpPr>
          <p:nvPr/>
        </p:nvSpPr>
        <p:spPr>
          <a:xfrm xmlns:a="http://schemas.openxmlformats.org/drawingml/2006/main">
            <a:off x="6086475" y="3733800"/>
            <a:ext cx="21574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Does parity improve held-out force prediction?</a:t>
            </a:r>
          </a:p>
        </p:txBody>
      </p:sp>
      <p:sp>
        <p:nvSpPr>
          <p:cNvPr id="22" name="">
            <a:extLst xmlns:a="http://schemas.openxmlformats.org/drawingml/2006/main">
              <a:ext uri="{FF2B5EF4-FFF2-40B4-BE49-F238E27FC236}">
                <a16:creationId xmlns:a16="http://schemas.microsoft.com/office/drawing/2014/main" id="{1CB324B9-C8C0-4E4A-B191-2833F7F557F2}"/>
              </a:ext>
            </a:extLst>
          </p:cNvPr>
          <p:cNvSpPr>
            <a:spLocks xmlns:a="http://schemas.openxmlformats.org/drawingml/2006/main" noGrp="1"/>
          </p:cNvSpPr>
          <p:nvPr/>
        </p:nvSpPr>
        <p:spPr>
          <a:xfrm xmlns:a="http://schemas.openxmlformats.org/drawingml/2006/main">
            <a:off x="8758238"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3D8DFF"/>
                </a:solidFill>
                <a:latin typeface="Arial"/>
                <a:ea typeface="Arial"/>
                <a:cs typeface="Arial"/>
              </a:defRPr>
            </a:pPr>
            <a:r>
              <a:rPr sz="2175" b="1">
                <a:solidFill>
                  <a:srgbClr val="3D8DFF"/>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CD976D99-5327-4090-A3BA-35E0F8D2EC27}"/>
              </a:ext>
            </a:extLst>
          </p:cNvPr>
          <p:cNvSpPr>
            <a:spLocks xmlns:a="http://schemas.openxmlformats.org/drawingml/2006/main" noGrp="1"/>
          </p:cNvSpPr>
          <p:nvPr/>
        </p:nvSpPr>
        <p:spPr>
          <a:xfrm xmlns:a="http://schemas.openxmlformats.org/drawingml/2006/main">
            <a:off x="8777288" y="2743200"/>
            <a:ext cx="2271713"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4" name="">
            <a:extLst xmlns:a="http://schemas.openxmlformats.org/drawingml/2006/main">
              <a:ext uri="{FF2B5EF4-FFF2-40B4-BE49-F238E27FC236}">
                <a16:creationId xmlns:a16="http://schemas.microsoft.com/office/drawing/2014/main" id="{58CC33CD-FC60-48B6-BC02-FE86570389CD}"/>
              </a:ext>
            </a:extLst>
          </p:cNvPr>
          <p:cNvSpPr>
            <a:spLocks xmlns:a="http://schemas.openxmlformats.org/drawingml/2006/main" noGrp="1"/>
          </p:cNvSpPr>
          <p:nvPr/>
        </p:nvSpPr>
        <p:spPr>
          <a:xfrm xmlns:a="http://schemas.openxmlformats.org/drawingml/2006/main">
            <a:off x="8777288" y="2971800"/>
            <a:ext cx="2271713"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Replication</a:t>
            </a:r>
          </a:p>
        </p:txBody>
      </p:sp>
      <p:sp>
        <p:nvSpPr>
          <p:cNvPr id="25" name="">
            <a:extLst xmlns:a="http://schemas.openxmlformats.org/drawingml/2006/main">
              <a:ext uri="{FF2B5EF4-FFF2-40B4-BE49-F238E27FC236}">
                <a16:creationId xmlns:a16="http://schemas.microsoft.com/office/drawing/2014/main" id="{0E941DBC-F3F2-46C3-BF73-90C42744B37C}"/>
              </a:ext>
            </a:extLst>
          </p:cNvPr>
          <p:cNvSpPr>
            <a:spLocks xmlns:a="http://schemas.openxmlformats.org/drawingml/2006/main" noGrp="1"/>
          </p:cNvSpPr>
          <p:nvPr/>
        </p:nvSpPr>
        <p:spPr>
          <a:xfrm xmlns:a="http://schemas.openxmlformats.org/drawingml/2006/main">
            <a:off x="8834438" y="3733800"/>
            <a:ext cx="21574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Does it survive new views and a new cohort?</a:t>
            </a:r>
          </a:p>
        </p:txBody>
      </p:sp>
      <p:sp>
        <p:nvSpPr>
          <p:cNvPr id="26" name="">
            <a:extLst xmlns:a="http://schemas.openxmlformats.org/drawingml/2006/main">
              <a:ext uri="{FF2B5EF4-FFF2-40B4-BE49-F238E27FC236}">
                <a16:creationId xmlns:a16="http://schemas.microsoft.com/office/drawing/2014/main" id="{9E2EB80D-A7CE-4266-9CCE-575FBCBE2187}"/>
              </a:ext>
            </a:extLst>
          </p:cNvPr>
          <p:cNvSpPr>
            <a:spLocks xmlns:a="http://schemas.openxmlformats.org/drawingml/2006/main" noGrp="1"/>
          </p:cNvSpPr>
          <p:nvPr/>
        </p:nvSpPr>
        <p:spPr>
          <a:xfrm xmlns:a="http://schemas.openxmlformats.org/drawingml/2006/main">
            <a:off x="1409700" y="5095875"/>
            <a:ext cx="9372600" cy="685800"/>
          </a:xfrm>
          <a:prstGeom xmlns:a="http://schemas.openxmlformats.org/drawingml/2006/main" prst="roundRect">
            <a:avLst>
              <a:gd name="adj" fmla="val 16667"/>
            </a:avLst>
          </a:prstGeom>
          <a:solidFill xmlns:a="http://schemas.openxmlformats.org/drawingml/2006/main">
            <a:srgbClr val="EAF5FB"/>
          </a:solidFill>
          <a:ln xmlns:a="http://schemas.openxmlformats.org/drawingml/2006/main" w="9525">
            <a:solidFill>
              <a:srgbClr val="6D5BD0"/>
            </a:solidFill>
            <a:prstDash val="solid"/>
          </a:ln>
        </p:spPr>
      </p:sp>
      <p:sp>
        <p:nvSpPr>
          <p:cNvPr id="27" name="">
            <a:extLst xmlns:a="http://schemas.openxmlformats.org/drawingml/2006/main">
              <a:ext uri="{FF2B5EF4-FFF2-40B4-BE49-F238E27FC236}">
                <a16:creationId xmlns:a16="http://schemas.microsoft.com/office/drawing/2014/main" id="{696717AE-B4C7-4013-9926-F867106BFA20}"/>
              </a:ext>
            </a:extLst>
          </p:cNvPr>
          <p:cNvSpPr>
            <a:spLocks xmlns:a="http://schemas.openxmlformats.org/drawingml/2006/main" noGrp="1"/>
          </p:cNvSpPr>
          <p:nvPr/>
        </p:nvSpPr>
        <p:spPr>
          <a:xfrm xmlns:a="http://schemas.openxmlformats.org/drawingml/2006/main">
            <a:off x="1714500" y="52959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500" b="1">
                <a:solidFill>
                  <a:srgbClr val="102A43"/>
                </a:solidFill>
                <a:latin typeface="Arial"/>
                <a:ea typeface="Arial"/>
                <a:cs typeface="Arial"/>
              </a:defRPr>
            </a:pPr>
            <a:r>
              <a:rPr sz="1500" b="1">
                <a:solidFill>
                  <a:srgbClr val="102A43"/>
                </a:solidFill>
                <a:latin typeface="Arial"/>
                <a:ea typeface="Arial"/>
                <a:cs typeface="Arial"/>
              </a:rPr>
              <a:t>Current position: rule + information. Next gate: force utility.</a:t>
            </a:r>
          </a:p>
        </p:txBody>
      </p:sp>
    </p:spTree>
    <p:extLst>
      <p:ext uri="{BB962C8B-B14F-4D97-AF65-F5344CB8AC3E}">
        <p14:creationId xmlns:p14="http://schemas.microsoft.com/office/powerpoint/2010/main" val="1652278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90605CA-2583-45B1-8BE2-2A75ADE0EC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99891A84-5113-4D79-BF54-D7E49B39CE91}"/>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FOUNDATION</a:t>
            </a:r>
          </a:p>
        </p:txBody>
      </p:sp>
      <p:sp>
        <p:nvSpPr>
          <p:cNvPr id="3" name="">
            <a:extLst xmlns:a="http://schemas.openxmlformats.org/drawingml/2006/main">
              <a:ext uri="{FF2B5EF4-FFF2-40B4-BE49-F238E27FC236}">
                <a16:creationId xmlns:a16="http://schemas.microsoft.com/office/drawing/2014/main" id="{CA7B7BEB-7094-4983-9515-9EFEE5CF0312}"/>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earlier S-JEPA pipeline made the test possible</a:t>
            </a:r>
          </a:p>
        </p:txBody>
      </p:sp>
      <p:sp>
        <p:nvSpPr>
          <p:cNvPr id="4" name="">
            <a:extLst xmlns:a="http://schemas.openxmlformats.org/drawingml/2006/main">
              <a:ext uri="{FF2B5EF4-FFF2-40B4-BE49-F238E27FC236}">
                <a16:creationId xmlns:a16="http://schemas.microsoft.com/office/drawing/2014/main" id="{9CFA1B52-7195-45BA-A7A1-1903A54FAB77}"/>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1314D41F-39BF-45ED-AD2D-BFD18C5BB858}"/>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933EB358-9954-4EEF-A37F-61E04E35523D}"/>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model learns motion by predicting hidden landmarks from the visible context.</a:t>
            </a:r>
          </a:p>
        </p:txBody>
      </p:sp>
      <p:sp>
        <p:nvSpPr>
          <p:cNvPr id="7" name="">
            <a:extLst xmlns:a="http://schemas.openxmlformats.org/drawingml/2006/main">
              <a:ext uri="{FF2B5EF4-FFF2-40B4-BE49-F238E27FC236}">
                <a16:creationId xmlns:a16="http://schemas.microsoft.com/office/drawing/2014/main" id="{DA87B578-760B-417B-816C-F87487AB6E8E}"/>
              </a:ext>
            </a:extLst>
          </p:cNvPr>
          <p:cNvSpPr>
            <a:spLocks xmlns:a="http://schemas.openxmlformats.org/drawingml/2006/main" noGrp="1"/>
          </p:cNvSpPr>
          <p:nvPr/>
        </p:nvSpPr>
        <p:spPr>
          <a:xfrm xmlns:a="http://schemas.openxmlformats.org/drawingml/2006/main">
            <a:off x="2919413" y="2714625"/>
            <a:ext cx="24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24983"/>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37BBB124-460C-4B05-888E-BE617AC9C8F6}"/>
              </a:ext>
            </a:extLst>
          </p:cNvPr>
          <p:cNvSpPr>
            <a:spLocks xmlns:a="http://schemas.openxmlformats.org/drawingml/2006/main" noGrp="1"/>
          </p:cNvSpPr>
          <p:nvPr/>
        </p:nvSpPr>
        <p:spPr>
          <a:xfrm xmlns:a="http://schemas.openxmlformats.org/drawingml/2006/main">
            <a:off x="514350"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3D8DFF"/>
                </a:solidFill>
                <a:latin typeface="Arial"/>
                <a:ea typeface="Arial"/>
                <a:cs typeface="Arial"/>
              </a:defRPr>
            </a:pPr>
            <a:r>
              <a:rPr sz="2175" b="1">
                <a:solidFill>
                  <a:srgbClr val="3D8D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60B92E80-655D-4ACC-A2F8-D9A13645A83A}"/>
              </a:ext>
            </a:extLst>
          </p:cNvPr>
          <p:cNvSpPr>
            <a:spLocks xmlns:a="http://schemas.openxmlformats.org/drawingml/2006/main" noGrp="1"/>
          </p:cNvSpPr>
          <p:nvPr/>
        </p:nvSpPr>
        <p:spPr>
          <a:xfrm xmlns:a="http://schemas.openxmlformats.org/drawingml/2006/main">
            <a:off x="533400" y="2743200"/>
            <a:ext cx="2271713"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B725395C-1FA2-4623-B3B9-E8041EE843FA}"/>
              </a:ext>
            </a:extLst>
          </p:cNvPr>
          <p:cNvSpPr>
            <a:spLocks xmlns:a="http://schemas.openxmlformats.org/drawingml/2006/main" noGrp="1"/>
          </p:cNvSpPr>
          <p:nvPr/>
        </p:nvSpPr>
        <p:spPr>
          <a:xfrm xmlns:a="http://schemas.openxmlformats.org/drawingml/2006/main">
            <a:off x="533400" y="2971800"/>
            <a:ext cx="2271713"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Video</a:t>
            </a:r>
          </a:p>
        </p:txBody>
      </p:sp>
      <p:sp>
        <p:nvSpPr>
          <p:cNvPr id="11" name="">
            <a:extLst xmlns:a="http://schemas.openxmlformats.org/drawingml/2006/main">
              <a:ext uri="{FF2B5EF4-FFF2-40B4-BE49-F238E27FC236}">
                <a16:creationId xmlns:a16="http://schemas.microsoft.com/office/drawing/2014/main" id="{6724270D-D541-4412-99D7-6EC7E78AF2C1}"/>
              </a:ext>
            </a:extLst>
          </p:cNvPr>
          <p:cNvSpPr>
            <a:spLocks xmlns:a="http://schemas.openxmlformats.org/drawingml/2006/main" noGrp="1"/>
          </p:cNvSpPr>
          <p:nvPr/>
        </p:nvSpPr>
        <p:spPr>
          <a:xfrm xmlns:a="http://schemas.openxmlformats.org/drawingml/2006/main">
            <a:off x="590550" y="3733800"/>
            <a:ext cx="21574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Public gait clips grouped by source video</a:t>
            </a:r>
          </a:p>
        </p:txBody>
      </p:sp>
      <p:sp>
        <p:nvSpPr>
          <p:cNvPr id="12" name="">
            <a:extLst xmlns:a="http://schemas.openxmlformats.org/drawingml/2006/main">
              <a:ext uri="{FF2B5EF4-FFF2-40B4-BE49-F238E27FC236}">
                <a16:creationId xmlns:a16="http://schemas.microsoft.com/office/drawing/2014/main" id="{18A59F2F-C527-44D0-8680-FF2C55729ACE}"/>
              </a:ext>
            </a:extLst>
          </p:cNvPr>
          <p:cNvSpPr>
            <a:spLocks xmlns:a="http://schemas.openxmlformats.org/drawingml/2006/main" noGrp="1"/>
          </p:cNvSpPr>
          <p:nvPr/>
        </p:nvSpPr>
        <p:spPr>
          <a:xfrm xmlns:a="http://schemas.openxmlformats.org/drawingml/2006/main">
            <a:off x="5667375" y="2714625"/>
            <a:ext cx="24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24983"/>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637BFB33-FCFA-4A3B-91A2-71311A730FC6}"/>
              </a:ext>
            </a:extLst>
          </p:cNvPr>
          <p:cNvSpPr>
            <a:spLocks xmlns:a="http://schemas.openxmlformats.org/drawingml/2006/main" noGrp="1"/>
          </p:cNvSpPr>
          <p:nvPr/>
        </p:nvSpPr>
        <p:spPr>
          <a:xfrm xmlns:a="http://schemas.openxmlformats.org/drawingml/2006/main">
            <a:off x="3262313"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2A9D8F"/>
                </a:solidFill>
                <a:latin typeface="Arial"/>
                <a:ea typeface="Arial"/>
                <a:cs typeface="Arial"/>
              </a:defRPr>
            </a:pPr>
            <a:r>
              <a:rPr sz="2175" b="1">
                <a:solidFill>
                  <a:srgbClr val="2A9D8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3440768A-AB85-470A-8BAA-5DA83047CC4F}"/>
              </a:ext>
            </a:extLst>
          </p:cNvPr>
          <p:cNvSpPr>
            <a:spLocks xmlns:a="http://schemas.openxmlformats.org/drawingml/2006/main" noGrp="1"/>
          </p:cNvSpPr>
          <p:nvPr/>
        </p:nvSpPr>
        <p:spPr>
          <a:xfrm xmlns:a="http://schemas.openxmlformats.org/drawingml/2006/main">
            <a:off x="3281363" y="2743200"/>
            <a:ext cx="2271713" cy="47625"/>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15" name="">
            <a:extLst xmlns:a="http://schemas.openxmlformats.org/drawingml/2006/main">
              <a:ext uri="{FF2B5EF4-FFF2-40B4-BE49-F238E27FC236}">
                <a16:creationId xmlns:a16="http://schemas.microsoft.com/office/drawing/2014/main" id="{19E00FD0-E7E8-4076-A960-569AA42AAB20}"/>
              </a:ext>
            </a:extLst>
          </p:cNvPr>
          <p:cNvSpPr>
            <a:spLocks xmlns:a="http://schemas.openxmlformats.org/drawingml/2006/main" noGrp="1"/>
          </p:cNvSpPr>
          <p:nvPr/>
        </p:nvSpPr>
        <p:spPr>
          <a:xfrm xmlns:a="http://schemas.openxmlformats.org/drawingml/2006/main">
            <a:off x="3281363" y="2971800"/>
            <a:ext cx="2271713"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Skeleton</a:t>
            </a:r>
          </a:p>
        </p:txBody>
      </p:sp>
      <p:sp>
        <p:nvSpPr>
          <p:cNvPr id="16" name="">
            <a:extLst xmlns:a="http://schemas.openxmlformats.org/drawingml/2006/main">
              <a:ext uri="{FF2B5EF4-FFF2-40B4-BE49-F238E27FC236}">
                <a16:creationId xmlns:a16="http://schemas.microsoft.com/office/drawing/2014/main" id="{613D8545-762F-4C1D-9D1A-756D667E1D23}"/>
              </a:ext>
            </a:extLst>
          </p:cNvPr>
          <p:cNvSpPr>
            <a:spLocks xmlns:a="http://schemas.openxmlformats.org/drawingml/2006/main" noGrp="1"/>
          </p:cNvSpPr>
          <p:nvPr/>
        </p:nvSpPr>
        <p:spPr>
          <a:xfrm xmlns:a="http://schemas.openxmlformats.org/drawingml/2006/main">
            <a:off x="3338513" y="3733800"/>
            <a:ext cx="21574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64-frame body-centered motion windows</a:t>
            </a:r>
          </a:p>
        </p:txBody>
      </p:sp>
      <p:sp>
        <p:nvSpPr>
          <p:cNvPr id="17" name="">
            <a:extLst xmlns:a="http://schemas.openxmlformats.org/drawingml/2006/main">
              <a:ext uri="{FF2B5EF4-FFF2-40B4-BE49-F238E27FC236}">
                <a16:creationId xmlns:a16="http://schemas.microsoft.com/office/drawing/2014/main" id="{A6F89F53-8A16-4412-95FC-1E50C406207A}"/>
              </a:ext>
            </a:extLst>
          </p:cNvPr>
          <p:cNvSpPr>
            <a:spLocks xmlns:a="http://schemas.openxmlformats.org/drawingml/2006/main" noGrp="1"/>
          </p:cNvSpPr>
          <p:nvPr/>
        </p:nvSpPr>
        <p:spPr>
          <a:xfrm xmlns:a="http://schemas.openxmlformats.org/drawingml/2006/main">
            <a:off x="8415338" y="2714625"/>
            <a:ext cx="24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24983"/>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4FB35E31-7AA3-4BE8-A339-A67C068CE664}"/>
              </a:ext>
            </a:extLst>
          </p:cNvPr>
          <p:cNvSpPr>
            <a:spLocks xmlns:a="http://schemas.openxmlformats.org/drawingml/2006/main" noGrp="1"/>
          </p:cNvSpPr>
          <p:nvPr/>
        </p:nvSpPr>
        <p:spPr>
          <a:xfrm xmlns:a="http://schemas.openxmlformats.org/drawingml/2006/main">
            <a:off x="6010275"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F4A261"/>
                </a:solidFill>
                <a:latin typeface="Arial"/>
                <a:ea typeface="Arial"/>
                <a:cs typeface="Arial"/>
              </a:defRPr>
            </a:pPr>
            <a:r>
              <a:rPr sz="2175" b="1">
                <a:solidFill>
                  <a:srgbClr val="F4A261"/>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D3755E24-21A7-47B6-A389-5A2F710ACCF8}"/>
              </a:ext>
            </a:extLst>
          </p:cNvPr>
          <p:cNvSpPr>
            <a:spLocks xmlns:a="http://schemas.openxmlformats.org/drawingml/2006/main" noGrp="1"/>
          </p:cNvSpPr>
          <p:nvPr/>
        </p:nvSpPr>
        <p:spPr>
          <a:xfrm xmlns:a="http://schemas.openxmlformats.org/drawingml/2006/main">
            <a:off x="6029325" y="2743200"/>
            <a:ext cx="2271713" cy="47625"/>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0" name="">
            <a:extLst xmlns:a="http://schemas.openxmlformats.org/drawingml/2006/main">
              <a:ext uri="{FF2B5EF4-FFF2-40B4-BE49-F238E27FC236}">
                <a16:creationId xmlns:a16="http://schemas.microsoft.com/office/drawing/2014/main" id="{2AA372CD-2C3A-4B22-AE2E-F73248E04A32}"/>
              </a:ext>
            </a:extLst>
          </p:cNvPr>
          <p:cNvSpPr>
            <a:spLocks xmlns:a="http://schemas.openxmlformats.org/drawingml/2006/main" noGrp="1"/>
          </p:cNvSpPr>
          <p:nvPr/>
        </p:nvSpPr>
        <p:spPr>
          <a:xfrm xmlns:a="http://schemas.openxmlformats.org/drawingml/2006/main">
            <a:off x="6029325" y="2971800"/>
            <a:ext cx="2271713"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Mask + predict</a:t>
            </a:r>
          </a:p>
        </p:txBody>
      </p:sp>
      <p:sp>
        <p:nvSpPr>
          <p:cNvPr id="21" name="">
            <a:extLst xmlns:a="http://schemas.openxmlformats.org/drawingml/2006/main">
              <a:ext uri="{FF2B5EF4-FFF2-40B4-BE49-F238E27FC236}">
                <a16:creationId xmlns:a16="http://schemas.microsoft.com/office/drawing/2014/main" id="{C8A89AB8-2C79-4E77-A51B-04A30F9AA5D4}"/>
              </a:ext>
            </a:extLst>
          </p:cNvPr>
          <p:cNvSpPr>
            <a:spLocks xmlns:a="http://schemas.openxmlformats.org/drawingml/2006/main" noGrp="1"/>
          </p:cNvSpPr>
          <p:nvPr/>
        </p:nvSpPr>
        <p:spPr>
          <a:xfrm xmlns:a="http://schemas.openxmlformats.org/drawingml/2006/main">
            <a:off x="6086475" y="3733800"/>
            <a:ext cx="21574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33 context landmarks predict 12 eligible targets</a:t>
            </a:r>
          </a:p>
        </p:txBody>
      </p:sp>
      <p:sp>
        <p:nvSpPr>
          <p:cNvPr id="22" name="">
            <a:extLst xmlns:a="http://schemas.openxmlformats.org/drawingml/2006/main">
              <a:ext uri="{FF2B5EF4-FFF2-40B4-BE49-F238E27FC236}">
                <a16:creationId xmlns:a16="http://schemas.microsoft.com/office/drawing/2014/main" id="{18982BD8-310D-458E-90E1-3D4BB57C6C1A}"/>
              </a:ext>
            </a:extLst>
          </p:cNvPr>
          <p:cNvSpPr>
            <a:spLocks xmlns:a="http://schemas.openxmlformats.org/drawingml/2006/main" noGrp="1"/>
          </p:cNvSpPr>
          <p:nvPr/>
        </p:nvSpPr>
        <p:spPr>
          <a:xfrm xmlns:a="http://schemas.openxmlformats.org/drawingml/2006/main">
            <a:off x="8758238"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6D5BD0"/>
                </a:solidFill>
                <a:latin typeface="Arial"/>
                <a:ea typeface="Arial"/>
                <a:cs typeface="Arial"/>
              </a:defRPr>
            </a:pPr>
            <a:r>
              <a:rPr sz="2175" b="1">
                <a:solidFill>
                  <a:srgbClr val="6D5BD0"/>
                </a:solidFill>
                <a:latin typeface="Arial"/>
                <a:ea typeface="Arial"/>
                <a:cs typeface="Arial"/>
              </a:rPr>
              <a:t>4</a:t>
            </a:r>
          </a:p>
        </p:txBody>
      </p:sp>
      <p:sp>
        <p:nvSpPr>
          <p:cNvPr id="23" name="">
            <a:extLst xmlns:a="http://schemas.openxmlformats.org/drawingml/2006/main">
              <a:ext uri="{FF2B5EF4-FFF2-40B4-BE49-F238E27FC236}">
                <a16:creationId xmlns:a16="http://schemas.microsoft.com/office/drawing/2014/main" id="{926521FD-B1C3-45FA-BCB4-6EF418A38AFE}"/>
              </a:ext>
            </a:extLst>
          </p:cNvPr>
          <p:cNvSpPr>
            <a:spLocks xmlns:a="http://schemas.openxmlformats.org/drawingml/2006/main" noGrp="1"/>
          </p:cNvSpPr>
          <p:nvPr/>
        </p:nvSpPr>
        <p:spPr>
          <a:xfrm xmlns:a="http://schemas.openxmlformats.org/drawingml/2006/main">
            <a:off x="8777288" y="2743200"/>
            <a:ext cx="2271713" cy="47625"/>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4" name="">
            <a:extLst xmlns:a="http://schemas.openxmlformats.org/drawingml/2006/main">
              <a:ext uri="{FF2B5EF4-FFF2-40B4-BE49-F238E27FC236}">
                <a16:creationId xmlns:a16="http://schemas.microsoft.com/office/drawing/2014/main" id="{25BF2B06-0C35-4171-86B1-8BA6963C5A34}"/>
              </a:ext>
            </a:extLst>
          </p:cNvPr>
          <p:cNvSpPr>
            <a:spLocks xmlns:a="http://schemas.openxmlformats.org/drawingml/2006/main" noGrp="1"/>
          </p:cNvSpPr>
          <p:nvPr/>
        </p:nvSpPr>
        <p:spPr>
          <a:xfrm xmlns:a="http://schemas.openxmlformats.org/drawingml/2006/main">
            <a:off x="8777288" y="2971800"/>
            <a:ext cx="2271713"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Audit</a:t>
            </a:r>
          </a:p>
        </p:txBody>
      </p:sp>
      <p:sp>
        <p:nvSpPr>
          <p:cNvPr id="25" name="">
            <a:extLst xmlns:a="http://schemas.openxmlformats.org/drawingml/2006/main">
              <a:ext uri="{FF2B5EF4-FFF2-40B4-BE49-F238E27FC236}">
                <a16:creationId xmlns:a16="http://schemas.microsoft.com/office/drawing/2014/main" id="{A67021E0-81CA-490A-AE84-990B4A263C0C}"/>
              </a:ext>
            </a:extLst>
          </p:cNvPr>
          <p:cNvSpPr>
            <a:spLocks xmlns:a="http://schemas.openxmlformats.org/drawingml/2006/main" noGrp="1"/>
          </p:cNvSpPr>
          <p:nvPr/>
        </p:nvSpPr>
        <p:spPr>
          <a:xfrm xmlns:a="http://schemas.openxmlformats.org/drawingml/2006/main">
            <a:off x="8834438" y="3733800"/>
            <a:ext cx="2157413"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Readouts test information and transformation rules</a:t>
            </a:r>
          </a:p>
        </p:txBody>
      </p:sp>
      <p:sp>
        <p:nvSpPr>
          <p:cNvPr id="26" name="">
            <a:extLst xmlns:a="http://schemas.openxmlformats.org/drawingml/2006/main">
              <a:ext uri="{FF2B5EF4-FFF2-40B4-BE49-F238E27FC236}">
                <a16:creationId xmlns:a16="http://schemas.microsoft.com/office/drawing/2014/main" id="{077113FD-9CAE-4F7B-B5D4-AC3A86109C4F}"/>
              </a:ext>
            </a:extLst>
          </p:cNvPr>
          <p:cNvSpPr>
            <a:spLocks xmlns:a="http://schemas.openxmlformats.org/drawingml/2006/main" noGrp="1"/>
          </p:cNvSpPr>
          <p:nvPr/>
        </p:nvSpPr>
        <p:spPr>
          <a:xfrm xmlns:a="http://schemas.openxmlformats.org/drawingml/2006/main">
            <a:off x="1409700" y="5095875"/>
            <a:ext cx="9372600" cy="685800"/>
          </a:xfrm>
          <a:prstGeom xmlns:a="http://schemas.openxmlformats.org/drawingml/2006/main" prst="roundRect">
            <a:avLst>
              <a:gd name="adj" fmla="val 16667"/>
            </a:avLst>
          </a:prstGeom>
          <a:solidFill xmlns:a="http://schemas.openxmlformats.org/drawingml/2006/main">
            <a:srgbClr val="EAF5FB"/>
          </a:solidFill>
          <a:ln xmlns:a="http://schemas.openxmlformats.org/drawingml/2006/main" w="9525">
            <a:solidFill>
              <a:srgbClr val="6D5BD0"/>
            </a:solidFill>
            <a:prstDash val="solid"/>
          </a:ln>
        </p:spPr>
      </p:sp>
      <p:sp>
        <p:nvSpPr>
          <p:cNvPr id="27" name="">
            <a:extLst xmlns:a="http://schemas.openxmlformats.org/drawingml/2006/main">
              <a:ext uri="{FF2B5EF4-FFF2-40B4-BE49-F238E27FC236}">
                <a16:creationId xmlns:a16="http://schemas.microsoft.com/office/drawing/2014/main" id="{D9A97BB0-9653-42BB-BF7F-718C6AA4F42B}"/>
              </a:ext>
            </a:extLst>
          </p:cNvPr>
          <p:cNvSpPr>
            <a:spLocks xmlns:a="http://schemas.openxmlformats.org/drawingml/2006/main" noGrp="1"/>
          </p:cNvSpPr>
          <p:nvPr/>
        </p:nvSpPr>
        <p:spPr>
          <a:xfrm xmlns:a="http://schemas.openxmlformats.org/drawingml/2006/main">
            <a:off x="1714500" y="52959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500" b="1">
                <a:solidFill>
                  <a:srgbClr val="102A43"/>
                </a:solidFill>
                <a:latin typeface="Arial"/>
                <a:ea typeface="Arial"/>
                <a:cs typeface="Arial"/>
              </a:defRPr>
            </a:pPr>
            <a:r>
              <a:rPr sz="1500" b="1">
                <a:solidFill>
                  <a:srgbClr val="102A43"/>
                </a:solidFill>
                <a:latin typeface="Arial"/>
                <a:ea typeface="Arial"/>
                <a:cs typeface="Arial"/>
              </a:rPr>
              <a:t>96 sequences come from only 18 videos—so source boundaries matter.</a:t>
            </a:r>
          </a:p>
        </p:txBody>
      </p:sp>
    </p:spTree>
    <p:extLst>
      <p:ext uri="{BB962C8B-B14F-4D97-AF65-F5344CB8AC3E}">
        <p14:creationId xmlns:p14="http://schemas.microsoft.com/office/powerpoint/2010/main" val="4615919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A34EB75-1B0E-4CB3-B858-6AD66BAB7E5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188B2588-8709-4DB0-9F4B-1878DDDAD930}"/>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FOUNDATION EVIDENCE</a:t>
            </a:r>
          </a:p>
        </p:txBody>
      </p:sp>
      <p:sp>
        <p:nvSpPr>
          <p:cNvPr id="3" name="">
            <a:extLst xmlns:a="http://schemas.openxmlformats.org/drawingml/2006/main">
              <a:ext uri="{FF2B5EF4-FFF2-40B4-BE49-F238E27FC236}">
                <a16:creationId xmlns:a16="http://schemas.microsoft.com/office/drawing/2014/main" id="{7AFEA257-8C4A-418B-A51A-8A8DEC5633B3}"/>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foundation learned motion structure—not a diagnosis</a:t>
            </a:r>
          </a:p>
        </p:txBody>
      </p:sp>
      <p:sp>
        <p:nvSpPr>
          <p:cNvPr id="4" name="">
            <a:extLst xmlns:a="http://schemas.openxmlformats.org/drawingml/2006/main">
              <a:ext uri="{FF2B5EF4-FFF2-40B4-BE49-F238E27FC236}">
                <a16:creationId xmlns:a16="http://schemas.microsoft.com/office/drawing/2014/main" id="{4F579EEE-2831-4A0D-8BC7-E33AA516EDE6}"/>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83A371DD-CE28-4892-BBFA-76038BE42BD7}"/>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39DCD425-610D-4E95-B940-965FACCE0575}"/>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Three numbers separate training health from scientific meaning.</a:t>
            </a:r>
          </a:p>
        </p:txBody>
      </p:sp>
      <p:sp>
        <p:nvSpPr>
          <p:cNvPr id="7" name="">
            <a:extLst xmlns:a="http://schemas.openxmlformats.org/drawingml/2006/main">
              <a:ext uri="{FF2B5EF4-FFF2-40B4-BE49-F238E27FC236}">
                <a16:creationId xmlns:a16="http://schemas.microsoft.com/office/drawing/2014/main" id="{A25EBB7E-B46A-4B53-82B1-C5C27CD3E85B}"/>
              </a:ext>
            </a:extLst>
          </p:cNvPr>
          <p:cNvSpPr>
            <a:spLocks xmlns:a="http://schemas.openxmlformats.org/drawingml/2006/main" noGrp="1"/>
          </p:cNvSpPr>
          <p:nvPr/>
        </p:nvSpPr>
        <p:spPr>
          <a:xfrm xmlns:a="http://schemas.openxmlformats.org/drawingml/2006/main">
            <a:off x="457200" y="18669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3225" b="1">
                <a:solidFill>
                  <a:srgbClr val="3D8DFF"/>
                </a:solidFill>
                <a:latin typeface="Arial"/>
                <a:ea typeface="Arial"/>
                <a:cs typeface="Arial"/>
              </a:defRPr>
            </a:pPr>
            <a:r>
              <a:rPr sz="3225" b="1">
                <a:solidFill>
                  <a:srgbClr val="3D8DFF"/>
                </a:solidFill>
                <a:latin typeface="Arial"/>
                <a:ea typeface="Arial"/>
                <a:cs typeface="Arial"/>
              </a:rPr>
              <a:t>0.558</a:t>
            </a:r>
          </a:p>
        </p:txBody>
      </p:sp>
      <p:sp>
        <p:nvSpPr>
          <p:cNvPr id="8" name="">
            <a:extLst xmlns:a="http://schemas.openxmlformats.org/drawingml/2006/main">
              <a:ext uri="{FF2B5EF4-FFF2-40B4-BE49-F238E27FC236}">
                <a16:creationId xmlns:a16="http://schemas.microsoft.com/office/drawing/2014/main" id="{523BEBED-59F5-4768-87F0-75B7E1201A28}"/>
              </a:ext>
            </a:extLst>
          </p:cNvPr>
          <p:cNvSpPr>
            <a:spLocks xmlns:a="http://schemas.openxmlformats.org/drawingml/2006/main" noGrp="1"/>
          </p:cNvSpPr>
          <p:nvPr/>
        </p:nvSpPr>
        <p:spPr>
          <a:xfrm xmlns:a="http://schemas.openxmlformats.org/drawingml/2006/main">
            <a:off x="457200" y="25050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825"/>
          </a:bodyPr>
          <a:lstStyle xmlns:a="http://schemas.openxmlformats.org/drawingml/2006/main"/>
          <a:p xmlns:a="http://schemas.openxmlformats.org/drawingml/2006/main">
            <a:pPr algn="ctr">
              <a:defRPr sz="1575" b="1">
                <a:solidFill>
                  <a:srgbClr val="102A43"/>
                </a:solidFill>
                <a:latin typeface="Arial"/>
                <a:ea typeface="Arial"/>
                <a:cs typeface="Arial"/>
              </a:defRPr>
            </a:pPr>
            <a:r>
              <a:rPr sz="1575" b="1">
                <a:solidFill>
                  <a:srgbClr val="102A43"/>
                </a:solidFill>
                <a:latin typeface="Arial"/>
                <a:ea typeface="Arial"/>
                <a:cs typeface="Arial"/>
              </a:rPr>
              <a:t>final prediction loss</a:t>
            </a:r>
          </a:p>
        </p:txBody>
      </p:sp>
      <p:sp>
        <p:nvSpPr>
          <p:cNvPr id="9" name="">
            <a:extLst xmlns:a="http://schemas.openxmlformats.org/drawingml/2006/main">
              <a:ext uri="{FF2B5EF4-FFF2-40B4-BE49-F238E27FC236}">
                <a16:creationId xmlns:a16="http://schemas.microsoft.com/office/drawing/2014/main" id="{45C951CB-2A4A-4055-A140-30571BB59872}"/>
              </a:ext>
            </a:extLst>
          </p:cNvPr>
          <p:cNvSpPr>
            <a:spLocks xmlns:a="http://schemas.openxmlformats.org/drawingml/2006/main" noGrp="1"/>
          </p:cNvSpPr>
          <p:nvPr/>
        </p:nvSpPr>
        <p:spPr>
          <a:xfrm xmlns:a="http://schemas.openxmlformats.org/drawingml/2006/main">
            <a:off x="685800" y="2952750"/>
            <a:ext cx="2686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Training improved from 6.557 and stayed stable.</a:t>
            </a:r>
          </a:p>
        </p:txBody>
      </p:sp>
      <p:sp>
        <p:nvSpPr>
          <p:cNvPr id="10" name="">
            <a:extLst xmlns:a="http://schemas.openxmlformats.org/drawingml/2006/main">
              <a:ext uri="{FF2B5EF4-FFF2-40B4-BE49-F238E27FC236}">
                <a16:creationId xmlns:a16="http://schemas.microsoft.com/office/drawing/2014/main" id="{C2F36572-0B45-4BF3-8E3A-105F4EBBE38D}"/>
              </a:ext>
            </a:extLst>
          </p:cNvPr>
          <p:cNvSpPr>
            <a:spLocks xmlns:a="http://schemas.openxmlformats.org/drawingml/2006/main" noGrp="1"/>
          </p:cNvSpPr>
          <p:nvPr/>
        </p:nvSpPr>
        <p:spPr>
          <a:xfrm xmlns:a="http://schemas.openxmlformats.org/drawingml/2006/main">
            <a:off x="4076700" y="18669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3225" b="1">
                <a:solidFill>
                  <a:srgbClr val="2A9D8F"/>
                </a:solidFill>
                <a:latin typeface="Arial"/>
                <a:ea typeface="Arial"/>
                <a:cs typeface="Arial"/>
              </a:defRPr>
            </a:pPr>
            <a:r>
              <a:rPr sz="3225" b="1">
                <a:solidFill>
                  <a:srgbClr val="2A9D8F"/>
                </a:solidFill>
                <a:latin typeface="Arial"/>
                <a:ea typeface="Arial"/>
                <a:cs typeface="Arial"/>
              </a:rPr>
              <a:t>0.414</a:t>
            </a:r>
          </a:p>
        </p:txBody>
      </p:sp>
      <p:sp>
        <p:nvSpPr>
          <p:cNvPr id="11" name="">
            <a:extLst xmlns:a="http://schemas.openxmlformats.org/drawingml/2006/main">
              <a:ext uri="{FF2B5EF4-FFF2-40B4-BE49-F238E27FC236}">
                <a16:creationId xmlns:a16="http://schemas.microsoft.com/office/drawing/2014/main" id="{9B997C0D-4FC7-4C04-A54F-6CD9D16F72F9}"/>
              </a:ext>
            </a:extLst>
          </p:cNvPr>
          <p:cNvSpPr>
            <a:spLocks xmlns:a="http://schemas.openxmlformats.org/drawingml/2006/main" noGrp="1"/>
          </p:cNvSpPr>
          <p:nvPr/>
        </p:nvSpPr>
        <p:spPr>
          <a:xfrm xmlns:a="http://schemas.openxmlformats.org/drawingml/2006/main">
            <a:off x="4076700" y="25050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825"/>
          </a:bodyPr>
          <a:lstStyle xmlns:a="http://schemas.openxmlformats.org/drawingml/2006/main"/>
          <a:p xmlns:a="http://schemas.openxmlformats.org/drawingml/2006/main">
            <a:pPr algn="ctr">
              <a:defRPr sz="1575" b="1">
                <a:solidFill>
                  <a:srgbClr val="102A43"/>
                </a:solidFill>
                <a:latin typeface="Arial"/>
                <a:ea typeface="Arial"/>
                <a:cs typeface="Arial"/>
              </a:defRPr>
            </a:pPr>
            <a:r>
              <a:rPr sz="1575" b="1">
                <a:solidFill>
                  <a:srgbClr val="102A43"/>
                </a:solidFill>
                <a:latin typeface="Arial"/>
                <a:ea typeface="Arial"/>
                <a:cs typeface="Arial"/>
              </a:rPr>
              <a:t>feature variability</a:t>
            </a:r>
          </a:p>
        </p:txBody>
      </p:sp>
      <p:sp>
        <p:nvSpPr>
          <p:cNvPr id="12" name="">
            <a:extLst xmlns:a="http://schemas.openxmlformats.org/drawingml/2006/main">
              <a:ext uri="{FF2B5EF4-FFF2-40B4-BE49-F238E27FC236}">
                <a16:creationId xmlns:a16="http://schemas.microsoft.com/office/drawing/2014/main" id="{74CD9A1E-AAF5-4B2A-9C68-6E9FB8A2D6C8}"/>
              </a:ext>
            </a:extLst>
          </p:cNvPr>
          <p:cNvSpPr>
            <a:spLocks xmlns:a="http://schemas.openxmlformats.org/drawingml/2006/main" noGrp="1"/>
          </p:cNvSpPr>
          <p:nvPr/>
        </p:nvSpPr>
        <p:spPr>
          <a:xfrm xmlns:a="http://schemas.openxmlformats.org/drawingml/2006/main">
            <a:off x="4305300" y="2952750"/>
            <a:ext cx="2686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The full representation did not collapse to one constant.</a:t>
            </a:r>
          </a:p>
        </p:txBody>
      </p:sp>
      <p:sp>
        <p:nvSpPr>
          <p:cNvPr id="13" name="">
            <a:extLst xmlns:a="http://schemas.openxmlformats.org/drawingml/2006/main">
              <a:ext uri="{FF2B5EF4-FFF2-40B4-BE49-F238E27FC236}">
                <a16:creationId xmlns:a16="http://schemas.microsoft.com/office/drawing/2014/main" id="{1CF2CC5C-950D-4A4E-BB8B-45EA3D47857D}"/>
              </a:ext>
            </a:extLst>
          </p:cNvPr>
          <p:cNvSpPr>
            <a:spLocks xmlns:a="http://schemas.openxmlformats.org/drawingml/2006/main" noGrp="1"/>
          </p:cNvSpPr>
          <p:nvPr/>
        </p:nvSpPr>
        <p:spPr>
          <a:xfrm xmlns:a="http://schemas.openxmlformats.org/drawingml/2006/main">
            <a:off x="7696200" y="18669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3225" b="1">
                <a:solidFill>
                  <a:srgbClr val="D95D5D"/>
                </a:solidFill>
                <a:latin typeface="Arial"/>
                <a:ea typeface="Arial"/>
                <a:cs typeface="Arial"/>
              </a:defRPr>
            </a:pPr>
            <a:r>
              <a:rPr sz="3225" b="1">
                <a:solidFill>
                  <a:srgbClr val="D95D5D"/>
                </a:solidFill>
                <a:latin typeface="Arial"/>
                <a:ea typeface="Arial"/>
                <a:cs typeface="Arial"/>
              </a:rPr>
              <a:t>0.0278</a:t>
            </a:r>
          </a:p>
        </p:txBody>
      </p:sp>
      <p:sp>
        <p:nvSpPr>
          <p:cNvPr id="14" name="">
            <a:extLst xmlns:a="http://schemas.openxmlformats.org/drawingml/2006/main">
              <a:ext uri="{FF2B5EF4-FFF2-40B4-BE49-F238E27FC236}">
                <a16:creationId xmlns:a16="http://schemas.microsoft.com/office/drawing/2014/main" id="{8AD2AC58-C337-4E78-92D8-80BA1FEAFF8A}"/>
              </a:ext>
            </a:extLst>
          </p:cNvPr>
          <p:cNvSpPr>
            <a:spLocks xmlns:a="http://schemas.openxmlformats.org/drawingml/2006/main" noGrp="1"/>
          </p:cNvSpPr>
          <p:nvPr/>
        </p:nvSpPr>
        <p:spPr>
          <a:xfrm xmlns:a="http://schemas.openxmlformats.org/drawingml/2006/main">
            <a:off x="7696200" y="25050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825"/>
          </a:bodyPr>
          <a:lstStyle xmlns:a="http://schemas.openxmlformats.org/drawingml/2006/main"/>
          <a:p xmlns:a="http://schemas.openxmlformats.org/drawingml/2006/main">
            <a:pPr algn="ctr">
              <a:defRPr sz="1575" b="1">
                <a:solidFill>
                  <a:srgbClr val="102A43"/>
                </a:solidFill>
                <a:latin typeface="Arial"/>
                <a:ea typeface="Arial"/>
                <a:cs typeface="Arial"/>
              </a:defRPr>
            </a:pPr>
            <a:r>
              <a:rPr sz="1575" b="1">
                <a:solidFill>
                  <a:srgbClr val="102A43"/>
                </a:solidFill>
                <a:latin typeface="Arial"/>
                <a:ea typeface="Arial"/>
                <a:cs typeface="Arial"/>
              </a:rPr>
              <a:t>condition separation</a:t>
            </a:r>
          </a:p>
        </p:txBody>
      </p:sp>
      <p:sp>
        <p:nvSpPr>
          <p:cNvPr id="15" name="">
            <a:extLst xmlns:a="http://schemas.openxmlformats.org/drawingml/2006/main">
              <a:ext uri="{FF2B5EF4-FFF2-40B4-BE49-F238E27FC236}">
                <a16:creationId xmlns:a16="http://schemas.microsoft.com/office/drawing/2014/main" id="{894E8D0E-FB22-4E88-83DC-8C6AEA1B778E}"/>
              </a:ext>
            </a:extLst>
          </p:cNvPr>
          <p:cNvSpPr>
            <a:spLocks xmlns:a="http://schemas.openxmlformats.org/drawingml/2006/main" noGrp="1"/>
          </p:cNvSpPr>
          <p:nvPr/>
        </p:nvSpPr>
        <p:spPr>
          <a:xfrm xmlns:a="http://schemas.openxmlformats.org/drawingml/2006/main">
            <a:off x="7924800" y="2952750"/>
            <a:ext cx="2686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75" b="0">
                <a:solidFill>
                  <a:srgbClr val="52606D"/>
                </a:solidFill>
                <a:latin typeface="Arial"/>
                <a:ea typeface="Arial"/>
                <a:cs typeface="Arial"/>
              </a:defRPr>
            </a:pPr>
            <a:r>
              <a:rPr sz="1275" b="0">
                <a:solidFill>
                  <a:srgbClr val="52606D"/>
                </a:solidFill>
                <a:latin typeface="Arial"/>
                <a:ea typeface="Arial"/>
                <a:cs typeface="Arial"/>
              </a:rPr>
              <a:t>The five condition groups still overlap strongly.</a:t>
            </a:r>
          </a:p>
        </p:txBody>
      </p:sp>
      <p:sp>
        <p:nvSpPr>
          <p:cNvPr id="16" name="">
            <a:extLst xmlns:a="http://schemas.openxmlformats.org/drawingml/2006/main">
              <a:ext uri="{FF2B5EF4-FFF2-40B4-BE49-F238E27FC236}">
                <a16:creationId xmlns:a16="http://schemas.microsoft.com/office/drawing/2014/main" id="{68761831-7F07-4494-BE49-34924CD36C62}"/>
              </a:ext>
            </a:extLst>
          </p:cNvPr>
          <p:cNvSpPr>
            <a:spLocks xmlns:a="http://schemas.openxmlformats.org/drawingml/2006/main" noGrp="1"/>
          </p:cNvSpPr>
          <p:nvPr/>
        </p:nvSpPr>
        <p:spPr>
          <a:xfrm xmlns:a="http://schemas.openxmlformats.org/drawingml/2006/main">
            <a:off x="781050" y="3819525"/>
            <a:ext cx="98679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7" name="">
            <a:extLst xmlns:a="http://schemas.openxmlformats.org/drawingml/2006/main">
              <a:ext uri="{FF2B5EF4-FFF2-40B4-BE49-F238E27FC236}">
                <a16:creationId xmlns:a16="http://schemas.microsoft.com/office/drawing/2014/main" id="{615AEE44-307A-44E2-AB24-27FB026CC394}"/>
              </a:ext>
            </a:extLst>
          </p:cNvPr>
          <p:cNvSpPr>
            <a:spLocks xmlns:a="http://schemas.openxmlformats.org/drawingml/2006/main" noGrp="1"/>
          </p:cNvSpPr>
          <p:nvPr/>
        </p:nvSpPr>
        <p:spPr>
          <a:xfrm xmlns:a="http://schemas.openxmlformats.org/drawingml/2006/main">
            <a:off x="685800" y="41433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1667"/>
          </a:bodyPr>
          <a:lstStyle xmlns:a="http://schemas.openxmlformats.org/drawingml/2006/main"/>
          <a:p xmlns:a="http://schemas.openxmlformats.org/drawingml/2006/main">
            <a:pPr algn="l">
              <a:defRPr sz="1800" b="1">
                <a:solidFill>
                  <a:srgbClr val="6D5BD0"/>
                </a:solidFill>
                <a:latin typeface="Arial"/>
                <a:ea typeface="Arial"/>
                <a:cs typeface="Arial"/>
              </a:defRPr>
            </a:pPr>
            <a:r>
              <a:rPr sz="1800" b="1">
                <a:solidFill>
                  <a:srgbClr val="6D5BD0"/>
                </a:solidFill>
                <a:latin typeface="Arial"/>
                <a:ea typeface="Arial"/>
                <a:cs typeface="Arial"/>
              </a:rPr>
              <a:t>Interpretation</a:t>
            </a:r>
          </a:p>
        </p:txBody>
      </p:sp>
      <p:sp>
        <p:nvSpPr>
          <p:cNvPr id="18" name="">
            <a:extLst xmlns:a="http://schemas.openxmlformats.org/drawingml/2006/main">
              <a:ext uri="{FF2B5EF4-FFF2-40B4-BE49-F238E27FC236}">
                <a16:creationId xmlns:a16="http://schemas.microsoft.com/office/drawing/2014/main" id="{CB16137F-6793-418C-B792-99C8E4D84337}"/>
              </a:ext>
            </a:extLst>
          </p:cNvPr>
          <p:cNvSpPr>
            <a:spLocks xmlns:a="http://schemas.openxmlformats.org/drawingml/2006/main" noGrp="1"/>
          </p:cNvSpPr>
          <p:nvPr/>
        </p:nvSpPr>
        <p:spPr>
          <a:xfrm xmlns:a="http://schemas.openxmlformats.org/drawingml/2006/main">
            <a:off x="3143250" y="4114800"/>
            <a:ext cx="7620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The optimization worked</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The features contain motion variation</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The latent space is not a clean clinical taxonomy</a:t>
            </a:r>
          </a:p>
        </p:txBody>
      </p:sp>
    </p:spTree>
    <p:extLst>
      <p:ext uri="{BB962C8B-B14F-4D97-AF65-F5344CB8AC3E}">
        <p14:creationId xmlns:p14="http://schemas.microsoft.com/office/powerpoint/2010/main" val="12948446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265F737-9C19-4FD4-BE17-D893944C213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 name="">
            <a:extLst xmlns:a="http://schemas.openxmlformats.org/drawingml/2006/main">
              <a:ext uri="{FF2B5EF4-FFF2-40B4-BE49-F238E27FC236}">
                <a16:creationId xmlns:a16="http://schemas.microsoft.com/office/drawing/2014/main" id="{4B4CB4BD-71E1-41FB-B4CA-8204543D2E00}"/>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FOUNDATION EVIDENCE</a:t>
            </a:r>
          </a:p>
        </p:txBody>
      </p:sp>
      <p:sp>
        <p:nvSpPr>
          <p:cNvPr id="3" name="">
            <a:extLst xmlns:a="http://schemas.openxmlformats.org/drawingml/2006/main">
              <a:ext uri="{FF2B5EF4-FFF2-40B4-BE49-F238E27FC236}">
                <a16:creationId xmlns:a16="http://schemas.microsoft.com/office/drawing/2014/main" id="{DCB79535-AFE6-488F-B0CF-B1B106E4069B}"/>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Strong readout scores did not prove prospective performance</a:t>
            </a:r>
          </a:p>
        </p:txBody>
      </p:sp>
      <p:sp>
        <p:nvSpPr>
          <p:cNvPr id="4" name="">
            <a:extLst xmlns:a="http://schemas.openxmlformats.org/drawingml/2006/main">
              <a:ext uri="{FF2B5EF4-FFF2-40B4-BE49-F238E27FC236}">
                <a16:creationId xmlns:a16="http://schemas.microsoft.com/office/drawing/2014/main" id="{3A5BEE69-94F0-42CA-8A9C-897FF6F0B1F9}"/>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66E513D1-7817-44D3-B085-AAE9B705FF43}"/>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4CCA8817-D4FB-4C71-A99D-2AB4339B89D0}"/>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Condition information was readable, but the evaluation split happened too late.</a:t>
            </a:r>
          </a:p>
        </p:txBody>
      </p:sp>
      <p:sp>
        <p:nvSpPr>
          <p:cNvPr id="7" name="">
            <a:extLst xmlns:a="http://schemas.openxmlformats.org/drawingml/2006/main">
              <a:ext uri="{FF2B5EF4-FFF2-40B4-BE49-F238E27FC236}">
                <a16:creationId xmlns:a16="http://schemas.microsoft.com/office/drawing/2014/main" id="{5D439910-2DC8-4B4D-A58D-1AC189295333}"/>
              </a:ext>
            </a:extLst>
          </p:cNvPr>
          <p:cNvSpPr>
            <a:spLocks xmlns:a="http://schemas.openxmlformats.org/drawingml/2006/main" noGrp="1"/>
          </p:cNvSpPr>
          <p:nvPr/>
        </p:nvSpPr>
        <p:spPr>
          <a:xfrm xmlns:a="http://schemas.openxmlformats.org/drawingml/2006/main">
            <a:off x="5791200" y="1752600"/>
            <a:ext cx="9525" cy="342900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8" name="">
            <a:extLst xmlns:a="http://schemas.openxmlformats.org/drawingml/2006/main">
              <a:ext uri="{FF2B5EF4-FFF2-40B4-BE49-F238E27FC236}">
                <a16:creationId xmlns:a16="http://schemas.microsoft.com/office/drawing/2014/main" id="{700FDBF5-3953-4121-ACEB-243B88876014}"/>
              </a:ext>
            </a:extLst>
          </p:cNvPr>
          <p:cNvSpPr>
            <a:spLocks xmlns:a="http://schemas.openxmlformats.org/drawingml/2006/main" noGrp="1"/>
          </p:cNvSpPr>
          <p:nvPr/>
        </p:nvSpPr>
        <p:spPr>
          <a:xfrm xmlns:a="http://schemas.openxmlformats.org/drawingml/2006/main">
            <a:off x="533400" y="1847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a:solidFill>
                  <a:srgbClr val="2A9D8F"/>
                </a:solidFill>
                <a:latin typeface="Arial"/>
                <a:ea typeface="Arial"/>
                <a:cs typeface="Arial"/>
              </a:defRPr>
            </a:pPr>
            <a:r>
              <a:rPr sz="975" b="1">
                <a:solidFill>
                  <a:srgbClr val="2A9D8F"/>
                </a:solidFill>
                <a:latin typeface="Arial"/>
                <a:ea typeface="Arial"/>
                <a:cs typeface="Arial"/>
              </a:rPr>
              <a:t>WHAT WE SAW</a:t>
            </a:r>
          </a:p>
        </p:txBody>
      </p:sp>
      <p:sp>
        <p:nvSpPr>
          <p:cNvPr id="9" name="">
            <a:extLst xmlns:a="http://schemas.openxmlformats.org/drawingml/2006/main">
              <a:ext uri="{FF2B5EF4-FFF2-40B4-BE49-F238E27FC236}">
                <a16:creationId xmlns:a16="http://schemas.microsoft.com/office/drawing/2014/main" id="{95554C89-4091-4432-B8BD-31DA75D574EA}"/>
              </a:ext>
            </a:extLst>
          </p:cNvPr>
          <p:cNvSpPr>
            <a:spLocks xmlns:a="http://schemas.openxmlformats.org/drawingml/2006/main" noGrp="1"/>
          </p:cNvSpPr>
          <p:nvPr/>
        </p:nvSpPr>
        <p:spPr>
          <a:xfrm xmlns:a="http://schemas.openxmlformats.org/drawingml/2006/main">
            <a:off x="533400" y="22098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Readable condition signal</a:t>
            </a:r>
          </a:p>
        </p:txBody>
      </p:sp>
      <p:sp>
        <p:nvSpPr>
          <p:cNvPr id="10" name="">
            <a:extLst xmlns:a="http://schemas.openxmlformats.org/drawingml/2006/main">
              <a:ext uri="{FF2B5EF4-FFF2-40B4-BE49-F238E27FC236}">
                <a16:creationId xmlns:a16="http://schemas.microsoft.com/office/drawing/2014/main" id="{0FB900C1-B627-45B0-8D9E-098D562AAF11}"/>
              </a:ext>
            </a:extLst>
          </p:cNvPr>
          <p:cNvSpPr>
            <a:spLocks xmlns:a="http://schemas.openxmlformats.org/drawingml/2006/main" noGrp="1"/>
          </p:cNvSpPr>
          <p:nvPr/>
        </p:nvSpPr>
        <p:spPr>
          <a:xfrm xmlns:a="http://schemas.openxmlformats.org/drawingml/2006/main">
            <a:off x="533400" y="3028950"/>
            <a:ext cx="4762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Accuracy: 0.843</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Macro-F1: 0.821</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ROC-AUC: 0.952</a:t>
            </a:r>
          </a:p>
        </p:txBody>
      </p:sp>
      <p:sp>
        <p:nvSpPr>
          <p:cNvPr id="11" name="">
            <a:extLst xmlns:a="http://schemas.openxmlformats.org/drawingml/2006/main">
              <a:ext uri="{FF2B5EF4-FFF2-40B4-BE49-F238E27FC236}">
                <a16:creationId xmlns:a16="http://schemas.microsoft.com/office/drawing/2014/main" id="{355D4D60-0436-4F4B-9570-FA7F77D790C6}"/>
              </a:ext>
            </a:extLst>
          </p:cNvPr>
          <p:cNvSpPr>
            <a:spLocks xmlns:a="http://schemas.openxmlformats.org/drawingml/2006/main" noGrp="1"/>
          </p:cNvSpPr>
          <p:nvPr/>
        </p:nvSpPr>
        <p:spPr>
          <a:xfrm xmlns:a="http://schemas.openxmlformats.org/drawingml/2006/main">
            <a:off x="6305550" y="1847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a:solidFill>
                  <a:srgbClr val="D95D5D"/>
                </a:solidFill>
                <a:latin typeface="Arial"/>
                <a:ea typeface="Arial"/>
                <a:cs typeface="Arial"/>
              </a:defRPr>
            </a:pPr>
            <a:r>
              <a:rPr sz="975" b="1">
                <a:solidFill>
                  <a:srgbClr val="D95D5D"/>
                </a:solidFill>
                <a:latin typeface="Arial"/>
                <a:ea typeface="Arial"/>
                <a:cs typeface="Arial"/>
              </a:rPr>
              <a:t>WHY THE CLAIM IS LIMITED</a:t>
            </a:r>
          </a:p>
        </p:txBody>
      </p:sp>
      <p:sp>
        <p:nvSpPr>
          <p:cNvPr id="12" name="">
            <a:extLst xmlns:a="http://schemas.openxmlformats.org/drawingml/2006/main">
              <a:ext uri="{FF2B5EF4-FFF2-40B4-BE49-F238E27FC236}">
                <a16:creationId xmlns:a16="http://schemas.microsoft.com/office/drawing/2014/main" id="{3113619B-060E-452D-9EAF-6144F16B428C}"/>
              </a:ext>
            </a:extLst>
          </p:cNvPr>
          <p:cNvSpPr>
            <a:spLocks xmlns:a="http://schemas.openxmlformats.org/drawingml/2006/main" noGrp="1"/>
          </p:cNvSpPr>
          <p:nvPr/>
        </p:nvSpPr>
        <p:spPr>
          <a:xfrm xmlns:a="http://schemas.openxmlformats.org/drawingml/2006/main">
            <a:off x="6305550" y="22098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The encoder saw the test rows</a:t>
            </a:r>
          </a:p>
        </p:txBody>
      </p:sp>
      <p:sp>
        <p:nvSpPr>
          <p:cNvPr id="13" name="">
            <a:extLst xmlns:a="http://schemas.openxmlformats.org/drawingml/2006/main">
              <a:ext uri="{FF2B5EF4-FFF2-40B4-BE49-F238E27FC236}">
                <a16:creationId xmlns:a16="http://schemas.microsoft.com/office/drawing/2014/main" id="{F7EB6ADD-6019-43CC-97B1-79F417F722EF}"/>
              </a:ext>
            </a:extLst>
          </p:cNvPr>
          <p:cNvSpPr>
            <a:spLocks xmlns:a="http://schemas.openxmlformats.org/drawingml/2006/main" noGrp="1"/>
          </p:cNvSpPr>
          <p:nvPr/>
        </p:nvSpPr>
        <p:spPr>
          <a:xfrm xmlns:a="http://schemas.openxmlformats.org/drawingml/2006/main">
            <a:off x="6305550" y="3028950"/>
            <a:ext cx="4762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All 159 rows entered representation training</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Later stages used condition labels</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Only the final readout was grouped</a:t>
            </a:r>
          </a:p>
        </p:txBody>
      </p:sp>
      <p:sp>
        <p:nvSpPr>
          <p:cNvPr id="14" name="">
            <a:extLst xmlns:a="http://schemas.openxmlformats.org/drawingml/2006/main">
              <a:ext uri="{FF2B5EF4-FFF2-40B4-BE49-F238E27FC236}">
                <a16:creationId xmlns:a16="http://schemas.microsoft.com/office/drawing/2014/main" id="{89F2D15D-48D1-495C-BA10-D4F9E6FF7374}"/>
              </a:ext>
            </a:extLst>
          </p:cNvPr>
          <p:cNvSpPr>
            <a:spLocks xmlns:a="http://schemas.openxmlformats.org/drawingml/2006/main" noGrp="1"/>
          </p:cNvSpPr>
          <p:nvPr/>
        </p:nvSpPr>
        <p:spPr>
          <a:xfrm xmlns:a="http://schemas.openxmlformats.org/drawingml/2006/main">
            <a:off x="1200150" y="5429250"/>
            <a:ext cx="9791700" cy="628650"/>
          </a:xfrm>
          <a:prstGeom xmlns:a="http://schemas.openxmlformats.org/drawingml/2006/main" prst="roundRect">
            <a:avLst>
              <a:gd name="adj" fmla="val 18182"/>
            </a:avLst>
          </a:prstGeom>
          <a:solidFill xmlns:a="http://schemas.openxmlformats.org/drawingml/2006/main">
            <a:srgbClr val="EAF5FB"/>
          </a:solidFill>
          <a:ln xmlns:a="http://schemas.openxmlformats.org/drawingml/2006/main" w="9525">
            <a:solidFill>
              <a:srgbClr val="F4A261"/>
            </a:solidFill>
            <a:prstDash val="solid"/>
          </a:ln>
        </p:spPr>
      </p:sp>
      <p:sp>
        <p:nvSpPr>
          <p:cNvPr id="15" name="">
            <a:extLst xmlns:a="http://schemas.openxmlformats.org/drawingml/2006/main">
              <a:ext uri="{FF2B5EF4-FFF2-40B4-BE49-F238E27FC236}">
                <a16:creationId xmlns:a16="http://schemas.microsoft.com/office/drawing/2014/main" id="{BC4C4EF8-5B30-4020-8D67-2EF2C75DF17C}"/>
              </a:ext>
            </a:extLst>
          </p:cNvPr>
          <p:cNvSpPr>
            <a:spLocks xmlns:a="http://schemas.openxmlformats.org/drawingml/2006/main" noGrp="1"/>
          </p:cNvSpPr>
          <p:nvPr/>
        </p:nvSpPr>
        <p:spPr>
          <a:xfrm xmlns:a="http://schemas.openxmlformats.org/drawingml/2006/main">
            <a:off x="1504950" y="5600700"/>
            <a:ext cx="918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246"/>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Split people or sources before every fitted stage—not only before the last classifier.</a:t>
            </a:r>
          </a:p>
        </p:txBody>
      </p:sp>
    </p:spTree>
    <p:extLst>
      <p:ext uri="{BB962C8B-B14F-4D97-AF65-F5344CB8AC3E}">
        <p14:creationId xmlns:p14="http://schemas.microsoft.com/office/powerpoint/2010/main" val="2297343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03FFE22-CBFF-4B9A-807A-7325758F128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2" name="">
            <a:extLst xmlns:a="http://schemas.openxmlformats.org/drawingml/2006/main">
              <a:ext uri="{FF2B5EF4-FFF2-40B4-BE49-F238E27FC236}">
                <a16:creationId xmlns:a16="http://schemas.microsoft.com/office/drawing/2014/main" id="{540D4905-2C78-4525-90CF-F89064E69071}"/>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D95D5D"/>
                </a:solidFill>
                <a:latin typeface="Arial"/>
                <a:ea typeface="Arial"/>
                <a:cs typeface="Arial"/>
              </a:defRPr>
            </a:pPr>
            <a:r>
              <a:rPr sz="900" b="1">
                <a:solidFill>
                  <a:srgbClr val="D95D5D"/>
                </a:solidFill>
                <a:latin typeface="Arial"/>
                <a:ea typeface="Arial"/>
                <a:cs typeface="Arial"/>
              </a:rPr>
              <a:t>GAITPARITY MOTIVATION</a:t>
            </a:r>
          </a:p>
        </p:txBody>
      </p:sp>
      <p:sp>
        <p:nvSpPr>
          <p:cNvPr id="3" name="">
            <a:extLst xmlns:a="http://schemas.openxmlformats.org/drawingml/2006/main">
              <a:ext uri="{FF2B5EF4-FFF2-40B4-BE49-F238E27FC236}">
                <a16:creationId xmlns:a16="http://schemas.microsoft.com/office/drawing/2014/main" id="{83E2384B-1A75-4336-B6F1-88E78DEAD5A0}"/>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saved representation did not preserve signed laterality</a:t>
            </a:r>
          </a:p>
        </p:txBody>
      </p:sp>
      <p:sp>
        <p:nvSpPr>
          <p:cNvPr id="4" name="">
            <a:extLst xmlns:a="http://schemas.openxmlformats.org/drawingml/2006/main">
              <a:ext uri="{FF2B5EF4-FFF2-40B4-BE49-F238E27FC236}">
                <a16:creationId xmlns:a16="http://schemas.microsoft.com/office/drawing/2014/main" id="{12D6882A-B720-4C03-BA93-F7B53BF84C5B}"/>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C3C13C8D-E6E8-466A-8F98-3991C8EE0A68}"/>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2A497FCE-E06A-4BE3-AA12-4E1259133CC5}"/>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mirror response should have a slope of −1. The learned features were far from that rule.</a:t>
            </a:r>
          </a:p>
        </p:txBody>
      </p:sp>
      <p:sp>
        <p:nvSpPr>
          <p:cNvPr id="7" name="">
            <a:extLst xmlns:a="http://schemas.openxmlformats.org/drawingml/2006/main">
              <a:ext uri="{FF2B5EF4-FFF2-40B4-BE49-F238E27FC236}">
                <a16:creationId xmlns:a16="http://schemas.microsoft.com/office/drawing/2014/main" id="{1FE23AE8-77B3-4EC0-8E76-C1D8FD7CE95E}"/>
              </a:ext>
            </a:extLst>
          </p:cNvPr>
          <p:cNvSpPr>
            <a:spLocks xmlns:a="http://schemas.openxmlformats.org/drawingml/2006/main" noGrp="1"/>
          </p:cNvSpPr>
          <p:nvPr/>
        </p:nvSpPr>
        <p:spPr>
          <a:xfrm xmlns:a="http://schemas.openxmlformats.org/drawingml/2006/main">
            <a:off x="685800" y="1809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ctr">
              <a:defRPr sz="1200" b="1">
                <a:solidFill>
                  <a:srgbClr val="2A9D8F"/>
                </a:solidFill>
                <a:latin typeface="Arial"/>
                <a:ea typeface="Arial"/>
                <a:cs typeface="Arial"/>
              </a:defRPr>
            </a:pPr>
            <a:r>
              <a:rPr sz="1200" b="1">
                <a:solidFill>
                  <a:srgbClr val="2A9D8F"/>
                </a:solidFill>
                <a:latin typeface="Arial"/>
                <a:ea typeface="Arial"/>
                <a:cs typeface="Arial"/>
              </a:rPr>
              <a:t>Expected</a:t>
            </a:r>
          </a:p>
        </p:txBody>
      </p:sp>
      <p:sp>
        <p:nvSpPr>
          <p:cNvPr id="8" name="">
            <a:extLst xmlns:a="http://schemas.openxmlformats.org/drawingml/2006/main">
              <a:ext uri="{FF2B5EF4-FFF2-40B4-BE49-F238E27FC236}">
                <a16:creationId xmlns:a16="http://schemas.microsoft.com/office/drawing/2014/main" id="{51D1047D-E43C-43E0-8F09-F2961F4DEEDF}"/>
              </a:ext>
            </a:extLst>
          </p:cNvPr>
          <p:cNvSpPr>
            <a:spLocks xmlns:a="http://schemas.openxmlformats.org/drawingml/2006/main" noGrp="1"/>
          </p:cNvSpPr>
          <p:nvPr/>
        </p:nvSpPr>
        <p:spPr>
          <a:xfrm xmlns:a="http://schemas.openxmlformats.org/drawingml/2006/main">
            <a:off x="685800" y="21526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3450" b="1">
                <a:solidFill>
                  <a:srgbClr val="2A9D8F"/>
                </a:solidFill>
                <a:latin typeface="Arial"/>
                <a:ea typeface="Arial"/>
                <a:cs typeface="Arial"/>
              </a:defRPr>
            </a:pPr>
            <a:r>
              <a:rPr sz="3450" b="1">
                <a:solidFill>
                  <a:srgbClr val="2A9D8F"/>
                </a:solidFill>
                <a:latin typeface="Arial"/>
                <a:ea typeface="Arial"/>
                <a:cs typeface="Arial"/>
              </a:rPr>
              <a:t>−1.000</a:t>
            </a:r>
          </a:p>
        </p:txBody>
      </p:sp>
      <p:sp>
        <p:nvSpPr>
          <p:cNvPr id="9" name="">
            <a:extLst xmlns:a="http://schemas.openxmlformats.org/drawingml/2006/main">
              <a:ext uri="{FF2B5EF4-FFF2-40B4-BE49-F238E27FC236}">
                <a16:creationId xmlns:a16="http://schemas.microsoft.com/office/drawing/2014/main" id="{AAABD8E5-EACD-4B8C-BF0D-BD6C83CB52C9}"/>
              </a:ext>
            </a:extLst>
          </p:cNvPr>
          <p:cNvSpPr>
            <a:spLocks xmlns:a="http://schemas.openxmlformats.org/drawingml/2006/main" noGrp="1"/>
          </p:cNvSpPr>
          <p:nvPr/>
        </p:nvSpPr>
        <p:spPr>
          <a:xfrm xmlns:a="http://schemas.openxmlformats.org/drawingml/2006/main">
            <a:off x="685800" y="2857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mirror slope</a:t>
            </a:r>
          </a:p>
        </p:txBody>
      </p:sp>
      <p:sp>
        <p:nvSpPr>
          <p:cNvPr id="10" name="">
            <a:extLst xmlns:a="http://schemas.openxmlformats.org/drawingml/2006/main">
              <a:ext uri="{FF2B5EF4-FFF2-40B4-BE49-F238E27FC236}">
                <a16:creationId xmlns:a16="http://schemas.microsoft.com/office/drawing/2014/main" id="{E1B92C02-EA69-4235-B27C-63D8C80515B4}"/>
              </a:ext>
            </a:extLst>
          </p:cNvPr>
          <p:cNvSpPr>
            <a:spLocks xmlns:a="http://schemas.openxmlformats.org/drawingml/2006/main" noGrp="1"/>
          </p:cNvSpPr>
          <p:nvPr/>
        </p:nvSpPr>
        <p:spPr>
          <a:xfrm xmlns:a="http://schemas.openxmlformats.org/drawingml/2006/main">
            <a:off x="3295650" y="2286000"/>
            <a:ext cx="857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3150" b="1">
                <a:solidFill>
                  <a:srgbClr val="52606D"/>
                </a:solidFill>
                <a:latin typeface="Arial"/>
                <a:ea typeface="Arial"/>
                <a:cs typeface="Arial"/>
              </a:defRPr>
            </a:pPr>
            <a:r>
              <a:rPr sz="3150" b="1">
                <a:solidFill>
                  <a:srgbClr val="52606D"/>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DF225769-FB58-43A4-837C-DEDFE17BD1F1}"/>
              </a:ext>
            </a:extLst>
          </p:cNvPr>
          <p:cNvSpPr>
            <a:spLocks xmlns:a="http://schemas.openxmlformats.org/drawingml/2006/main" noGrp="1"/>
          </p:cNvSpPr>
          <p:nvPr/>
        </p:nvSpPr>
        <p:spPr>
          <a:xfrm xmlns:a="http://schemas.openxmlformats.org/drawingml/2006/main">
            <a:off x="4286250" y="1809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ctr">
              <a:defRPr sz="1200" b="1">
                <a:solidFill>
                  <a:srgbClr val="D95D5D"/>
                </a:solidFill>
                <a:latin typeface="Arial"/>
                <a:ea typeface="Arial"/>
                <a:cs typeface="Arial"/>
              </a:defRPr>
            </a:pPr>
            <a:r>
              <a:rPr sz="1200" b="1">
                <a:solidFill>
                  <a:srgbClr val="D95D5D"/>
                </a:solidFill>
                <a:latin typeface="Arial"/>
                <a:ea typeface="Arial"/>
                <a:cs typeface="Arial"/>
              </a:rPr>
              <a:t>Learned</a:t>
            </a:r>
          </a:p>
        </p:txBody>
      </p:sp>
      <p:sp>
        <p:nvSpPr>
          <p:cNvPr id="12" name="">
            <a:extLst xmlns:a="http://schemas.openxmlformats.org/drawingml/2006/main">
              <a:ext uri="{FF2B5EF4-FFF2-40B4-BE49-F238E27FC236}">
                <a16:creationId xmlns:a16="http://schemas.microsoft.com/office/drawing/2014/main" id="{CBFB51CE-772B-4FD4-A7C0-35D189D0CB9E}"/>
              </a:ext>
            </a:extLst>
          </p:cNvPr>
          <p:cNvSpPr>
            <a:spLocks xmlns:a="http://schemas.openxmlformats.org/drawingml/2006/main" noGrp="1"/>
          </p:cNvSpPr>
          <p:nvPr/>
        </p:nvSpPr>
        <p:spPr>
          <a:xfrm xmlns:a="http://schemas.openxmlformats.org/drawingml/2006/main">
            <a:off x="4286250" y="21526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3450" b="1">
                <a:solidFill>
                  <a:srgbClr val="D95D5D"/>
                </a:solidFill>
                <a:latin typeface="Arial"/>
                <a:ea typeface="Arial"/>
                <a:cs typeface="Arial"/>
              </a:defRPr>
            </a:pPr>
            <a:r>
              <a:rPr sz="3450" b="1">
                <a:solidFill>
                  <a:srgbClr val="D95D5D"/>
                </a:solidFill>
                <a:latin typeface="Arial"/>
                <a:ea typeface="Arial"/>
                <a:cs typeface="Arial"/>
              </a:rPr>
              <a:t>−0.337</a:t>
            </a:r>
          </a:p>
        </p:txBody>
      </p:sp>
      <p:sp>
        <p:nvSpPr>
          <p:cNvPr id="13" name="">
            <a:extLst xmlns:a="http://schemas.openxmlformats.org/drawingml/2006/main">
              <a:ext uri="{FF2B5EF4-FFF2-40B4-BE49-F238E27FC236}">
                <a16:creationId xmlns:a16="http://schemas.microsoft.com/office/drawing/2014/main" id="{E5A5B7EC-735F-4704-ABC7-37726F2B8357}"/>
              </a:ext>
            </a:extLst>
          </p:cNvPr>
          <p:cNvSpPr>
            <a:spLocks xmlns:a="http://schemas.openxmlformats.org/drawingml/2006/main" noGrp="1"/>
          </p:cNvSpPr>
          <p:nvPr/>
        </p:nvSpPr>
        <p:spPr>
          <a:xfrm xmlns:a="http://schemas.openxmlformats.org/drawingml/2006/main">
            <a:off x="4286250" y="2857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mirror slope</a:t>
            </a:r>
          </a:p>
        </p:txBody>
      </p:sp>
      <p:sp>
        <p:nvSpPr>
          <p:cNvPr id="14" name="">
            <a:extLst xmlns:a="http://schemas.openxmlformats.org/drawingml/2006/main">
              <a:ext uri="{FF2B5EF4-FFF2-40B4-BE49-F238E27FC236}">
                <a16:creationId xmlns:a16="http://schemas.microsoft.com/office/drawing/2014/main" id="{CD982F4F-3AEC-4BD7-B505-263D154D2AE6}"/>
              </a:ext>
            </a:extLst>
          </p:cNvPr>
          <p:cNvSpPr>
            <a:spLocks xmlns:a="http://schemas.openxmlformats.org/drawingml/2006/main" noGrp="1"/>
          </p:cNvSpPr>
          <p:nvPr/>
        </p:nvSpPr>
        <p:spPr>
          <a:xfrm xmlns:a="http://schemas.openxmlformats.org/drawingml/2006/main">
            <a:off x="7096125" y="1743075"/>
            <a:ext cx="9525" cy="319087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5" name="">
            <a:extLst xmlns:a="http://schemas.openxmlformats.org/drawingml/2006/main">
              <a:ext uri="{FF2B5EF4-FFF2-40B4-BE49-F238E27FC236}">
                <a16:creationId xmlns:a16="http://schemas.microsoft.com/office/drawing/2014/main" id="{0D5E88EC-9F0C-4C52-9EF3-1F9D5C770454}"/>
              </a:ext>
            </a:extLst>
          </p:cNvPr>
          <p:cNvSpPr>
            <a:spLocks xmlns:a="http://schemas.openxmlformats.org/drawingml/2006/main" noGrp="1"/>
          </p:cNvSpPr>
          <p:nvPr/>
        </p:nvSpPr>
        <p:spPr>
          <a:xfrm xmlns:a="http://schemas.openxmlformats.org/drawingml/2006/main">
            <a:off x="7524750" y="1962150"/>
            <a:ext cx="3619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Raw pose coordinates contain the constructed signal</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The learned embedding does not decode it</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Sign consistency is only 44.4%</a:t>
            </a:r>
          </a:p>
        </p:txBody>
      </p:sp>
      <p:sp>
        <p:nvSpPr>
          <p:cNvPr id="16" name="">
            <a:extLst xmlns:a="http://schemas.openxmlformats.org/drawingml/2006/main">
              <a:ext uri="{FF2B5EF4-FFF2-40B4-BE49-F238E27FC236}">
                <a16:creationId xmlns:a16="http://schemas.microsoft.com/office/drawing/2014/main" id="{00DF9035-B24B-4528-8CEF-E56C71C85646}"/>
              </a:ext>
            </a:extLst>
          </p:cNvPr>
          <p:cNvSpPr>
            <a:spLocks xmlns:a="http://schemas.openxmlformats.org/drawingml/2006/main" noGrp="1"/>
          </p:cNvSpPr>
          <p:nvPr/>
        </p:nvSpPr>
        <p:spPr>
          <a:xfrm xmlns:a="http://schemas.openxmlformats.org/drawingml/2006/main">
            <a:off x="742950" y="3667125"/>
            <a:ext cx="5810250" cy="1123950"/>
          </a:xfrm>
          <a:prstGeom xmlns:a="http://schemas.openxmlformats.org/drawingml/2006/main" prst="roundRect">
            <a:avLst>
              <a:gd name="adj" fmla="val 10169"/>
            </a:avLst>
          </a:prstGeom>
          <a:solidFill xmlns:a="http://schemas.openxmlformats.org/drawingml/2006/main">
            <a:srgbClr val="FDECEC"/>
          </a:solidFill>
          <a:ln xmlns:a="http://schemas.openxmlformats.org/drawingml/2006/main" w="9525">
            <a:solidFill>
              <a:srgbClr val="D95D5D"/>
            </a:solidFill>
            <a:prstDash val="solid"/>
          </a:ln>
        </p:spPr>
      </p:sp>
      <p:sp>
        <p:nvSpPr>
          <p:cNvPr id="17" name="">
            <a:extLst xmlns:a="http://schemas.openxmlformats.org/drawingml/2006/main">
              <a:ext uri="{FF2B5EF4-FFF2-40B4-BE49-F238E27FC236}">
                <a16:creationId xmlns:a16="http://schemas.microsoft.com/office/drawing/2014/main" id="{B5B31EDA-268F-42EB-9AD7-82BAB0FD9F6D}"/>
              </a:ext>
            </a:extLst>
          </p:cNvPr>
          <p:cNvSpPr>
            <a:spLocks xmlns:a="http://schemas.openxmlformats.org/drawingml/2006/main" noGrp="1"/>
          </p:cNvSpPr>
          <p:nvPr/>
        </p:nvSpPr>
        <p:spPr>
          <a:xfrm xmlns:a="http://schemas.openxmlformats.org/drawingml/2006/main">
            <a:off x="990600" y="3857625"/>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556"/>
          </a:bodyPr>
          <a:lstStyle xmlns:a="http://schemas.openxmlformats.org/drawingml/2006/main"/>
          <a:p xmlns:a="http://schemas.openxmlformats.org/drawingml/2006/main">
            <a:pPr algn="ctr">
              <a:defRPr sz="2250" b="1">
                <a:solidFill>
                  <a:srgbClr val="D95D5D"/>
                </a:solidFill>
                <a:latin typeface="Arial"/>
                <a:ea typeface="Arial"/>
                <a:cs typeface="Arial"/>
              </a:defRPr>
            </a:pPr>
            <a:r>
              <a:rPr sz="2250" b="1">
                <a:solidFill>
                  <a:srgbClr val="D95D5D"/>
                </a:solidFill>
                <a:latin typeface="Arial"/>
                <a:ea typeface="Arial"/>
                <a:cs typeface="Arial"/>
              </a:rPr>
              <a:t>R² = −0.0678</a:t>
            </a:r>
          </a:p>
        </p:txBody>
      </p:sp>
      <p:sp>
        <p:nvSpPr>
          <p:cNvPr id="18" name="">
            <a:extLst xmlns:a="http://schemas.openxmlformats.org/drawingml/2006/main">
              <a:ext uri="{FF2B5EF4-FFF2-40B4-BE49-F238E27FC236}">
                <a16:creationId xmlns:a16="http://schemas.microsoft.com/office/drawing/2014/main" id="{BB6BCBD8-F485-401E-BBB5-0656183C5135}"/>
              </a:ext>
            </a:extLst>
          </p:cNvPr>
          <p:cNvSpPr>
            <a:spLocks xmlns:a="http://schemas.openxmlformats.org/drawingml/2006/main" noGrp="1"/>
          </p:cNvSpPr>
          <p:nvPr/>
        </p:nvSpPr>
        <p:spPr>
          <a:xfrm xmlns:a="http://schemas.openxmlformats.org/drawingml/2006/main">
            <a:off x="3105150" y="3914775"/>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The embedding predicts worse than a constant baseline.</a:t>
            </a:r>
          </a:p>
        </p:txBody>
      </p:sp>
      <p:sp>
        <p:nvSpPr>
          <p:cNvPr id="19" name="">
            <a:extLst xmlns:a="http://schemas.openxmlformats.org/drawingml/2006/main">
              <a:ext uri="{FF2B5EF4-FFF2-40B4-BE49-F238E27FC236}">
                <a16:creationId xmlns:a16="http://schemas.microsoft.com/office/drawing/2014/main" id="{3F6E352E-D5AA-46E3-B022-CE95B4D3D0D3}"/>
              </a:ext>
            </a:extLst>
          </p:cNvPr>
          <p:cNvSpPr>
            <a:spLocks xmlns:a="http://schemas.openxmlformats.org/drawingml/2006/main" noGrp="1"/>
          </p:cNvSpPr>
          <p:nvPr/>
        </p:nvSpPr>
        <p:spPr>
          <a:xfrm xmlns:a="http://schemas.openxmlformats.org/drawingml/2006/main">
            <a:off x="1714500" y="5257800"/>
            <a:ext cx="8763000" cy="590550"/>
          </a:xfrm>
          <a:prstGeom xmlns:a="http://schemas.openxmlformats.org/drawingml/2006/main" prst="roundRect">
            <a:avLst>
              <a:gd name="adj" fmla="val 19355"/>
            </a:avLst>
          </a:prstGeom>
          <a:solidFill xmlns:a="http://schemas.openxmlformats.org/drawingml/2006/main">
            <a:srgbClr val="102A43"/>
          </a:solidFill>
          <a:ln xmlns:a="http://schemas.openxmlformats.org/drawingml/2006/main" w="9525">
            <a:solidFill>
              <a:srgbClr val="102A43"/>
            </a:solidFill>
            <a:prstDash val="solid"/>
          </a:ln>
        </p:spPr>
      </p:sp>
      <p:sp>
        <p:nvSpPr>
          <p:cNvPr id="20" name="">
            <a:extLst xmlns:a="http://schemas.openxmlformats.org/drawingml/2006/main">
              <a:ext uri="{FF2B5EF4-FFF2-40B4-BE49-F238E27FC236}">
                <a16:creationId xmlns:a16="http://schemas.microsoft.com/office/drawing/2014/main" id="{3B6AA1F7-0708-4DC4-AD55-2B38A9D404A5}"/>
              </a:ext>
            </a:extLst>
          </p:cNvPr>
          <p:cNvSpPr>
            <a:spLocks xmlns:a="http://schemas.openxmlformats.org/drawingml/2006/main" noGrp="1"/>
          </p:cNvSpPr>
          <p:nvPr/>
        </p:nvSpPr>
        <p:spPr>
          <a:xfrm xmlns:a="http://schemas.openxmlformats.org/drawingml/2006/main">
            <a:off x="2019300" y="5419725"/>
            <a:ext cx="8153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474"/>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This is a representation failure—not a clinical conclusion.</a:t>
            </a:r>
          </a:p>
        </p:txBody>
      </p:sp>
    </p:spTree>
    <p:extLst>
      <p:ext uri="{BB962C8B-B14F-4D97-AF65-F5344CB8AC3E}">
        <p14:creationId xmlns:p14="http://schemas.microsoft.com/office/powerpoint/2010/main" val="167093510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092AD32-C706-4F09-8A1F-6FC4705355D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4BC301EF-7385-47BC-9892-C79A27206D2E}"/>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PARITY METHODOLOGY</a:t>
            </a:r>
          </a:p>
        </p:txBody>
      </p:sp>
      <p:sp>
        <p:nvSpPr>
          <p:cNvPr id="3" name="">
            <a:extLst xmlns:a="http://schemas.openxmlformats.org/drawingml/2006/main">
              <a:ext uri="{FF2B5EF4-FFF2-40B4-BE49-F238E27FC236}">
                <a16:creationId xmlns:a16="http://schemas.microsoft.com/office/drawing/2014/main" id="{84C5CB0E-808B-4289-883D-ECA3617C45BF}"/>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A correct mirror changes more than coordinates</a:t>
            </a:r>
          </a:p>
        </p:txBody>
      </p:sp>
      <p:sp>
        <p:nvSpPr>
          <p:cNvPr id="4" name="">
            <a:extLst xmlns:a="http://schemas.openxmlformats.org/drawingml/2006/main">
              <a:ext uri="{FF2B5EF4-FFF2-40B4-BE49-F238E27FC236}">
                <a16:creationId xmlns:a16="http://schemas.microsoft.com/office/drawing/2014/main" id="{C9431B3C-3628-4BCB-B6C4-E1FEC15A3C83}"/>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9B0F215A-0EAE-47B5-8943-D92C299D0001}"/>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4D236D3A-382B-45AF-94AA-C501DEABA93F}"/>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Reflecting coordinates alone can create an anatomically impossible example.</a:t>
            </a:r>
          </a:p>
        </p:txBody>
      </p:sp>
      <p:sp>
        <p:nvSpPr>
          <p:cNvPr id="7" name="">
            <a:extLst xmlns:a="http://schemas.openxmlformats.org/drawingml/2006/main">
              <a:ext uri="{FF2B5EF4-FFF2-40B4-BE49-F238E27FC236}">
                <a16:creationId xmlns:a16="http://schemas.microsoft.com/office/drawing/2014/main" id="{0E300AB3-DBDB-4012-9775-86A944C23749}"/>
              </a:ext>
            </a:extLst>
          </p:cNvPr>
          <p:cNvSpPr>
            <a:spLocks xmlns:a="http://schemas.openxmlformats.org/drawingml/2006/main" noGrp="1"/>
          </p:cNvSpPr>
          <p:nvPr/>
        </p:nvSpPr>
        <p:spPr>
          <a:xfrm xmlns:a="http://schemas.openxmlformats.org/drawingml/2006/main">
            <a:off x="3835400" y="2714625"/>
            <a:ext cx="24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24983"/>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7D34510A-4CCD-4842-AEC8-CC54B4C620F0}"/>
              </a:ext>
            </a:extLst>
          </p:cNvPr>
          <p:cNvSpPr>
            <a:spLocks xmlns:a="http://schemas.openxmlformats.org/drawingml/2006/main" noGrp="1"/>
          </p:cNvSpPr>
          <p:nvPr/>
        </p:nvSpPr>
        <p:spPr>
          <a:xfrm xmlns:a="http://schemas.openxmlformats.org/drawingml/2006/main">
            <a:off x="514350"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3D8DFF"/>
                </a:solidFill>
                <a:latin typeface="Arial"/>
                <a:ea typeface="Arial"/>
                <a:cs typeface="Arial"/>
              </a:defRPr>
            </a:pPr>
            <a:r>
              <a:rPr sz="2175" b="1">
                <a:solidFill>
                  <a:srgbClr val="3D8D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2B236A12-0D03-412C-9CC1-B8F6A96104E4}"/>
              </a:ext>
            </a:extLst>
          </p:cNvPr>
          <p:cNvSpPr>
            <a:spLocks xmlns:a="http://schemas.openxmlformats.org/drawingml/2006/main" noGrp="1"/>
          </p:cNvSpPr>
          <p:nvPr/>
        </p:nvSpPr>
        <p:spPr>
          <a:xfrm xmlns:a="http://schemas.openxmlformats.org/drawingml/2006/main">
            <a:off x="533400" y="2743200"/>
            <a:ext cx="31877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231D0655-3B52-4075-A2E9-A67B243B0360}"/>
              </a:ext>
            </a:extLst>
          </p:cNvPr>
          <p:cNvSpPr>
            <a:spLocks xmlns:a="http://schemas.openxmlformats.org/drawingml/2006/main" noGrp="1"/>
          </p:cNvSpPr>
          <p:nvPr/>
        </p:nvSpPr>
        <p:spPr>
          <a:xfrm xmlns:a="http://schemas.openxmlformats.org/drawingml/2006/main">
            <a:off x="533400" y="2971800"/>
            <a:ext cx="3187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Flip the axis</a:t>
            </a:r>
          </a:p>
        </p:txBody>
      </p:sp>
      <p:sp>
        <p:nvSpPr>
          <p:cNvPr id="11" name="">
            <a:extLst xmlns:a="http://schemas.openxmlformats.org/drawingml/2006/main">
              <a:ext uri="{FF2B5EF4-FFF2-40B4-BE49-F238E27FC236}">
                <a16:creationId xmlns:a16="http://schemas.microsoft.com/office/drawing/2014/main" id="{A24E52F8-6D49-4EC5-87D1-243544F93B1D}"/>
              </a:ext>
            </a:extLst>
          </p:cNvPr>
          <p:cNvSpPr>
            <a:spLocks xmlns:a="http://schemas.openxmlformats.org/drawingml/2006/main" noGrp="1"/>
          </p:cNvSpPr>
          <p:nvPr/>
        </p:nvSpPr>
        <p:spPr>
          <a:xfrm xmlns:a="http://schemas.openxmlformats.org/drawingml/2006/main">
            <a:off x="590550" y="3733800"/>
            <a:ext cx="3073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Negate the left–right coordinate</a:t>
            </a:r>
          </a:p>
        </p:txBody>
      </p:sp>
      <p:sp>
        <p:nvSpPr>
          <p:cNvPr id="12" name="">
            <a:extLst xmlns:a="http://schemas.openxmlformats.org/drawingml/2006/main">
              <a:ext uri="{FF2B5EF4-FFF2-40B4-BE49-F238E27FC236}">
                <a16:creationId xmlns:a16="http://schemas.microsoft.com/office/drawing/2014/main" id="{F1884B10-060F-4D80-82AE-87DCB6BE310C}"/>
              </a:ext>
            </a:extLst>
          </p:cNvPr>
          <p:cNvSpPr>
            <a:spLocks xmlns:a="http://schemas.openxmlformats.org/drawingml/2006/main" noGrp="1"/>
          </p:cNvSpPr>
          <p:nvPr/>
        </p:nvSpPr>
        <p:spPr>
          <a:xfrm xmlns:a="http://schemas.openxmlformats.org/drawingml/2006/main">
            <a:off x="7499350" y="2714625"/>
            <a:ext cx="247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24983"/>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DBD64EA2-AFA9-451D-992F-743747F7C914}"/>
              </a:ext>
            </a:extLst>
          </p:cNvPr>
          <p:cNvSpPr>
            <a:spLocks xmlns:a="http://schemas.openxmlformats.org/drawingml/2006/main" noGrp="1"/>
          </p:cNvSpPr>
          <p:nvPr/>
        </p:nvSpPr>
        <p:spPr>
          <a:xfrm xmlns:a="http://schemas.openxmlformats.org/drawingml/2006/main">
            <a:off x="4178300"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D95D5D"/>
                </a:solidFill>
                <a:latin typeface="Arial"/>
                <a:ea typeface="Arial"/>
                <a:cs typeface="Arial"/>
              </a:defRPr>
            </a:pPr>
            <a:r>
              <a:rPr sz="2175" b="1">
                <a:solidFill>
                  <a:srgbClr val="D95D5D"/>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4F37CD2E-5709-4E8A-B204-568B8577242D}"/>
              </a:ext>
            </a:extLst>
          </p:cNvPr>
          <p:cNvSpPr>
            <a:spLocks xmlns:a="http://schemas.openxmlformats.org/drawingml/2006/main" noGrp="1"/>
          </p:cNvSpPr>
          <p:nvPr/>
        </p:nvSpPr>
        <p:spPr>
          <a:xfrm xmlns:a="http://schemas.openxmlformats.org/drawingml/2006/main">
            <a:off x="4197350" y="2743200"/>
            <a:ext cx="3187700" cy="47625"/>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15" name="">
            <a:extLst xmlns:a="http://schemas.openxmlformats.org/drawingml/2006/main">
              <a:ext uri="{FF2B5EF4-FFF2-40B4-BE49-F238E27FC236}">
                <a16:creationId xmlns:a16="http://schemas.microsoft.com/office/drawing/2014/main" id="{7F7BDF15-B319-49B2-8DA1-689F1424D395}"/>
              </a:ext>
            </a:extLst>
          </p:cNvPr>
          <p:cNvSpPr>
            <a:spLocks xmlns:a="http://schemas.openxmlformats.org/drawingml/2006/main" noGrp="1"/>
          </p:cNvSpPr>
          <p:nvPr/>
        </p:nvSpPr>
        <p:spPr>
          <a:xfrm xmlns:a="http://schemas.openxmlformats.org/drawingml/2006/main">
            <a:off x="4197350" y="2971800"/>
            <a:ext cx="3187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Swap identities</a:t>
            </a:r>
          </a:p>
        </p:txBody>
      </p:sp>
      <p:sp>
        <p:nvSpPr>
          <p:cNvPr id="16" name="">
            <a:extLst xmlns:a="http://schemas.openxmlformats.org/drawingml/2006/main">
              <a:ext uri="{FF2B5EF4-FFF2-40B4-BE49-F238E27FC236}">
                <a16:creationId xmlns:a16="http://schemas.microsoft.com/office/drawing/2014/main" id="{9289B5FB-C7A5-4E71-ADF3-BBCC36D71658}"/>
              </a:ext>
            </a:extLst>
          </p:cNvPr>
          <p:cNvSpPr>
            <a:spLocks xmlns:a="http://schemas.openxmlformats.org/drawingml/2006/main" noGrp="1"/>
          </p:cNvSpPr>
          <p:nvPr/>
        </p:nvSpPr>
        <p:spPr>
          <a:xfrm xmlns:a="http://schemas.openxmlformats.org/drawingml/2006/main">
            <a:off x="4254500" y="3733800"/>
            <a:ext cx="3073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Exchange every paired left and right landmark</a:t>
            </a:r>
          </a:p>
        </p:txBody>
      </p:sp>
      <p:sp>
        <p:nvSpPr>
          <p:cNvPr id="17" name="">
            <a:extLst xmlns:a="http://schemas.openxmlformats.org/drawingml/2006/main">
              <a:ext uri="{FF2B5EF4-FFF2-40B4-BE49-F238E27FC236}">
                <a16:creationId xmlns:a16="http://schemas.microsoft.com/office/drawing/2014/main" id="{116B46D5-E8EF-4EA6-AEF6-9FB7DB2D6482}"/>
              </a:ext>
            </a:extLst>
          </p:cNvPr>
          <p:cNvSpPr>
            <a:spLocks xmlns:a="http://schemas.openxmlformats.org/drawingml/2006/main" noGrp="1"/>
          </p:cNvSpPr>
          <p:nvPr/>
        </p:nvSpPr>
        <p:spPr>
          <a:xfrm xmlns:a="http://schemas.openxmlformats.org/drawingml/2006/main">
            <a:off x="7842250" y="209550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100000"/>
          </a:bodyPr>
          <a:lstStyle xmlns:a="http://schemas.openxmlformats.org/drawingml/2006/main"/>
          <a:p xmlns:a="http://schemas.openxmlformats.org/drawingml/2006/main">
            <a:pPr algn="ctr">
              <a:defRPr sz="2175" b="1">
                <a:solidFill>
                  <a:srgbClr val="F4A261"/>
                </a:solidFill>
                <a:latin typeface="Arial"/>
                <a:ea typeface="Arial"/>
                <a:cs typeface="Arial"/>
              </a:defRPr>
            </a:pPr>
            <a:r>
              <a:rPr sz="2175" b="1">
                <a:solidFill>
                  <a:srgbClr val="F4A261"/>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310FE268-15B8-4460-9D5D-28BAABE0339A}"/>
              </a:ext>
            </a:extLst>
          </p:cNvPr>
          <p:cNvSpPr>
            <a:spLocks xmlns:a="http://schemas.openxmlformats.org/drawingml/2006/main" noGrp="1"/>
          </p:cNvSpPr>
          <p:nvPr/>
        </p:nvSpPr>
        <p:spPr>
          <a:xfrm xmlns:a="http://schemas.openxmlformats.org/drawingml/2006/main">
            <a:off x="7861300" y="2743200"/>
            <a:ext cx="3187700" cy="47625"/>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9" name="">
            <a:extLst xmlns:a="http://schemas.openxmlformats.org/drawingml/2006/main">
              <a:ext uri="{FF2B5EF4-FFF2-40B4-BE49-F238E27FC236}">
                <a16:creationId xmlns:a16="http://schemas.microsoft.com/office/drawing/2014/main" id="{07FB5ECE-6206-4A62-BD36-B64A9F0F1B5F}"/>
              </a:ext>
            </a:extLst>
          </p:cNvPr>
          <p:cNvSpPr>
            <a:spLocks xmlns:a="http://schemas.openxmlformats.org/drawingml/2006/main" noGrp="1"/>
          </p:cNvSpPr>
          <p:nvPr/>
        </p:nvSpPr>
        <p:spPr>
          <a:xfrm xmlns:a="http://schemas.openxmlformats.org/drawingml/2006/main">
            <a:off x="7861300" y="2971800"/>
            <a:ext cx="3187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Swap confidence</a:t>
            </a:r>
          </a:p>
        </p:txBody>
      </p:sp>
      <p:sp>
        <p:nvSpPr>
          <p:cNvPr id="20" name="">
            <a:extLst xmlns:a="http://schemas.openxmlformats.org/drawingml/2006/main">
              <a:ext uri="{FF2B5EF4-FFF2-40B4-BE49-F238E27FC236}">
                <a16:creationId xmlns:a16="http://schemas.microsoft.com/office/drawing/2014/main" id="{2AD9BD13-C4AB-48F7-B732-D453ED9E08F9}"/>
              </a:ext>
            </a:extLst>
          </p:cNvPr>
          <p:cNvSpPr>
            <a:spLocks xmlns:a="http://schemas.openxmlformats.org/drawingml/2006/main" noGrp="1"/>
          </p:cNvSpPr>
          <p:nvPr/>
        </p:nvSpPr>
        <p:spPr>
          <a:xfrm xmlns:a="http://schemas.openxmlformats.org/drawingml/2006/main">
            <a:off x="7918450" y="3733800"/>
            <a:ext cx="30734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0">
                <a:solidFill>
                  <a:srgbClr val="52606D"/>
                </a:solidFill>
                <a:latin typeface="Arial"/>
                <a:ea typeface="Arial"/>
                <a:cs typeface="Arial"/>
              </a:defRPr>
            </a:pPr>
            <a:r>
              <a:rPr sz="1350" b="0">
                <a:solidFill>
                  <a:srgbClr val="52606D"/>
                </a:solidFill>
                <a:latin typeface="Arial"/>
                <a:ea typeface="Arial"/>
                <a:cs typeface="Arial"/>
              </a:rPr>
              <a:t>• Move visibility and confidence with the landmark</a:t>
            </a:r>
          </a:p>
        </p:txBody>
      </p:sp>
      <p:sp>
        <p:nvSpPr>
          <p:cNvPr id="21" name="">
            <a:extLst xmlns:a="http://schemas.openxmlformats.org/drawingml/2006/main">
              <a:ext uri="{FF2B5EF4-FFF2-40B4-BE49-F238E27FC236}">
                <a16:creationId xmlns:a16="http://schemas.microsoft.com/office/drawing/2014/main" id="{6A1DBC26-1A9C-4589-922B-CAB214E3586C}"/>
              </a:ext>
            </a:extLst>
          </p:cNvPr>
          <p:cNvSpPr>
            <a:spLocks xmlns:a="http://schemas.openxmlformats.org/drawingml/2006/main" noGrp="1"/>
          </p:cNvSpPr>
          <p:nvPr/>
        </p:nvSpPr>
        <p:spPr>
          <a:xfrm xmlns:a="http://schemas.openxmlformats.org/drawingml/2006/main">
            <a:off x="1409700" y="5095875"/>
            <a:ext cx="9372600" cy="685800"/>
          </a:xfrm>
          <a:prstGeom xmlns:a="http://schemas.openxmlformats.org/drawingml/2006/main" prst="roundRect">
            <a:avLst>
              <a:gd name="adj" fmla="val 16667"/>
            </a:avLst>
          </a:prstGeom>
          <a:solidFill xmlns:a="http://schemas.openxmlformats.org/drawingml/2006/main">
            <a:srgbClr val="EAF5FB"/>
          </a:solidFill>
          <a:ln xmlns:a="http://schemas.openxmlformats.org/drawingml/2006/main" w="9525">
            <a:solidFill>
              <a:srgbClr val="6D5BD0"/>
            </a:solidFill>
            <a:prstDash val="solid"/>
          </a:ln>
        </p:spPr>
      </p:sp>
      <p:sp>
        <p:nvSpPr>
          <p:cNvPr id="22" name="">
            <a:extLst xmlns:a="http://schemas.openxmlformats.org/drawingml/2006/main">
              <a:ext uri="{FF2B5EF4-FFF2-40B4-BE49-F238E27FC236}">
                <a16:creationId xmlns:a16="http://schemas.microsoft.com/office/drawing/2014/main" id="{6CBA878A-D27C-405D-8E7E-73DB5091E73A}"/>
              </a:ext>
            </a:extLst>
          </p:cNvPr>
          <p:cNvSpPr>
            <a:spLocks xmlns:a="http://schemas.openxmlformats.org/drawingml/2006/main" noGrp="1"/>
          </p:cNvSpPr>
          <p:nvPr/>
        </p:nvSpPr>
        <p:spPr>
          <a:xfrm xmlns:a="http://schemas.openxmlformats.org/drawingml/2006/main">
            <a:off x="1714500" y="52959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6342"/>
          </a:bodyPr>
          <a:lstStyle xmlns:a="http://schemas.openxmlformats.org/drawingml/2006/main"/>
          <a:p xmlns:a="http://schemas.openxmlformats.org/drawingml/2006/main">
            <a:pPr algn="ctr">
              <a:defRPr sz="1500" b="1">
                <a:solidFill>
                  <a:srgbClr val="102A43"/>
                </a:solidFill>
                <a:latin typeface="Arial"/>
                <a:ea typeface="Arial"/>
                <a:cs typeface="Arial"/>
              </a:defRPr>
            </a:pPr>
            <a:r>
              <a:rPr sz="1500" b="1">
                <a:solidFill>
                  <a:srgbClr val="102A43"/>
                </a:solidFill>
                <a:latin typeface="Arial"/>
                <a:ea typeface="Arial"/>
                <a:cs typeface="Arial"/>
              </a:rPr>
              <a:t>Applying the mirror twice should recover the original—but real odd/even checks are also required.</a:t>
            </a:r>
          </a:p>
        </p:txBody>
      </p:sp>
    </p:spTree>
    <p:extLst>
      <p:ext uri="{BB962C8B-B14F-4D97-AF65-F5344CB8AC3E}">
        <p14:creationId xmlns:p14="http://schemas.microsoft.com/office/powerpoint/2010/main" val="5389229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0125D70-9EF3-4A11-BC75-4BA0CD8CBA0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5C7BB355-FCA9-4490-9F3D-DD9F112CEFA9}"/>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PARITY METHODOLOGY</a:t>
            </a:r>
          </a:p>
        </p:txBody>
      </p:sp>
      <p:sp>
        <p:nvSpPr>
          <p:cNvPr id="3" name="">
            <a:extLst xmlns:a="http://schemas.openxmlformats.org/drawingml/2006/main">
              <a:ext uri="{FF2B5EF4-FFF2-40B4-BE49-F238E27FC236}">
                <a16:creationId xmlns:a16="http://schemas.microsoft.com/office/drawing/2014/main" id="{D7BC167B-46C7-4A82-B262-48374452C1BE}"/>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Three models isolate what internal parity contributes</a:t>
            </a:r>
          </a:p>
        </p:txBody>
      </p:sp>
      <p:sp>
        <p:nvSpPr>
          <p:cNvPr id="4" name="">
            <a:extLst xmlns:a="http://schemas.openxmlformats.org/drawingml/2006/main">
              <a:ext uri="{FF2B5EF4-FFF2-40B4-BE49-F238E27FC236}">
                <a16:creationId xmlns:a16="http://schemas.microsoft.com/office/drawing/2014/main" id="{2A151757-39EC-4D94-B2B8-EF563F89C1EA}"/>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7ED600C-1DD3-4206-A0E1-323A3751831A}"/>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0975EB2-0F92-4783-9F76-DBF73FC5E324}"/>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strongest comparison is not structured versus unstructured—it is structured versus two strong alternatives.</a:t>
            </a:r>
          </a:p>
        </p:txBody>
      </p:sp>
      <p:sp>
        <p:nvSpPr>
          <p:cNvPr id="7" name="">
            <a:extLst xmlns:a="http://schemas.openxmlformats.org/drawingml/2006/main">
              <a:ext uri="{FF2B5EF4-FFF2-40B4-BE49-F238E27FC236}">
                <a16:creationId xmlns:a16="http://schemas.microsoft.com/office/drawing/2014/main" id="{FACE50CC-B4C6-49C6-B6D6-1B899D34BC63}"/>
              </a:ext>
            </a:extLst>
          </p:cNvPr>
          <p:cNvSpPr>
            <a:spLocks xmlns:a="http://schemas.openxmlformats.org/drawingml/2006/main" noGrp="1"/>
          </p:cNvSpPr>
          <p:nvPr/>
        </p:nvSpPr>
        <p:spPr>
          <a:xfrm xmlns:a="http://schemas.openxmlformats.org/drawingml/2006/main">
            <a:off x="590550" y="19431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500" b="1">
                <a:solidFill>
                  <a:srgbClr val="3D8DFF"/>
                </a:solidFill>
                <a:latin typeface="Arial"/>
                <a:ea typeface="Arial"/>
                <a:cs typeface="Arial"/>
              </a:defRPr>
            </a:pPr>
            <a:r>
              <a:rPr sz="1500" b="1">
                <a:solidFill>
                  <a:srgbClr val="3D8DFF"/>
                </a:solidFill>
                <a:latin typeface="Arial"/>
                <a:ea typeface="Arial"/>
                <a:cs typeface="Arial"/>
              </a:rPr>
              <a:t>FIX</a:t>
            </a:r>
          </a:p>
        </p:txBody>
      </p:sp>
      <p:sp>
        <p:nvSpPr>
          <p:cNvPr id="8" name="">
            <a:extLst xmlns:a="http://schemas.openxmlformats.org/drawingml/2006/main">
              <a:ext uri="{FF2B5EF4-FFF2-40B4-BE49-F238E27FC236}">
                <a16:creationId xmlns:a16="http://schemas.microsoft.com/office/drawing/2014/main" id="{29F76DB6-0FFC-4F4A-AB74-95BB2D279EF0}"/>
              </a:ext>
            </a:extLst>
          </p:cNvPr>
          <p:cNvSpPr>
            <a:spLocks xmlns:a="http://schemas.openxmlformats.org/drawingml/2006/main" noGrp="1"/>
          </p:cNvSpPr>
          <p:nvPr/>
        </p:nvSpPr>
        <p:spPr>
          <a:xfrm xmlns:a="http://schemas.openxmlformats.org/drawingml/2006/main">
            <a:off x="1676400" y="19050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Output repair</a:t>
            </a:r>
          </a:p>
        </p:txBody>
      </p:sp>
      <p:sp>
        <p:nvSpPr>
          <p:cNvPr id="9" name="">
            <a:extLst xmlns:a="http://schemas.openxmlformats.org/drawingml/2006/main">
              <a:ext uri="{FF2B5EF4-FFF2-40B4-BE49-F238E27FC236}">
                <a16:creationId xmlns:a16="http://schemas.microsoft.com/office/drawing/2014/main" id="{A64D14A1-37AD-406A-95A7-FA7917C8A92A}"/>
              </a:ext>
            </a:extLst>
          </p:cNvPr>
          <p:cNvSpPr>
            <a:spLocks xmlns:a="http://schemas.openxmlformats.org/drawingml/2006/main" noGrp="1"/>
          </p:cNvSpPr>
          <p:nvPr/>
        </p:nvSpPr>
        <p:spPr>
          <a:xfrm xmlns:a="http://schemas.openxmlformats.org/drawingml/2006/main">
            <a:off x="5219700" y="19050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Force the final prediction to flip sign with simple arithmetic.</a:t>
            </a:r>
          </a:p>
        </p:txBody>
      </p:sp>
      <p:sp>
        <p:nvSpPr>
          <p:cNvPr id="10" name="">
            <a:extLst xmlns:a="http://schemas.openxmlformats.org/drawingml/2006/main">
              <a:ext uri="{FF2B5EF4-FFF2-40B4-BE49-F238E27FC236}">
                <a16:creationId xmlns:a16="http://schemas.microsoft.com/office/drawing/2014/main" id="{D70F9F1B-EBCF-4547-B9EF-64D88F3DC199}"/>
              </a:ext>
            </a:extLst>
          </p:cNvPr>
          <p:cNvSpPr>
            <a:spLocks xmlns:a="http://schemas.openxmlformats.org/drawingml/2006/main" noGrp="1"/>
          </p:cNvSpPr>
          <p:nvPr/>
        </p:nvSpPr>
        <p:spPr>
          <a:xfrm xmlns:a="http://schemas.openxmlformats.org/drawingml/2006/main">
            <a:off x="1676400" y="2724150"/>
            <a:ext cx="897255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1" name="">
            <a:extLst xmlns:a="http://schemas.openxmlformats.org/drawingml/2006/main">
              <a:ext uri="{FF2B5EF4-FFF2-40B4-BE49-F238E27FC236}">
                <a16:creationId xmlns:a16="http://schemas.microsoft.com/office/drawing/2014/main" id="{5C5A0675-B867-4798-BD95-B1186A12756E}"/>
              </a:ext>
            </a:extLst>
          </p:cNvPr>
          <p:cNvSpPr>
            <a:spLocks xmlns:a="http://schemas.openxmlformats.org/drawingml/2006/main" noGrp="1"/>
          </p:cNvSpPr>
          <p:nvPr/>
        </p:nvSpPr>
        <p:spPr>
          <a:xfrm xmlns:a="http://schemas.openxmlformats.org/drawingml/2006/main">
            <a:off x="590550" y="306705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F4A261"/>
                </a:solidFill>
                <a:latin typeface="Arial"/>
                <a:ea typeface="Arial"/>
                <a:cs typeface="Arial"/>
              </a:defRPr>
            </a:pPr>
            <a:r>
              <a:rPr sz="1350" b="1">
                <a:solidFill>
                  <a:srgbClr val="F4A261"/>
                </a:solidFill>
                <a:latin typeface="Arial"/>
                <a:ea typeface="Arial"/>
                <a:cs typeface="Arial"/>
              </a:rPr>
              <a:t>PAIR</a:t>
            </a:r>
          </a:p>
        </p:txBody>
      </p:sp>
      <p:sp>
        <p:nvSpPr>
          <p:cNvPr id="12" name="">
            <a:extLst xmlns:a="http://schemas.openxmlformats.org/drawingml/2006/main">
              <a:ext uri="{FF2B5EF4-FFF2-40B4-BE49-F238E27FC236}">
                <a16:creationId xmlns:a16="http://schemas.microsoft.com/office/drawing/2014/main" id="{039918AF-8446-4323-A9CE-B2B268829F82}"/>
              </a:ext>
            </a:extLst>
          </p:cNvPr>
          <p:cNvSpPr>
            <a:spLocks xmlns:a="http://schemas.openxmlformats.org/drawingml/2006/main" noGrp="1"/>
          </p:cNvSpPr>
          <p:nvPr/>
        </p:nvSpPr>
        <p:spPr>
          <a:xfrm xmlns:a="http://schemas.openxmlformats.org/drawingml/2006/main">
            <a:off x="1676400" y="30289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Paired, unrestricted</a:t>
            </a:r>
          </a:p>
        </p:txBody>
      </p:sp>
      <p:sp>
        <p:nvSpPr>
          <p:cNvPr id="13" name="">
            <a:extLst xmlns:a="http://schemas.openxmlformats.org/drawingml/2006/main">
              <a:ext uri="{FF2B5EF4-FFF2-40B4-BE49-F238E27FC236}">
                <a16:creationId xmlns:a16="http://schemas.microsoft.com/office/drawing/2014/main" id="{5FCF8EDC-C60F-4619-BF99-54A1571E141C}"/>
              </a:ext>
            </a:extLst>
          </p:cNvPr>
          <p:cNvSpPr>
            <a:spLocks xmlns:a="http://schemas.openxmlformats.org/drawingml/2006/main" noGrp="1"/>
          </p:cNvSpPr>
          <p:nvPr/>
        </p:nvSpPr>
        <p:spPr>
          <a:xfrm xmlns:a="http://schemas.openxmlformats.org/drawingml/2006/main">
            <a:off x="5219700" y="302895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Give the model both views and the same opportunity to interact.</a:t>
            </a:r>
          </a:p>
        </p:txBody>
      </p:sp>
      <p:sp>
        <p:nvSpPr>
          <p:cNvPr id="14" name="">
            <a:extLst xmlns:a="http://schemas.openxmlformats.org/drawingml/2006/main">
              <a:ext uri="{FF2B5EF4-FFF2-40B4-BE49-F238E27FC236}">
                <a16:creationId xmlns:a16="http://schemas.microsoft.com/office/drawing/2014/main" id="{51FB38B6-FB30-4C39-9D60-D31813AD23EC}"/>
              </a:ext>
            </a:extLst>
          </p:cNvPr>
          <p:cNvSpPr>
            <a:spLocks xmlns:a="http://schemas.openxmlformats.org/drawingml/2006/main" noGrp="1"/>
          </p:cNvSpPr>
          <p:nvPr/>
        </p:nvSpPr>
        <p:spPr>
          <a:xfrm xmlns:a="http://schemas.openxmlformats.org/drawingml/2006/main">
            <a:off x="1676400" y="3848100"/>
            <a:ext cx="897255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5" name="">
            <a:extLst xmlns:a="http://schemas.openxmlformats.org/drawingml/2006/main">
              <a:ext uri="{FF2B5EF4-FFF2-40B4-BE49-F238E27FC236}">
                <a16:creationId xmlns:a16="http://schemas.microsoft.com/office/drawing/2014/main" id="{390D0869-CCB8-4C2B-9256-92835CAD55BD}"/>
              </a:ext>
            </a:extLst>
          </p:cNvPr>
          <p:cNvSpPr>
            <a:spLocks xmlns:a="http://schemas.openxmlformats.org/drawingml/2006/main" noGrp="1"/>
          </p:cNvSpPr>
          <p:nvPr/>
        </p:nvSpPr>
        <p:spPr>
          <a:xfrm xmlns:a="http://schemas.openxmlformats.org/drawingml/2006/main">
            <a:off x="590550" y="41910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2A9D8F"/>
                </a:solidFill>
                <a:latin typeface="Arial"/>
                <a:ea typeface="Arial"/>
                <a:cs typeface="Arial"/>
              </a:defRPr>
            </a:pPr>
            <a:r>
              <a:rPr sz="1350" b="1">
                <a:solidFill>
                  <a:srgbClr val="2A9D8F"/>
                </a:solidFill>
                <a:latin typeface="Arial"/>
                <a:ea typeface="Arial"/>
                <a:cs typeface="Arial"/>
              </a:rPr>
              <a:t>PARITY</a:t>
            </a:r>
          </a:p>
        </p:txBody>
      </p:sp>
      <p:sp>
        <p:nvSpPr>
          <p:cNvPr id="16" name="">
            <a:extLst xmlns:a="http://schemas.openxmlformats.org/drawingml/2006/main">
              <a:ext uri="{FF2B5EF4-FFF2-40B4-BE49-F238E27FC236}">
                <a16:creationId xmlns:a16="http://schemas.microsoft.com/office/drawing/2014/main" id="{40AFE99F-E5D4-40E8-B114-3C2827199BBC}"/>
              </a:ext>
            </a:extLst>
          </p:cNvPr>
          <p:cNvSpPr>
            <a:spLocks xmlns:a="http://schemas.openxmlformats.org/drawingml/2006/main" noGrp="1"/>
          </p:cNvSpPr>
          <p:nvPr/>
        </p:nvSpPr>
        <p:spPr>
          <a:xfrm xmlns:a="http://schemas.openxmlformats.org/drawingml/2006/main">
            <a:off x="1676400" y="41529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Equivariant encoder</a:t>
            </a:r>
          </a:p>
        </p:txBody>
      </p:sp>
      <p:sp>
        <p:nvSpPr>
          <p:cNvPr id="17" name="">
            <a:extLst xmlns:a="http://schemas.openxmlformats.org/drawingml/2006/main">
              <a:ext uri="{FF2B5EF4-FFF2-40B4-BE49-F238E27FC236}">
                <a16:creationId xmlns:a16="http://schemas.microsoft.com/office/drawing/2014/main" id="{9B58D259-93F7-4469-81D3-70708D82D0C0}"/>
              </a:ext>
            </a:extLst>
          </p:cNvPr>
          <p:cNvSpPr>
            <a:spLocks xmlns:a="http://schemas.openxmlformats.org/drawingml/2006/main" noGrp="1"/>
          </p:cNvSpPr>
          <p:nvPr/>
        </p:nvSpPr>
        <p:spPr>
          <a:xfrm xmlns:a="http://schemas.openxmlformats.org/drawingml/2006/main">
            <a:off x="5219700" y="41529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Require internal even and odd channels to obey the mirror rule.</a:t>
            </a:r>
          </a:p>
        </p:txBody>
      </p:sp>
      <p:sp>
        <p:nvSpPr>
          <p:cNvPr id="18" name="">
            <a:extLst xmlns:a="http://schemas.openxmlformats.org/drawingml/2006/main">
              <a:ext uri="{FF2B5EF4-FFF2-40B4-BE49-F238E27FC236}">
                <a16:creationId xmlns:a16="http://schemas.microsoft.com/office/drawing/2014/main" id="{E597340B-EF4E-4F35-889C-282973F8C3A1}"/>
              </a:ext>
            </a:extLst>
          </p:cNvPr>
          <p:cNvSpPr>
            <a:spLocks xmlns:a="http://schemas.openxmlformats.org/drawingml/2006/main" noGrp="1"/>
          </p:cNvSpPr>
          <p:nvPr/>
        </p:nvSpPr>
        <p:spPr>
          <a:xfrm xmlns:a="http://schemas.openxmlformats.org/drawingml/2006/main">
            <a:off x="1676400" y="5467350"/>
            <a:ext cx="8972550" cy="590550"/>
          </a:xfrm>
          <a:prstGeom xmlns:a="http://schemas.openxmlformats.org/drawingml/2006/main" prst="roundRect">
            <a:avLst>
              <a:gd name="adj" fmla="val 19355"/>
            </a:avLst>
          </a:prstGeom>
          <a:solidFill xmlns:a="http://schemas.openxmlformats.org/drawingml/2006/main">
            <a:srgbClr val="EAF5FB"/>
          </a:solidFill>
          <a:ln xmlns:a="http://schemas.openxmlformats.org/drawingml/2006/main" w="9525">
            <a:solidFill>
              <a:srgbClr val="6D5BD0"/>
            </a:solidFill>
            <a:prstDash val="solid"/>
          </a:ln>
        </p:spPr>
      </p:sp>
      <p:sp>
        <p:nvSpPr>
          <p:cNvPr id="19" name="">
            <a:extLst xmlns:a="http://schemas.openxmlformats.org/drawingml/2006/main">
              <a:ext uri="{FF2B5EF4-FFF2-40B4-BE49-F238E27FC236}">
                <a16:creationId xmlns:a16="http://schemas.microsoft.com/office/drawing/2014/main" id="{4C9809AA-77A6-4C2C-843E-0058BAD3B145}"/>
              </a:ext>
            </a:extLst>
          </p:cNvPr>
          <p:cNvSpPr>
            <a:spLocks xmlns:a="http://schemas.openxmlformats.org/drawingml/2006/main" noGrp="1"/>
          </p:cNvSpPr>
          <p:nvPr/>
        </p:nvSpPr>
        <p:spPr>
          <a:xfrm xmlns:a="http://schemas.openxmlformats.org/drawingml/2006/main">
            <a:off x="1924050" y="562927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474"/>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The question is whether organized internal parity beats both alternatives.</a:t>
            </a:r>
          </a:p>
        </p:txBody>
      </p:sp>
    </p:spTree>
    <p:extLst>
      <p:ext uri="{BB962C8B-B14F-4D97-AF65-F5344CB8AC3E}">
        <p14:creationId xmlns:p14="http://schemas.microsoft.com/office/powerpoint/2010/main" val="10532485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E4B4DBF-8CD7-468B-B956-1EA3D0D24D9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 name="">
            <a:extLst xmlns:a="http://schemas.openxmlformats.org/drawingml/2006/main">
              <a:ext uri="{FF2B5EF4-FFF2-40B4-BE49-F238E27FC236}">
                <a16:creationId xmlns:a16="http://schemas.microsoft.com/office/drawing/2014/main" id="{B09803D5-F75E-4B38-94BD-C98421917A4F}"/>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VALIDATION GATES</a:t>
            </a:r>
          </a:p>
        </p:txBody>
      </p:sp>
      <p:sp>
        <p:nvSpPr>
          <p:cNvPr id="3" name="">
            <a:extLst xmlns:a="http://schemas.openxmlformats.org/drawingml/2006/main">
              <a:ext uri="{FF2B5EF4-FFF2-40B4-BE49-F238E27FC236}">
                <a16:creationId xmlns:a16="http://schemas.microsoft.com/office/drawing/2014/main" id="{945CBD56-0ED0-479F-AADD-704466B68936}"/>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Perfect symmetry can still hide an empty representation</a:t>
            </a:r>
          </a:p>
        </p:txBody>
      </p:sp>
      <p:sp>
        <p:nvSpPr>
          <p:cNvPr id="4" name="">
            <a:extLst xmlns:a="http://schemas.openxmlformats.org/drawingml/2006/main">
              <a:ext uri="{FF2B5EF4-FFF2-40B4-BE49-F238E27FC236}">
                <a16:creationId xmlns:a16="http://schemas.microsoft.com/office/drawing/2014/main" id="{BE963DBD-536B-48F0-BF1A-CC2836200BAD}"/>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0A4F05B7-5368-4B55-9F99-3AD6EE2F1CA4}"/>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DECC7122-5BA0-4D60-8C88-FD2F66F8A586}"/>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An odd channel that is always zero satisfies the equation exactly.</a:t>
            </a:r>
          </a:p>
        </p:txBody>
      </p:sp>
      <p:sp>
        <p:nvSpPr>
          <p:cNvPr id="7" name="">
            <a:extLst xmlns:a="http://schemas.openxmlformats.org/drawingml/2006/main">
              <a:ext uri="{FF2B5EF4-FFF2-40B4-BE49-F238E27FC236}">
                <a16:creationId xmlns:a16="http://schemas.microsoft.com/office/drawing/2014/main" id="{F495391A-7F90-4FEF-A90C-24F6D45C34A9}"/>
              </a:ext>
            </a:extLst>
          </p:cNvPr>
          <p:cNvSpPr>
            <a:spLocks xmlns:a="http://schemas.openxmlformats.org/drawingml/2006/main" noGrp="1"/>
          </p:cNvSpPr>
          <p:nvPr/>
        </p:nvSpPr>
        <p:spPr>
          <a:xfrm xmlns:a="http://schemas.openxmlformats.org/drawingml/2006/main">
            <a:off x="666750" y="2076450"/>
            <a:ext cx="4286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5100" b="1">
                <a:solidFill>
                  <a:srgbClr val="F4A261"/>
                </a:solidFill>
                <a:latin typeface="Arial"/>
                <a:ea typeface="Arial"/>
                <a:cs typeface="Arial"/>
              </a:defRPr>
            </a:pPr>
            <a:r>
              <a:rPr sz="5100" b="1">
                <a:solidFill>
                  <a:srgbClr val="F4A261"/>
                </a:solidFill>
                <a:latin typeface="Arial"/>
                <a:ea typeface="Arial"/>
                <a:cs typeface="Arial"/>
              </a:rPr>
              <a:t>0 = −0</a:t>
            </a:r>
          </a:p>
        </p:txBody>
      </p:sp>
      <p:sp>
        <p:nvSpPr>
          <p:cNvPr id="8" name="">
            <a:extLst xmlns:a="http://schemas.openxmlformats.org/drawingml/2006/main">
              <a:ext uri="{FF2B5EF4-FFF2-40B4-BE49-F238E27FC236}">
                <a16:creationId xmlns:a16="http://schemas.microsoft.com/office/drawing/2014/main" id="{E00D3025-740C-422A-91EF-690A031EECC3}"/>
              </a:ext>
            </a:extLst>
          </p:cNvPr>
          <p:cNvSpPr>
            <a:spLocks xmlns:a="http://schemas.openxmlformats.org/drawingml/2006/main" noGrp="1"/>
          </p:cNvSpPr>
          <p:nvPr/>
        </p:nvSpPr>
        <p:spPr>
          <a:xfrm xmlns:a="http://schemas.openxmlformats.org/drawingml/2006/main">
            <a:off x="666750" y="3286125"/>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Perfect symmetry. No information.</a:t>
            </a:r>
          </a:p>
        </p:txBody>
      </p:sp>
      <p:sp>
        <p:nvSpPr>
          <p:cNvPr id="9" name="">
            <a:extLst xmlns:a="http://schemas.openxmlformats.org/drawingml/2006/main">
              <a:ext uri="{FF2B5EF4-FFF2-40B4-BE49-F238E27FC236}">
                <a16:creationId xmlns:a16="http://schemas.microsoft.com/office/drawing/2014/main" id="{8A4EB7D9-94ED-4B27-9076-9BE35C362206}"/>
              </a:ext>
            </a:extLst>
          </p:cNvPr>
          <p:cNvSpPr>
            <a:spLocks xmlns:a="http://schemas.openxmlformats.org/drawingml/2006/main" noGrp="1"/>
          </p:cNvSpPr>
          <p:nvPr/>
        </p:nvSpPr>
        <p:spPr>
          <a:xfrm xmlns:a="http://schemas.openxmlformats.org/drawingml/2006/main">
            <a:off x="5638800" y="1809750"/>
            <a:ext cx="9525" cy="314325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0" name="">
            <a:extLst xmlns:a="http://schemas.openxmlformats.org/drawingml/2006/main">
              <a:ext uri="{FF2B5EF4-FFF2-40B4-BE49-F238E27FC236}">
                <a16:creationId xmlns:a16="http://schemas.microsoft.com/office/drawing/2014/main" id="{90040777-90C4-45F7-96DF-211939847BC8}"/>
              </a:ext>
            </a:extLst>
          </p:cNvPr>
          <p:cNvSpPr>
            <a:spLocks xmlns:a="http://schemas.openxmlformats.org/drawingml/2006/main" noGrp="1"/>
          </p:cNvSpPr>
          <p:nvPr/>
        </p:nvSpPr>
        <p:spPr>
          <a:xfrm xmlns:a="http://schemas.openxmlformats.org/drawingml/2006/main">
            <a:off x="6153150" y="20193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498"/>
          </a:bodyPr>
          <a:lstStyle xmlns:a="http://schemas.openxmlformats.org/drawingml/2006/main"/>
          <a:p xmlns:a="http://schemas.openxmlformats.org/drawingml/2006/main">
            <a:pPr algn="l">
              <a:defRPr sz="2025" b="1">
                <a:solidFill>
                  <a:srgbClr val="102A43"/>
                </a:solidFill>
                <a:latin typeface="Arial"/>
                <a:ea typeface="Arial"/>
                <a:cs typeface="Arial"/>
              </a:defRPr>
            </a:pPr>
            <a:r>
              <a:rPr sz="2025" b="1">
                <a:solidFill>
                  <a:srgbClr val="102A43"/>
                </a:solidFill>
                <a:latin typeface="Arial"/>
                <a:ea typeface="Arial"/>
                <a:cs typeface="Arial"/>
              </a:rPr>
              <a:t>Before using the representation, check:</a:t>
            </a:r>
          </a:p>
        </p:txBody>
      </p:sp>
      <p:sp>
        <p:nvSpPr>
          <p:cNvPr id="11" name="">
            <a:extLst xmlns:a="http://schemas.openxmlformats.org/drawingml/2006/main">
              <a:ext uri="{FF2B5EF4-FFF2-40B4-BE49-F238E27FC236}">
                <a16:creationId xmlns:a16="http://schemas.microsoft.com/office/drawing/2014/main" id="{0B731E24-659E-4DEE-AE7E-DA4AE9863AB4}"/>
              </a:ext>
            </a:extLst>
          </p:cNvPr>
          <p:cNvSpPr>
            <a:spLocks xmlns:a="http://schemas.openxmlformats.org/drawingml/2006/main" noGrp="1"/>
          </p:cNvSpPr>
          <p:nvPr/>
        </p:nvSpPr>
        <p:spPr>
          <a:xfrm xmlns:a="http://schemas.openxmlformats.org/drawingml/2006/main">
            <a:off x="6153150" y="2895600"/>
            <a:ext cx="4762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Does the odd channel vary across people?</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Does it carry more than one trivial direction?</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Do deliberately broken controls fail?</a:t>
            </a:r>
          </a:p>
        </p:txBody>
      </p:sp>
      <p:sp>
        <p:nvSpPr>
          <p:cNvPr id="12" name="">
            <a:extLst xmlns:a="http://schemas.openxmlformats.org/drawingml/2006/main">
              <a:ext uri="{FF2B5EF4-FFF2-40B4-BE49-F238E27FC236}">
                <a16:creationId xmlns:a16="http://schemas.microsoft.com/office/drawing/2014/main" id="{01BC27FE-ED77-4054-B072-91850B506035}"/>
              </a:ext>
            </a:extLst>
          </p:cNvPr>
          <p:cNvSpPr>
            <a:spLocks xmlns:a="http://schemas.openxmlformats.org/drawingml/2006/main" noGrp="1"/>
          </p:cNvSpPr>
          <p:nvPr/>
        </p:nvSpPr>
        <p:spPr>
          <a:xfrm xmlns:a="http://schemas.openxmlformats.org/drawingml/2006/main">
            <a:off x="1676400" y="5257800"/>
            <a:ext cx="8839200" cy="609600"/>
          </a:xfrm>
          <a:prstGeom xmlns:a="http://schemas.openxmlformats.org/drawingml/2006/main" prst="roundRect">
            <a:avLst>
              <a:gd name="adj" fmla="val 18750"/>
            </a:avLst>
          </a:prstGeom>
          <a:solidFill xmlns:a="http://schemas.openxmlformats.org/drawingml/2006/main">
            <a:srgbClr val="FFF3E8"/>
          </a:solidFill>
          <a:ln xmlns:a="http://schemas.openxmlformats.org/drawingml/2006/main" w="9525">
            <a:solidFill>
              <a:srgbClr val="F4A261"/>
            </a:solidFill>
            <a:prstDash val="solid"/>
          </a:ln>
        </p:spPr>
      </p:sp>
      <p:sp>
        <p:nvSpPr>
          <p:cNvPr id="13" name="">
            <a:extLst xmlns:a="http://schemas.openxmlformats.org/drawingml/2006/main">
              <a:ext uri="{FF2B5EF4-FFF2-40B4-BE49-F238E27FC236}">
                <a16:creationId xmlns:a16="http://schemas.microsoft.com/office/drawing/2014/main" id="{CBECEFB8-B3DC-463F-A4D6-EA9C521FE99B}"/>
              </a:ext>
            </a:extLst>
          </p:cNvPr>
          <p:cNvSpPr>
            <a:spLocks xmlns:a="http://schemas.openxmlformats.org/drawingml/2006/main" noGrp="1"/>
          </p:cNvSpPr>
          <p:nvPr/>
        </p:nvSpPr>
        <p:spPr>
          <a:xfrm xmlns:a="http://schemas.openxmlformats.org/drawingml/2006/main">
            <a:off x="1962150" y="5429250"/>
            <a:ext cx="8267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474"/>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Treat exact parity as a contract test—not proof of useful information.</a:t>
            </a:r>
          </a:p>
        </p:txBody>
      </p:sp>
    </p:spTree>
    <p:extLst>
      <p:ext uri="{BB962C8B-B14F-4D97-AF65-F5344CB8AC3E}">
        <p14:creationId xmlns:p14="http://schemas.microsoft.com/office/powerpoint/2010/main" val="12997369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144589A-CE1A-42A2-9640-B75FD1C68FF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B56B7702-23D9-445B-A70E-5B78CD92DDC9}"/>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CONTROLLED EXPERIMENT</a:t>
            </a:r>
          </a:p>
        </p:txBody>
      </p:sp>
      <p:sp>
        <p:nvSpPr>
          <p:cNvPr id="3" name="">
            <a:extLst xmlns:a="http://schemas.openxmlformats.org/drawingml/2006/main">
              <a:ext uri="{FF2B5EF4-FFF2-40B4-BE49-F238E27FC236}">
                <a16:creationId xmlns:a16="http://schemas.microsoft.com/office/drawing/2014/main" id="{5B45EED9-809F-4BA9-9C69-0F08E31E62B0}"/>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GAVD experiment isolates mirror geometry</a:t>
            </a:r>
          </a:p>
        </p:txBody>
      </p:sp>
      <p:sp>
        <p:nvSpPr>
          <p:cNvPr id="4" name="">
            <a:extLst xmlns:a="http://schemas.openxmlformats.org/drawingml/2006/main">
              <a:ext uri="{FF2B5EF4-FFF2-40B4-BE49-F238E27FC236}">
                <a16:creationId xmlns:a16="http://schemas.microsoft.com/office/drawing/2014/main" id="{B0DD490C-6D10-4987-A410-C562DF97E2CB}"/>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1DDC908C-8352-4A65-9312-ED0EE25C9260}"/>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D508F53B-E718-410B-A198-127AD728C331}"/>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Every model sees the same real windows and is compared under two fairness checks.</a:t>
            </a:r>
          </a:p>
        </p:txBody>
      </p:sp>
      <p:sp>
        <p:nvSpPr>
          <p:cNvPr id="7" name="">
            <a:extLst xmlns:a="http://schemas.openxmlformats.org/drawingml/2006/main">
              <a:ext uri="{FF2B5EF4-FFF2-40B4-BE49-F238E27FC236}">
                <a16:creationId xmlns:a16="http://schemas.microsoft.com/office/drawing/2014/main" id="{728F9BEF-9E63-469A-BB73-1AE324D42AE9}"/>
              </a:ext>
            </a:extLst>
          </p:cNvPr>
          <p:cNvSpPr>
            <a:spLocks xmlns:a="http://schemas.openxmlformats.org/drawingml/2006/main" noGrp="1"/>
          </p:cNvSpPr>
          <p:nvPr/>
        </p:nvSpPr>
        <p:spPr>
          <a:xfrm xmlns:a="http://schemas.openxmlformats.org/drawingml/2006/main">
            <a:off x="533400" y="176212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145"/>
          </a:bodyPr>
          <a:lstStyle xmlns:a="http://schemas.openxmlformats.org/drawingml/2006/main"/>
          <a:p xmlns:a="http://schemas.openxmlformats.org/drawingml/2006/main">
            <a:pPr algn="ctr">
              <a:defRPr sz="2925" b="1">
                <a:solidFill>
                  <a:srgbClr val="3D8DFF"/>
                </a:solidFill>
                <a:latin typeface="Arial"/>
                <a:ea typeface="Arial"/>
                <a:cs typeface="Arial"/>
              </a:defRPr>
            </a:pPr>
            <a:r>
              <a:rPr sz="2925" b="1">
                <a:solidFill>
                  <a:srgbClr val="3D8DFF"/>
                </a:solidFill>
                <a:latin typeface="Arial"/>
                <a:ea typeface="Arial"/>
                <a:cs typeface="Arial"/>
              </a:rPr>
              <a:t>96</a:t>
            </a:r>
          </a:p>
        </p:txBody>
      </p:sp>
      <p:sp>
        <p:nvSpPr>
          <p:cNvPr id="8" name="">
            <a:extLst xmlns:a="http://schemas.openxmlformats.org/drawingml/2006/main">
              <a:ext uri="{FF2B5EF4-FFF2-40B4-BE49-F238E27FC236}">
                <a16:creationId xmlns:a16="http://schemas.microsoft.com/office/drawing/2014/main" id="{F0049035-6AB3-4C0B-A56B-4E0D979E6DB9}"/>
              </a:ext>
            </a:extLst>
          </p:cNvPr>
          <p:cNvSpPr>
            <a:spLocks xmlns:a="http://schemas.openxmlformats.org/drawingml/2006/main" noGrp="1"/>
          </p:cNvSpPr>
          <p:nvPr/>
        </p:nvSpPr>
        <p:spPr>
          <a:xfrm xmlns:a="http://schemas.openxmlformats.org/drawingml/2006/main">
            <a:off x="533400" y="2333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sequences</a:t>
            </a:r>
          </a:p>
        </p:txBody>
      </p:sp>
      <p:sp>
        <p:nvSpPr>
          <p:cNvPr id="9" name="">
            <a:extLst xmlns:a="http://schemas.openxmlformats.org/drawingml/2006/main">
              <a:ext uri="{FF2B5EF4-FFF2-40B4-BE49-F238E27FC236}">
                <a16:creationId xmlns:a16="http://schemas.microsoft.com/office/drawing/2014/main" id="{CFF3BF60-BA7C-4858-9F5E-D6EF9332FB41}"/>
              </a:ext>
            </a:extLst>
          </p:cNvPr>
          <p:cNvSpPr>
            <a:spLocks xmlns:a="http://schemas.openxmlformats.org/drawingml/2006/main" noGrp="1"/>
          </p:cNvSpPr>
          <p:nvPr/>
        </p:nvSpPr>
        <p:spPr>
          <a:xfrm xmlns:a="http://schemas.openxmlformats.org/drawingml/2006/main">
            <a:off x="3181350" y="176212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145"/>
          </a:bodyPr>
          <a:lstStyle xmlns:a="http://schemas.openxmlformats.org/drawingml/2006/main"/>
          <a:p xmlns:a="http://schemas.openxmlformats.org/drawingml/2006/main">
            <a:pPr algn="ctr">
              <a:defRPr sz="2925" b="1">
                <a:solidFill>
                  <a:srgbClr val="2A9D8F"/>
                </a:solidFill>
                <a:latin typeface="Arial"/>
                <a:ea typeface="Arial"/>
                <a:cs typeface="Arial"/>
              </a:defRPr>
            </a:pPr>
            <a:r>
              <a:rPr sz="2925" b="1">
                <a:solidFill>
                  <a:srgbClr val="2A9D8F"/>
                </a:solidFill>
                <a:latin typeface="Arial"/>
                <a:ea typeface="Arial"/>
                <a:cs typeface="Arial"/>
              </a:rPr>
              <a:t>18</a:t>
            </a:r>
          </a:p>
        </p:txBody>
      </p:sp>
      <p:sp>
        <p:nvSpPr>
          <p:cNvPr id="10" name="">
            <a:extLst xmlns:a="http://schemas.openxmlformats.org/drawingml/2006/main">
              <a:ext uri="{FF2B5EF4-FFF2-40B4-BE49-F238E27FC236}">
                <a16:creationId xmlns:a16="http://schemas.microsoft.com/office/drawing/2014/main" id="{D198C361-137F-4B81-80A3-FAB98112C73E}"/>
              </a:ext>
            </a:extLst>
          </p:cNvPr>
          <p:cNvSpPr>
            <a:spLocks xmlns:a="http://schemas.openxmlformats.org/drawingml/2006/main" noGrp="1"/>
          </p:cNvSpPr>
          <p:nvPr/>
        </p:nvSpPr>
        <p:spPr>
          <a:xfrm xmlns:a="http://schemas.openxmlformats.org/drawingml/2006/main">
            <a:off x="3181350" y="2333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source videos</a:t>
            </a:r>
          </a:p>
        </p:txBody>
      </p:sp>
      <p:sp>
        <p:nvSpPr>
          <p:cNvPr id="11" name="">
            <a:extLst xmlns:a="http://schemas.openxmlformats.org/drawingml/2006/main">
              <a:ext uri="{FF2B5EF4-FFF2-40B4-BE49-F238E27FC236}">
                <a16:creationId xmlns:a16="http://schemas.microsoft.com/office/drawing/2014/main" id="{E41CD91B-2307-4111-A73D-BB4A59C5DEC6}"/>
              </a:ext>
            </a:extLst>
          </p:cNvPr>
          <p:cNvSpPr>
            <a:spLocks xmlns:a="http://schemas.openxmlformats.org/drawingml/2006/main" noGrp="1"/>
          </p:cNvSpPr>
          <p:nvPr/>
        </p:nvSpPr>
        <p:spPr>
          <a:xfrm xmlns:a="http://schemas.openxmlformats.org/drawingml/2006/main">
            <a:off x="5829300" y="176212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145"/>
          </a:bodyPr>
          <a:lstStyle xmlns:a="http://schemas.openxmlformats.org/drawingml/2006/main"/>
          <a:p xmlns:a="http://schemas.openxmlformats.org/drawingml/2006/main">
            <a:pPr algn="ctr">
              <a:defRPr sz="2925" b="1">
                <a:solidFill>
                  <a:srgbClr val="F4A261"/>
                </a:solidFill>
                <a:latin typeface="Arial"/>
                <a:ea typeface="Arial"/>
                <a:cs typeface="Arial"/>
              </a:defRPr>
            </a:pPr>
            <a:r>
              <a:rPr sz="2925" b="1">
                <a:solidFill>
                  <a:srgbClr val="F4A261"/>
                </a:solidFill>
                <a:latin typeface="Arial"/>
                <a:ea typeface="Arial"/>
                <a:cs typeface="Arial"/>
              </a:rPr>
              <a:t>394</a:t>
            </a:r>
          </a:p>
        </p:txBody>
      </p:sp>
      <p:sp>
        <p:nvSpPr>
          <p:cNvPr id="12" name="">
            <a:extLst xmlns:a="http://schemas.openxmlformats.org/drawingml/2006/main">
              <a:ext uri="{FF2B5EF4-FFF2-40B4-BE49-F238E27FC236}">
                <a16:creationId xmlns:a16="http://schemas.microsoft.com/office/drawing/2014/main" id="{63AFBA29-1E18-4C0E-BCD1-314086B4975B}"/>
              </a:ext>
            </a:extLst>
          </p:cNvPr>
          <p:cNvSpPr>
            <a:spLocks xmlns:a="http://schemas.openxmlformats.org/drawingml/2006/main" noGrp="1"/>
          </p:cNvSpPr>
          <p:nvPr/>
        </p:nvSpPr>
        <p:spPr>
          <a:xfrm xmlns:a="http://schemas.openxmlformats.org/drawingml/2006/main">
            <a:off x="5829300" y="2333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windows</a:t>
            </a:r>
          </a:p>
        </p:txBody>
      </p:sp>
      <p:sp>
        <p:nvSpPr>
          <p:cNvPr id="13" name="">
            <a:extLst xmlns:a="http://schemas.openxmlformats.org/drawingml/2006/main">
              <a:ext uri="{FF2B5EF4-FFF2-40B4-BE49-F238E27FC236}">
                <a16:creationId xmlns:a16="http://schemas.microsoft.com/office/drawing/2014/main" id="{37D621AB-FBB4-4553-9D1D-DAA961A669A9}"/>
              </a:ext>
            </a:extLst>
          </p:cNvPr>
          <p:cNvSpPr>
            <a:spLocks xmlns:a="http://schemas.openxmlformats.org/drawingml/2006/main" noGrp="1"/>
          </p:cNvSpPr>
          <p:nvPr/>
        </p:nvSpPr>
        <p:spPr>
          <a:xfrm xmlns:a="http://schemas.openxmlformats.org/drawingml/2006/main">
            <a:off x="8477250" y="176212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145"/>
          </a:bodyPr>
          <a:lstStyle xmlns:a="http://schemas.openxmlformats.org/drawingml/2006/main"/>
          <a:p xmlns:a="http://schemas.openxmlformats.org/drawingml/2006/main">
            <a:pPr algn="ctr">
              <a:defRPr sz="2925" b="1">
                <a:solidFill>
                  <a:srgbClr val="6D5BD0"/>
                </a:solidFill>
                <a:latin typeface="Arial"/>
                <a:ea typeface="Arial"/>
                <a:cs typeface="Arial"/>
              </a:defRPr>
            </a:pPr>
            <a:r>
              <a:rPr sz="2925" b="1">
                <a:solidFill>
                  <a:srgbClr val="6D5BD0"/>
                </a:solidFill>
                <a:latin typeface="Arial"/>
                <a:ea typeface="Arial"/>
                <a:cs typeface="Arial"/>
              </a:rPr>
              <a:t>3</a:t>
            </a:r>
          </a:p>
        </p:txBody>
      </p:sp>
      <p:sp>
        <p:nvSpPr>
          <p:cNvPr id="14" name="">
            <a:extLst xmlns:a="http://schemas.openxmlformats.org/drawingml/2006/main">
              <a:ext uri="{FF2B5EF4-FFF2-40B4-BE49-F238E27FC236}">
                <a16:creationId xmlns:a16="http://schemas.microsoft.com/office/drawing/2014/main" id="{7AF10F98-5BBE-4095-976F-6E03F6D0E4C1}"/>
              </a:ext>
            </a:extLst>
          </p:cNvPr>
          <p:cNvSpPr>
            <a:spLocks xmlns:a="http://schemas.openxmlformats.org/drawingml/2006/main" noGrp="1"/>
          </p:cNvSpPr>
          <p:nvPr/>
        </p:nvSpPr>
        <p:spPr>
          <a:xfrm xmlns:a="http://schemas.openxmlformats.org/drawingml/2006/main">
            <a:off x="8477250" y="233362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5833"/>
          </a:bodyPr>
          <a:lstStyle xmlns:a="http://schemas.openxmlformats.org/drawingml/2006/main"/>
          <a:p xmlns:a="http://schemas.openxmlformats.org/drawingml/2006/main">
            <a:pPr algn="ctr">
              <a:defRPr sz="1200" b="0">
                <a:solidFill>
                  <a:srgbClr val="52606D"/>
                </a:solidFill>
                <a:latin typeface="Arial"/>
                <a:ea typeface="Arial"/>
                <a:cs typeface="Arial"/>
              </a:defRPr>
            </a:pPr>
            <a:r>
              <a:rPr sz="1200" b="0">
                <a:solidFill>
                  <a:srgbClr val="52606D"/>
                </a:solidFill>
                <a:latin typeface="Arial"/>
                <a:ea typeface="Arial"/>
                <a:cs typeface="Arial"/>
              </a:rPr>
              <a:t>paired seeds</a:t>
            </a:r>
          </a:p>
        </p:txBody>
      </p:sp>
      <p:sp>
        <p:nvSpPr>
          <p:cNvPr id="15" name="">
            <a:extLst xmlns:a="http://schemas.openxmlformats.org/drawingml/2006/main">
              <a:ext uri="{FF2B5EF4-FFF2-40B4-BE49-F238E27FC236}">
                <a16:creationId xmlns:a16="http://schemas.microsoft.com/office/drawing/2014/main" id="{962E218A-6BD8-4DF4-8DB4-F246AC33FB7A}"/>
              </a:ext>
            </a:extLst>
          </p:cNvPr>
          <p:cNvSpPr>
            <a:spLocks xmlns:a="http://schemas.openxmlformats.org/drawingml/2006/main" noGrp="1"/>
          </p:cNvSpPr>
          <p:nvPr/>
        </p:nvSpPr>
        <p:spPr>
          <a:xfrm xmlns:a="http://schemas.openxmlformats.org/drawingml/2006/main">
            <a:off x="762000" y="2857500"/>
            <a:ext cx="99060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6" name="">
            <a:extLst xmlns:a="http://schemas.openxmlformats.org/drawingml/2006/main">
              <a:ext uri="{FF2B5EF4-FFF2-40B4-BE49-F238E27FC236}">
                <a16:creationId xmlns:a16="http://schemas.microsoft.com/office/drawing/2014/main" id="{EEBBAE51-6D31-4FDA-8991-311961424177}"/>
              </a:ext>
            </a:extLst>
          </p:cNvPr>
          <p:cNvSpPr>
            <a:spLocks xmlns:a="http://schemas.openxmlformats.org/drawingml/2006/main" noGrp="1"/>
          </p:cNvSpPr>
          <p:nvPr/>
        </p:nvSpPr>
        <p:spPr>
          <a:xfrm xmlns:a="http://schemas.openxmlformats.org/drawingml/2006/main">
            <a:off x="819150" y="3209925"/>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100" b="1">
                <a:solidFill>
                  <a:srgbClr val="102A43"/>
                </a:solidFill>
                <a:latin typeface="Arial"/>
                <a:ea typeface="Arial"/>
                <a:cs typeface="Arial"/>
              </a:defRPr>
            </a:pPr>
            <a:r>
              <a:rPr sz="2100" b="1">
                <a:solidFill>
                  <a:srgbClr val="102A43"/>
                </a:solidFill>
                <a:latin typeface="Arial"/>
                <a:ea typeface="Arial"/>
                <a:cs typeface="Arial"/>
              </a:rPr>
              <a:t>Fair comparison</a:t>
            </a:r>
          </a:p>
        </p:txBody>
      </p:sp>
      <p:sp>
        <p:nvSpPr>
          <p:cNvPr id="17" name="">
            <a:extLst xmlns:a="http://schemas.openxmlformats.org/drawingml/2006/main">
              <a:ext uri="{FF2B5EF4-FFF2-40B4-BE49-F238E27FC236}">
                <a16:creationId xmlns:a16="http://schemas.microsoft.com/office/drawing/2014/main" id="{0D641A65-CE74-4EB2-923C-87F41CF62E47}"/>
              </a:ext>
            </a:extLst>
          </p:cNvPr>
          <p:cNvSpPr>
            <a:spLocks xmlns:a="http://schemas.openxmlformats.org/drawingml/2006/main" noGrp="1"/>
          </p:cNvSpPr>
          <p:nvPr/>
        </p:nvSpPr>
        <p:spPr>
          <a:xfrm xmlns:a="http://schemas.openxmlformats.org/drawingml/2006/main">
            <a:off x="3810000" y="3162300"/>
            <a:ext cx="6858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Equal data exposure</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Closely matched compute</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Run-for-run seed pairing</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Parameter counts reported, not hidden</a:t>
            </a:r>
          </a:p>
        </p:txBody>
      </p:sp>
      <p:sp>
        <p:nvSpPr>
          <p:cNvPr id="18" name="">
            <a:extLst xmlns:a="http://schemas.openxmlformats.org/drawingml/2006/main">
              <a:ext uri="{FF2B5EF4-FFF2-40B4-BE49-F238E27FC236}">
                <a16:creationId xmlns:a16="http://schemas.microsoft.com/office/drawing/2014/main" id="{0C5ABC12-471D-47D4-8325-D88214942535}"/>
              </a:ext>
            </a:extLst>
          </p:cNvPr>
          <p:cNvSpPr>
            <a:spLocks xmlns:a="http://schemas.openxmlformats.org/drawingml/2006/main" noGrp="1"/>
          </p:cNvSpPr>
          <p:nvPr/>
        </p:nvSpPr>
        <p:spPr>
          <a:xfrm xmlns:a="http://schemas.openxmlformats.org/drawingml/2006/main">
            <a:off x="1619250" y="5219700"/>
            <a:ext cx="8953500" cy="628650"/>
          </a:xfrm>
          <a:prstGeom xmlns:a="http://schemas.openxmlformats.org/drawingml/2006/main" prst="roundRect">
            <a:avLst>
              <a:gd name="adj" fmla="val 18182"/>
            </a:avLst>
          </a:prstGeom>
          <a:solidFill xmlns:a="http://schemas.openxmlformats.org/drawingml/2006/main">
            <a:srgbClr val="FFF3E8"/>
          </a:solidFill>
          <a:ln xmlns:a="http://schemas.openxmlformats.org/drawingml/2006/main" w="9525">
            <a:solidFill>
              <a:srgbClr val="F4A261"/>
            </a:solidFill>
            <a:prstDash val="solid"/>
          </a:ln>
        </p:spPr>
      </p:sp>
      <p:sp>
        <p:nvSpPr>
          <p:cNvPr id="19" name="">
            <a:extLst xmlns:a="http://schemas.openxmlformats.org/drawingml/2006/main">
              <a:ext uri="{FF2B5EF4-FFF2-40B4-BE49-F238E27FC236}">
                <a16:creationId xmlns:a16="http://schemas.microsoft.com/office/drawing/2014/main" id="{CA2182C0-01E0-4463-A65D-3ECC01A243B4}"/>
              </a:ext>
            </a:extLst>
          </p:cNvPr>
          <p:cNvSpPr>
            <a:spLocks xmlns:a="http://schemas.openxmlformats.org/drawingml/2006/main" noGrp="1"/>
          </p:cNvSpPr>
          <p:nvPr/>
        </p:nvSpPr>
        <p:spPr>
          <a:xfrm xmlns:a="http://schemas.openxmlformats.org/drawingml/2006/main">
            <a:off x="1924050" y="5391150"/>
            <a:ext cx="8343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246"/>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This experiment tests the implementation and audit. It does not test force prediction.</a:t>
            </a:r>
          </a:p>
        </p:txBody>
      </p:sp>
    </p:spTree>
    <p:extLst>
      <p:ext uri="{BB962C8B-B14F-4D97-AF65-F5344CB8AC3E}">
        <p14:creationId xmlns:p14="http://schemas.microsoft.com/office/powerpoint/2010/main" val="6637178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A0BF45B-1457-45A6-8D93-DDC3646F657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2" name="">
            <a:extLst xmlns:a="http://schemas.openxmlformats.org/drawingml/2006/main">
              <a:ext uri="{FF2B5EF4-FFF2-40B4-BE49-F238E27FC236}">
                <a16:creationId xmlns:a16="http://schemas.microsoft.com/office/drawing/2014/main" id="{0A01E435-A4EB-4340-94DF-E120592A0FBA}"/>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PARITY RESULTS</a:t>
            </a:r>
          </a:p>
        </p:txBody>
      </p:sp>
      <p:sp>
        <p:nvSpPr>
          <p:cNvPr id="3" name="">
            <a:extLst xmlns:a="http://schemas.openxmlformats.org/drawingml/2006/main">
              <a:ext uri="{FF2B5EF4-FFF2-40B4-BE49-F238E27FC236}">
                <a16:creationId xmlns:a16="http://schemas.microsoft.com/office/drawing/2014/main" id="{EEDB29E5-E75F-499B-9B4C-8D8090CEF828}"/>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constrained encoder obeys the mirror rule exactly</a:t>
            </a:r>
          </a:p>
        </p:txBody>
      </p:sp>
      <p:sp>
        <p:nvSpPr>
          <p:cNvPr id="4" name="">
            <a:extLst xmlns:a="http://schemas.openxmlformats.org/drawingml/2006/main">
              <a:ext uri="{FF2B5EF4-FFF2-40B4-BE49-F238E27FC236}">
                <a16:creationId xmlns:a16="http://schemas.microsoft.com/office/drawing/2014/main" id="{DCF9F405-AA2B-4331-850E-53B0C0DC9330}"/>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799EE1DB-A3DB-49ED-B5F6-10ED2BE7A331}"/>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008EAAC5-F280-4200-AF4F-27A4B382D331}"/>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audit compares the mirror-rule error of the unrestricted control and the equivariant encoder.</a:t>
            </a:r>
          </a:p>
        </p:txBody>
      </p:sp>
      <p:sp>
        <p:nvSpPr>
          <p:cNvPr id="7" name="">
            <a:extLst xmlns:a="http://schemas.openxmlformats.org/drawingml/2006/main">
              <a:ext uri="{FF2B5EF4-FFF2-40B4-BE49-F238E27FC236}">
                <a16:creationId xmlns:a16="http://schemas.microsoft.com/office/drawing/2014/main" id="{9A5107C4-8EC6-4B3A-9F48-E00349B42F39}"/>
              </a:ext>
            </a:extLst>
          </p:cNvPr>
          <p:cNvSpPr>
            <a:spLocks xmlns:a="http://schemas.openxmlformats.org/drawingml/2006/main" noGrp="1"/>
          </p:cNvSpPr>
          <p:nvPr/>
        </p:nvSpPr>
        <p:spPr>
          <a:xfrm xmlns:a="http://schemas.openxmlformats.org/drawingml/2006/main">
            <a:off x="457200" y="1752600"/>
            <a:ext cx="6572250" cy="3762375"/>
          </a:xfrm>
          <a:prstGeom xmlns:a="http://schemas.openxmlformats.org/drawingml/2006/main" prst="roundRect">
            <a:avLst>
              <a:gd name="adj" fmla="val 3038"/>
            </a:avLst>
          </a:prstGeom>
          <a:solidFill xmlns:a="http://schemas.openxmlformats.org/drawingml/2006/main">
            <a:srgbClr val="FFFFFF"/>
          </a:solidFill>
          <a:ln xmlns:a="http://schemas.openxmlformats.org/drawingml/2006/main" w="9525">
            <a:solidFill>
              <a:srgbClr val="C9D2DC"/>
            </a:solidFill>
            <a:prstDash val="solid"/>
          </a:ln>
        </p:spPr>
      </p:sp>
      <p:graphicFrame>
        <p:nvGraphicFramePr>
          <p:cNvPr id="21" name="Chart"/>
          <p:cNvGraphicFramePr/>
          <p:nvPr/>
        </p:nvGraphicFramePr>
        <p:xfrm>
          <a:off xmlns:a="http://schemas.openxmlformats.org/drawingml/2006/main" x="781050" y="2133600"/>
          <a:ext xmlns:a="http://schemas.openxmlformats.org/drawingml/2006/main" cx="5810250" cy="2667000"/>
        </p:xfrm>
        <a:graphic xmlns:a="http://schemas.openxmlformats.org/drawingml/2006/main">
          <a:graphicData uri="http://schemas.openxmlformats.org/drawingml/2006/chart">
            <c:chart xmlns:r="http://schemas.openxmlformats.org/officeDocument/2006/relationships" xmlns:c="http://schemas.openxmlformats.org/drawingml/2006/chart" r:id="Rafe0a8f572e143f3"/>
          </a:graphicData>
        </a:graphic>
      </p:graphicFrame>
      <p:sp>
        <p:nvSpPr>
          <p:cNvPr id="9" name="">
            <a:extLst xmlns:a="http://schemas.openxmlformats.org/drawingml/2006/main">
              <a:ext uri="{FF2B5EF4-FFF2-40B4-BE49-F238E27FC236}">
                <a16:creationId xmlns:a16="http://schemas.microsoft.com/office/drawing/2014/main" id="{DA78DCF8-D3A6-4C03-A63B-87E9A33E975D}"/>
              </a:ext>
            </a:extLst>
          </p:cNvPr>
          <p:cNvSpPr>
            <a:spLocks xmlns:a="http://schemas.openxmlformats.org/drawingml/2006/main" noGrp="1"/>
          </p:cNvSpPr>
          <p:nvPr/>
        </p:nvSpPr>
        <p:spPr>
          <a:xfrm xmlns:a="http://schemas.openxmlformats.org/drawingml/2006/main">
            <a:off x="1047750" y="49911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125" b="0">
                <a:solidFill>
                  <a:srgbClr val="52606D"/>
                </a:solidFill>
                <a:latin typeface="Arial"/>
                <a:ea typeface="Arial"/>
                <a:cs typeface="Arial"/>
              </a:defRPr>
            </a:pPr>
            <a:r>
              <a:rPr sz="1125" b="0">
                <a:solidFill>
                  <a:srgbClr val="52606D"/>
                </a:solidFill>
                <a:latin typeface="Arial"/>
                <a:ea typeface="Arial"/>
                <a:cs typeface="Arial"/>
              </a:rPr>
              <a:t>Mirror-rule error: lower is better</a:t>
            </a:r>
          </a:p>
        </p:txBody>
      </p:sp>
      <p:sp>
        <p:nvSpPr>
          <p:cNvPr id="10" name="">
            <a:extLst xmlns:a="http://schemas.openxmlformats.org/drawingml/2006/main">
              <a:ext uri="{FF2B5EF4-FFF2-40B4-BE49-F238E27FC236}">
                <a16:creationId xmlns:a16="http://schemas.microsoft.com/office/drawing/2014/main" id="{0530D26D-6A8E-40A9-A9AE-0C8918086387}"/>
              </a:ext>
            </a:extLst>
          </p:cNvPr>
          <p:cNvSpPr>
            <a:spLocks xmlns:a="http://schemas.openxmlformats.org/drawingml/2006/main" noGrp="1"/>
          </p:cNvSpPr>
          <p:nvPr/>
        </p:nvSpPr>
        <p:spPr>
          <a:xfrm xmlns:a="http://schemas.openxmlformats.org/drawingml/2006/main">
            <a:off x="7524750" y="18669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3103"/>
          </a:bodyPr>
          <a:lstStyle xmlns:a="http://schemas.openxmlformats.org/drawingml/2006/main"/>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What this means</a:t>
            </a:r>
          </a:p>
        </p:txBody>
      </p:sp>
      <p:sp>
        <p:nvSpPr>
          <p:cNvPr id="11" name="">
            <a:extLst xmlns:a="http://schemas.openxmlformats.org/drawingml/2006/main">
              <a:ext uri="{FF2B5EF4-FFF2-40B4-BE49-F238E27FC236}">
                <a16:creationId xmlns:a16="http://schemas.microsoft.com/office/drawing/2014/main" id="{289F9B01-E176-4E24-AACE-43E01BB95FE6}"/>
              </a:ext>
            </a:extLst>
          </p:cNvPr>
          <p:cNvSpPr>
            <a:spLocks xmlns:a="http://schemas.openxmlformats.org/drawingml/2006/main" noGrp="1"/>
          </p:cNvSpPr>
          <p:nvPr/>
        </p:nvSpPr>
        <p:spPr>
          <a:xfrm xmlns:a="http://schemas.openxmlformats.org/drawingml/2006/main">
            <a:off x="7524750" y="2571750"/>
            <a:ext cx="342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Equivariant error: exactly 0</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Paired-control error: 5.900</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Health gates pass, but odd-channel energy is small</a:t>
            </a:r>
          </a:p>
        </p:txBody>
      </p:sp>
      <p:sp>
        <p:nvSpPr>
          <p:cNvPr id="12" name="">
            <a:extLst xmlns:a="http://schemas.openxmlformats.org/drawingml/2006/main">
              <a:ext uri="{FF2B5EF4-FFF2-40B4-BE49-F238E27FC236}">
                <a16:creationId xmlns:a16="http://schemas.microsoft.com/office/drawing/2014/main" id="{B3053621-B599-4496-B03D-9B7D0D6D10DA}"/>
              </a:ext>
            </a:extLst>
          </p:cNvPr>
          <p:cNvSpPr>
            <a:spLocks xmlns:a="http://schemas.openxmlformats.org/drawingml/2006/main" noGrp="1"/>
          </p:cNvSpPr>
          <p:nvPr/>
        </p:nvSpPr>
        <p:spPr>
          <a:xfrm xmlns:a="http://schemas.openxmlformats.org/drawingml/2006/main">
            <a:off x="7524750" y="4762500"/>
            <a:ext cx="3429000" cy="762000"/>
          </a:xfrm>
          <a:prstGeom xmlns:a="http://schemas.openxmlformats.org/drawingml/2006/main" prst="roundRect">
            <a:avLst>
              <a:gd name="adj" fmla="val 15000"/>
            </a:avLst>
          </a:prstGeom>
          <a:solidFill xmlns:a="http://schemas.openxmlformats.org/drawingml/2006/main">
            <a:srgbClr val="FFF3E8"/>
          </a:solidFill>
          <a:ln xmlns:a="http://schemas.openxmlformats.org/drawingml/2006/main" w="9525">
            <a:solidFill>
              <a:srgbClr val="F4A261"/>
            </a:solidFill>
            <a:prstDash val="solid"/>
          </a:ln>
        </p:spPr>
      </p:sp>
      <p:sp>
        <p:nvSpPr>
          <p:cNvPr id="13" name="">
            <a:extLst xmlns:a="http://schemas.openxmlformats.org/drawingml/2006/main">
              <a:ext uri="{FF2B5EF4-FFF2-40B4-BE49-F238E27FC236}">
                <a16:creationId xmlns:a16="http://schemas.microsoft.com/office/drawing/2014/main" id="{2648C694-4E20-4089-904B-B44DBD7FC9D2}"/>
              </a:ext>
            </a:extLst>
          </p:cNvPr>
          <p:cNvSpPr>
            <a:spLocks xmlns:a="http://schemas.openxmlformats.org/drawingml/2006/main" noGrp="1"/>
          </p:cNvSpPr>
          <p:nvPr/>
        </p:nvSpPr>
        <p:spPr>
          <a:xfrm xmlns:a="http://schemas.openxmlformats.org/drawingml/2006/main">
            <a:off x="7734300" y="4943475"/>
            <a:ext cx="3009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963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Exact, non-empty geometry—physical utility still untested.</a:t>
            </a:r>
          </a:p>
        </p:txBody>
      </p:sp>
    </p:spTree>
    <p:extLst>
      <p:ext uri="{BB962C8B-B14F-4D97-AF65-F5344CB8AC3E}">
        <p14:creationId xmlns:p14="http://schemas.microsoft.com/office/powerpoint/2010/main" val="1185376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135E4A9-B468-4901-A23C-02718DBFEF0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2" name="">
            <a:extLst xmlns:a="http://schemas.openxmlformats.org/drawingml/2006/main">
              <a:ext uri="{FF2B5EF4-FFF2-40B4-BE49-F238E27FC236}">
                <a16:creationId xmlns:a16="http://schemas.microsoft.com/office/drawing/2014/main" id="{74D3BF65-86BB-4E07-B3E4-0C58922157F1}"/>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2A9D8F"/>
                </a:solidFill>
                <a:latin typeface="Arial"/>
                <a:ea typeface="Arial"/>
                <a:cs typeface="Arial"/>
              </a:defRPr>
            </a:pPr>
            <a:r>
              <a:rPr sz="900" b="1">
                <a:solidFill>
                  <a:srgbClr val="2A9D8F"/>
                </a:solidFill>
                <a:latin typeface="Arial"/>
                <a:ea typeface="Arial"/>
                <a:cs typeface="Arial"/>
              </a:rPr>
              <a:t>DISCUSSION</a:t>
            </a:r>
          </a:p>
        </p:txBody>
      </p:sp>
      <p:sp>
        <p:nvSpPr>
          <p:cNvPr id="3" name="">
            <a:extLst xmlns:a="http://schemas.openxmlformats.org/drawingml/2006/main">
              <a:ext uri="{FF2B5EF4-FFF2-40B4-BE49-F238E27FC236}">
                <a16:creationId xmlns:a16="http://schemas.microsoft.com/office/drawing/2014/main" id="{7CD1B3D3-D634-4BA1-A136-7E78E7774E3D}"/>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Mirror geometry passes; physical utility remains open</a:t>
            </a:r>
          </a:p>
        </p:txBody>
      </p:sp>
      <p:sp>
        <p:nvSpPr>
          <p:cNvPr id="4" name="">
            <a:extLst xmlns:a="http://schemas.openxmlformats.org/drawingml/2006/main">
              <a:ext uri="{FF2B5EF4-FFF2-40B4-BE49-F238E27FC236}">
                <a16:creationId xmlns:a16="http://schemas.microsoft.com/office/drawing/2014/main" id="{AE055BAC-59D5-4B79-83FE-03F8DBC21611}"/>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2FFB0DF3-D978-49E6-A2F6-787E0E95CF04}"/>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FFA0FBB1-6409-4068-B2EC-FAD813F0EA93}"/>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A correct transformation rule is useful only if it improves a meaningful physical measurement.</a:t>
            </a:r>
          </a:p>
        </p:txBody>
      </p:sp>
      <p:sp>
        <p:nvSpPr>
          <p:cNvPr id="7" name="">
            <a:extLst xmlns:a="http://schemas.openxmlformats.org/drawingml/2006/main">
              <a:ext uri="{FF2B5EF4-FFF2-40B4-BE49-F238E27FC236}">
                <a16:creationId xmlns:a16="http://schemas.microsoft.com/office/drawing/2014/main" id="{DE9FBB66-DD38-481A-9954-A531875B4618}"/>
              </a:ext>
            </a:extLst>
          </p:cNvPr>
          <p:cNvSpPr>
            <a:spLocks xmlns:a="http://schemas.openxmlformats.org/drawingml/2006/main" noGrp="1"/>
          </p:cNvSpPr>
          <p:nvPr/>
        </p:nvSpPr>
        <p:spPr>
          <a:xfrm xmlns:a="http://schemas.openxmlformats.org/drawingml/2006/main">
            <a:off x="5791200" y="1752600"/>
            <a:ext cx="9525" cy="3429000"/>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8" name="">
            <a:extLst xmlns:a="http://schemas.openxmlformats.org/drawingml/2006/main">
              <a:ext uri="{FF2B5EF4-FFF2-40B4-BE49-F238E27FC236}">
                <a16:creationId xmlns:a16="http://schemas.microsoft.com/office/drawing/2014/main" id="{F0AFD47B-C06C-4071-A076-B7DC025B08B0}"/>
              </a:ext>
            </a:extLst>
          </p:cNvPr>
          <p:cNvSpPr>
            <a:spLocks xmlns:a="http://schemas.openxmlformats.org/drawingml/2006/main" noGrp="1"/>
          </p:cNvSpPr>
          <p:nvPr/>
        </p:nvSpPr>
        <p:spPr>
          <a:xfrm xmlns:a="http://schemas.openxmlformats.org/drawingml/2006/main">
            <a:off x="533400" y="1847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a:solidFill>
                  <a:srgbClr val="2A9D8F"/>
                </a:solidFill>
                <a:latin typeface="Arial"/>
                <a:ea typeface="Arial"/>
                <a:cs typeface="Arial"/>
              </a:defRPr>
            </a:pPr>
            <a:r>
              <a:rPr sz="975" b="1">
                <a:solidFill>
                  <a:srgbClr val="2A9D8F"/>
                </a:solidFill>
                <a:latin typeface="Arial"/>
                <a:ea typeface="Arial"/>
                <a:cs typeface="Arial"/>
              </a:rPr>
              <a:t>SUPPORTED</a:t>
            </a:r>
          </a:p>
        </p:txBody>
      </p:sp>
      <p:sp>
        <p:nvSpPr>
          <p:cNvPr id="9" name="">
            <a:extLst xmlns:a="http://schemas.openxmlformats.org/drawingml/2006/main">
              <a:ext uri="{FF2B5EF4-FFF2-40B4-BE49-F238E27FC236}">
                <a16:creationId xmlns:a16="http://schemas.microsoft.com/office/drawing/2014/main" id="{62BEEA7A-32D1-4306-816D-AD4DFD53C2A2}"/>
              </a:ext>
            </a:extLst>
          </p:cNvPr>
          <p:cNvSpPr>
            <a:spLocks xmlns:a="http://schemas.openxmlformats.org/drawingml/2006/main" noGrp="1"/>
          </p:cNvSpPr>
          <p:nvPr/>
        </p:nvSpPr>
        <p:spPr>
          <a:xfrm xmlns:a="http://schemas.openxmlformats.org/drawingml/2006/main">
            <a:off x="533400" y="22098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Exact, inspectable parity</a:t>
            </a:r>
          </a:p>
        </p:txBody>
      </p:sp>
      <p:sp>
        <p:nvSpPr>
          <p:cNvPr id="10" name="">
            <a:extLst xmlns:a="http://schemas.openxmlformats.org/drawingml/2006/main">
              <a:ext uri="{FF2B5EF4-FFF2-40B4-BE49-F238E27FC236}">
                <a16:creationId xmlns:a16="http://schemas.microsoft.com/office/drawing/2014/main" id="{61CC8096-0141-4837-A363-7FCA9B59691A}"/>
              </a:ext>
            </a:extLst>
          </p:cNvPr>
          <p:cNvSpPr>
            <a:spLocks xmlns:a="http://schemas.openxmlformats.org/drawingml/2006/main" noGrp="1"/>
          </p:cNvSpPr>
          <p:nvPr/>
        </p:nvSpPr>
        <p:spPr>
          <a:xfrm xmlns:a="http://schemas.openxmlformats.org/drawingml/2006/main">
            <a:off x="533400" y="3028950"/>
            <a:ext cx="4762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Worst mirror-rule error is zero</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Strong unrestricted control fails</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All registered health gates pass</a:t>
            </a:r>
          </a:p>
        </p:txBody>
      </p:sp>
      <p:sp>
        <p:nvSpPr>
          <p:cNvPr id="11" name="">
            <a:extLst xmlns:a="http://schemas.openxmlformats.org/drawingml/2006/main">
              <a:ext uri="{FF2B5EF4-FFF2-40B4-BE49-F238E27FC236}">
                <a16:creationId xmlns:a16="http://schemas.microsoft.com/office/drawing/2014/main" id="{9C037F69-E35F-41A7-B563-A839FF6B211A}"/>
              </a:ext>
            </a:extLst>
          </p:cNvPr>
          <p:cNvSpPr>
            <a:spLocks xmlns:a="http://schemas.openxmlformats.org/drawingml/2006/main" noGrp="1"/>
          </p:cNvSpPr>
          <p:nvPr/>
        </p:nvSpPr>
        <p:spPr>
          <a:xfrm xmlns:a="http://schemas.openxmlformats.org/drawingml/2006/main">
            <a:off x="6305550" y="1847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a:solidFill>
                  <a:srgbClr val="D95D5D"/>
                </a:solidFill>
                <a:latin typeface="Arial"/>
                <a:ea typeface="Arial"/>
                <a:cs typeface="Arial"/>
              </a:defRPr>
            </a:pPr>
            <a:r>
              <a:rPr sz="975" b="1">
                <a:solidFill>
                  <a:srgbClr val="D95D5D"/>
                </a:solidFill>
                <a:latin typeface="Arial"/>
                <a:ea typeface="Arial"/>
                <a:cs typeface="Arial"/>
              </a:rPr>
              <a:t>NOT YET SUPPORTED</a:t>
            </a:r>
          </a:p>
        </p:txBody>
      </p:sp>
      <p:sp>
        <p:nvSpPr>
          <p:cNvPr id="12" name="">
            <a:extLst xmlns:a="http://schemas.openxmlformats.org/drawingml/2006/main">
              <a:ext uri="{FF2B5EF4-FFF2-40B4-BE49-F238E27FC236}">
                <a16:creationId xmlns:a16="http://schemas.microsoft.com/office/drawing/2014/main" id="{A9B63DC4-50EC-4114-9CC1-8ED6F284957E}"/>
              </a:ext>
            </a:extLst>
          </p:cNvPr>
          <p:cNvSpPr>
            <a:spLocks xmlns:a="http://schemas.openxmlformats.org/drawingml/2006/main" noGrp="1"/>
          </p:cNvSpPr>
          <p:nvPr/>
        </p:nvSpPr>
        <p:spPr>
          <a:xfrm xmlns:a="http://schemas.openxmlformats.org/drawingml/2006/main">
            <a:off x="6305550" y="2209800"/>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Meaningful biomechanics</a:t>
            </a:r>
          </a:p>
        </p:txBody>
      </p:sp>
      <p:sp>
        <p:nvSpPr>
          <p:cNvPr id="13" name="">
            <a:extLst xmlns:a="http://schemas.openxmlformats.org/drawingml/2006/main">
              <a:ext uri="{FF2B5EF4-FFF2-40B4-BE49-F238E27FC236}">
                <a16:creationId xmlns:a16="http://schemas.microsoft.com/office/drawing/2014/main" id="{CD79F021-FD27-4C90-A070-9584FBA96C8E}"/>
              </a:ext>
            </a:extLst>
          </p:cNvPr>
          <p:cNvSpPr>
            <a:spLocks xmlns:a="http://schemas.openxmlformats.org/drawingml/2006/main" noGrp="1"/>
          </p:cNvSpPr>
          <p:nvPr/>
        </p:nvSpPr>
        <p:spPr>
          <a:xfrm xmlns:a="http://schemas.openxmlformats.org/drawingml/2006/main">
            <a:off x="6305550" y="3028950"/>
            <a:ext cx="47625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No force target</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No held-out participants</a:t>
            </a:r>
          </a:p>
          <a:p xmlns:a="http://schemas.openxmlformats.org/drawingml/2006/main">
            <a:pPr algn="l">
              <a:defRPr sz="1575" b="0">
                <a:solidFill>
                  <a:srgbClr val="111827"/>
                </a:solidFill>
                <a:latin typeface="Arial"/>
                <a:ea typeface="Arial"/>
                <a:cs typeface="Arial"/>
              </a:defRPr>
            </a:pPr>
            <a:r>
              <a:rPr sz="1575" b="0">
                <a:solidFill>
                  <a:srgbClr val="111827"/>
                </a:solidFill>
                <a:latin typeface="Arial"/>
                <a:ea typeface="Arial"/>
                <a:cs typeface="Arial"/>
              </a:rPr>
              <a:t>• No demonstrated robustness advantage</a:t>
            </a:r>
          </a:p>
        </p:txBody>
      </p:sp>
      <p:sp>
        <p:nvSpPr>
          <p:cNvPr id="14" name="">
            <a:extLst xmlns:a="http://schemas.openxmlformats.org/drawingml/2006/main">
              <a:ext uri="{FF2B5EF4-FFF2-40B4-BE49-F238E27FC236}">
                <a16:creationId xmlns:a16="http://schemas.microsoft.com/office/drawing/2014/main" id="{2FDF7DC6-A78D-4A68-991E-71EDD887CB12}"/>
              </a:ext>
            </a:extLst>
          </p:cNvPr>
          <p:cNvSpPr>
            <a:spLocks xmlns:a="http://schemas.openxmlformats.org/drawingml/2006/main" noGrp="1"/>
          </p:cNvSpPr>
          <p:nvPr/>
        </p:nvSpPr>
        <p:spPr>
          <a:xfrm xmlns:a="http://schemas.openxmlformats.org/drawingml/2006/main">
            <a:off x="1200150" y="5429250"/>
            <a:ext cx="9791700" cy="628650"/>
          </a:xfrm>
          <a:prstGeom xmlns:a="http://schemas.openxmlformats.org/drawingml/2006/main" prst="roundRect">
            <a:avLst>
              <a:gd name="adj" fmla="val 18182"/>
            </a:avLst>
          </a:prstGeom>
          <a:solidFill xmlns:a="http://schemas.openxmlformats.org/drawingml/2006/main">
            <a:srgbClr val="EAF5FB"/>
          </a:solidFill>
          <a:ln xmlns:a="http://schemas.openxmlformats.org/drawingml/2006/main" w="9525">
            <a:solidFill>
              <a:srgbClr val="2A9D8F"/>
            </a:solidFill>
            <a:prstDash val="solid"/>
          </a:ln>
        </p:spPr>
      </p:sp>
      <p:sp>
        <p:nvSpPr>
          <p:cNvPr id="15" name="">
            <a:extLst xmlns:a="http://schemas.openxmlformats.org/drawingml/2006/main">
              <a:ext uri="{FF2B5EF4-FFF2-40B4-BE49-F238E27FC236}">
                <a16:creationId xmlns:a16="http://schemas.microsoft.com/office/drawing/2014/main" id="{551BCD93-629E-4BF5-AB70-67E8B1E8DD0A}"/>
              </a:ext>
            </a:extLst>
          </p:cNvPr>
          <p:cNvSpPr>
            <a:spLocks xmlns:a="http://schemas.openxmlformats.org/drawingml/2006/main" noGrp="1"/>
          </p:cNvSpPr>
          <p:nvPr/>
        </p:nvSpPr>
        <p:spPr>
          <a:xfrm xmlns:a="http://schemas.openxmlformats.org/drawingml/2006/main">
            <a:off x="1504950" y="5600700"/>
            <a:ext cx="9182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246"/>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The next experiment must test force on people the model has never fitted.</a:t>
            </a:r>
          </a:p>
        </p:txBody>
      </p:sp>
    </p:spTree>
    <p:extLst>
      <p:ext uri="{BB962C8B-B14F-4D97-AF65-F5344CB8AC3E}">
        <p14:creationId xmlns:p14="http://schemas.microsoft.com/office/powerpoint/2010/main" val="6269564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6C1EC41-FF16-4850-B40E-4D4FE8B635C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 name="">
            <a:extLst xmlns:a="http://schemas.openxmlformats.org/drawingml/2006/main">
              <a:ext uri="{FF2B5EF4-FFF2-40B4-BE49-F238E27FC236}">
                <a16:creationId xmlns:a16="http://schemas.microsoft.com/office/drawing/2014/main" id="{4F88C2A8-7ED2-4D17-B86A-1AD3E9B0AAB4}"/>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PLANNED STUDY</a:t>
            </a:r>
          </a:p>
        </p:txBody>
      </p:sp>
      <p:sp>
        <p:nvSpPr>
          <p:cNvPr id="3" name="">
            <a:extLst xmlns:a="http://schemas.openxmlformats.org/drawingml/2006/main">
              <a:ext uri="{FF2B5EF4-FFF2-40B4-BE49-F238E27FC236}">
                <a16:creationId xmlns:a16="http://schemas.microsoft.com/office/drawing/2014/main" id="{7EEA8A74-5778-484E-941E-6F7DEF323F95}"/>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force study makes parity compete on a physical target</a:t>
            </a:r>
          </a:p>
        </p:txBody>
      </p:sp>
      <p:sp>
        <p:nvSpPr>
          <p:cNvPr id="4" name="">
            <a:extLst xmlns:a="http://schemas.openxmlformats.org/drawingml/2006/main">
              <a:ext uri="{FF2B5EF4-FFF2-40B4-BE49-F238E27FC236}">
                <a16:creationId xmlns:a16="http://schemas.microsoft.com/office/drawing/2014/main" id="{CC0E1C1C-12DF-49F3-8F6E-8D97FD0D1496}"/>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208C7B35-845B-479C-AEBF-15CBC8D8448D}"/>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E7C7406B-6C92-42C5-8A9F-A72A923BC128}"/>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Force plates provide the independent target that video alone cannot reveal.</a:t>
            </a:r>
          </a:p>
        </p:txBody>
      </p:sp>
      <p:sp>
        <p:nvSpPr>
          <p:cNvPr id="7" name="">
            <a:extLst xmlns:a="http://schemas.openxmlformats.org/drawingml/2006/main">
              <a:ext uri="{FF2B5EF4-FFF2-40B4-BE49-F238E27FC236}">
                <a16:creationId xmlns:a16="http://schemas.microsoft.com/office/drawing/2014/main" id="{9D4B16FB-0C33-4AA6-9E9C-76A50B2EBCA3}"/>
              </a:ext>
            </a:extLst>
          </p:cNvPr>
          <p:cNvSpPr>
            <a:spLocks xmlns:a="http://schemas.openxmlformats.org/drawingml/2006/main" noGrp="1"/>
          </p:cNvSpPr>
          <p:nvPr/>
        </p:nvSpPr>
        <p:spPr>
          <a:xfrm xmlns:a="http://schemas.openxmlformats.org/drawingml/2006/main">
            <a:off x="6800850" y="1657350"/>
            <a:ext cx="4933950" cy="3924300"/>
          </a:xfrm>
          <a:prstGeom xmlns:a="http://schemas.openxmlformats.org/drawingml/2006/main" prst="roundRect">
            <a:avLst>
              <a:gd name="adj" fmla="val 2913"/>
            </a:avLst>
          </a:prstGeom>
          <a:solidFill xmlns:a="http://schemas.openxmlformats.org/drawingml/2006/main">
            <a:srgbClr val="F3F6F9"/>
          </a:solidFill>
          <a:ln xmlns:a="http://schemas.openxmlformats.org/drawingml/2006/main" w="9525">
            <a:solidFill>
              <a:srgbClr val="C9D2DC"/>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88fef00172446a0"/>
          <a:srcRect xmlns:a="http://schemas.openxmlformats.org/drawingml/2006/main" l="539" t="0" r="539" b="0"/>
          <a:stretch xmlns:a="http://schemas.openxmlformats.org/drawingml/2006/main">
            <a:fillRect l="0" t="0" r="0" b="0"/>
          </a:stretch>
        </p:blipFill>
        <p:spPr>
          <a:xfrm xmlns:a="http://schemas.openxmlformats.org/drawingml/2006/main">
            <a:off x="6877050" y="1733550"/>
            <a:ext cx="4781550" cy="3771900"/>
          </a:xfrm>
          <a:prstGeom xmlns:a="http://schemas.openxmlformats.org/drawingml/2006/main" prst="roundRect">
            <a:avLst>
              <a:gd name="adj" fmla="val 3030"/>
            </a:avLst>
          </a:prstGeom>
        </p:spPr>
      </p:pic>
      <p:sp>
        <p:nvSpPr>
          <p:cNvPr id="9" name="">
            <a:extLst xmlns:a="http://schemas.openxmlformats.org/drawingml/2006/main">
              <a:ext uri="{FF2B5EF4-FFF2-40B4-BE49-F238E27FC236}">
                <a16:creationId xmlns:a16="http://schemas.microsoft.com/office/drawing/2014/main" id="{EE0D0524-2DCB-451B-9A2E-43341724EE1C}"/>
              </a:ext>
            </a:extLst>
          </p:cNvPr>
          <p:cNvSpPr>
            <a:spLocks xmlns:a="http://schemas.openxmlformats.org/drawingml/2006/main" noGrp="1"/>
          </p:cNvSpPr>
          <p:nvPr/>
        </p:nvSpPr>
        <p:spPr>
          <a:xfrm xmlns:a="http://schemas.openxmlformats.org/drawingml/2006/main">
            <a:off x="457200" y="1752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2308"/>
          </a:bodyPr>
          <a:lstStyle xmlns:a="http://schemas.openxmlformats.org/drawingml/2006/main"/>
          <a:p xmlns:a="http://schemas.openxmlformats.org/drawingml/2006/main">
            <a:pPr algn="l">
              <a:defRPr sz="975" b="1">
                <a:solidFill>
                  <a:srgbClr val="F4A261"/>
                </a:solidFill>
                <a:latin typeface="Arial"/>
                <a:ea typeface="Arial"/>
                <a:cs typeface="Arial"/>
              </a:defRPr>
            </a:pPr>
            <a:r>
              <a:rPr sz="975" b="1">
                <a:solidFill>
                  <a:srgbClr val="F4A261"/>
                </a:solidFill>
                <a:latin typeface="Arial"/>
                <a:ea typeface="Arial"/>
                <a:cs typeface="Arial"/>
              </a:rPr>
              <a:t>FOUR-STAGE STUDY</a:t>
            </a:r>
          </a:p>
        </p:txBody>
      </p:sp>
      <p:sp>
        <p:nvSpPr>
          <p:cNvPr id="10" name="">
            <a:extLst xmlns:a="http://schemas.openxmlformats.org/drawingml/2006/main">
              <a:ext uri="{FF2B5EF4-FFF2-40B4-BE49-F238E27FC236}">
                <a16:creationId xmlns:a16="http://schemas.microsoft.com/office/drawing/2014/main" id="{0A5E877D-06B9-41BA-9B15-7A362ACD3F5E}"/>
              </a:ext>
            </a:extLst>
          </p:cNvPr>
          <p:cNvSpPr>
            <a:spLocks xmlns:a="http://schemas.openxmlformats.org/drawingml/2006/main" noGrp="1"/>
          </p:cNvSpPr>
          <p:nvPr/>
        </p:nvSpPr>
        <p:spPr>
          <a:xfrm xmlns:a="http://schemas.openxmlformats.org/drawingml/2006/main">
            <a:off x="457200" y="209550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8388"/>
          </a:bodyPr>
          <a:lstStyle xmlns:a="http://schemas.openxmlformats.org/drawingml/2006/main"/>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Each dataset answers one question</a:t>
            </a:r>
          </a:p>
        </p:txBody>
      </p:sp>
      <p:sp>
        <p:nvSpPr>
          <p:cNvPr id="11" name="">
            <a:extLst xmlns:a="http://schemas.openxmlformats.org/drawingml/2006/main">
              <a:ext uri="{FF2B5EF4-FFF2-40B4-BE49-F238E27FC236}">
                <a16:creationId xmlns:a16="http://schemas.microsoft.com/office/drawing/2014/main" id="{BD94AB2B-1977-4DCD-A10C-A0E5998F8863}"/>
              </a:ext>
            </a:extLst>
          </p:cNvPr>
          <p:cNvSpPr>
            <a:spLocks xmlns:a="http://schemas.openxmlformats.org/drawingml/2006/main" noGrp="1"/>
          </p:cNvSpPr>
          <p:nvPr/>
        </p:nvSpPr>
        <p:spPr>
          <a:xfrm xmlns:a="http://schemas.openxmlformats.org/drawingml/2006/main">
            <a:off x="457200" y="2905125"/>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AMASS: broad motion pretraining</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BABEL: walking-focused continuation</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Force cohort: held-out participant prediction</a:t>
            </a:r>
          </a:p>
          <a:p xmlns:a="http://schemas.openxmlformats.org/drawingml/2006/main">
            <a:pPr algn="l">
              <a:defRPr sz="1650" b="0">
                <a:solidFill>
                  <a:srgbClr val="111827"/>
                </a:solidFill>
                <a:latin typeface="Arial"/>
                <a:ea typeface="Arial"/>
                <a:cs typeface="Arial"/>
              </a:defRPr>
            </a:pPr>
            <a:r>
              <a:rPr sz="1650" b="0">
                <a:solidFill>
                  <a:srgbClr val="111827"/>
                </a:solidFill>
                <a:latin typeface="Arial"/>
                <a:ea typeface="Arial"/>
                <a:cs typeface="Arial"/>
              </a:rPr>
              <a:t>• MoVi + sealed cohort: view test and replication</a:t>
            </a:r>
          </a:p>
        </p:txBody>
      </p:sp>
      <p:sp>
        <p:nvSpPr>
          <p:cNvPr id="12" name="">
            <a:extLst xmlns:a="http://schemas.openxmlformats.org/drawingml/2006/main">
              <a:ext uri="{FF2B5EF4-FFF2-40B4-BE49-F238E27FC236}">
                <a16:creationId xmlns:a16="http://schemas.microsoft.com/office/drawing/2014/main" id="{4084756A-F8DE-4314-84EC-243BD3255C73}"/>
              </a:ext>
            </a:extLst>
          </p:cNvPr>
          <p:cNvSpPr>
            <a:spLocks xmlns:a="http://schemas.openxmlformats.org/drawingml/2006/main" noGrp="1"/>
          </p:cNvSpPr>
          <p:nvPr/>
        </p:nvSpPr>
        <p:spPr>
          <a:xfrm xmlns:a="http://schemas.openxmlformats.org/drawingml/2006/main">
            <a:off x="457200" y="4762500"/>
            <a:ext cx="4953000" cy="819150"/>
          </a:xfrm>
          <a:prstGeom xmlns:a="http://schemas.openxmlformats.org/drawingml/2006/main" prst="roundRect">
            <a:avLst>
              <a:gd name="adj" fmla="val 13953"/>
            </a:avLst>
          </a:prstGeom>
          <a:solidFill xmlns:a="http://schemas.openxmlformats.org/drawingml/2006/main">
            <a:srgbClr val="EAF5FB"/>
          </a:solidFill>
          <a:ln xmlns:a="http://schemas.openxmlformats.org/drawingml/2006/main" w="9525">
            <a:solidFill>
              <a:srgbClr val="F4A261"/>
            </a:solidFill>
            <a:prstDash val="solid"/>
          </a:ln>
        </p:spPr>
      </p:sp>
      <p:sp>
        <p:nvSpPr>
          <p:cNvPr id="13" name="">
            <a:extLst xmlns:a="http://schemas.openxmlformats.org/drawingml/2006/main">
              <a:ext uri="{FF2B5EF4-FFF2-40B4-BE49-F238E27FC236}">
                <a16:creationId xmlns:a16="http://schemas.microsoft.com/office/drawing/2014/main" id="{6A91E8BE-C9CC-4010-9891-51CE62B0DB0A}"/>
              </a:ext>
            </a:extLst>
          </p:cNvPr>
          <p:cNvSpPr>
            <a:spLocks xmlns:a="http://schemas.openxmlformats.org/drawingml/2006/main" noGrp="1"/>
          </p:cNvSpPr>
          <p:nvPr/>
        </p:nvSpPr>
        <p:spPr>
          <a:xfrm xmlns:a="http://schemas.openxmlformats.org/drawingml/2006/main">
            <a:off x="685800" y="4962525"/>
            <a:ext cx="4495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rmAutofit fontScale="84211"/>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People—not individual gait cycles—are the independent test units.</a:t>
            </a:r>
          </a:p>
        </p:txBody>
      </p:sp>
    </p:spTree>
    <p:extLst>
      <p:ext uri="{BB962C8B-B14F-4D97-AF65-F5344CB8AC3E}">
        <p14:creationId xmlns:p14="http://schemas.microsoft.com/office/powerpoint/2010/main" val="170594544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D0AF57A-1357-4F14-94F1-A703A647FB1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2" name="">
            <a:extLst xmlns:a="http://schemas.openxmlformats.org/drawingml/2006/main">
              <a:ext uri="{FF2B5EF4-FFF2-40B4-BE49-F238E27FC236}">
                <a16:creationId xmlns:a16="http://schemas.microsoft.com/office/drawing/2014/main" id="{DCC56BD4-C0F7-4A0F-958E-AF0A7791A592}"/>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F4A261"/>
                </a:solidFill>
                <a:latin typeface="Arial"/>
                <a:ea typeface="Arial"/>
                <a:cs typeface="Arial"/>
              </a:defRPr>
            </a:pPr>
            <a:r>
              <a:rPr sz="900" b="1">
                <a:solidFill>
                  <a:srgbClr val="F4A261"/>
                </a:solidFill>
                <a:latin typeface="Arial"/>
                <a:ea typeface="Arial"/>
                <a:cs typeface="Arial"/>
              </a:rPr>
              <a:t>DECISION RULE</a:t>
            </a:r>
          </a:p>
        </p:txBody>
      </p:sp>
      <p:sp>
        <p:nvSpPr>
          <p:cNvPr id="3" name="">
            <a:extLst xmlns:a="http://schemas.openxmlformats.org/drawingml/2006/main">
              <a:ext uri="{FF2B5EF4-FFF2-40B4-BE49-F238E27FC236}">
                <a16:creationId xmlns:a16="http://schemas.microsoft.com/office/drawing/2014/main" id="{56258F56-04E3-467A-90A5-39C25E460537}"/>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decision rule is fixed before the force results arrive</a:t>
            </a:r>
          </a:p>
        </p:txBody>
      </p:sp>
      <p:sp>
        <p:nvSpPr>
          <p:cNvPr id="4" name="">
            <a:extLst xmlns:a="http://schemas.openxmlformats.org/drawingml/2006/main">
              <a:ext uri="{FF2B5EF4-FFF2-40B4-BE49-F238E27FC236}">
                <a16:creationId xmlns:a16="http://schemas.microsoft.com/office/drawing/2014/main" id="{5B83C12A-C52B-4816-894A-AECD56817F95}"/>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AB67986D-10AC-4A4C-8507-229636A0135F}"/>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E297BFDF-4B3C-4AB5-846A-EDD39641DEA2}"/>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Primary unit: participant. Primary metric: force error averaged over original and mirrored examples.</a:t>
            </a:r>
          </a:p>
        </p:txBody>
      </p:sp>
      <p:sp>
        <p:nvSpPr>
          <p:cNvPr id="7" name="">
            <a:extLst xmlns:a="http://schemas.openxmlformats.org/drawingml/2006/main">
              <a:ext uri="{FF2B5EF4-FFF2-40B4-BE49-F238E27FC236}">
                <a16:creationId xmlns:a16="http://schemas.microsoft.com/office/drawing/2014/main" id="{489EC03D-5894-4B5E-A74F-A11CD6FC80B0}"/>
              </a:ext>
            </a:extLst>
          </p:cNvPr>
          <p:cNvSpPr>
            <a:spLocks xmlns:a="http://schemas.openxmlformats.org/drawingml/2006/main" noGrp="1"/>
          </p:cNvSpPr>
          <p:nvPr/>
        </p:nvSpPr>
        <p:spPr>
          <a:xfrm xmlns:a="http://schemas.openxmlformats.org/drawingml/2006/main">
            <a:off x="590550" y="19431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500" b="1">
                <a:solidFill>
                  <a:srgbClr val="2A9D8F"/>
                </a:solidFill>
                <a:latin typeface="Arial"/>
                <a:ea typeface="Arial"/>
                <a:cs typeface="Arial"/>
              </a:defRPr>
            </a:pPr>
            <a:r>
              <a:rPr sz="1500" b="1">
                <a:solidFill>
                  <a:srgbClr val="2A9D8F"/>
                </a:solidFill>
                <a:latin typeface="Arial"/>
                <a:ea typeface="Arial"/>
                <a:cs typeface="Arial"/>
              </a:rPr>
              <a:t>WIN</a:t>
            </a:r>
          </a:p>
        </p:txBody>
      </p:sp>
      <p:sp>
        <p:nvSpPr>
          <p:cNvPr id="8" name="">
            <a:extLst xmlns:a="http://schemas.openxmlformats.org/drawingml/2006/main">
              <a:ext uri="{FF2B5EF4-FFF2-40B4-BE49-F238E27FC236}">
                <a16:creationId xmlns:a16="http://schemas.microsoft.com/office/drawing/2014/main" id="{B360293B-F1DD-4F1F-AA41-8FCBF18E7F03}"/>
              </a:ext>
            </a:extLst>
          </p:cNvPr>
          <p:cNvSpPr>
            <a:spLocks xmlns:a="http://schemas.openxmlformats.org/drawingml/2006/main" noGrp="1"/>
          </p:cNvSpPr>
          <p:nvPr/>
        </p:nvSpPr>
        <p:spPr>
          <a:xfrm xmlns:a="http://schemas.openxmlformats.org/drawingml/2006/main">
            <a:off x="1676400" y="19050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Beats both controls</a:t>
            </a:r>
          </a:p>
        </p:txBody>
      </p:sp>
      <p:sp>
        <p:nvSpPr>
          <p:cNvPr id="9" name="">
            <a:extLst xmlns:a="http://schemas.openxmlformats.org/drawingml/2006/main">
              <a:ext uri="{FF2B5EF4-FFF2-40B4-BE49-F238E27FC236}">
                <a16:creationId xmlns:a16="http://schemas.microsoft.com/office/drawing/2014/main" id="{3778DAC2-350D-41EB-9A42-875786238509}"/>
              </a:ext>
            </a:extLst>
          </p:cNvPr>
          <p:cNvSpPr>
            <a:spLocks xmlns:a="http://schemas.openxmlformats.org/drawingml/2006/main" noGrp="1"/>
          </p:cNvSpPr>
          <p:nvPr/>
        </p:nvSpPr>
        <p:spPr>
          <a:xfrm xmlns:a="http://schemas.openxmlformats.org/drawingml/2006/main">
            <a:off x="5219700" y="19050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Internal parity adds measurable value for force prediction.</a:t>
            </a:r>
          </a:p>
        </p:txBody>
      </p:sp>
      <p:sp>
        <p:nvSpPr>
          <p:cNvPr id="10" name="">
            <a:extLst xmlns:a="http://schemas.openxmlformats.org/drawingml/2006/main">
              <a:ext uri="{FF2B5EF4-FFF2-40B4-BE49-F238E27FC236}">
                <a16:creationId xmlns:a16="http://schemas.microsoft.com/office/drawing/2014/main" id="{FECF8DE4-EBF6-4BE7-8584-7AE5819100FE}"/>
              </a:ext>
            </a:extLst>
          </p:cNvPr>
          <p:cNvSpPr>
            <a:spLocks xmlns:a="http://schemas.openxmlformats.org/drawingml/2006/main" noGrp="1"/>
          </p:cNvSpPr>
          <p:nvPr/>
        </p:nvSpPr>
        <p:spPr>
          <a:xfrm xmlns:a="http://schemas.openxmlformats.org/drawingml/2006/main">
            <a:off x="1676400" y="2724150"/>
            <a:ext cx="897255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1" name="">
            <a:extLst xmlns:a="http://schemas.openxmlformats.org/drawingml/2006/main">
              <a:ext uri="{FF2B5EF4-FFF2-40B4-BE49-F238E27FC236}">
                <a16:creationId xmlns:a16="http://schemas.microsoft.com/office/drawing/2014/main" id="{0BE77221-78D9-4E76-846D-C642747F1C1F}"/>
              </a:ext>
            </a:extLst>
          </p:cNvPr>
          <p:cNvSpPr>
            <a:spLocks xmlns:a="http://schemas.openxmlformats.org/drawingml/2006/main" noGrp="1"/>
          </p:cNvSpPr>
          <p:nvPr/>
        </p:nvSpPr>
        <p:spPr>
          <a:xfrm xmlns:a="http://schemas.openxmlformats.org/drawingml/2006/main">
            <a:off x="590550" y="306705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500" b="1">
                <a:solidFill>
                  <a:srgbClr val="F4A261"/>
                </a:solidFill>
                <a:latin typeface="Arial"/>
                <a:ea typeface="Arial"/>
                <a:cs typeface="Arial"/>
              </a:defRPr>
            </a:pPr>
            <a:r>
              <a:rPr sz="1500" b="1">
                <a:solidFill>
                  <a:srgbClr val="F4A261"/>
                </a:solidFill>
                <a:latin typeface="Arial"/>
                <a:ea typeface="Arial"/>
                <a:cs typeface="Arial"/>
              </a:rPr>
              <a:t>TIE</a:t>
            </a:r>
          </a:p>
        </p:txBody>
      </p:sp>
      <p:sp>
        <p:nvSpPr>
          <p:cNvPr id="12" name="">
            <a:extLst xmlns:a="http://schemas.openxmlformats.org/drawingml/2006/main">
              <a:ext uri="{FF2B5EF4-FFF2-40B4-BE49-F238E27FC236}">
                <a16:creationId xmlns:a16="http://schemas.microsoft.com/office/drawing/2014/main" id="{00603DB1-0132-4A19-BE57-E4D3E65853AA}"/>
              </a:ext>
            </a:extLst>
          </p:cNvPr>
          <p:cNvSpPr>
            <a:spLocks xmlns:a="http://schemas.openxmlformats.org/drawingml/2006/main" noGrp="1"/>
          </p:cNvSpPr>
          <p:nvPr/>
        </p:nvSpPr>
        <p:spPr>
          <a:xfrm xmlns:a="http://schemas.openxmlformats.org/drawingml/2006/main">
            <a:off x="1676400" y="30289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Ties output repair</a:t>
            </a:r>
          </a:p>
        </p:txBody>
      </p:sp>
      <p:sp>
        <p:nvSpPr>
          <p:cNvPr id="13" name="">
            <a:extLst xmlns:a="http://schemas.openxmlformats.org/drawingml/2006/main">
              <a:ext uri="{FF2B5EF4-FFF2-40B4-BE49-F238E27FC236}">
                <a16:creationId xmlns:a16="http://schemas.microsoft.com/office/drawing/2014/main" id="{038FD3F0-0BE6-4520-90B7-BA83A26FB748}"/>
              </a:ext>
            </a:extLst>
          </p:cNvPr>
          <p:cNvSpPr>
            <a:spLocks xmlns:a="http://schemas.openxmlformats.org/drawingml/2006/main" noGrp="1"/>
          </p:cNvSpPr>
          <p:nvPr/>
        </p:nvSpPr>
        <p:spPr>
          <a:xfrm xmlns:a="http://schemas.openxmlformats.org/drawingml/2006/main">
            <a:off x="5219700" y="302895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Prefer the simpler three-line sign correction for this task.</a:t>
            </a:r>
          </a:p>
        </p:txBody>
      </p:sp>
      <p:sp>
        <p:nvSpPr>
          <p:cNvPr id="14" name="">
            <a:extLst xmlns:a="http://schemas.openxmlformats.org/drawingml/2006/main">
              <a:ext uri="{FF2B5EF4-FFF2-40B4-BE49-F238E27FC236}">
                <a16:creationId xmlns:a16="http://schemas.microsoft.com/office/drawing/2014/main" id="{8F6B6858-022D-46A2-AE63-C27D8448FC1B}"/>
              </a:ext>
            </a:extLst>
          </p:cNvPr>
          <p:cNvSpPr>
            <a:spLocks xmlns:a="http://schemas.openxmlformats.org/drawingml/2006/main" noGrp="1"/>
          </p:cNvSpPr>
          <p:nvPr/>
        </p:nvSpPr>
        <p:spPr>
          <a:xfrm xmlns:a="http://schemas.openxmlformats.org/drawingml/2006/main">
            <a:off x="1676400" y="3848100"/>
            <a:ext cx="897255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5" name="">
            <a:extLst xmlns:a="http://schemas.openxmlformats.org/drawingml/2006/main">
              <a:ext uri="{FF2B5EF4-FFF2-40B4-BE49-F238E27FC236}">
                <a16:creationId xmlns:a16="http://schemas.microsoft.com/office/drawing/2014/main" id="{3BF905FC-3C87-4FFA-8F70-6B7CBA48E352}"/>
              </a:ext>
            </a:extLst>
          </p:cNvPr>
          <p:cNvSpPr>
            <a:spLocks xmlns:a="http://schemas.openxmlformats.org/drawingml/2006/main" noGrp="1"/>
          </p:cNvSpPr>
          <p:nvPr/>
        </p:nvSpPr>
        <p:spPr>
          <a:xfrm xmlns:a="http://schemas.openxmlformats.org/drawingml/2006/main">
            <a:off x="590550" y="41910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350" b="1">
                <a:solidFill>
                  <a:srgbClr val="D95D5D"/>
                </a:solidFill>
                <a:latin typeface="Arial"/>
                <a:ea typeface="Arial"/>
                <a:cs typeface="Arial"/>
              </a:defRPr>
            </a:pPr>
            <a:r>
              <a:rPr sz="1350" b="1">
                <a:solidFill>
                  <a:srgbClr val="D95D5D"/>
                </a:solidFill>
                <a:latin typeface="Arial"/>
                <a:ea typeface="Arial"/>
                <a:cs typeface="Arial"/>
              </a:rPr>
              <a:t>WAIT</a:t>
            </a:r>
          </a:p>
        </p:txBody>
      </p:sp>
      <p:sp>
        <p:nvSpPr>
          <p:cNvPr id="16" name="">
            <a:extLst xmlns:a="http://schemas.openxmlformats.org/drawingml/2006/main">
              <a:ext uri="{FF2B5EF4-FFF2-40B4-BE49-F238E27FC236}">
                <a16:creationId xmlns:a16="http://schemas.microsoft.com/office/drawing/2014/main" id="{2BFD5E4F-1C8F-491F-992F-5EF40688D384}"/>
              </a:ext>
            </a:extLst>
          </p:cNvPr>
          <p:cNvSpPr>
            <a:spLocks xmlns:a="http://schemas.openxmlformats.org/drawingml/2006/main" noGrp="1"/>
          </p:cNvSpPr>
          <p:nvPr/>
        </p:nvSpPr>
        <p:spPr>
          <a:xfrm xmlns:a="http://schemas.openxmlformats.org/drawingml/2006/main">
            <a:off x="1676400" y="41529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Wide or unhealthy result</a:t>
            </a:r>
          </a:p>
        </p:txBody>
      </p:sp>
      <p:sp>
        <p:nvSpPr>
          <p:cNvPr id="17" name="">
            <a:extLst xmlns:a="http://schemas.openxmlformats.org/drawingml/2006/main">
              <a:ext uri="{FF2B5EF4-FFF2-40B4-BE49-F238E27FC236}">
                <a16:creationId xmlns:a16="http://schemas.microsoft.com/office/drawing/2014/main" id="{2EFC521F-58B3-4776-AC1B-34BF76BB2A9F}"/>
              </a:ext>
            </a:extLst>
          </p:cNvPr>
          <p:cNvSpPr>
            <a:spLocks xmlns:a="http://schemas.openxmlformats.org/drawingml/2006/main" noGrp="1"/>
          </p:cNvSpPr>
          <p:nvPr/>
        </p:nvSpPr>
        <p:spPr>
          <a:xfrm xmlns:a="http://schemas.openxmlformats.org/drawingml/2006/main">
            <a:off x="5219700" y="41529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Call the study inconclusive and collect stronger evidence.</a:t>
            </a:r>
          </a:p>
        </p:txBody>
      </p:sp>
      <p:sp>
        <p:nvSpPr>
          <p:cNvPr id="18" name="">
            <a:extLst xmlns:a="http://schemas.openxmlformats.org/drawingml/2006/main">
              <a:ext uri="{FF2B5EF4-FFF2-40B4-BE49-F238E27FC236}">
                <a16:creationId xmlns:a16="http://schemas.microsoft.com/office/drawing/2014/main" id="{2BD08FC9-E868-49B5-801B-09473A403699}"/>
              </a:ext>
            </a:extLst>
          </p:cNvPr>
          <p:cNvSpPr>
            <a:spLocks xmlns:a="http://schemas.openxmlformats.org/drawingml/2006/main" noGrp="1"/>
          </p:cNvSpPr>
          <p:nvPr/>
        </p:nvSpPr>
        <p:spPr>
          <a:xfrm xmlns:a="http://schemas.openxmlformats.org/drawingml/2006/main">
            <a:off x="1676400" y="5467350"/>
            <a:ext cx="8972550" cy="590550"/>
          </a:xfrm>
          <a:prstGeom xmlns:a="http://schemas.openxmlformats.org/drawingml/2006/main" prst="roundRect">
            <a:avLst>
              <a:gd name="adj" fmla="val 19355"/>
            </a:avLst>
          </a:prstGeom>
          <a:solidFill xmlns:a="http://schemas.openxmlformats.org/drawingml/2006/main">
            <a:srgbClr val="EAF5FB"/>
          </a:solidFill>
          <a:ln xmlns:a="http://schemas.openxmlformats.org/drawingml/2006/main" w="9525">
            <a:solidFill>
              <a:srgbClr val="F4A261"/>
            </a:solidFill>
            <a:prstDash val="solid"/>
          </a:ln>
        </p:spPr>
      </p:sp>
      <p:sp>
        <p:nvSpPr>
          <p:cNvPr id="19" name="">
            <a:extLst xmlns:a="http://schemas.openxmlformats.org/drawingml/2006/main">
              <a:ext uri="{FF2B5EF4-FFF2-40B4-BE49-F238E27FC236}">
                <a16:creationId xmlns:a16="http://schemas.microsoft.com/office/drawing/2014/main" id="{6EFC3FD8-F853-466F-B0DD-517EAB6CAC96}"/>
              </a:ext>
            </a:extLst>
          </p:cNvPr>
          <p:cNvSpPr>
            <a:spLocks xmlns:a="http://schemas.openxmlformats.org/drawingml/2006/main" noGrp="1"/>
          </p:cNvSpPr>
          <p:nvPr/>
        </p:nvSpPr>
        <p:spPr>
          <a:xfrm xmlns:a="http://schemas.openxmlformats.org/drawingml/2006/main">
            <a:off x="1924050" y="562927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474"/>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Secondary measures explain the result; they do not replace the primary force test.</a:t>
            </a:r>
          </a:p>
        </p:txBody>
      </p:sp>
    </p:spTree>
    <p:extLst>
      <p:ext uri="{BB962C8B-B14F-4D97-AF65-F5344CB8AC3E}">
        <p14:creationId xmlns:p14="http://schemas.microsoft.com/office/powerpoint/2010/main" val="20017654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49A4096-782D-493E-A590-D7EC250D8CA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9B5460F4-DE3B-4C61-BE7A-93DEEA964D87}"/>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FUTURE DIRECTION</a:t>
            </a:r>
          </a:p>
        </p:txBody>
      </p:sp>
      <p:sp>
        <p:nvSpPr>
          <p:cNvPr id="3" name="">
            <a:extLst xmlns:a="http://schemas.openxmlformats.org/drawingml/2006/main">
              <a:ext uri="{FF2B5EF4-FFF2-40B4-BE49-F238E27FC236}">
                <a16:creationId xmlns:a16="http://schemas.microsoft.com/office/drawing/2014/main" id="{C6EA3D91-865F-4B64-9968-46C60EDF857E}"/>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Biomech-JEPA turns video into a testable physical state</a:t>
            </a:r>
          </a:p>
        </p:txBody>
      </p:sp>
      <p:sp>
        <p:nvSpPr>
          <p:cNvPr id="4" name="">
            <a:extLst xmlns:a="http://schemas.openxmlformats.org/drawingml/2006/main">
              <a:ext uri="{FF2B5EF4-FFF2-40B4-BE49-F238E27FC236}">
                <a16:creationId xmlns:a16="http://schemas.microsoft.com/office/drawing/2014/main" id="{E3FCE1AA-9140-461A-8699-C84140F7803A}"/>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5576856D-9C60-415B-921F-3743E08343F8}"/>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93D9B694-19DB-46A1-ABCA-F56FD3394EB4}"/>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The model should represent body, objects, contact, dynamics, and uncertainty—not one opaque embedding.</a:t>
            </a:r>
          </a:p>
        </p:txBody>
      </p:sp>
      <p:sp>
        <p:nvSpPr>
          <p:cNvPr id="7" name="">
            <a:extLst xmlns:a="http://schemas.openxmlformats.org/drawingml/2006/main">
              <a:ext uri="{FF2B5EF4-FFF2-40B4-BE49-F238E27FC236}">
                <a16:creationId xmlns:a16="http://schemas.microsoft.com/office/drawing/2014/main" id="{5538C9E8-3EE9-4CBC-80D6-22BBA75B19E1}"/>
              </a:ext>
            </a:extLst>
          </p:cNvPr>
          <p:cNvSpPr>
            <a:spLocks xmlns:a="http://schemas.openxmlformats.org/drawingml/2006/main" noGrp="1"/>
          </p:cNvSpPr>
          <p:nvPr/>
        </p:nvSpPr>
        <p:spPr>
          <a:xfrm xmlns:a="http://schemas.openxmlformats.org/drawingml/2006/main">
            <a:off x="2914650" y="3009900"/>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32387"/>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B80AE3D9-69C2-4376-A5DC-1F936421D889}"/>
              </a:ext>
            </a:extLst>
          </p:cNvPr>
          <p:cNvSpPr>
            <a:spLocks xmlns:a="http://schemas.openxmlformats.org/drawingml/2006/main" noGrp="1"/>
          </p:cNvSpPr>
          <p:nvPr/>
        </p:nvSpPr>
        <p:spPr>
          <a:xfrm xmlns:a="http://schemas.openxmlformats.org/drawingml/2006/main">
            <a:off x="457200" y="1981200"/>
            <a:ext cx="2343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Observe</a:t>
            </a:r>
          </a:p>
        </p:txBody>
      </p:sp>
      <p:sp>
        <p:nvSpPr>
          <p:cNvPr id="9" name="">
            <a:extLst xmlns:a="http://schemas.openxmlformats.org/drawingml/2006/main">
              <a:ext uri="{FF2B5EF4-FFF2-40B4-BE49-F238E27FC236}">
                <a16:creationId xmlns:a16="http://schemas.microsoft.com/office/drawing/2014/main" id="{E6E237EF-546D-4371-A481-3E7086519CC1}"/>
              </a:ext>
            </a:extLst>
          </p:cNvPr>
          <p:cNvSpPr>
            <a:spLocks xmlns:a="http://schemas.openxmlformats.org/drawingml/2006/main" noGrp="1"/>
          </p:cNvSpPr>
          <p:nvPr/>
        </p:nvSpPr>
        <p:spPr>
          <a:xfrm xmlns:a="http://schemas.openxmlformats.org/drawingml/2006/main">
            <a:off x="666750" y="2609850"/>
            <a:ext cx="192405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3D1D0DAB-3207-4E9C-A8A7-415BE957EFF3}"/>
              </a:ext>
            </a:extLst>
          </p:cNvPr>
          <p:cNvSpPr>
            <a:spLocks xmlns:a="http://schemas.openxmlformats.org/drawingml/2006/main" noGrp="1"/>
          </p:cNvSpPr>
          <p:nvPr/>
        </p:nvSpPr>
        <p:spPr>
          <a:xfrm xmlns:a="http://schemas.openxmlformats.org/drawingml/2006/main">
            <a:off x="704850" y="2905125"/>
            <a:ext cx="18478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RGB video</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depth</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segmentation</a:t>
            </a:r>
          </a:p>
        </p:txBody>
      </p:sp>
      <p:sp>
        <p:nvSpPr>
          <p:cNvPr id="11" name="">
            <a:extLst xmlns:a="http://schemas.openxmlformats.org/drawingml/2006/main">
              <a:ext uri="{FF2B5EF4-FFF2-40B4-BE49-F238E27FC236}">
                <a16:creationId xmlns:a16="http://schemas.microsoft.com/office/drawing/2014/main" id="{55B53734-EC18-4EB5-B706-B483939DC6D1}"/>
              </a:ext>
            </a:extLst>
          </p:cNvPr>
          <p:cNvSpPr>
            <a:spLocks xmlns:a="http://schemas.openxmlformats.org/drawingml/2006/main" noGrp="1"/>
          </p:cNvSpPr>
          <p:nvPr/>
        </p:nvSpPr>
        <p:spPr>
          <a:xfrm xmlns:a="http://schemas.openxmlformats.org/drawingml/2006/main">
            <a:off x="5638800" y="3009900"/>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32387"/>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4DE723A4-8FAD-467B-B7D1-8177C823A01D}"/>
              </a:ext>
            </a:extLst>
          </p:cNvPr>
          <p:cNvSpPr>
            <a:spLocks xmlns:a="http://schemas.openxmlformats.org/drawingml/2006/main" noGrp="1"/>
          </p:cNvSpPr>
          <p:nvPr/>
        </p:nvSpPr>
        <p:spPr>
          <a:xfrm xmlns:a="http://schemas.openxmlformats.org/drawingml/2006/main">
            <a:off x="3181350" y="1981200"/>
            <a:ext cx="2343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Build state</a:t>
            </a:r>
          </a:p>
        </p:txBody>
      </p:sp>
      <p:sp>
        <p:nvSpPr>
          <p:cNvPr id="13" name="">
            <a:extLst xmlns:a="http://schemas.openxmlformats.org/drawingml/2006/main">
              <a:ext uri="{FF2B5EF4-FFF2-40B4-BE49-F238E27FC236}">
                <a16:creationId xmlns:a16="http://schemas.microsoft.com/office/drawing/2014/main" id="{23AA7C4E-BBC6-4B64-9DAB-528B374A2081}"/>
              </a:ext>
            </a:extLst>
          </p:cNvPr>
          <p:cNvSpPr>
            <a:spLocks xmlns:a="http://schemas.openxmlformats.org/drawingml/2006/main" noGrp="1"/>
          </p:cNvSpPr>
          <p:nvPr/>
        </p:nvSpPr>
        <p:spPr>
          <a:xfrm xmlns:a="http://schemas.openxmlformats.org/drawingml/2006/main">
            <a:off x="3390900" y="2609850"/>
            <a:ext cx="1924050" cy="47625"/>
          </a:xfrm>
          <a:prstGeom xmlns:a="http://schemas.openxmlformats.org/drawingml/2006/main" prst="rect">
            <a:avLst/>
          </a:prstGeom>
          <a:solidFill xmlns:a="http://schemas.openxmlformats.org/drawingml/2006/main">
            <a:srgbClr val="2A9D8F"/>
          </a:solidFill>
          <a:ln xmlns:a="http://schemas.openxmlformats.org/drawingml/2006/main" w="0">
            <a:solidFill>
              <a:srgbClr val="2A9D8F"/>
            </a:solidFill>
            <a:prstDash val="solid"/>
          </a:ln>
        </p:spPr>
      </p:sp>
      <p:sp>
        <p:nvSpPr>
          <p:cNvPr id="14" name="">
            <a:extLst xmlns:a="http://schemas.openxmlformats.org/drawingml/2006/main">
              <a:ext uri="{FF2B5EF4-FFF2-40B4-BE49-F238E27FC236}">
                <a16:creationId xmlns:a16="http://schemas.microsoft.com/office/drawing/2014/main" id="{096A6FFB-335D-48E5-B150-B96347AC9278}"/>
              </a:ext>
            </a:extLst>
          </p:cNvPr>
          <p:cNvSpPr>
            <a:spLocks xmlns:a="http://schemas.openxmlformats.org/drawingml/2006/main" noGrp="1"/>
          </p:cNvSpPr>
          <p:nvPr/>
        </p:nvSpPr>
        <p:spPr>
          <a:xfrm xmlns:a="http://schemas.openxmlformats.org/drawingml/2006/main">
            <a:off x="3429000" y="2905125"/>
            <a:ext cx="18478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body + objects</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contact</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uncertainty</a:t>
            </a:r>
          </a:p>
        </p:txBody>
      </p:sp>
      <p:sp>
        <p:nvSpPr>
          <p:cNvPr id="15" name="">
            <a:extLst xmlns:a="http://schemas.openxmlformats.org/drawingml/2006/main">
              <a:ext uri="{FF2B5EF4-FFF2-40B4-BE49-F238E27FC236}">
                <a16:creationId xmlns:a16="http://schemas.microsoft.com/office/drawing/2014/main" id="{645BBC49-A31D-4ACF-84E6-28AA2F87167C}"/>
              </a:ext>
            </a:extLst>
          </p:cNvPr>
          <p:cNvSpPr>
            <a:spLocks xmlns:a="http://schemas.openxmlformats.org/drawingml/2006/main" noGrp="1"/>
          </p:cNvSpPr>
          <p:nvPr/>
        </p:nvSpPr>
        <p:spPr>
          <a:xfrm xmlns:a="http://schemas.openxmlformats.org/drawingml/2006/main">
            <a:off x="8362950" y="3009900"/>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32387"/>
          </a:bodyPr>
          <a:lstStyle xmlns:a="http://schemas.openxmlformats.org/drawingml/2006/main"/>
          <a:p xmlns:a="http://schemas.openxmlformats.org/drawingml/2006/main">
            <a:pPr algn="ctr">
              <a:defRPr sz="2025" b="1">
                <a:solidFill>
                  <a:srgbClr val="52606D"/>
                </a:solidFill>
                <a:latin typeface="Arial"/>
                <a:ea typeface="Arial"/>
                <a:cs typeface="Arial"/>
              </a:defRPr>
            </a:pPr>
            <a:r>
              <a:rPr sz="2025" b="1">
                <a:solidFill>
                  <a:srgbClr val="52606D"/>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2DA39B82-35F4-4536-BFD4-E4C12B07210B}"/>
              </a:ext>
            </a:extLst>
          </p:cNvPr>
          <p:cNvSpPr>
            <a:spLocks xmlns:a="http://schemas.openxmlformats.org/drawingml/2006/main" noGrp="1"/>
          </p:cNvSpPr>
          <p:nvPr/>
        </p:nvSpPr>
        <p:spPr>
          <a:xfrm xmlns:a="http://schemas.openxmlformats.org/drawingml/2006/main">
            <a:off x="5905500" y="1981200"/>
            <a:ext cx="2343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Check physics</a:t>
            </a:r>
          </a:p>
        </p:txBody>
      </p:sp>
      <p:sp>
        <p:nvSpPr>
          <p:cNvPr id="17" name="">
            <a:extLst xmlns:a="http://schemas.openxmlformats.org/drawingml/2006/main">
              <a:ext uri="{FF2B5EF4-FFF2-40B4-BE49-F238E27FC236}">
                <a16:creationId xmlns:a16="http://schemas.microsoft.com/office/drawing/2014/main" id="{3F5E96A2-A3B9-4F01-9B22-6C7681A41D51}"/>
              </a:ext>
            </a:extLst>
          </p:cNvPr>
          <p:cNvSpPr>
            <a:spLocks xmlns:a="http://schemas.openxmlformats.org/drawingml/2006/main" noGrp="1"/>
          </p:cNvSpPr>
          <p:nvPr/>
        </p:nvSpPr>
        <p:spPr>
          <a:xfrm xmlns:a="http://schemas.openxmlformats.org/drawingml/2006/main">
            <a:off x="6115050" y="2609850"/>
            <a:ext cx="1924050" cy="47625"/>
          </a:xfrm>
          <a:prstGeom xmlns:a="http://schemas.openxmlformats.org/drawingml/2006/main" prst="rect">
            <a:avLst/>
          </a:prstGeom>
          <a:solidFill xmlns:a="http://schemas.openxmlformats.org/drawingml/2006/main">
            <a:srgbClr val="F4A261"/>
          </a:solidFill>
          <a:ln xmlns:a="http://schemas.openxmlformats.org/drawingml/2006/main" w="0">
            <a:solidFill>
              <a:srgbClr val="F4A261"/>
            </a:solidFill>
            <a:prstDash val="solid"/>
          </a:ln>
        </p:spPr>
      </p:sp>
      <p:sp>
        <p:nvSpPr>
          <p:cNvPr id="18" name="">
            <a:extLst xmlns:a="http://schemas.openxmlformats.org/drawingml/2006/main">
              <a:ext uri="{FF2B5EF4-FFF2-40B4-BE49-F238E27FC236}">
                <a16:creationId xmlns:a16="http://schemas.microsoft.com/office/drawing/2014/main" id="{FD6EB0AE-CC2A-48C5-AFD9-3A20828D6408}"/>
              </a:ext>
            </a:extLst>
          </p:cNvPr>
          <p:cNvSpPr>
            <a:spLocks xmlns:a="http://schemas.openxmlformats.org/drawingml/2006/main" noGrp="1"/>
          </p:cNvSpPr>
          <p:nvPr/>
        </p:nvSpPr>
        <p:spPr>
          <a:xfrm xmlns:a="http://schemas.openxmlformats.org/drawingml/2006/main">
            <a:off x="6153150" y="2905125"/>
            <a:ext cx="18478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OpenSim</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robot simulation</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groundedness</a:t>
            </a:r>
          </a:p>
        </p:txBody>
      </p:sp>
      <p:sp>
        <p:nvSpPr>
          <p:cNvPr id="19" name="">
            <a:extLst xmlns:a="http://schemas.openxmlformats.org/drawingml/2006/main">
              <a:ext uri="{FF2B5EF4-FFF2-40B4-BE49-F238E27FC236}">
                <a16:creationId xmlns:a16="http://schemas.microsoft.com/office/drawing/2014/main" id="{EBD372A6-1391-48CC-8DA6-1237092F03E0}"/>
              </a:ext>
            </a:extLst>
          </p:cNvPr>
          <p:cNvSpPr>
            <a:spLocks xmlns:a="http://schemas.openxmlformats.org/drawingml/2006/main" noGrp="1"/>
          </p:cNvSpPr>
          <p:nvPr/>
        </p:nvSpPr>
        <p:spPr>
          <a:xfrm xmlns:a="http://schemas.openxmlformats.org/drawingml/2006/main">
            <a:off x="8629650" y="1981200"/>
            <a:ext cx="2343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Answer or act</a:t>
            </a:r>
          </a:p>
        </p:txBody>
      </p:sp>
      <p:sp>
        <p:nvSpPr>
          <p:cNvPr id="20" name="">
            <a:extLst xmlns:a="http://schemas.openxmlformats.org/drawingml/2006/main">
              <a:ext uri="{FF2B5EF4-FFF2-40B4-BE49-F238E27FC236}">
                <a16:creationId xmlns:a16="http://schemas.microsoft.com/office/drawing/2014/main" id="{76B8C02A-2E42-420B-8369-76E278BE96D5}"/>
              </a:ext>
            </a:extLst>
          </p:cNvPr>
          <p:cNvSpPr>
            <a:spLocks xmlns:a="http://schemas.openxmlformats.org/drawingml/2006/main" noGrp="1"/>
          </p:cNvSpPr>
          <p:nvPr/>
        </p:nvSpPr>
        <p:spPr>
          <a:xfrm xmlns:a="http://schemas.openxmlformats.org/drawingml/2006/main">
            <a:off x="8839200" y="2609850"/>
            <a:ext cx="1924050" cy="47625"/>
          </a:xfrm>
          <a:prstGeom xmlns:a="http://schemas.openxmlformats.org/drawingml/2006/main" prst="rect">
            <a:avLst/>
          </a:prstGeom>
          <a:solidFill xmlns:a="http://schemas.openxmlformats.org/drawingml/2006/main">
            <a:srgbClr val="D95D5D"/>
          </a:solidFill>
          <a:ln xmlns:a="http://schemas.openxmlformats.org/drawingml/2006/main" w="0">
            <a:solidFill>
              <a:srgbClr val="D95D5D"/>
            </a:solidFill>
            <a:prstDash val="solid"/>
          </a:ln>
        </p:spPr>
      </p:sp>
      <p:sp>
        <p:nvSpPr>
          <p:cNvPr id="21" name="">
            <a:extLst xmlns:a="http://schemas.openxmlformats.org/drawingml/2006/main">
              <a:ext uri="{FF2B5EF4-FFF2-40B4-BE49-F238E27FC236}">
                <a16:creationId xmlns:a16="http://schemas.microsoft.com/office/drawing/2014/main" id="{54DC6494-CDAE-483B-902B-128A945E313D}"/>
              </a:ext>
            </a:extLst>
          </p:cNvPr>
          <p:cNvSpPr>
            <a:spLocks xmlns:a="http://schemas.openxmlformats.org/drawingml/2006/main" noGrp="1"/>
          </p:cNvSpPr>
          <p:nvPr/>
        </p:nvSpPr>
        <p:spPr>
          <a:xfrm xmlns:a="http://schemas.openxmlformats.org/drawingml/2006/main">
            <a:off x="8877300" y="2905125"/>
            <a:ext cx="18478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estimate</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generate</a:t>
            </a:r>
          </a:p>
          <a:p xmlns:a="http://schemas.openxmlformats.org/drawingml/2006/main">
            <a:pPr algn="l">
              <a:defRPr sz="1425" b="0">
                <a:solidFill>
                  <a:srgbClr val="111827"/>
                </a:solidFill>
                <a:latin typeface="Arial"/>
                <a:ea typeface="Arial"/>
                <a:cs typeface="Arial"/>
              </a:defRPr>
            </a:pPr>
            <a:r>
              <a:rPr sz="1425" b="0">
                <a:solidFill>
                  <a:srgbClr val="111827"/>
                </a:solidFill>
                <a:latin typeface="Arial"/>
                <a:ea typeface="Arial"/>
                <a:cs typeface="Arial"/>
              </a:rPr>
              <a:t>• call a tool</a:t>
            </a:r>
          </a:p>
        </p:txBody>
      </p:sp>
      <p:sp>
        <p:nvSpPr>
          <p:cNvPr id="22" name="">
            <a:extLst xmlns:a="http://schemas.openxmlformats.org/drawingml/2006/main">
              <a:ext uri="{FF2B5EF4-FFF2-40B4-BE49-F238E27FC236}">
                <a16:creationId xmlns:a16="http://schemas.microsoft.com/office/drawing/2014/main" id="{384437D6-D33F-413F-901F-BD3EBF0883E2}"/>
              </a:ext>
            </a:extLst>
          </p:cNvPr>
          <p:cNvSpPr>
            <a:spLocks xmlns:a="http://schemas.openxmlformats.org/drawingml/2006/main" noGrp="1"/>
          </p:cNvSpPr>
          <p:nvPr/>
        </p:nvSpPr>
        <p:spPr>
          <a:xfrm xmlns:a="http://schemas.openxmlformats.org/drawingml/2006/main">
            <a:off x="1285875" y="4857750"/>
            <a:ext cx="9620250" cy="914400"/>
          </a:xfrm>
          <a:prstGeom xmlns:a="http://schemas.openxmlformats.org/drawingml/2006/main" prst="roundRect">
            <a:avLst>
              <a:gd name="adj" fmla="val 12500"/>
            </a:avLst>
          </a:prstGeom>
          <a:solidFill xmlns:a="http://schemas.openxmlformats.org/drawingml/2006/main">
            <a:srgbClr val="EEF2FF"/>
          </a:solidFill>
          <a:ln xmlns:a="http://schemas.openxmlformats.org/drawingml/2006/main" w="9525">
            <a:solidFill>
              <a:srgbClr val="6D5BD0"/>
            </a:solidFill>
            <a:prstDash val="solid"/>
          </a:ln>
        </p:spPr>
      </p:sp>
      <p:sp>
        <p:nvSpPr>
          <p:cNvPr id="23" name="">
            <a:extLst xmlns:a="http://schemas.openxmlformats.org/drawingml/2006/main">
              <a:ext uri="{FF2B5EF4-FFF2-40B4-BE49-F238E27FC236}">
                <a16:creationId xmlns:a16="http://schemas.microsoft.com/office/drawing/2014/main" id="{F8E16A78-11C3-4F9E-9B0C-19AE52AE5ABC}"/>
              </a:ext>
            </a:extLst>
          </p:cNvPr>
          <p:cNvSpPr>
            <a:spLocks xmlns:a="http://schemas.openxmlformats.org/drawingml/2006/main" noGrp="1"/>
          </p:cNvSpPr>
          <p:nvPr/>
        </p:nvSpPr>
        <p:spPr>
          <a:xfrm xmlns:a="http://schemas.openxmlformats.org/drawingml/2006/main">
            <a:off x="1619250" y="5095875"/>
            <a:ext cx="895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5242"/>
          </a:bodyPr>
          <a:lstStyle xmlns:a="http://schemas.openxmlformats.org/drawingml/2006/main"/>
          <a:p xmlns:a="http://schemas.openxmlformats.org/drawingml/2006/main">
            <a:pPr algn="ctr">
              <a:defRPr sz="1500" b="1">
                <a:solidFill>
                  <a:srgbClr val="102A43"/>
                </a:solidFill>
                <a:latin typeface="Arial"/>
                <a:ea typeface="Arial"/>
                <a:cs typeface="Arial"/>
              </a:defRPr>
            </a:pPr>
            <a:r>
              <a:rPr sz="1500" b="1">
                <a:solidFill>
                  <a:srgbClr val="102A43"/>
                </a:solidFill>
                <a:latin typeface="Arial"/>
                <a:ea typeface="Arial"/>
                <a:cs typeface="Arial"/>
              </a:rPr>
              <a:t>Qwen chooses which tool to call. Physics tools judge plausibility; they remain the source of physical supervision.</a:t>
            </a:r>
          </a:p>
        </p:txBody>
      </p:sp>
    </p:spTree>
    <p:extLst>
      <p:ext uri="{BB962C8B-B14F-4D97-AF65-F5344CB8AC3E}">
        <p14:creationId xmlns:p14="http://schemas.microsoft.com/office/powerpoint/2010/main" val="126807621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C3D6493-F681-43BF-92EF-730182DC20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BBCD6561-D876-4EAE-883C-C79E44F757D5}"/>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RESEARCH PROGRAM</a:t>
            </a:r>
          </a:p>
        </p:txBody>
      </p:sp>
      <p:sp>
        <p:nvSpPr>
          <p:cNvPr id="3" name="">
            <a:extLst xmlns:a="http://schemas.openxmlformats.org/drawingml/2006/main">
              <a:ext uri="{FF2B5EF4-FFF2-40B4-BE49-F238E27FC236}">
                <a16:creationId xmlns:a16="http://schemas.microsoft.com/office/drawing/2014/main" id="{B0097512-A4E5-4455-B295-A6509B1C828A}"/>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462"/>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The collaboration connects physical truth to real-world sensing</a:t>
            </a:r>
          </a:p>
        </p:txBody>
      </p:sp>
      <p:sp>
        <p:nvSpPr>
          <p:cNvPr id="4" name="">
            <a:extLst xmlns:a="http://schemas.openxmlformats.org/drawingml/2006/main">
              <a:ext uri="{FF2B5EF4-FFF2-40B4-BE49-F238E27FC236}">
                <a16:creationId xmlns:a16="http://schemas.microsoft.com/office/drawing/2014/main" id="{60238261-34CE-49AF-AB5F-5A26276CA39C}"/>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82406AD1-9DB2-48A3-98C2-2D67218D592D}"/>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12B52C9C-A758-4030-B2E4-55DFC7F11758}"/>
              </a:ext>
            </a:extLst>
          </p:cNvPr>
          <p:cNvSpPr>
            <a:spLocks xmlns:a="http://schemas.openxmlformats.org/drawingml/2006/main" noGrp="1"/>
          </p:cNvSpPr>
          <p:nvPr/>
        </p:nvSpPr>
        <p:spPr>
          <a:xfrm xmlns:a="http://schemas.openxmlformats.org/drawingml/2006/main">
            <a:off x="457200" y="112395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Each group owns a different part of the measurement problem.</a:t>
            </a:r>
          </a:p>
        </p:txBody>
      </p:sp>
      <p:sp>
        <p:nvSpPr>
          <p:cNvPr id="7" name="">
            <a:extLst xmlns:a="http://schemas.openxmlformats.org/drawingml/2006/main">
              <a:ext uri="{FF2B5EF4-FFF2-40B4-BE49-F238E27FC236}">
                <a16:creationId xmlns:a16="http://schemas.microsoft.com/office/drawing/2014/main" id="{8CCAF710-BD6F-428E-A913-AA84273E240C}"/>
              </a:ext>
            </a:extLst>
          </p:cNvPr>
          <p:cNvSpPr>
            <a:spLocks xmlns:a="http://schemas.openxmlformats.org/drawingml/2006/main" noGrp="1"/>
          </p:cNvSpPr>
          <p:nvPr/>
        </p:nvSpPr>
        <p:spPr>
          <a:xfrm xmlns:a="http://schemas.openxmlformats.org/drawingml/2006/main">
            <a:off x="590550" y="19431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425" b="1">
                <a:solidFill>
                  <a:srgbClr val="2A9D8F"/>
                </a:solidFill>
                <a:latin typeface="Arial"/>
                <a:ea typeface="Arial"/>
                <a:cs typeface="Arial"/>
              </a:defRPr>
            </a:pPr>
            <a:r>
              <a:rPr sz="1425" b="1">
                <a:solidFill>
                  <a:srgbClr val="2A9D8F"/>
                </a:solidFill>
                <a:latin typeface="Arial"/>
                <a:ea typeface="Arial"/>
                <a:cs typeface="Arial"/>
              </a:rPr>
              <a:t>DELP</a:t>
            </a:r>
          </a:p>
        </p:txBody>
      </p:sp>
      <p:sp>
        <p:nvSpPr>
          <p:cNvPr id="8" name="">
            <a:extLst xmlns:a="http://schemas.openxmlformats.org/drawingml/2006/main">
              <a:ext uri="{FF2B5EF4-FFF2-40B4-BE49-F238E27FC236}">
                <a16:creationId xmlns:a16="http://schemas.microsoft.com/office/drawing/2014/main" id="{C5A0628C-0027-43D9-9605-3B5F4987C514}"/>
              </a:ext>
            </a:extLst>
          </p:cNvPr>
          <p:cNvSpPr>
            <a:spLocks xmlns:a="http://schemas.openxmlformats.org/drawingml/2006/main" noGrp="1"/>
          </p:cNvSpPr>
          <p:nvPr/>
        </p:nvSpPr>
        <p:spPr>
          <a:xfrm xmlns:a="http://schemas.openxmlformats.org/drawingml/2006/main">
            <a:off x="1676400" y="19050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Biomechanics</a:t>
            </a:r>
          </a:p>
        </p:txBody>
      </p:sp>
      <p:sp>
        <p:nvSpPr>
          <p:cNvPr id="9" name="">
            <a:extLst xmlns:a="http://schemas.openxmlformats.org/drawingml/2006/main">
              <a:ext uri="{FF2B5EF4-FFF2-40B4-BE49-F238E27FC236}">
                <a16:creationId xmlns:a16="http://schemas.microsoft.com/office/drawing/2014/main" id="{B7CF55B4-32FF-4216-B886-CDDDE8118FF2}"/>
              </a:ext>
            </a:extLst>
          </p:cNvPr>
          <p:cNvSpPr>
            <a:spLocks xmlns:a="http://schemas.openxmlformats.org/drawingml/2006/main" noGrp="1"/>
          </p:cNvSpPr>
          <p:nvPr/>
        </p:nvSpPr>
        <p:spPr>
          <a:xfrm xmlns:a="http://schemas.openxmlformats.org/drawingml/2006/main">
            <a:off x="5219700" y="19050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Define force targets, OpenSim checks, participant protocols, and meaningful error.</a:t>
            </a:r>
          </a:p>
        </p:txBody>
      </p:sp>
      <p:sp>
        <p:nvSpPr>
          <p:cNvPr id="10" name="">
            <a:extLst xmlns:a="http://schemas.openxmlformats.org/drawingml/2006/main">
              <a:ext uri="{FF2B5EF4-FFF2-40B4-BE49-F238E27FC236}">
                <a16:creationId xmlns:a16="http://schemas.microsoft.com/office/drawing/2014/main" id="{606A5F71-98BE-4859-82CF-025C1E20DD86}"/>
              </a:ext>
            </a:extLst>
          </p:cNvPr>
          <p:cNvSpPr>
            <a:spLocks xmlns:a="http://schemas.openxmlformats.org/drawingml/2006/main" noGrp="1"/>
          </p:cNvSpPr>
          <p:nvPr/>
        </p:nvSpPr>
        <p:spPr>
          <a:xfrm xmlns:a="http://schemas.openxmlformats.org/drawingml/2006/main">
            <a:off x="1676400" y="2724150"/>
            <a:ext cx="897255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1" name="">
            <a:extLst xmlns:a="http://schemas.openxmlformats.org/drawingml/2006/main">
              <a:ext uri="{FF2B5EF4-FFF2-40B4-BE49-F238E27FC236}">
                <a16:creationId xmlns:a16="http://schemas.microsoft.com/office/drawing/2014/main" id="{2EB58E40-F789-49B4-A7CF-666B9BFD530B}"/>
              </a:ext>
            </a:extLst>
          </p:cNvPr>
          <p:cNvSpPr>
            <a:spLocks xmlns:a="http://schemas.openxmlformats.org/drawingml/2006/main" noGrp="1"/>
          </p:cNvSpPr>
          <p:nvPr/>
        </p:nvSpPr>
        <p:spPr>
          <a:xfrm xmlns:a="http://schemas.openxmlformats.org/drawingml/2006/main">
            <a:off x="590550" y="306705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425" b="1">
                <a:solidFill>
                  <a:srgbClr val="3D8DFF"/>
                </a:solidFill>
                <a:latin typeface="Arial"/>
                <a:ea typeface="Arial"/>
                <a:cs typeface="Arial"/>
              </a:defRPr>
            </a:pPr>
            <a:r>
              <a:rPr sz="1425" b="1">
                <a:solidFill>
                  <a:srgbClr val="3D8DFF"/>
                </a:solidFill>
                <a:latin typeface="Arial"/>
                <a:ea typeface="Arial"/>
                <a:cs typeface="Arial"/>
              </a:rPr>
              <a:t>HAI</a:t>
            </a:r>
          </a:p>
        </p:txBody>
      </p:sp>
      <p:sp>
        <p:nvSpPr>
          <p:cNvPr id="12" name="">
            <a:extLst xmlns:a="http://schemas.openxmlformats.org/drawingml/2006/main">
              <a:ext uri="{FF2B5EF4-FFF2-40B4-BE49-F238E27FC236}">
                <a16:creationId xmlns:a16="http://schemas.microsoft.com/office/drawing/2014/main" id="{48D47A12-6E5A-4AC5-91C4-FBF43C8506BD}"/>
              </a:ext>
            </a:extLst>
          </p:cNvPr>
          <p:cNvSpPr>
            <a:spLocks xmlns:a="http://schemas.openxmlformats.org/drawingml/2006/main" noGrp="1"/>
          </p:cNvSpPr>
          <p:nvPr/>
        </p:nvSpPr>
        <p:spPr>
          <a:xfrm xmlns:a="http://schemas.openxmlformats.org/drawingml/2006/main">
            <a:off x="1676400" y="30289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Ambient intelligence</a:t>
            </a:r>
          </a:p>
        </p:txBody>
      </p:sp>
      <p:sp>
        <p:nvSpPr>
          <p:cNvPr id="13" name="">
            <a:extLst xmlns:a="http://schemas.openxmlformats.org/drawingml/2006/main">
              <a:ext uri="{FF2B5EF4-FFF2-40B4-BE49-F238E27FC236}">
                <a16:creationId xmlns:a16="http://schemas.microsoft.com/office/drawing/2014/main" id="{DA4FF17F-E98B-46FA-B4F3-C0FF22326F5B}"/>
              </a:ext>
            </a:extLst>
          </p:cNvPr>
          <p:cNvSpPr>
            <a:spLocks xmlns:a="http://schemas.openxmlformats.org/drawingml/2006/main" noGrp="1"/>
          </p:cNvSpPr>
          <p:nvPr/>
        </p:nvSpPr>
        <p:spPr>
          <a:xfrm xmlns:a="http://schemas.openxmlformats.org/drawingml/2006/main">
            <a:off x="5219700" y="302895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Define viewpoint, depth, occlusion, scene context, and sensing uncertainty.</a:t>
            </a:r>
          </a:p>
        </p:txBody>
      </p:sp>
      <p:sp>
        <p:nvSpPr>
          <p:cNvPr id="14" name="">
            <a:extLst xmlns:a="http://schemas.openxmlformats.org/drawingml/2006/main">
              <a:ext uri="{FF2B5EF4-FFF2-40B4-BE49-F238E27FC236}">
                <a16:creationId xmlns:a16="http://schemas.microsoft.com/office/drawing/2014/main" id="{43E3F784-3D40-4E64-86D4-0A38FC024A80}"/>
              </a:ext>
            </a:extLst>
          </p:cNvPr>
          <p:cNvSpPr>
            <a:spLocks xmlns:a="http://schemas.openxmlformats.org/drawingml/2006/main" noGrp="1"/>
          </p:cNvSpPr>
          <p:nvPr/>
        </p:nvSpPr>
        <p:spPr>
          <a:xfrm xmlns:a="http://schemas.openxmlformats.org/drawingml/2006/main">
            <a:off x="1676400" y="3848100"/>
            <a:ext cx="897255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15" name="">
            <a:extLst xmlns:a="http://schemas.openxmlformats.org/drawingml/2006/main">
              <a:ext uri="{FF2B5EF4-FFF2-40B4-BE49-F238E27FC236}">
                <a16:creationId xmlns:a16="http://schemas.microsoft.com/office/drawing/2014/main" id="{51959AD0-3BC7-4447-AEC4-DCD4308F567A}"/>
              </a:ext>
            </a:extLst>
          </p:cNvPr>
          <p:cNvSpPr>
            <a:spLocks xmlns:a="http://schemas.openxmlformats.org/drawingml/2006/main" noGrp="1"/>
          </p:cNvSpPr>
          <p:nvPr/>
        </p:nvSpPr>
        <p:spPr>
          <a:xfrm xmlns:a="http://schemas.openxmlformats.org/drawingml/2006/main">
            <a:off x="590550" y="4191000"/>
            <a:ext cx="85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ctr">
              <a:defRPr sz="1200" b="1">
                <a:solidFill>
                  <a:srgbClr val="6D5BD0"/>
                </a:solidFill>
                <a:latin typeface="Arial"/>
                <a:ea typeface="Arial"/>
                <a:cs typeface="Arial"/>
              </a:defRPr>
            </a:pPr>
            <a:r>
              <a:rPr sz="1200" b="1">
                <a:solidFill>
                  <a:srgbClr val="6D5BD0"/>
                </a:solidFill>
                <a:latin typeface="Arial"/>
                <a:ea typeface="Arial"/>
                <a:cs typeface="Arial"/>
              </a:rPr>
              <a:t>SHARED</a:t>
            </a:r>
          </a:p>
        </p:txBody>
      </p:sp>
      <p:sp>
        <p:nvSpPr>
          <p:cNvPr id="16" name="">
            <a:extLst xmlns:a="http://schemas.openxmlformats.org/drawingml/2006/main">
              <a:ext uri="{FF2B5EF4-FFF2-40B4-BE49-F238E27FC236}">
                <a16:creationId xmlns:a16="http://schemas.microsoft.com/office/drawing/2014/main" id="{7D24FE0F-C163-4A1A-8DAE-262BF131908D}"/>
              </a:ext>
            </a:extLst>
          </p:cNvPr>
          <p:cNvSpPr>
            <a:spLocks xmlns:a="http://schemas.openxmlformats.org/drawingml/2006/main" noGrp="1"/>
          </p:cNvSpPr>
          <p:nvPr/>
        </p:nvSpPr>
        <p:spPr>
          <a:xfrm xmlns:a="http://schemas.openxmlformats.org/drawingml/2006/main">
            <a:off x="1676400" y="41529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4667"/>
          </a:bodyPr>
          <a:lstStyle xmlns:a="http://schemas.openxmlformats.org/drawingml/2006/main"/>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World-model core</a:t>
            </a:r>
          </a:p>
        </p:txBody>
      </p:sp>
      <p:sp>
        <p:nvSpPr>
          <p:cNvPr id="17" name="">
            <a:extLst xmlns:a="http://schemas.openxmlformats.org/drawingml/2006/main">
              <a:ext uri="{FF2B5EF4-FFF2-40B4-BE49-F238E27FC236}">
                <a16:creationId xmlns:a16="http://schemas.microsoft.com/office/drawing/2014/main" id="{7110B52A-063C-4BAF-997F-85C6720E5184}"/>
              </a:ext>
            </a:extLst>
          </p:cNvPr>
          <p:cNvSpPr>
            <a:spLocks xmlns:a="http://schemas.openxmlformats.org/drawingml/2006/main" noGrp="1"/>
          </p:cNvSpPr>
          <p:nvPr/>
        </p:nvSpPr>
        <p:spPr>
          <a:xfrm xmlns:a="http://schemas.openxmlformats.org/drawingml/2006/main">
            <a:off x="5219700" y="41529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500" b="0">
                <a:solidFill>
                  <a:srgbClr val="52606D"/>
                </a:solidFill>
                <a:latin typeface="Arial"/>
                <a:ea typeface="Arial"/>
                <a:cs typeface="Arial"/>
              </a:defRPr>
            </a:pPr>
            <a:r>
              <a:rPr sz="1500" b="0">
                <a:solidFill>
                  <a:srgbClr val="52606D"/>
                </a:solidFill>
                <a:latin typeface="Arial"/>
                <a:ea typeface="Arial"/>
                <a:cs typeface="Arial"/>
              </a:rPr>
              <a:t>• Build the typed state, JEPA objectives, benchmark, and active tool policy.</a:t>
            </a:r>
          </a:p>
        </p:txBody>
      </p:sp>
      <p:sp>
        <p:nvSpPr>
          <p:cNvPr id="18" name="">
            <a:extLst xmlns:a="http://schemas.openxmlformats.org/drawingml/2006/main">
              <a:ext uri="{FF2B5EF4-FFF2-40B4-BE49-F238E27FC236}">
                <a16:creationId xmlns:a16="http://schemas.microsoft.com/office/drawing/2014/main" id="{DF53C604-8EDA-4DEB-9F6C-E90670E678AC}"/>
              </a:ext>
            </a:extLst>
          </p:cNvPr>
          <p:cNvSpPr>
            <a:spLocks xmlns:a="http://schemas.openxmlformats.org/drawingml/2006/main" noGrp="1"/>
          </p:cNvSpPr>
          <p:nvPr/>
        </p:nvSpPr>
        <p:spPr>
          <a:xfrm xmlns:a="http://schemas.openxmlformats.org/drawingml/2006/main">
            <a:off x="1676400" y="5467350"/>
            <a:ext cx="8972550" cy="590550"/>
          </a:xfrm>
          <a:prstGeom xmlns:a="http://schemas.openxmlformats.org/drawingml/2006/main" prst="roundRect">
            <a:avLst>
              <a:gd name="adj" fmla="val 19355"/>
            </a:avLst>
          </a:prstGeom>
          <a:solidFill xmlns:a="http://schemas.openxmlformats.org/drawingml/2006/main">
            <a:srgbClr val="EAF5FB"/>
          </a:solidFill>
          <a:ln xmlns:a="http://schemas.openxmlformats.org/drawingml/2006/main" w="9525">
            <a:solidFill>
              <a:srgbClr val="6D5BD0"/>
            </a:solidFill>
            <a:prstDash val="solid"/>
          </a:ln>
        </p:spPr>
      </p:sp>
      <p:sp>
        <p:nvSpPr>
          <p:cNvPr id="19" name="">
            <a:extLst xmlns:a="http://schemas.openxmlformats.org/drawingml/2006/main">
              <a:ext uri="{FF2B5EF4-FFF2-40B4-BE49-F238E27FC236}">
                <a16:creationId xmlns:a16="http://schemas.microsoft.com/office/drawing/2014/main" id="{8783E60D-6735-438E-9ED1-1A9A05CD8D73}"/>
              </a:ext>
            </a:extLst>
          </p:cNvPr>
          <p:cNvSpPr>
            <a:spLocks xmlns:a="http://schemas.openxmlformats.org/drawingml/2006/main" noGrp="1"/>
          </p:cNvSpPr>
          <p:nvPr/>
        </p:nvSpPr>
        <p:spPr>
          <a:xfrm xmlns:a="http://schemas.openxmlformats.org/drawingml/2006/main">
            <a:off x="1924050" y="5629275"/>
            <a:ext cx="847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89474"/>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First shared deliverable: PhysMoveBench with a frozen physical and sensing protocol.</a:t>
            </a:r>
          </a:p>
        </p:txBody>
      </p:sp>
    </p:spTree>
    <p:extLst>
      <p:ext uri="{BB962C8B-B14F-4D97-AF65-F5344CB8AC3E}">
        <p14:creationId xmlns:p14="http://schemas.microsoft.com/office/powerpoint/2010/main" val="75598467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80CE1F-6A5B-4872-B9D0-7B3064C564E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6D5BD0"/>
          </a:solidFill>
          <a:ln xmlns:a="http://schemas.openxmlformats.org/drawingml/2006/main" w="0">
            <a:solidFill>
              <a:srgbClr val="6D5BD0"/>
            </a:solidFill>
            <a:prstDash val="solid"/>
          </a:ln>
        </p:spPr>
      </p:sp>
      <p:sp>
        <p:nvSpPr>
          <p:cNvPr id="2" name="">
            <a:extLst xmlns:a="http://schemas.openxmlformats.org/drawingml/2006/main">
              <a:ext uri="{FF2B5EF4-FFF2-40B4-BE49-F238E27FC236}">
                <a16:creationId xmlns:a16="http://schemas.microsoft.com/office/drawing/2014/main" id="{A4C785F9-7944-4476-8BC6-9B86F863901F}"/>
              </a:ext>
            </a:extLst>
          </p:cNvPr>
          <p:cNvSpPr>
            <a:spLocks xmlns:a="http://schemas.openxmlformats.org/drawingml/2006/main" noGrp="1"/>
          </p:cNvSpPr>
          <p:nvPr/>
        </p:nvSpPr>
        <p:spPr>
          <a:xfrm xmlns:a="http://schemas.openxmlformats.org/drawingml/2006/main">
            <a:off x="457200" y="2286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900" b="1">
                <a:solidFill>
                  <a:srgbClr val="6D5BD0"/>
                </a:solidFill>
                <a:latin typeface="Arial"/>
                <a:ea typeface="Arial"/>
                <a:cs typeface="Arial"/>
              </a:defRPr>
            </a:pPr>
            <a:r>
              <a:rPr sz="900" b="1">
                <a:solidFill>
                  <a:srgbClr val="6D5BD0"/>
                </a:solidFill>
                <a:latin typeface="Arial"/>
                <a:ea typeface="Arial"/>
                <a:cs typeface="Arial"/>
              </a:rPr>
              <a:t>CONCLUSION</a:t>
            </a:r>
          </a:p>
        </p:txBody>
      </p:sp>
      <p:sp>
        <p:nvSpPr>
          <p:cNvPr id="3" name="">
            <a:extLst xmlns:a="http://schemas.openxmlformats.org/drawingml/2006/main">
              <a:ext uri="{FF2B5EF4-FFF2-40B4-BE49-F238E27FC236}">
                <a16:creationId xmlns:a16="http://schemas.microsoft.com/office/drawing/2014/main" id="{A93A3E46-9B5C-443B-A014-7125BFDCFD5F}"/>
              </a:ext>
            </a:extLst>
          </p:cNvPr>
          <p:cNvSpPr>
            <a:spLocks xmlns:a="http://schemas.openxmlformats.org/drawingml/2006/main" noGrp="1"/>
          </p:cNvSpPr>
          <p:nvPr/>
        </p:nvSpPr>
        <p:spPr>
          <a:xfrm xmlns:a="http://schemas.openxmlformats.org/drawingml/2006/main">
            <a:off x="457200" y="504825"/>
            <a:ext cx="1104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2850" b="1">
                <a:solidFill>
                  <a:srgbClr val="102A43"/>
                </a:solidFill>
                <a:latin typeface="Arial"/>
                <a:ea typeface="Arial"/>
                <a:cs typeface="Arial"/>
              </a:defRPr>
            </a:pPr>
            <a:r>
              <a:rPr sz="2850" b="1">
                <a:solidFill>
                  <a:srgbClr val="102A43"/>
                </a:solidFill>
                <a:latin typeface="Arial"/>
                <a:ea typeface="Arial"/>
                <a:cs typeface="Arial"/>
              </a:rPr>
              <a:t>GaitParity is the first gate—not the final system</a:t>
            </a:r>
          </a:p>
        </p:txBody>
      </p:sp>
      <p:sp>
        <p:nvSpPr>
          <p:cNvPr id="4" name="">
            <a:extLst xmlns:a="http://schemas.openxmlformats.org/drawingml/2006/main">
              <a:ext uri="{FF2B5EF4-FFF2-40B4-BE49-F238E27FC236}">
                <a16:creationId xmlns:a16="http://schemas.microsoft.com/office/drawing/2014/main" id="{0F66475A-B5D1-4B85-8D33-992E758D3AB6}"/>
              </a:ext>
            </a:extLst>
          </p:cNvPr>
          <p:cNvSpPr>
            <a:spLocks xmlns:a="http://schemas.openxmlformats.org/drawingml/2006/main" noGrp="1"/>
          </p:cNvSpPr>
          <p:nvPr/>
        </p:nvSpPr>
        <p:spPr>
          <a:xfrm xmlns:a="http://schemas.openxmlformats.org/drawingml/2006/main">
            <a:off x="11287125" y="6391275"/>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2222"/>
          </a:bodyPr>
          <a:lstStyle xmlns:a="http://schemas.openxmlformats.org/drawingml/2006/main"/>
          <a:p xmlns:a="http://schemas.openxmlformats.org/drawingml/2006/main">
            <a:pPr algn="r">
              <a:defRPr sz="900" b="0">
                <a:solidFill>
                  <a:srgbClr val="52606D"/>
                </a:solidFill>
                <a:latin typeface="Arial"/>
                <a:ea typeface="Arial"/>
                <a:cs typeface="Arial"/>
              </a:defRPr>
            </a:pPr>
            <a:r>
              <a:rPr sz="900" b="0">
                <a:solidFill>
                  <a:srgbClr val="52606D"/>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44F77B46-3C8F-4D60-9C6D-608038623E63}"/>
              </a:ext>
            </a:extLst>
          </p:cNvPr>
          <p:cNvSpPr>
            <a:spLocks xmlns:a="http://schemas.openxmlformats.org/drawingml/2006/main" noGrp="1"/>
          </p:cNvSpPr>
          <p:nvPr/>
        </p:nvSpPr>
        <p:spPr>
          <a:xfrm xmlns:a="http://schemas.openxmlformats.org/drawingml/2006/main">
            <a:off x="457200" y="6391275"/>
            <a:ext cx="10553700" cy="9525"/>
          </a:xfrm>
          <a:prstGeom xmlns:a="http://schemas.openxmlformats.org/drawingml/2006/main" prst="rect">
            <a:avLst/>
          </a:prstGeom>
          <a:solidFill xmlns:a="http://schemas.openxmlformats.org/drawingml/2006/main">
            <a:srgbClr val="C9D2DC"/>
          </a:solidFill>
          <a:ln xmlns:a="http://schemas.openxmlformats.org/drawingml/2006/main" w="0">
            <a:solidFill>
              <a:srgbClr val="C9D2DC"/>
            </a:solidFill>
            <a:prstDash val="solid"/>
          </a:ln>
        </p:spPr>
      </p:sp>
      <p:sp>
        <p:nvSpPr>
          <p:cNvPr id="6" name="">
            <a:extLst xmlns:a="http://schemas.openxmlformats.org/drawingml/2006/main">
              <a:ext uri="{FF2B5EF4-FFF2-40B4-BE49-F238E27FC236}">
                <a16:creationId xmlns:a16="http://schemas.microsoft.com/office/drawing/2014/main" id="{BD8B1A8E-6861-4EEB-AC72-DBE6C004E80F}"/>
              </a:ext>
            </a:extLst>
          </p:cNvPr>
          <p:cNvSpPr>
            <a:spLocks xmlns:a="http://schemas.openxmlformats.org/drawingml/2006/main" noGrp="1"/>
          </p:cNvSpPr>
          <p:nvPr/>
        </p:nvSpPr>
        <p:spPr>
          <a:xfrm xmlns:a="http://schemas.openxmlformats.org/drawingml/2006/main">
            <a:off x="819150" y="1333500"/>
            <a:ext cx="10553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99479"/>
          </a:bodyPr>
          <a:lstStyle xmlns:a="http://schemas.openxmlformats.org/drawingml/2006/main"/>
          <a:p xmlns:a="http://schemas.openxmlformats.org/drawingml/2006/main">
            <a:pPr algn="ctr">
              <a:defRPr sz="2400" b="1">
                <a:solidFill>
                  <a:srgbClr val="102A43"/>
                </a:solidFill>
                <a:latin typeface="Arial"/>
                <a:ea typeface="Arial"/>
                <a:cs typeface="Arial"/>
              </a:defRPr>
            </a:pPr>
            <a:r>
              <a:rPr sz="2400" b="1">
                <a:solidFill>
                  <a:srgbClr val="102A43"/>
                </a:solidFill>
                <a:latin typeface="Arial"/>
                <a:ea typeface="Arial"/>
                <a:cs typeface="Arial"/>
              </a:rPr>
              <a:t>The project now has a precise mirror rule and a controlled way to test whether that structure becomes useful.</a:t>
            </a:r>
          </a:p>
        </p:txBody>
      </p:sp>
      <p:sp>
        <p:nvSpPr>
          <p:cNvPr id="7" name="">
            <a:extLst xmlns:a="http://schemas.openxmlformats.org/drawingml/2006/main">
              <a:ext uri="{FF2B5EF4-FFF2-40B4-BE49-F238E27FC236}">
                <a16:creationId xmlns:a16="http://schemas.microsoft.com/office/drawing/2014/main" id="{B544DAEA-707E-4B4F-B569-FC3958FD3B44}"/>
              </a:ext>
            </a:extLst>
          </p:cNvPr>
          <p:cNvSpPr>
            <a:spLocks xmlns:a="http://schemas.openxmlformats.org/drawingml/2006/main" noGrp="1"/>
          </p:cNvSpPr>
          <p:nvPr/>
        </p:nvSpPr>
        <p:spPr>
          <a:xfrm xmlns:a="http://schemas.openxmlformats.org/drawingml/2006/main">
            <a:off x="2190750" y="2571750"/>
            <a:ext cx="7810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100000"/>
          </a:bodyPr>
          <a:lstStyle xmlns:a="http://schemas.openxmlformats.org/drawingml/2006/main"/>
          <a:p xmlns:a="http://schemas.openxmlformats.org/drawingml/2006/main">
            <a:pPr algn="l">
              <a:defRPr sz="1875" b="0">
                <a:solidFill>
                  <a:srgbClr val="111827"/>
                </a:solidFill>
                <a:latin typeface="Arial"/>
                <a:ea typeface="Arial"/>
                <a:cs typeface="Arial"/>
              </a:defRPr>
            </a:pPr>
            <a:r>
              <a:rPr sz="1875" b="0">
                <a:solidFill>
                  <a:srgbClr val="111827"/>
                </a:solidFill>
                <a:latin typeface="Arial"/>
                <a:ea typeface="Arial"/>
                <a:cs typeface="Arial"/>
              </a:rPr>
              <a:t>• Video alone does not reveal physical causes</a:t>
            </a:r>
          </a:p>
          <a:p xmlns:a="http://schemas.openxmlformats.org/drawingml/2006/main">
            <a:pPr algn="l">
              <a:defRPr sz="1875" b="0">
                <a:solidFill>
                  <a:srgbClr val="111827"/>
                </a:solidFill>
                <a:latin typeface="Arial"/>
                <a:ea typeface="Arial"/>
                <a:cs typeface="Arial"/>
              </a:defRPr>
            </a:pPr>
            <a:r>
              <a:rPr sz="1875" b="0">
                <a:solidFill>
                  <a:srgbClr val="111827"/>
                </a:solidFill>
                <a:latin typeface="Arial"/>
                <a:ea typeface="Arial"/>
                <a:cs typeface="Arial"/>
              </a:rPr>
              <a:t>• The equivariant encoder passes the mirror audit exactly</a:t>
            </a:r>
          </a:p>
          <a:p xmlns:a="http://schemas.openxmlformats.org/drawingml/2006/main">
            <a:pPr algn="l">
              <a:defRPr sz="1875" b="0">
                <a:solidFill>
                  <a:srgbClr val="111827"/>
                </a:solidFill>
                <a:latin typeface="Arial"/>
                <a:ea typeface="Arial"/>
                <a:cs typeface="Arial"/>
              </a:defRPr>
            </a:pPr>
            <a:r>
              <a:rPr sz="1875" b="0">
                <a:solidFill>
                  <a:srgbClr val="111827"/>
                </a:solidFill>
                <a:latin typeface="Arial"/>
                <a:ea typeface="Arial"/>
                <a:cs typeface="Arial"/>
              </a:rPr>
              <a:t>• Held-out force prediction is the next decisive test</a:t>
            </a:r>
          </a:p>
        </p:txBody>
      </p:sp>
      <p:sp>
        <p:nvSpPr>
          <p:cNvPr id="8" name="">
            <a:extLst xmlns:a="http://schemas.openxmlformats.org/drawingml/2006/main">
              <a:ext uri="{FF2B5EF4-FFF2-40B4-BE49-F238E27FC236}">
                <a16:creationId xmlns:a16="http://schemas.microsoft.com/office/drawing/2014/main" id="{822FEB5E-B76D-49A8-8941-C04B8AAFC941}"/>
              </a:ext>
            </a:extLst>
          </p:cNvPr>
          <p:cNvSpPr>
            <a:spLocks xmlns:a="http://schemas.openxmlformats.org/drawingml/2006/main" noGrp="1"/>
          </p:cNvSpPr>
          <p:nvPr/>
        </p:nvSpPr>
        <p:spPr>
          <a:xfrm xmlns:a="http://schemas.openxmlformats.org/drawingml/2006/main">
            <a:off x="1381125" y="4876800"/>
            <a:ext cx="9429750" cy="914400"/>
          </a:xfrm>
          <a:prstGeom xmlns:a="http://schemas.openxmlformats.org/drawingml/2006/main" prst="roundRect">
            <a:avLst>
              <a:gd name="adj" fmla="val 12500"/>
            </a:avLst>
          </a:prstGeom>
          <a:solidFill xmlns:a="http://schemas.openxmlformats.org/drawingml/2006/main">
            <a:srgbClr val="102A43"/>
          </a:solidFill>
          <a:ln xmlns:a="http://schemas.openxmlformats.org/drawingml/2006/main" w="9525">
            <a:solidFill>
              <a:srgbClr val="102A43"/>
            </a:solidFill>
            <a:prstDash val="solid"/>
          </a:ln>
        </p:spPr>
      </p:sp>
      <p:sp>
        <p:nvSpPr>
          <p:cNvPr id="9" name="">
            <a:extLst xmlns:a="http://schemas.openxmlformats.org/drawingml/2006/main">
              <a:ext uri="{FF2B5EF4-FFF2-40B4-BE49-F238E27FC236}">
                <a16:creationId xmlns:a16="http://schemas.microsoft.com/office/drawing/2014/main" id="{47CCAD0E-001A-424A-B9BF-B81F3686A8F7}"/>
              </a:ext>
            </a:extLst>
          </p:cNvPr>
          <p:cNvSpPr>
            <a:spLocks xmlns:a="http://schemas.openxmlformats.org/drawingml/2006/main" noGrp="1"/>
          </p:cNvSpPr>
          <p:nvPr/>
        </p:nvSpPr>
        <p:spPr>
          <a:xfrm xmlns:a="http://schemas.openxmlformats.org/drawingml/2006/main">
            <a:off x="1762125" y="5124450"/>
            <a:ext cx="866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rmAutofit fontScale="76190"/>
          </a:bodyP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If the force study succeeds, Biomech-JEPA becomes a credible path toward ambient physical movement understanding.</a:t>
            </a:r>
          </a:p>
        </p:txBody>
      </p:sp>
    </p:spTree>
    <p:extLst>
      <p:ext uri="{BB962C8B-B14F-4D97-AF65-F5344CB8AC3E}">
        <p14:creationId xmlns:p14="http://schemas.microsoft.com/office/powerpoint/2010/main" val="14472630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2026-08-24T03:23:33.9800000Z</dcterms:created>
  <dcterms:modified xsi:type="dcterms:W3CDTF">2026-08-24T03:23:33.9800000Z</dcterms:modified>
</coreProperties>
</file>