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178770ca93423f" /><Relationship Type="http://schemas.openxmlformats.org/officeDocument/2006/relationships/extended-properties" Target="/docProps/app.xml" Id="R8d84a401f9eb47c4" /><Relationship Type="http://schemas.openxmlformats.org/officeDocument/2006/relationships/officeDocument" Target="/ppt/presentation.xml" Id="R041a969c23d54d8b" /></Relationships>
</file>

<file path=ppt/presentation.xml><?xml version="1.0" encoding="utf-8"?>
<p:presentation xmlns:p="http://schemas.openxmlformats.org/presentationml/2006/main">
  <p:sldMasterIdLst>
    <p:sldMasterId xmlns:r="http://schemas.openxmlformats.org/officeDocument/2006/relationships" id="2147483648" r:id="Ra7eea8bf22e34f62"/>
  </p:sldMasterIdLst>
  <p:notesMasterIdLst>
    <p:notesMasterId xmlns:r="http://schemas.openxmlformats.org/officeDocument/2006/relationships" r:id="R2b18c7e397814943"/>
  </p:notesMasterIdLst>
  <p:sldIdLst>
    <p:sldId xmlns:r="http://schemas.openxmlformats.org/officeDocument/2006/relationships" id="256" r:id="R28f43f031727479d"/>
    <p:sldId xmlns:r="http://schemas.openxmlformats.org/officeDocument/2006/relationships" id="257" r:id="Rfc235c514515404f"/>
    <p:sldId xmlns:r="http://schemas.openxmlformats.org/officeDocument/2006/relationships" id="258" r:id="R331e322b39534662"/>
    <p:sldId xmlns:r="http://schemas.openxmlformats.org/officeDocument/2006/relationships" id="259" r:id="R1b7fc094ac4e4e47"/>
    <p:sldId xmlns:r="http://schemas.openxmlformats.org/officeDocument/2006/relationships" id="260" r:id="Ra8d699fe2c604f7e"/>
    <p:sldId xmlns:r="http://schemas.openxmlformats.org/officeDocument/2006/relationships" id="261" r:id="Rbbff014ede2f4334"/>
    <p:sldId xmlns:r="http://schemas.openxmlformats.org/officeDocument/2006/relationships" id="262" r:id="R6815737a7e894317"/>
    <p:sldId xmlns:r="http://schemas.openxmlformats.org/officeDocument/2006/relationships" id="263" r:id="Rffe4df2345f64a93"/>
    <p:sldId xmlns:r="http://schemas.openxmlformats.org/officeDocument/2006/relationships" id="264" r:id="Ra33f0766cc0e46c3"/>
    <p:sldId xmlns:r="http://schemas.openxmlformats.org/officeDocument/2006/relationships" id="265" r:id="R3a9a09282abf4559"/>
    <p:sldId xmlns:r="http://schemas.openxmlformats.org/officeDocument/2006/relationships" id="266" r:id="R5311d8c2596f471b"/>
    <p:sldId xmlns:r="http://schemas.openxmlformats.org/officeDocument/2006/relationships" id="267" r:id="Rc0bdfb4d8cf743e7"/>
    <p:sldId xmlns:r="http://schemas.openxmlformats.org/officeDocument/2006/relationships" id="268" r:id="R7d59ca7779744af4"/>
    <p:sldId xmlns:r="http://schemas.openxmlformats.org/officeDocument/2006/relationships" id="269" r:id="Red4883b1303d42cf"/>
    <p:sldId xmlns:r="http://schemas.openxmlformats.org/officeDocument/2006/relationships" id="270" r:id="R3733eadb934d4076"/>
    <p:sldId xmlns:r="http://schemas.openxmlformats.org/officeDocument/2006/relationships" id="271" r:id="R5278901e5f1e476b"/>
    <p:sldId xmlns:r="http://schemas.openxmlformats.org/officeDocument/2006/relationships" id="272" r:id="R4a9049bed4e34b56"/>
    <p:sldId xmlns:r="http://schemas.openxmlformats.org/officeDocument/2006/relationships" id="273" r:id="Re0316a90e65d4517"/>
    <p:sldId xmlns:r="http://schemas.openxmlformats.org/officeDocument/2006/relationships" id="274" r:id="Rd185d9fb2da5470c"/>
    <p:sldId xmlns:r="http://schemas.openxmlformats.org/officeDocument/2006/relationships" id="275" r:id="R5fd5af29eb3140d5"/>
    <p:sldId xmlns:r="http://schemas.openxmlformats.org/officeDocument/2006/relationships" id="276" r:id="R0abd0c6554e84c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13b4b6eb4c4161" /><Relationship Type="http://schemas.openxmlformats.org/officeDocument/2006/relationships/slideMaster" Target="/ppt/slideMasters/slideMaster1.xml" Id="Ra7eea8bf22e34f62" /><Relationship Type="http://schemas.openxmlformats.org/officeDocument/2006/relationships/notesMaster" Target="/ppt/notesMasters/notesMaster1.xml" Id="R2b18c7e397814943" /><Relationship Type="http://schemas.openxmlformats.org/officeDocument/2006/relationships/presProps" Target="/ppt/presProps.xml" Id="R9bdd48d4a7284b14" /><Relationship Type="http://schemas.openxmlformats.org/officeDocument/2006/relationships/tableStyles" Target="/ppt/tableStyles.xml" Id="R8741d24c77584c78" /><Relationship Type="http://schemas.openxmlformats.org/officeDocument/2006/relationships/slide" Target="/ppt/slides/slide1.xml" Id="R28f43f031727479d" /><Relationship Type="http://schemas.openxmlformats.org/officeDocument/2006/relationships/slide" Target="/ppt/slides/slide2.xml" Id="Rfc235c514515404f" /><Relationship Type="http://schemas.openxmlformats.org/officeDocument/2006/relationships/slide" Target="/ppt/slides/slide3.xml" Id="R331e322b39534662" /><Relationship Type="http://schemas.openxmlformats.org/officeDocument/2006/relationships/slide" Target="/ppt/slides/slide4.xml" Id="R1b7fc094ac4e4e47" /><Relationship Type="http://schemas.openxmlformats.org/officeDocument/2006/relationships/slide" Target="/ppt/slides/slide5.xml" Id="Ra8d699fe2c604f7e" /><Relationship Type="http://schemas.openxmlformats.org/officeDocument/2006/relationships/slide" Target="/ppt/slides/slide6.xml" Id="Rbbff014ede2f4334" /><Relationship Type="http://schemas.openxmlformats.org/officeDocument/2006/relationships/slide" Target="/ppt/slides/slide7.xml" Id="R6815737a7e894317" /><Relationship Type="http://schemas.openxmlformats.org/officeDocument/2006/relationships/slide" Target="/ppt/slides/slide8.xml" Id="Rffe4df2345f64a93" /><Relationship Type="http://schemas.openxmlformats.org/officeDocument/2006/relationships/slide" Target="/ppt/slides/slide9.xml" Id="Ra33f0766cc0e46c3" /><Relationship Type="http://schemas.openxmlformats.org/officeDocument/2006/relationships/slide" Target="/ppt/slides/slide10.xml" Id="R3a9a09282abf4559" /><Relationship Type="http://schemas.openxmlformats.org/officeDocument/2006/relationships/slide" Target="/ppt/slides/slide11.xml" Id="R5311d8c2596f471b" /><Relationship Type="http://schemas.openxmlformats.org/officeDocument/2006/relationships/slide" Target="/ppt/slides/slide12.xml" Id="Rc0bdfb4d8cf743e7" /><Relationship Type="http://schemas.openxmlformats.org/officeDocument/2006/relationships/slide" Target="/ppt/slides/slide13.xml" Id="R7d59ca7779744af4" /><Relationship Type="http://schemas.openxmlformats.org/officeDocument/2006/relationships/slide" Target="/ppt/slides/slide14.xml" Id="Red4883b1303d42cf" /><Relationship Type="http://schemas.openxmlformats.org/officeDocument/2006/relationships/slide" Target="/ppt/slides/slide15.xml" Id="R3733eadb934d4076" /><Relationship Type="http://schemas.openxmlformats.org/officeDocument/2006/relationships/slide" Target="/ppt/slides/slide16.xml" Id="R5278901e5f1e476b" /><Relationship Type="http://schemas.openxmlformats.org/officeDocument/2006/relationships/slide" Target="/ppt/slides/slide17.xml" Id="R4a9049bed4e34b56" /><Relationship Type="http://schemas.openxmlformats.org/officeDocument/2006/relationships/slide" Target="/ppt/slides/slide18.xml" Id="Re0316a90e65d4517" /><Relationship Type="http://schemas.openxmlformats.org/officeDocument/2006/relationships/slide" Target="/ppt/slides/slide19.xml" Id="Rd185d9fb2da5470c" /><Relationship Type="http://schemas.openxmlformats.org/officeDocument/2006/relationships/slide" Target="/ppt/slides/slide20.xml" Id="R5fd5af29eb3140d5" /><Relationship Type="http://schemas.openxmlformats.org/officeDocument/2006/relationships/slide" Target="/ppt/slides/slide21.xml" Id="R0abd0c6554e84c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7d6550d6774a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f3313fff084d7b" /><Relationship Type="http://schemas.openxmlformats.org/officeDocument/2006/relationships/notesMaster" Target="/ppt/notesMasters/notesMaster1.xml" Id="R9e8e7fd91fa649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e7ce168df64ff0" /><Relationship Type="http://schemas.openxmlformats.org/officeDocument/2006/relationships/notesMaster" Target="/ppt/notesMasters/notesMaster1.xml" Id="Rfd7117f486c941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1072c01d824929" /><Relationship Type="http://schemas.openxmlformats.org/officeDocument/2006/relationships/notesMaster" Target="/ppt/notesMasters/notesMaster1.xml" Id="Ra9829e44d2d147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e669c3dcb9404e" /><Relationship Type="http://schemas.openxmlformats.org/officeDocument/2006/relationships/notesMaster" Target="/ppt/notesMasters/notesMaster1.xml" Id="R3b1c52417f9542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0f7f2698184665" /><Relationship Type="http://schemas.openxmlformats.org/officeDocument/2006/relationships/notesMaster" Target="/ppt/notesMasters/notesMaster1.xml" Id="R16e1f68315074f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f0c290fe8c4842" /><Relationship Type="http://schemas.openxmlformats.org/officeDocument/2006/relationships/notesMaster" Target="/ppt/notesMasters/notesMaster1.xml" Id="Reb83f22f478a4a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6f1f2c3a0a4368" /><Relationship Type="http://schemas.openxmlformats.org/officeDocument/2006/relationships/notesMaster" Target="/ppt/notesMasters/notesMaster1.xml" Id="R33a72f3f027f4e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149abfab65471c" /><Relationship Type="http://schemas.openxmlformats.org/officeDocument/2006/relationships/notesMaster" Target="/ppt/notesMasters/notesMaster1.xml" Id="Rf9634cab99a041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40dd06b9fb408b" /><Relationship Type="http://schemas.openxmlformats.org/officeDocument/2006/relationships/notesMaster" Target="/ppt/notesMasters/notesMaster1.xml" Id="R0d373e9391ef49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a37c24fbed4c63" /><Relationship Type="http://schemas.openxmlformats.org/officeDocument/2006/relationships/notesMaster" Target="/ppt/notesMasters/notesMaster1.xml" Id="R0bce81de497240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8a6b47e4574b80" /><Relationship Type="http://schemas.openxmlformats.org/officeDocument/2006/relationships/notesMaster" Target="/ppt/notesMasters/notesMaster1.xml" Id="R85fb462e6dbd4b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88b727b08e491c" /><Relationship Type="http://schemas.openxmlformats.org/officeDocument/2006/relationships/notesMaster" Target="/ppt/notesMasters/notesMaster1.xml" Id="R9f71ee420e744f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819862d69d40a3" /><Relationship Type="http://schemas.openxmlformats.org/officeDocument/2006/relationships/notesMaster" Target="/ppt/notesMasters/notesMaster1.xml" Id="R8cd89204186148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14db50fac247c8" /><Relationship Type="http://schemas.openxmlformats.org/officeDocument/2006/relationships/notesMaster" Target="/ppt/notesMasters/notesMaster1.xml" Id="Rde6abb97fb0049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a300b10b304fb2" /><Relationship Type="http://schemas.openxmlformats.org/officeDocument/2006/relationships/notesMaster" Target="/ppt/notesMasters/notesMaster1.xml" Id="R9d8e212c5f9f42c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7fa79c20744c6d" /><Relationship Type="http://schemas.openxmlformats.org/officeDocument/2006/relationships/notesMaster" Target="/ppt/notesMasters/notesMaster1.xml" Id="R351b7964152d41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ad8a042ad04556" /><Relationship Type="http://schemas.openxmlformats.org/officeDocument/2006/relationships/notesMaster" Target="/ppt/notesMasters/notesMaster1.xml" Id="Rf1f0cd46614743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afb5761b87f4fe2" /><Relationship Type="http://schemas.openxmlformats.org/officeDocument/2006/relationships/notesMaster" Target="/ppt/notesMasters/notesMaster1.xml" Id="Rf4b41272f5e6447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010138b18640ee" /><Relationship Type="http://schemas.openxmlformats.org/officeDocument/2006/relationships/notesMaster" Target="/ppt/notesMasters/notesMaster1.xml" Id="R7c38c660d9ba43b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820953cf6024205" /><Relationship Type="http://schemas.openxmlformats.org/officeDocument/2006/relationships/notesMaster" Target="/ppt/notesMasters/notesMaster1.xml" Id="R73305ccb71fe442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a97400f19da4408" /><Relationship Type="http://schemas.openxmlformats.org/officeDocument/2006/relationships/notesMaster" Target="/ppt/notesMasters/notesMaster1.xml" Id="R62c4366279d349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will describe GaitParity, a controlled study of whether a movement model preserves left and right anatomy when a body is mirrored. This is a small but important test within a larger goal: learning physical movement from ordinary video, rather than stopping at pose or joint trajectories.</a:t>
            </a:r>
          </a:p>
          <a:p xmlns:a="http://schemas.openxmlformats.org/drawingml/2006/main">
            <a:r>
              <a:t/>
            </a:r>
          </a:p>
          <a:p xmlns:a="http://schemas.openxmlformats.org/drawingml/2006/main">
            <a:r>
              <a:t>I will begin with the gap between what a camera observes and what biomechanics needs. I will then summarize the earlier S-JEPA results, explain the signed-laterality failure that motivated this study, present the controlled parity experiment, and end with the force-plate study and Biomech-JEPA research direction.</a:t>
            </a:r>
          </a:p>
          <a:p xmlns:a="http://schemas.openxmlformats.org/drawingml/2006/main">
            <a:r>
              <a:t/>
            </a:r>
          </a:p>
          <a:p xmlns:a="http://schemas.openxmlformats.org/drawingml/2006/main">
            <a:r>
              <a:t>[Sources]</a:t>
            </a:r>
          </a:p>
          <a:p xmlns:a="http://schemas.openxmlformats.org/drawingml/2006/main">
            <a:r>
              <a:t>- /Users/theodoremui/dev/alexpose/experiments/sjepa/gavd6/notebooks/foundations/04_pretrain_sjepa_on_normal.ipynb</a:t>
            </a:r>
          </a:p>
          <a:p xmlns:a="http://schemas.openxmlformats.org/drawingml/2006/main">
            <a:r>
              <a:t>- /Users/theodoremui/dev/alexpose/experiments/sjepa/gavd6/artifacts/notebook_runs/organized-2026-08-23/experiments/idea05_signed_laterality/01_probe.ipynb</a:t>
            </a:r>
          </a:p>
          <a:p xmlns:a="http://schemas.openxmlformats.org/drawingml/2006/main">
            <a:r>
              <a:t>- /Users/theodoremui/dev/alexpose/experiments/sjepa/gavd6/artifacts/notebook_runs/organized-2026-08-23/experiments/idea09_reflection_equivariance/06_cpu_replication.ipynb</a:t>
            </a:r>
          </a:p>
          <a:p xmlns:a="http://schemas.openxmlformats.org/drawingml/2006/main">
            <a:r>
              <a:t>- /Users/theodoremui/dev/alexpose/experiments/sjepa/gavd6/notes/research/programs/gait_parity/README_LONG_TERM.md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problem is that video gives us an observation of movement, not a direct measurement of the physical causes. Two people can produce similar joint trajectories while using different muscle strategies, distributing weight differently, or contacting the ground in different ways. Even for one person, partial occlusion can make several physical explanations consistent with the same image.</a:t>
            </a:r>
          </a:p>
          <a:p xmlns:a="http://schemas.openxmlformats.org/drawingml/2006/main">
            <a:r>
              <a:t/>
            </a:r>
          </a:p>
          <a:p xmlns:a="http://schemas.openxmlformats.org/drawingml/2006/main">
            <a:r>
              <a:t>That means the model should not behave like a deterministic simulator that claims one certain answer from pixels. It should estimate a hidden physical state, express uncertainty when the video is ambiguous, and use additional tools or measurements when the observation is not sufficient.</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/Users/theodoremui/dev/alexpose/experiments/sjepa/gavd6/notes/research/programs/gait_parity/METHODOLOGY.md</a:t>
            </a:r>
          </a:p>
          <a:p xmlns:a="http://schemas.openxmlformats.org/drawingml/2006/main">
            <a:r>
              <a:t>- /Users/theodoremui/dev/alexpose/experiments/sjepa/gavd6/notes/research/programs/gait_parity/tutorials/03-planned-research-direction.md</a:t>
            </a:r>
          </a:p>
          <a:p xmlns:a="http://schemas.openxmlformats.org/drawingml/2006/main">
            <a:r>
              <a:t>- User-provided research mentor meeting notes, 2026-08-23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gap matters because the clinical question is often about how movement is produced, not simply what the pose looks like. In stroke gait, for example, we may care about how much each leg contributes to forward propulsion. In balance assessment, we need to know where support and contact are changing, especially near a loss of stability.</a:t>
            </a:r>
          </a:p>
          <a:p xmlns:a="http://schemas.openxmlformats.org/drawingml/2006/main">
            <a:r>
              <a:t/>
            </a:r>
          </a:p>
          <a:p xmlns:a="http://schemas.openxmlformats.org/drawingml/2006/main">
            <a:r>
              <a:t>We also need to separate a measured direction from a clinical interpretation. A negative right-minus-left propulsion value tells us which side produced less force in that measurement. It does not, by itself, identify the impaired side, because people may compensate in ways that redistribute force. Keeping those concepts separate prevents a mathematically correct sign from becoming an incorrect clinical claim.</a:t>
            </a:r>
          </a:p>
          <a:p xmlns:a="http://schemas.openxmlformats.org/drawingml/2006/main">
            <a:r>
              <a:t/>
            </a:r>
          </a:p>
          <a:p xmlns:a="http://schemas.openxmlformats.org/drawingml/2006/main">
            <a:r>
              <a:t>[Sources]</a:t>
            </a:r>
          </a:p>
          <a:p xmlns:a="http://schemas.openxmlformats.org/drawingml/2006/main">
            <a:r>
              <a:t>- /Users/theodoremui/Downloads/GaitParity Study.pdf</a:t>
            </a:r>
          </a:p>
          <a:p xmlns:a="http://schemas.openxmlformats.org/drawingml/2006/main">
            <a:r>
              <a:t>- /Users/theodoremui/dev/alexpose/experiments/sjepa/gavd6/notes/research/programs/gait_parity/METHODOLOGY.md</a:t>
            </a:r>
          </a:p>
          <a:p xmlns:a="http://schemas.openxmlformats.org/drawingml/2006/main">
            <a:r>
              <a:t>- /Users/theodoremui/dev/alexpose/experiments/sjepa/gavd6/notes/research/programs/gait_parity/tutorials/03-planned-research-direction.md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Ambient intelligence adds another layer of difficulty: the camera and the environment change even when the person does not. A new viewpoint changes projection and occlusion. A mirrored video exchanges anatomical left and right. A missing heel or knee should increase uncertainty, but it should not automatically reverse the estimated side.</a:t>
            </a:r>
          </a:p>
          <a:p xmlns:a="http://schemas.openxmlformats.org/drawingml/2006/main">
            <a:r>
              <a:t/>
            </a:r>
          </a:p>
          <a:p xmlns:a="http://schemas.openxmlformats.org/drawingml/2006/main">
            <a:r>
              <a:t>These cases require different model responses. The representation should ignore camera-related nuisance changes, transform predictably when anatomy is mirrored, and remain sensitive to genuine changes in dynamics. One generic instruction to “make every augmented view look the same” cannot express all three requirements. We need selective symmetry, where the response depends on what the transformation means physically.</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/Users/theodoremui/dev/alexpose/experiments/sjepa/gavd6/notes/research/programs/gait_parity/METHODOLOGY.md</a:t>
            </a:r>
          </a:p>
          <a:p xmlns:a="http://schemas.openxmlformats.org/drawingml/2006/main">
            <a:r>
              <a:t>- /Users/theodoremui/dev/alexpose/experiments/sjepa/gavd6/notes/research/programs/gait_parity/README_LONG_TERM.md</a:t>
            </a:r>
          </a:p>
          <a:p xmlns:a="http://schemas.openxmlformats.org/drawingml/2006/main">
            <a:r>
              <a:t>- User-provided research mentor meeting notes, 2026-08-23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makes the distinction concrete. If we reflect the body, left and right anatomy exchange roles. A signed quantity such as right-minus-left propulsion should therefore reverse sign. We call that an odd target. A quantity such as overall walking pace should stay the same under reflection, so it is an even target.</a:t>
            </a:r>
          </a:p>
          <a:p xmlns:a="http://schemas.openxmlformats.org/drawingml/2006/main">
            <a:r>
              <a:t/>
            </a:r>
          </a:p>
          <a:p xmlns:a="http://schemas.openxmlformats.org/drawingml/2006/main">
            <a:r>
              <a:t>A camera move is different. It changes the image coordinates and may hide different joints, but it does not exchange the person’s anatomy. After we place the motion in a consistent body-centered coordinate system, both pace and anatomical propulsion difference should remain stable. This simple rule becomes the measurement contract for the rest of the study.</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/Users/theodoremui/dev/alexpose/experiments/sjepa/gavd6/notes/research/programs/gait_parity/METHODOLOGY.md</a:t>
            </a:r>
          </a:p>
          <a:p xmlns:a="http://schemas.openxmlformats.org/drawingml/2006/main">
            <a:r>
              <a:t>- /Users/theodoremui/dev/alexpose/experiments/sjepa/gavd6/notes/research/programs/gait_parity/README_LONG_TERM.md</a:t>
            </a:r>
          </a:p>
          <a:p xmlns:a="http://schemas.openxmlformats.org/drawingml/2006/main">
            <a:r>
              <a:t>- /Users/theodoremui/dev/alexpose/experiments/sjepa/gavd6/slides/gait_parity_decks/images/mirror-versus-camera.svg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separate the evidence into four levels because each level supports a different claim. First, does the architecture obey the mirror rule exactly? Second, do the left-right channels contain nontrivial, participant-varying information rather than collapsing to zero? Third, does that organization improve prediction of a meaningful physical target on people who were not used for fitting? Finally, does the result survive new views and an independent replication cohort?</a:t>
            </a:r>
          </a:p>
          <a:p xmlns:a="http://schemas.openxmlformats.org/drawingml/2006/main">
            <a:r>
              <a:t/>
            </a:r>
          </a:p>
          <a:p xmlns:a="http://schemas.openxmlformats.org/drawingml/2006/main">
            <a:r>
              <a:t>The current work reaches the first two levels locally. The decisive question is still ahead: does internal reflection structure improve force prediction beyond a simple sign-corrected output or a generic two-view model?</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/Users/theodoremui/dev/alexpose/experiments/sjepa/gavd6/notes/research/programs/gait_parity/README_LONG_TERM.md</a:t>
            </a:r>
          </a:p>
          <a:p xmlns:a="http://schemas.openxmlformats.org/drawingml/2006/main">
            <a:r>
              <a:t>- /Users/theodoremui/dev/alexpose/experiments/sjepa/gavd6/notes/research/programs/gait_parity/tutorials/03-planned-research-direction.md</a:t>
            </a:r>
          </a:p>
          <a:p xmlns:a="http://schemas.openxmlformats.org/drawingml/2006/main">
            <a:r>
              <a:t>- /Users/theodoremui/dev/alexpose/experiments/sjepa/gavd6/slides/gait_parity_decks/images/planned-research-ladder.svg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S-JEPA work established the pipeline that makes this question testable. Public gait videos were converted into tracked skeleton sequences, normalized into fixed 64-frame windows, and divided into context landmarks and masked target landmarks. The model then learned to predict missing motion features without using a clinical label for every training step.</a:t>
            </a:r>
          </a:p>
          <a:p xmlns:a="http://schemas.openxmlformats.org/drawingml/2006/main">
            <a:r>
              <a:t/>
            </a:r>
          </a:p>
          <a:p xmlns:a="http://schemas.openxmlformats.org/drawingml/2006/main">
            <a:r>
              <a:t>The key bookkeeping unit is the source video. The dataset contains 96 canonical sequences derived from only 18 uploaded recordings, so several clips can share the same person, camera, and environment. Treating those clips as independent would overstate generalization. Every later evaluation therefore needs to respect the source or participant boundary before any component is fitted.</a:t>
            </a:r>
          </a:p>
          <a:p xmlns:a="http://schemas.openxmlformats.org/drawingml/2006/main">
            <a:r>
              <a:t/>
            </a:r>
          </a:p>
          <a:p xmlns:a="http://schemas.openxmlformats.org/drawingml/2006/main">
            <a:r>
              <a:t>[Sources]</a:t>
            </a:r>
          </a:p>
          <a:p xmlns:a="http://schemas.openxmlformats.org/drawingml/2006/main">
            <a:r>
              <a:t>- /Users/theodoremui/dev/alexpose/experiments/sjepa/gavd6/notebooks/foundations/01_gavd_manifest_and_youtube.ipynb</a:t>
            </a:r>
          </a:p>
          <a:p xmlns:a="http://schemas.openxmlformats.org/drawingml/2006/main">
            <a:r>
              <a:t>- /Users/theodoremui/dev/alexpose/experiments/sjepa/gavd6/notebooks/foundations/04_pretrain_sjepa_on_normal.ipynb</a:t>
            </a:r>
          </a:p>
          <a:p xmlns:a="http://schemas.openxmlformats.org/drawingml/2006/main">
            <a:r>
              <a:t>- /Users/theodoremui/dev/alexpose/experiments/sjepa/gavd6/slides/gait_parity_decks/images/prior-sjepa-pipeline.svg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model trained successfully in the narrow engineering sense. Its prediction loss fell from 6.557 at the beginning of the curriculum to 0.558, and the final feature standard deviation of 0.414 argues against the entire representation becoming constant.</a:t>
            </a:r>
          </a:p>
          <a:p xmlns:a="http://schemas.openxmlformats.org/drawingml/2006/main">
            <a:r>
              <a:t/>
            </a:r>
          </a:p>
          <a:p xmlns:a="http://schemas.openxmlformats.org/drawingml/2006/main">
            <a:r>
              <a:t>However, successful optimization is not the same as scientific understanding. The cosine silhouette score is only 0.0278, which means the five condition groups overlap strongly in the learned space. These results support a limited statement: the encoder learned nontrivial motion structure. They do not show that it recovered a physical variable, separated diagnoses cleanly, or generalized to a new patient.</a:t>
            </a:r>
          </a:p>
          <a:p xmlns:a="http://schemas.openxmlformats.org/drawingml/2006/main">
            <a:r>
              <a:t/>
            </a:r>
          </a:p>
          <a:p xmlns:a="http://schemas.openxmlformats.org/drawingml/2006/main">
            <a:r>
              <a:t>[Sources]</a:t>
            </a:r>
          </a:p>
          <a:p xmlns:a="http://schemas.openxmlformats.org/drawingml/2006/main">
            <a:r>
              <a:t>- /Users/theodoremui/dev/alexpose/experiments/sjepa/gavd6/notebooks/foundations/04_pretrain_sjepa_on_normal.ipynb</a:t>
            </a:r>
          </a:p>
          <a:p xmlns:a="http://schemas.openxmlformats.org/drawingml/2006/main">
            <a:r>
              <a:t>- /Users/theodoremui/dev/alexpose/experiments/sjepa/gavd6/notebooks/foundations/05_inspect_latent_motion.ipynb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classification results looked promising at first glance. A grouped normal-versus-abnormal readout reached 0.843 accuracy, 0.821 macro-F1, and 0.952 ROC-AUC. But the representation encoder had already trained on every row later used by the classifier test, and later curriculum stages also used condition labels.</a:t>
            </a:r>
          </a:p>
          <a:p xmlns:a="http://schemas.openxmlformats.org/drawingml/2006/main">
            <a:r>
              <a:t/>
            </a:r>
          </a:p>
          <a:p xmlns:a="http://schemas.openxmlformats.org/drawingml/2006/main">
            <a:r>
              <a:t>So these numbers demonstrate that condition information is readable within this corpus; they do not establish prospective performance. A clean split at the final classifier is not enough if the encoder has already seen the evaluation examples. This lesson directly shapes GaitParity: sources or participants must be separated before every fitted stage, not only before the last readout.</a:t>
            </a:r>
          </a:p>
          <a:p xmlns:a="http://schemas.openxmlformats.org/drawingml/2006/main">
            <a:r>
              <a:t/>
            </a:r>
          </a:p>
          <a:p xmlns:a="http://schemas.openxmlformats.org/drawingml/2006/main">
            <a:r>
              <a:t>[Sources]</a:t>
            </a:r>
          </a:p>
          <a:p xmlns:a="http://schemas.openxmlformats.org/drawingml/2006/main">
            <a:r>
              <a:t>- /Users/theodoremui/dev/alexpose/experiments/sjepa/gavd6/notebooks/foundations/06_capstone_health_condition_classifiers.ipynb</a:t>
            </a:r>
          </a:p>
          <a:p xmlns:a="http://schemas.openxmlformats.org/drawingml/2006/main">
            <a:r>
              <a:t>- /Users/theodoremui/dev/alexpose/experiments/sjepa/gavd6/notes/research/programs/gait_parity/METHODOLOGY.md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next asked whether the saved representation preserved a simple signed left-right signal. A ridge model was trained in five source-disjoint folds to predict a target constructed directly from pose coordinates. The same target was nearly recoverable from the raw coordinates, so the decoding task itself was feasible.</a:t>
            </a:r>
          </a:p>
          <a:p xmlns:a="http://schemas.openxmlformats.org/drawingml/2006/main">
            <a:r>
              <a:t/>
            </a:r>
          </a:p>
          <a:p xmlns:a="http://schemas.openxmlformats.org/drawingml/2006/main">
            <a:r>
              <a:t>The learned features did not preserve it: cross-validated R-squared was −0.0678, sign consistency was 0.444, and the response to mirroring had a slope of −0.337 instead of the required −1. This is an informative null result. It does not say that clinically meaningful force asymmetry is impossible; it says that the existing representation should not be presented as if signed anatomy emerged automatically.</a:t>
            </a:r>
          </a:p>
          <a:p xmlns:a="http://schemas.openxmlformats.org/drawingml/2006/main">
            <a:r>
              <a:t/>
            </a:r>
          </a:p>
          <a:p xmlns:a="http://schemas.openxmlformats.org/drawingml/2006/main">
            <a:r>
              <a:t>[Sources]</a:t>
            </a:r>
          </a:p>
          <a:p xmlns:a="http://schemas.openxmlformats.org/drawingml/2006/main">
            <a:r>
              <a:t>- /Users/theodoremui/dev/alexpose/experiments/sjepa/gavd6/artifacts/notebook_runs/organized-2026-08-23/experiments/idea05_signed_laterality/01_probe.ipynb</a:t>
            </a:r>
          </a:p>
          <a:p xmlns:a="http://schemas.openxmlformats.org/drawingml/2006/main">
            <a:r>
              <a:t>- /Users/theodoremui/dev/alexpose/experiments/sjepa/gavd6/slides/gait_parity_decks/images/notebook-05a-signed-laterality-probe.png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test parity rigorously, reflection has to be defined as part of the measurement process. We negate the mediolateral coordinate, swap every paired left-right landmark identity, and also swap the corresponding visibility and confidence values. Time, forward motion, and vertical direction remain unchanged.</a:t>
            </a:r>
          </a:p>
          <a:p xmlns:a="http://schemas.openxmlformats.org/drawingml/2006/main">
            <a:r>
              <a:t/>
            </a:r>
          </a:p>
          <a:p xmlns:a="http://schemas.openxmlformats.org/drawingml/2006/main">
            <a:r>
              <a:t>That last visibility step is easy to miss. If the coordinates are reflected but the missingness pattern stays attached to the old side, the model sees an impossible body and can exploit that shortcut. Applying reflection twice should recover the original input, but that involution test is only a starting check. We also test known odd and even targets on real examples.</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/Users/theodoremui/dev/alexpose/experiments/sjepa/gavd6/notes/research/programs/gait_parity/METHODOLOGY.md</a:t>
            </a:r>
          </a:p>
          <a:p xmlns:a="http://schemas.openxmlformats.org/drawingml/2006/main">
            <a:r>
              <a:t>- /Users/theodoremui/dev/alexpose/experiments/sjepa/gavd6/slides/gait_parity_decks/images/reflection-operator-steps.svg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compares three architectures so that we can identify what, if anything, internal parity contributes. The first is an output-repair baseline: it evaluates the original and mirrored inputs and subtracts the two predictions, which guarantees the final sign flip with a few lines of arithmetic.</a:t>
            </a:r>
          </a:p>
          <a:p xmlns:a="http://schemas.openxmlformats.org/drawingml/2006/main">
            <a:r>
              <a:t/>
            </a:r>
          </a:p>
          <a:p xmlns:a="http://schemas.openxmlformats.org/drawingml/2006/main">
            <a:r>
              <a:t>The second model processes both views jointly but places no constraint on how their features interact. This controls for the extra view, extra capacity, and cross-view communication. The third model uses the same information but constrains its internal even and odd channels to respond correctly when the branches are exchanged. The co-primary comparisons tell us whether that internal organization adds value beyond either cheap output repair or generic two-view fusion.</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/Users/theodoremui/dev/alexpose/experiments/sjepa/gavd6/notes/research/programs/gait_parity/README_LONG_TERM.md</a:t>
            </a:r>
          </a:p>
          <a:p xmlns:a="http://schemas.openxmlformats.org/drawingml/2006/main">
            <a:r>
              <a:t>- /Users/theodoremui/dev/alexpose/experiments/sjepa/gavd6/slides/gait_parity_decks/images/model-comparisons.svg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exact transformation rule is not enough, because a useless representation can satisfy it. An odd channel that is always zero passes the equation perfectly: zero is equal to its own negative. We therefore treat exact parity as a contract test, not as evidence of useful information.</a:t>
            </a:r>
          </a:p>
          <a:p xmlns:a="http://schemas.openxmlformats.org/drawingml/2006/main">
            <a:r>
              <a:t/>
            </a:r>
          </a:p>
          <a:p xmlns:a="http://schemas.openxmlformats.org/drawingml/2006/main">
            <a:r>
              <a:t>Before any downstream interpretation, the audit checks whether the odd channel has measurable energy and variance, whether that variation spans more than one trivial direction, and whether a common offset dominates the signal. We also include positive controls that should fail when the implementation is intentionally broken. These gates prevent an empty or shortcut solution from being mistaken for a scientific result.</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/Users/theodoremui/dev/alexpose/experiments/sjepa/gavd6/notes/research/programs/gait_parity/README_LONG_TERM.md</a:t>
            </a:r>
          </a:p>
          <a:p xmlns:a="http://schemas.openxmlformats.org/drawingml/2006/main">
            <a:r>
              <a:t>- /Users/theodoremui/dev/alexpose/experiments/sjepa/gavd6/slides/gait_parity_decks/images/collapse-trap.svg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controlled GAVD experiment uses 96 sequences from 18 source videos, producing 394 training windows. Each architecture is trained with seeds 7, 19, and 31. We compare one regime with equal exposure—300 updates and 2,400 example presentations—and another with a closely matched compute proxy of roughly 183 billion operations.</a:t>
            </a:r>
          </a:p>
          <a:p xmlns:a="http://schemas.openxmlformats.org/drawingml/2006/main">
            <a:r>
              <a:t/>
            </a:r>
          </a:p>
          <a:p xmlns:a="http://schemas.openxmlformats.org/drawingml/2006/main">
            <a:r>
              <a:t>The models are not falsely described as having equal parameter counts: they contain 41,696, 84,256, and 50,272 parameters. Instead, we report those differences and control the comparisons through matched data exposure, closely matched computation, and paired random seeds. This experiment isolates implementation geometry; it does not contain an independent force target.</a:t>
            </a:r>
          </a:p>
          <a:p xmlns:a="http://schemas.openxmlformats.org/drawingml/2006/main">
            <a:r>
              <a:t/>
            </a:r>
          </a:p>
          <a:p xmlns:a="http://schemas.openxmlformats.org/drawingml/2006/main">
            <a:r>
              <a:t>[Sources]</a:t>
            </a:r>
          </a:p>
          <a:p xmlns:a="http://schemas.openxmlformats.org/drawingml/2006/main">
            <a:r>
              <a:t>- /Users/theodoremui/dev/alexpose/experiments/sjepa/gavd6/artifacts/notebook_runs/organized-2026-08-23/experiments/idea09_reflection_equivariance/06_cpu_replication.ipynb</a:t>
            </a:r>
          </a:p>
          <a:p xmlns:a="http://schemas.openxmlformats.org/drawingml/2006/main">
            <a:r>
              <a:t>- /Users/theodoremui/dev/alexpose/experiments/sjepa/gavd6/notes/research/programs/gait_parity/README_LONG_TERM.md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result is in panel A. The commutation residual measures the mismatch between two routes: mirror the input and then encode it, or encode it first and then swap the model’s left-right channels. Across both matching regimes, that mismatch is exactly zero for the constrained encoder. The unrestricted two-view control has residuals of 5.900 under equal exposure and 5.286 under matched compute.</a:t>
            </a:r>
          </a:p>
          <a:p xmlns:a="http://schemas.openxmlformats.org/drawingml/2006/main">
            <a:r>
              <a:t/>
            </a:r>
          </a:p>
          <a:p xmlns:a="http://schemas.openxmlformats.org/drawingml/2006/main">
            <a:r>
              <a:t>The remaining panels test whether the internal channels are alive. The registered gates pass, including positive controls, but the odd-to-even energy ratio is only 0.022 and the effective odd-channel rank is 1.532. So the correct conclusion is exact, nonempty geometry with modest internal diversity—not demonstrated biomechanical utility.</a:t>
            </a:r>
          </a:p>
          <a:p xmlns:a="http://schemas.openxmlformats.org/drawingml/2006/main">
            <a:r>
              <a:t/>
            </a:r>
          </a:p>
          <a:p xmlns:a="http://schemas.openxmlformats.org/drawingml/2006/main">
            <a:r>
              <a:t>[Sources]</a:t>
            </a:r>
          </a:p>
          <a:p xmlns:a="http://schemas.openxmlformats.org/drawingml/2006/main">
            <a:r>
              <a:t>- /Users/theodoremui/dev/alexpose/experiments/sjepa/gavd6/artifacts/notebook_runs/organized-2026-08-23/experiments/idea09_reflection_equivariance/06_cpu_replication.ipynb</a:t>
            </a:r>
          </a:p>
          <a:p xmlns:a="http://schemas.openxmlformats.org/drawingml/2006/main">
            <a:r>
              <a:t>- /Users/theodoremui/dev/alexpose/experiments/sjepa/gavd6/slides/gait_parity_decks/images/notebook-09f-full-gavd-audit.png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this point, the supported claim is precise: we have an inspectable model and audit that enforce the intended anatomical reflection rule, survive saving and reloading, handle masks consistently, and distinguish the constrained model from a strong unrestricted control.</a:t>
            </a:r>
          </a:p>
          <a:p xmlns:a="http://schemas.openxmlformats.org/drawingml/2006/main">
            <a:r>
              <a:t/>
            </a:r>
          </a:p>
          <a:p xmlns:a="http://schemas.openxmlformats.org/drawingml/2006/main">
            <a:r>
              <a:t>Several stronger claims remain open. There is no force target in this experiment, no held-out participant cohort, no demonstrated robustness or label-efficiency advantage, and no GPU replication. The low odd-channel energy and modest rank make the next experiment especially important. We now need to test whether this organization improves a physical measurement, rather than assuming that correct geometry automatically creates useful biomechanics.</a:t>
            </a:r>
          </a:p>
          <a:p xmlns:a="http://schemas.openxmlformats.org/drawingml/2006/main">
            <a:r>
              <a:t/>
            </a:r>
          </a:p>
          <a:p xmlns:a="http://schemas.openxmlformats.org/drawingml/2006/main">
            <a:r>
              <a:t>[Sources]</a:t>
            </a:r>
          </a:p>
          <a:p xmlns:a="http://schemas.openxmlformats.org/drawingml/2006/main">
            <a:r>
              <a:t>- /Users/theodoremui/dev/alexpose/experiments/sjepa/gavd6/artifacts/notebook_runs/organized-2026-08-23/experiments/idea09_reflection_equivariance/06_cpu_replication.ipynb</a:t>
            </a:r>
          </a:p>
          <a:p xmlns:a="http://schemas.openxmlformats.org/drawingml/2006/main">
            <a:r>
              <a:t>- /Users/theodoremui/dev/alexpose/experiments/sjepa/gavd6/notes/research/programs/gait_parity/tutorials/02-current-direction-and-results.md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planned study separates the research stages so that one dataset is not asked to support every claim. AMASS provides broad human-motion pretraining. BABEL walking examples narrow the motion prior toward gait without introducing the final clinical outcome. A force-plate cohort then supplies the signed right-minus-left propulsion target, with participants split before any task-specific fitting.</a:t>
            </a:r>
          </a:p>
          <a:p xmlns:a="http://schemas.openxmlformats.org/drawingml/2006/main">
            <a:r>
              <a:t/>
            </a:r>
          </a:p>
          <a:p xmlns:a="http://schemas.openxmlformats.org/drawingml/2006/main">
            <a:r>
              <a:t>MoVi provides a separate test of real viewpoint stability, and a sealed cohort is reserved for replication after the analysis is frozen. GAVD remains an implementation audit only. For the force claim, the independent observations are people—not individual gait cycles extracted from the same person.</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/Users/theodoremui/dev/alexpose/experiments/sjepa/gavd6/notes/research/programs/gait_parity/tutorials/03-planned-research-direction.md</a:t>
            </a:r>
          </a:p>
          <a:p xmlns:a="http://schemas.openxmlformats.org/drawingml/2006/main">
            <a:r>
              <a:t>- /Users/theodoremui/dev/alexpose/experiments/sjepa/gavd6/notes/research/programs/gait_parity/README_LONG_TERM.md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outcome table is defined in advance to keep the interpretation honest. The primary unit is the participant, and the primary metric is mean absolute force error averaged over each participant’s original and mirrored examples. The equivariant model must show a meaningful advantage over both the output-repair baseline and the unrestricted two-view model.</a:t>
            </a:r>
          </a:p>
          <a:p xmlns:a="http://schemas.openxmlformats.org/drawingml/2006/main">
            <a:r>
              <a:t/>
            </a:r>
          </a:p>
          <a:p xmlns:a="http://schemas.openxmlformats.org/drawingml/2006/main">
            <a:r>
              <a:t>If it ties output repair, then the simple arithmetic solution is preferable for this task. If the uncertainty intervals are wide, the result is inconclusive rather than evidence of equivalence. Secondary measures—sign accuracy, calibration, label efficiency, corruption robustness, and view stability—help explain the primary result but do not replace it.</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/Users/theodoremui/dev/alexpose/experiments/sjepa/gavd6/notes/research/programs/gait_parity/README_LONG_TERM.md</a:t>
            </a:r>
          </a:p>
          <a:p xmlns:a="http://schemas.openxmlformats.org/drawingml/2006/main">
            <a:r>
              <a:t>- /Users/theodoremui/dev/alexpose/experiments/sjepa/gavd6/notes/research/programs/gait_parity/METHODOLOGY.md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GaitParity clears the force-prediction gate, the larger direction is Biomech-JEPA: a world model that represents the body, scene, objects, contacts, dynamics, and uncertainty as related parts of one physical state. That shared state can support both discriminative questions—such as whether a movement is physically grounded—and generative predictions of future body and object keypoints.</a:t>
            </a:r>
          </a:p>
          <a:p xmlns:a="http://schemas.openxmlformats.org/drawingml/2006/main">
            <a:r>
              <a:t/>
            </a:r>
          </a:p>
          <a:p xmlns:a="http://schemas.openxmlformats.org/drawingml/2006/main">
            <a:r>
              <a:t>Depth estimation, segmentation, and monocular body reconstruction provide additional observations. OpenSim or robot simulation can provide a correction signal during training and flag predictions that violate physical constraints. A Qwen-based policy can learn when an expensive tool call is worth making, but it should route evidence rather than invent biomechanical truth.</a:t>
            </a:r>
          </a:p>
          <a:p xmlns:a="http://schemas.openxmlformats.org/drawingml/2006/main">
            <a:r>
              <a:t/>
            </a:r>
          </a:p>
          <a:p xmlns:a="http://schemas.openxmlformats.org/drawingml/2006/main">
            <a:r>
              <a:t>[Sources]</a:t>
            </a:r>
          </a:p>
          <a:p xmlns:a="http://schemas.openxmlformats.org/drawingml/2006/main">
            <a:r>
              <a:t>- User-provided research mentor meeting notes, 2026-08-23</a:t>
            </a:r>
          </a:p>
          <a:p xmlns:a="http://schemas.openxmlformats.org/drawingml/2006/main">
            <a:r>
              <a:t>- /Users/theodoremui/dev/alexpose/experiments/sjepa/gavd6/notes/research/programs/gait_parity/README_LONG_TERM.md</a:t>
            </a:r>
          </a:p>
          <a:p xmlns:a="http://schemas.openxmlformats.org/drawingml/2006/main">
            <a:r>
              <a:t>- /Users/theodoremui/dev/alexpose/experiments/sjepa/gavd6/notes/research/programs/gait_parity/tutorials/03-planned-research-direction.md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research program naturally combines three kinds of expertise. The Delp biomechanics lab can define the physical targets, force-plate protocol, OpenSim comparisons, and clinically meaningful error measures. The HAI ambient intelligence lab can define realistic variation in viewpoint, depth, scene context, occlusion, and uncertainty. The world-model effort connects those measurements through an auditable representation and an active tool-use policy.</a:t>
            </a:r>
          </a:p>
          <a:p xmlns:a="http://schemas.openxmlformats.org/drawingml/2006/main">
            <a:r>
              <a:t/>
            </a:r>
          </a:p>
          <a:p xmlns:a="http://schemas.openxmlformats.org/drawingml/2006/main">
            <a:r>
              <a:t>I see this as a proposed structure rather than a fixed division of labor. A strong first shared deliverable would be PhysMoveBench: one benchmark where force, contact, viewpoint, occlusion, and uncertainty are evaluated under a frozen protocol. That gives the collaboration a common measurement language before scaling the model.</a:t>
            </a:r>
          </a:p>
          <a:p xmlns:a="http://schemas.openxmlformats.org/drawingml/2006/main">
            <a:r>
              <a:t/>
            </a:r>
          </a:p>
          <a:p xmlns:a="http://schemas.openxmlformats.org/drawingml/2006/main">
            <a:r>
              <a:t>[Sources]</a:t>
            </a:r>
          </a:p>
          <a:p xmlns:a="http://schemas.openxmlformats.org/drawingml/2006/main">
            <a:r>
              <a:t>- User-provided research mentor meeting notes, 2026-08-23</a:t>
            </a:r>
          </a:p>
          <a:p xmlns:a="http://schemas.openxmlformats.org/drawingml/2006/main">
            <a:r>
              <a:t>- /Users/theodoremui/dev/alexpose/experiments/sjepa/gavd6/notes/research/programs/gait_parity/tutorials/03-planned-research-direction.md</a:t>
            </a:r>
          </a:p>
          <a:p xmlns:a="http://schemas.openxmlformats.org/drawingml/2006/main">
            <a:r>
              <a:t>- /Users/theodoremui/dev/alexpose/experiments/sjepa/gavd6/notes/research/programs/gait_parity/README_LONG_TERM.md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began with a simple gap: observing a skeleton is not the same as understanding the physical process that produced it. GaitParity now gives us a precise anatomical rule, an implementation that satisfies that rule exactly, a control that fails for the expected reason, and health checks that rule out an empty odd channel.</a:t>
            </a:r>
          </a:p>
          <a:p xmlns:a="http://schemas.openxmlformats.org/drawingml/2006/main">
            <a:r>
              <a:t/>
            </a:r>
          </a:p>
          <a:p xmlns:a="http://schemas.openxmlformats.org/drawingml/2006/main">
            <a:r>
              <a:t>The next step is to earn the stronger claim with held-out people, force plates, real viewpoint changes, and independent replication. The long-term goal is not to replace physics with a language model. It is to learn an efficient physical state estimator whose symmetry, uncertainty, and tool calls remain measurable and testable.</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/Users/theodoremui/dev/alexpose/experiments/sjepa/gavd6/notes/research/programs/gait_parity/tutorials/02-current-direction-and-results.md</a:t>
            </a:r>
          </a:p>
          <a:p xmlns:a="http://schemas.openxmlformats.org/drawingml/2006/main">
            <a:r>
              <a:t>- /Users/theodoremui/dev/alexpose/experiments/sjepa/gavd6/notes/research/programs/gait_parity/tutorials/03-planned-research-direction.md</a:t>
            </a:r>
          </a:p>
          <a:p xmlns:a="http://schemas.openxmlformats.org/drawingml/2006/main">
            <a:r>
              <a:t>- User-provided research mentor meeting notes, 2026-08-23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066fc0890c47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f620aeaf744597" /><Relationship Type="http://schemas.openxmlformats.org/officeDocument/2006/relationships/slideLayout" Target="/ppt/slideLayouts/slideLayout1.xml" Id="Rbcaf7128d9194e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af7128d9194e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3d1bad8cf64eff" /><Relationship Type="http://schemas.openxmlformats.org/officeDocument/2006/relationships/notesSlide" Target="/ppt/notesSlides/notesSlide1.xml" Id="Ra70852ce204747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88dad4026c47a3" /><Relationship Type="http://schemas.openxmlformats.org/officeDocument/2006/relationships/notesSlide" Target="/ppt/notesSlides/notesSlide2.xml" Id="R0f5812aad58843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779b5c56854dac" /><Relationship Type="http://schemas.openxmlformats.org/officeDocument/2006/relationships/notesSlide" Target="/ppt/notesSlides/notesSlide3.xml" Id="R3fc983ba2b5b47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e7f01c25f84044" /><Relationship Type="http://schemas.openxmlformats.org/officeDocument/2006/relationships/notesSlide" Target="/ppt/notesSlides/notesSlide4.xml" Id="Rf447354bc8404a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b4bcad0d9d4b4a" /><Relationship Type="http://schemas.openxmlformats.org/officeDocument/2006/relationships/image" Target="/ppt/media/image.png" Id="Rf2986d0636f84d7e" /><Relationship Type="http://schemas.openxmlformats.org/officeDocument/2006/relationships/notesSlide" Target="/ppt/notesSlides/notesSlide5.xml" Id="R0d472ff9f21b43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e48f6b43314389" /><Relationship Type="http://schemas.openxmlformats.org/officeDocument/2006/relationships/image" Target="/ppt/media/image2.png" Id="R1995b5c1bc76450e" /><Relationship Type="http://schemas.openxmlformats.org/officeDocument/2006/relationships/notesSlide" Target="/ppt/notesSlides/notesSlide6.xml" Id="Rd9fadc01452249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d033cd2dec4cdf" /><Relationship Type="http://schemas.openxmlformats.org/officeDocument/2006/relationships/image" Target="/ppt/media/image3.png" Id="R11a6560756fd4aa3" /><Relationship Type="http://schemas.openxmlformats.org/officeDocument/2006/relationships/notesSlide" Target="/ppt/notesSlides/notesSlide7.xml" Id="R8db014e883a248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bb4ca85ff3142a1" /><Relationship Type="http://schemas.openxmlformats.org/officeDocument/2006/relationships/notesSlide" Target="/ppt/notesSlides/notesSlide8.xml" Id="R50ce69f8ced64c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e08011230a148f5" /><Relationship Type="http://schemas.openxmlformats.org/officeDocument/2006/relationships/notesSlide" Target="/ppt/notesSlides/notesSlide9.xml" Id="Rfe7e72769b5a46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4f44d9c4dd45c4" /><Relationship Type="http://schemas.openxmlformats.org/officeDocument/2006/relationships/image" Target="/ppt/media/image4.png" Id="Rc175ad2000294ec9" /><Relationship Type="http://schemas.openxmlformats.org/officeDocument/2006/relationships/notesSlide" Target="/ppt/notesSlides/notesSlide10.xml" Id="R9e59ec36cf3446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61b8c191b1c472b" /><Relationship Type="http://schemas.openxmlformats.org/officeDocument/2006/relationships/image" Target="/ppt/media/image5.png" Id="Rbaa76410afad4ca7" /><Relationship Type="http://schemas.openxmlformats.org/officeDocument/2006/relationships/notesSlide" Target="/ppt/notesSlides/notesSlide11.xml" Id="Rd63228944c8a44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196bd2f237247db" /><Relationship Type="http://schemas.openxmlformats.org/officeDocument/2006/relationships/image" Target="/ppt/media/image6.png" Id="R8fc8ceed82524dde" /><Relationship Type="http://schemas.openxmlformats.org/officeDocument/2006/relationships/notesSlide" Target="/ppt/notesSlides/notesSlide12.xml" Id="R110d01a0e6cc4c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e03052d1072447a" /><Relationship Type="http://schemas.openxmlformats.org/officeDocument/2006/relationships/image" Target="/ppt/media/image7.png" Id="R207ed30cb8df4688" /><Relationship Type="http://schemas.openxmlformats.org/officeDocument/2006/relationships/notesSlide" Target="/ppt/notesSlides/notesSlide13.xml" Id="R3f82adc20a4a44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f53be0af9094943" /><Relationship Type="http://schemas.openxmlformats.org/officeDocument/2006/relationships/notesSlide" Target="/ppt/notesSlides/notesSlide14.xml" Id="R49951b46eb1c469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ac24f7a175846ca" /><Relationship Type="http://schemas.openxmlformats.org/officeDocument/2006/relationships/image" Target="/ppt/media/image8.png" Id="R5ef0713e09b147a1" /><Relationship Type="http://schemas.openxmlformats.org/officeDocument/2006/relationships/notesSlide" Target="/ppt/notesSlides/notesSlide15.xml" Id="Rced8c942a1d146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5ef77d9531d4b93" /><Relationship Type="http://schemas.openxmlformats.org/officeDocument/2006/relationships/notesSlide" Target="/ppt/notesSlides/notesSlide16.xml" Id="R361f1a4a18064b0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6a8bc08e32a49ae" /><Relationship Type="http://schemas.openxmlformats.org/officeDocument/2006/relationships/notesSlide" Target="/ppt/notesSlides/notesSlide17.xml" Id="R8de07256ebb0462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01bd851ca8a4bd4" /><Relationship Type="http://schemas.openxmlformats.org/officeDocument/2006/relationships/notesSlide" Target="/ppt/notesSlides/notesSlide18.xml" Id="R4a6b3ebd817d4e5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3525cf9c3e34027" /><Relationship Type="http://schemas.openxmlformats.org/officeDocument/2006/relationships/notesSlide" Target="/ppt/notesSlides/notesSlide19.xml" Id="R8404c780ce894ba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615f6c62cd044bb" /><Relationship Type="http://schemas.openxmlformats.org/officeDocument/2006/relationships/notesSlide" Target="/ppt/notesSlides/notesSlide20.xml" Id="R38369197178c415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43914e3c31c4996" /><Relationship Type="http://schemas.openxmlformats.org/officeDocument/2006/relationships/notesSlide" Target="/ppt/notesSlides/notesSlide21.xml" Id="R252e6fbd95be4fc2"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133EB9-DB5C-4ED7-B6F8-2E2AA6772F4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A6A2A80F-7F8E-463D-A651-13CF17605DB7}"/>
              </a:ext>
            </a:extLst>
          </p:cNvPr>
          <p:cNvSpPr>
            <a:spLocks xmlns:a="http://schemas.openxmlformats.org/drawingml/2006/main" noGrp="1"/>
          </p:cNvSpPr>
          <p:nvPr/>
        </p:nvSpPr>
        <p:spPr>
          <a:xfrm xmlns:a="http://schemas.openxmlformats.org/drawingml/2006/main">
            <a:off x="609600" y="55245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1">
                <a:solidFill>
                  <a:srgbClr val="6D5BD0"/>
                </a:solidFill>
                <a:latin typeface="Arial"/>
                <a:ea typeface="Arial"/>
                <a:cs typeface="Arial"/>
              </a:defRPr>
            </a:pPr>
            <a:r>
              <a:rPr sz="1125" b="1">
                <a:solidFill>
                  <a:srgbClr val="6D5BD0"/>
                </a:solidFill>
                <a:latin typeface="Arial"/>
                <a:ea typeface="Arial"/>
                <a:cs typeface="Arial"/>
              </a:rPr>
              <a:t>TECHNICAL LAB MEETING</a:t>
            </a:r>
          </a:p>
        </p:txBody>
      </p:sp>
      <p:sp>
        <p:nvSpPr>
          <p:cNvPr id="3" name="">
            <a:extLst xmlns:a="http://schemas.openxmlformats.org/drawingml/2006/main">
              <a:ext uri="{FF2B5EF4-FFF2-40B4-BE49-F238E27FC236}">
                <a16:creationId xmlns:a16="http://schemas.microsoft.com/office/drawing/2014/main" id="{78AA2FCC-8875-47E7-8ACE-0DC7C70ADEE2}"/>
              </a:ext>
            </a:extLst>
          </p:cNvPr>
          <p:cNvSpPr>
            <a:spLocks xmlns:a="http://schemas.openxmlformats.org/drawingml/2006/main" noGrp="1"/>
          </p:cNvSpPr>
          <p:nvPr/>
        </p:nvSpPr>
        <p:spPr>
          <a:xfrm xmlns:a="http://schemas.openxmlformats.org/drawingml/2006/main">
            <a:off x="609600" y="1409700"/>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GaitParity: Reflection-Equivariant S-JEPA for Signed Gait Asymmetry</a:t>
            </a:r>
          </a:p>
        </p:txBody>
      </p:sp>
      <p:sp>
        <p:nvSpPr>
          <p:cNvPr id="4" name="">
            <a:extLst xmlns:a="http://schemas.openxmlformats.org/drawingml/2006/main">
              <a:ext uri="{FF2B5EF4-FFF2-40B4-BE49-F238E27FC236}">
                <a16:creationId xmlns:a16="http://schemas.microsoft.com/office/drawing/2014/main" id="{872D2CAE-C7A2-433E-A355-CA1C7D4F24A1}"/>
              </a:ext>
            </a:extLst>
          </p:cNvPr>
          <p:cNvSpPr>
            <a:spLocks xmlns:a="http://schemas.openxmlformats.org/drawingml/2006/main" noGrp="1"/>
          </p:cNvSpPr>
          <p:nvPr/>
        </p:nvSpPr>
        <p:spPr>
          <a:xfrm xmlns:a="http://schemas.openxmlformats.org/drawingml/2006/main">
            <a:off x="647700" y="3571875"/>
            <a:ext cx="9334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875" b="0">
                <a:solidFill>
                  <a:srgbClr val="D9E2EC"/>
                </a:solidFill>
                <a:latin typeface="Arial"/>
                <a:ea typeface="Arial"/>
                <a:cs typeface="Arial"/>
              </a:defRPr>
            </a:pPr>
            <a:r>
              <a:rPr sz="1875" b="0">
                <a:solidFill>
                  <a:srgbClr val="D9E2EC"/>
                </a:solidFill>
                <a:latin typeface="Arial"/>
                <a:ea typeface="Arial"/>
                <a:cs typeface="Arial"/>
              </a:rPr>
              <a:t>Why physical movement understanding requires selective symmetry—and how a controlled mirror study leads toward a biomechanics-grounded world model.</a:t>
            </a:r>
          </a:p>
        </p:txBody>
      </p:sp>
      <p:sp>
        <p:nvSpPr>
          <p:cNvPr id="5" name="">
            <a:extLst xmlns:a="http://schemas.openxmlformats.org/drawingml/2006/main">
              <a:ext uri="{FF2B5EF4-FFF2-40B4-BE49-F238E27FC236}">
                <a16:creationId xmlns:a16="http://schemas.microsoft.com/office/drawing/2014/main" id="{8742DE08-4070-4864-9B9C-13894E9BE7DA}"/>
              </a:ext>
            </a:extLst>
          </p:cNvPr>
          <p:cNvSpPr>
            <a:spLocks xmlns:a="http://schemas.openxmlformats.org/drawingml/2006/main" noGrp="1"/>
          </p:cNvSpPr>
          <p:nvPr/>
        </p:nvSpPr>
        <p:spPr>
          <a:xfrm xmlns:a="http://schemas.openxmlformats.org/drawingml/2006/main">
            <a:off x="609600" y="5172075"/>
            <a:ext cx="10972800" cy="876300"/>
          </a:xfrm>
          <a:prstGeom xmlns:a="http://schemas.openxmlformats.org/drawingml/2006/main" prst="roundRect">
            <a:avLst>
              <a:gd name="adj" fmla="val 13043"/>
            </a:avLst>
          </a:prstGeom>
          <a:solidFill xmlns:a="http://schemas.openxmlformats.org/drawingml/2006/main">
            <a:srgbClr val="173F5F"/>
          </a:solidFill>
          <a:ln xmlns:a="http://schemas.openxmlformats.org/drawingml/2006/main" w="9525">
            <a:solidFill>
              <a:srgbClr val="335F7F"/>
            </a:solidFill>
            <a:prstDash val="solid"/>
          </a:ln>
        </p:spPr>
      </p:sp>
      <p:sp>
        <p:nvSpPr>
          <p:cNvPr id="6" name="">
            <a:extLst xmlns:a="http://schemas.openxmlformats.org/drawingml/2006/main">
              <a:ext uri="{FF2B5EF4-FFF2-40B4-BE49-F238E27FC236}">
                <a16:creationId xmlns:a16="http://schemas.microsoft.com/office/drawing/2014/main" id="{D544E553-9B2B-495E-BDF1-F33AA6109B4C}"/>
              </a:ext>
            </a:extLst>
          </p:cNvPr>
          <p:cNvSpPr>
            <a:spLocks xmlns:a="http://schemas.openxmlformats.org/drawingml/2006/main" noGrp="1"/>
          </p:cNvSpPr>
          <p:nvPr/>
        </p:nvSpPr>
        <p:spPr>
          <a:xfrm xmlns:a="http://schemas.openxmlformats.org/drawingml/2006/main">
            <a:off x="876300" y="5410200"/>
            <a:ext cx="10429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Problem → motivation → prior evidence → parity experiment → force-plate decision → Biomech-JEPA</a:t>
            </a:r>
          </a:p>
        </p:txBody>
      </p:sp>
    </p:spTree>
    <p:extLst>
      <p:ext uri="{BB962C8B-B14F-4D97-AF65-F5344CB8AC3E}">
        <p14:creationId xmlns:p14="http://schemas.microsoft.com/office/powerpoint/2010/main" val="19651313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6F9E10C-B6A6-4276-9C44-F1C907F6881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6071A216-DEE2-4CF4-9AF3-E0AFE9906551}"/>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MOTIVATION</a:t>
            </a:r>
          </a:p>
        </p:txBody>
      </p:sp>
      <p:sp>
        <p:nvSpPr>
          <p:cNvPr id="3" name="">
            <a:extLst xmlns:a="http://schemas.openxmlformats.org/drawingml/2006/main">
              <a:ext uri="{FF2B5EF4-FFF2-40B4-BE49-F238E27FC236}">
                <a16:creationId xmlns:a16="http://schemas.microsoft.com/office/drawing/2014/main" id="{E9A2408B-F5E7-4636-B03B-4B12D11FDDFE}"/>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Ambient video does not directly reveal physical causes</a:t>
            </a:r>
          </a:p>
        </p:txBody>
      </p:sp>
      <p:sp>
        <p:nvSpPr>
          <p:cNvPr id="4" name="">
            <a:extLst xmlns:a="http://schemas.openxmlformats.org/drawingml/2006/main">
              <a:ext uri="{FF2B5EF4-FFF2-40B4-BE49-F238E27FC236}">
                <a16:creationId xmlns:a16="http://schemas.microsoft.com/office/drawing/2014/main" id="{A444D9B2-BC14-4A0D-8EEC-FD25DEFA5D9B}"/>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C4AEE51-9814-4EE1-BAE6-56909DA0573E}"/>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4BDEAF97-C6DD-4B84-A9BC-05059BE2B8D7}"/>
              </a:ext>
            </a:extLst>
          </p:cNvPr>
          <p:cNvSpPr>
            <a:spLocks xmlns:a="http://schemas.openxmlformats.org/drawingml/2006/main" noGrp="1"/>
          </p:cNvSpPr>
          <p:nvPr/>
        </p:nvSpPr>
        <p:spPr>
          <a:xfrm xmlns:a="http://schemas.openxmlformats.org/drawingml/2006/main">
            <a:off x="457200" y="11239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5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Pose estimation gives projected kinematics. Biomechanics asks about contact, force, control, and uncertainty—quantities that are not uniquely visible in pixels.</a:t>
            </a:r>
          </a:p>
        </p:txBody>
      </p:sp>
      <p:sp>
        <p:nvSpPr>
          <p:cNvPr id="7" name="">
            <a:extLst xmlns:a="http://schemas.openxmlformats.org/drawingml/2006/main">
              <a:ext uri="{FF2B5EF4-FFF2-40B4-BE49-F238E27FC236}">
                <a16:creationId xmlns:a16="http://schemas.microsoft.com/office/drawing/2014/main" id="{665698D7-A4D9-4FDE-8A0B-18B400EDD7DA}"/>
              </a:ext>
            </a:extLst>
          </p:cNvPr>
          <p:cNvSpPr>
            <a:spLocks xmlns:a="http://schemas.openxmlformats.org/drawingml/2006/main" noGrp="1"/>
          </p:cNvSpPr>
          <p:nvPr/>
        </p:nvSpPr>
        <p:spPr>
          <a:xfrm xmlns:a="http://schemas.openxmlformats.org/drawingml/2006/main">
            <a:off x="2724150" y="2952750"/>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59802"/>
          </a:bodyPr>
          <a:lstStyle xmlns:a="http://schemas.openxmlformats.org/drawingml/2006/main"/>
          <a:p xmlns:a="http://schemas.openxmlformats.org/drawingml/2006/main">
            <a:pPr algn="ctr">
              <a:defRPr sz="2100" b="1">
                <a:solidFill>
                  <a:srgbClr val="52606D"/>
                </a:solidFill>
                <a:latin typeface="Arial"/>
                <a:ea typeface="Arial"/>
                <a:cs typeface="Arial"/>
              </a:defRPr>
            </a:pPr>
            <a:r>
              <a:rPr sz="2100" b="1">
                <a:solidFill>
                  <a:srgbClr val="52606D"/>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5366D3A2-5078-404E-BD04-01625A716609}"/>
              </a:ext>
            </a:extLst>
          </p:cNvPr>
          <p:cNvSpPr>
            <a:spLocks xmlns:a="http://schemas.openxmlformats.org/drawingml/2006/main" noGrp="1"/>
          </p:cNvSpPr>
          <p:nvPr/>
        </p:nvSpPr>
        <p:spPr>
          <a:xfrm xmlns:a="http://schemas.openxmlformats.org/drawingml/2006/main">
            <a:off x="5467350" y="2743200"/>
            <a:ext cx="704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3450" b="1">
                <a:solidFill>
                  <a:srgbClr val="D95D5D"/>
                </a:solidFill>
                <a:latin typeface="Arial"/>
                <a:ea typeface="Arial"/>
                <a:cs typeface="Arial"/>
              </a:defRPr>
            </a:pPr>
            <a:r>
              <a:rPr sz="3450" b="1">
                <a:solidFill>
                  <a:srgbClr val="D95D5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C7067FF6-BCE8-4484-BD97-D571A8B633D4}"/>
              </a:ext>
            </a:extLst>
          </p:cNvPr>
          <p:cNvSpPr>
            <a:spLocks xmlns:a="http://schemas.openxmlformats.org/drawingml/2006/main" noGrp="1"/>
          </p:cNvSpPr>
          <p:nvPr/>
        </p:nvSpPr>
        <p:spPr>
          <a:xfrm xmlns:a="http://schemas.openxmlformats.org/drawingml/2006/main">
            <a:off x="8553450" y="2952750"/>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59802"/>
          </a:bodyPr>
          <a:lstStyle xmlns:a="http://schemas.openxmlformats.org/drawingml/2006/main"/>
          <a:p xmlns:a="http://schemas.openxmlformats.org/drawingml/2006/main">
            <a:pPr algn="ctr">
              <a:defRPr sz="2100" b="1">
                <a:solidFill>
                  <a:srgbClr val="52606D"/>
                </a:solidFill>
                <a:latin typeface="Arial"/>
                <a:ea typeface="Arial"/>
                <a:cs typeface="Arial"/>
              </a:defRPr>
            </a:pPr>
            <a:r>
              <a:rPr sz="2100" b="1">
                <a:solidFill>
                  <a:srgbClr val="52606D"/>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2F1F7C49-9087-4C38-A318-EB2A1CE6C283}"/>
              </a:ext>
            </a:extLst>
          </p:cNvPr>
          <p:cNvSpPr>
            <a:spLocks xmlns:a="http://schemas.openxmlformats.org/drawingml/2006/main" noGrp="1"/>
          </p:cNvSpPr>
          <p:nvPr/>
        </p:nvSpPr>
        <p:spPr>
          <a:xfrm xmlns:a="http://schemas.openxmlformats.org/drawingml/2006/main">
            <a:off x="457200" y="1981200"/>
            <a:ext cx="2190750" cy="2571750"/>
          </a:xfrm>
          <a:prstGeom xmlns:a="http://schemas.openxmlformats.org/drawingml/2006/main" prst="roundRect">
            <a:avLst>
              <a:gd name="adj" fmla="val 5217"/>
            </a:avLst>
          </a:prstGeom>
          <a:solidFill xmlns:a="http://schemas.openxmlformats.org/drawingml/2006/main">
            <a:srgbClr val="EAF5FB"/>
          </a:solidFill>
          <a:ln xmlns:a="http://schemas.openxmlformats.org/drawingml/2006/main" w="9525">
            <a:solidFill>
              <a:srgbClr val="3D8DFF"/>
            </a:solidFill>
            <a:prstDash val="solid"/>
          </a:ln>
        </p:spPr>
      </p:sp>
      <p:sp>
        <p:nvSpPr>
          <p:cNvPr id="11" name="">
            <a:extLst xmlns:a="http://schemas.openxmlformats.org/drawingml/2006/main">
              <a:ext uri="{FF2B5EF4-FFF2-40B4-BE49-F238E27FC236}">
                <a16:creationId xmlns:a16="http://schemas.microsoft.com/office/drawing/2014/main" id="{DB1FEA69-5347-4AF7-A1F2-BF2E44FA4CBF}"/>
              </a:ext>
            </a:extLst>
          </p:cNvPr>
          <p:cNvSpPr>
            <a:spLocks xmlns:a="http://schemas.openxmlformats.org/drawingml/2006/main" noGrp="1"/>
          </p:cNvSpPr>
          <p:nvPr/>
        </p:nvSpPr>
        <p:spPr>
          <a:xfrm xmlns:a="http://schemas.openxmlformats.org/drawingml/2006/main">
            <a:off x="647700" y="22098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ctr">
              <a:defRPr sz="900" b="1">
                <a:solidFill>
                  <a:srgbClr val="3D8DFF"/>
                </a:solidFill>
                <a:latin typeface="Arial"/>
                <a:ea typeface="Arial"/>
                <a:cs typeface="Arial"/>
              </a:defRPr>
            </a:pPr>
            <a:r>
              <a:rPr sz="900" b="1">
                <a:solidFill>
                  <a:srgbClr val="3D8DFF"/>
                </a:solidFill>
                <a:latin typeface="Arial"/>
                <a:ea typeface="Arial"/>
                <a:cs typeface="Arial"/>
              </a:rPr>
              <a:t>OBSERVED</a:t>
            </a:r>
          </a:p>
        </p:txBody>
      </p:sp>
      <p:sp>
        <p:nvSpPr>
          <p:cNvPr id="12" name="">
            <a:extLst xmlns:a="http://schemas.openxmlformats.org/drawingml/2006/main">
              <a:ext uri="{FF2B5EF4-FFF2-40B4-BE49-F238E27FC236}">
                <a16:creationId xmlns:a16="http://schemas.microsoft.com/office/drawing/2014/main" id="{0B73907A-D20D-473C-A2F0-B0B7B0020F8D}"/>
              </a:ext>
            </a:extLst>
          </p:cNvPr>
          <p:cNvSpPr>
            <a:spLocks xmlns:a="http://schemas.openxmlformats.org/drawingml/2006/main" noGrp="1"/>
          </p:cNvSpPr>
          <p:nvPr/>
        </p:nvSpPr>
        <p:spPr>
          <a:xfrm xmlns:a="http://schemas.openxmlformats.org/drawingml/2006/main">
            <a:off x="628650" y="263842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206"/>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Pixels and pose</a:t>
            </a:r>
          </a:p>
        </p:txBody>
      </p:sp>
      <p:sp>
        <p:nvSpPr>
          <p:cNvPr id="13" name="">
            <a:extLst xmlns:a="http://schemas.openxmlformats.org/drawingml/2006/main">
              <a:ext uri="{FF2B5EF4-FFF2-40B4-BE49-F238E27FC236}">
                <a16:creationId xmlns:a16="http://schemas.microsoft.com/office/drawing/2014/main" id="{86C37035-8E61-49A9-9540-791855E2F4F0}"/>
              </a:ext>
            </a:extLst>
          </p:cNvPr>
          <p:cNvSpPr>
            <a:spLocks xmlns:a="http://schemas.openxmlformats.org/drawingml/2006/main" noGrp="1"/>
          </p:cNvSpPr>
          <p:nvPr/>
        </p:nvSpPr>
        <p:spPr>
          <a:xfrm xmlns:a="http://schemas.openxmlformats.org/drawingml/2006/main">
            <a:off x="628650" y="3381375"/>
            <a:ext cx="1847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Projection</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Landmark confidence</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Occlusion</a:t>
            </a:r>
          </a:p>
        </p:txBody>
      </p:sp>
      <p:sp>
        <p:nvSpPr>
          <p:cNvPr id="14" name="">
            <a:extLst xmlns:a="http://schemas.openxmlformats.org/drawingml/2006/main">
              <a:ext uri="{FF2B5EF4-FFF2-40B4-BE49-F238E27FC236}">
                <a16:creationId xmlns:a16="http://schemas.microsoft.com/office/drawing/2014/main" id="{C2F3CE1C-E22A-4B7E-BCCD-3E44DDAB1698}"/>
              </a:ext>
            </a:extLst>
          </p:cNvPr>
          <p:cNvSpPr>
            <a:spLocks xmlns:a="http://schemas.openxmlformats.org/drawingml/2006/main" noGrp="1"/>
          </p:cNvSpPr>
          <p:nvPr/>
        </p:nvSpPr>
        <p:spPr>
          <a:xfrm xmlns:a="http://schemas.openxmlformats.org/drawingml/2006/main">
            <a:off x="3162300" y="1981200"/>
            <a:ext cx="2190750" cy="2571750"/>
          </a:xfrm>
          <a:prstGeom xmlns:a="http://schemas.openxmlformats.org/drawingml/2006/main" prst="roundRect">
            <a:avLst>
              <a:gd name="adj" fmla="val 5217"/>
            </a:avLst>
          </a:prstGeom>
          <a:solidFill xmlns:a="http://schemas.openxmlformats.org/drawingml/2006/main">
            <a:srgbClr val="E8F5F2"/>
          </a:solidFill>
          <a:ln xmlns:a="http://schemas.openxmlformats.org/drawingml/2006/main" w="9525">
            <a:solidFill>
              <a:srgbClr val="2A9D8F"/>
            </a:solidFill>
            <a:prstDash val="solid"/>
          </a:ln>
        </p:spPr>
      </p:sp>
      <p:sp>
        <p:nvSpPr>
          <p:cNvPr id="15" name="">
            <a:extLst xmlns:a="http://schemas.openxmlformats.org/drawingml/2006/main">
              <a:ext uri="{FF2B5EF4-FFF2-40B4-BE49-F238E27FC236}">
                <a16:creationId xmlns:a16="http://schemas.microsoft.com/office/drawing/2014/main" id="{D4034B61-C9B3-4A17-8450-D11E3D468DE5}"/>
              </a:ext>
            </a:extLst>
          </p:cNvPr>
          <p:cNvSpPr>
            <a:spLocks xmlns:a="http://schemas.openxmlformats.org/drawingml/2006/main" noGrp="1"/>
          </p:cNvSpPr>
          <p:nvPr/>
        </p:nvSpPr>
        <p:spPr>
          <a:xfrm xmlns:a="http://schemas.openxmlformats.org/drawingml/2006/main">
            <a:off x="3352800" y="22098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ctr">
              <a:defRPr sz="900" b="1">
                <a:solidFill>
                  <a:srgbClr val="2A9D8F"/>
                </a:solidFill>
                <a:latin typeface="Arial"/>
                <a:ea typeface="Arial"/>
                <a:cs typeface="Arial"/>
              </a:defRPr>
            </a:pPr>
            <a:r>
              <a:rPr sz="900" b="1">
                <a:solidFill>
                  <a:srgbClr val="2A9D8F"/>
                </a:solidFill>
                <a:latin typeface="Arial"/>
                <a:ea typeface="Arial"/>
                <a:cs typeface="Arial"/>
              </a:rPr>
              <a:t>NORMALIZED</a:t>
            </a:r>
          </a:p>
        </p:txBody>
      </p:sp>
      <p:sp>
        <p:nvSpPr>
          <p:cNvPr id="16" name="">
            <a:extLst xmlns:a="http://schemas.openxmlformats.org/drawingml/2006/main">
              <a:ext uri="{FF2B5EF4-FFF2-40B4-BE49-F238E27FC236}">
                <a16:creationId xmlns:a16="http://schemas.microsoft.com/office/drawing/2014/main" id="{26C23695-3B57-4D81-B7A8-A48902BA1954}"/>
              </a:ext>
            </a:extLst>
          </p:cNvPr>
          <p:cNvSpPr>
            <a:spLocks xmlns:a="http://schemas.openxmlformats.org/drawingml/2006/main" noGrp="1"/>
          </p:cNvSpPr>
          <p:nvPr/>
        </p:nvSpPr>
        <p:spPr>
          <a:xfrm xmlns:a="http://schemas.openxmlformats.org/drawingml/2006/main">
            <a:off x="3333750" y="263842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9302"/>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Body-frame motion</a:t>
            </a:r>
          </a:p>
        </p:txBody>
      </p:sp>
      <p:sp>
        <p:nvSpPr>
          <p:cNvPr id="17" name="">
            <a:extLst xmlns:a="http://schemas.openxmlformats.org/drawingml/2006/main">
              <a:ext uri="{FF2B5EF4-FFF2-40B4-BE49-F238E27FC236}">
                <a16:creationId xmlns:a16="http://schemas.microsoft.com/office/drawing/2014/main" id="{6B9CFA68-B984-41AA-98F2-F02738271A99}"/>
              </a:ext>
            </a:extLst>
          </p:cNvPr>
          <p:cNvSpPr>
            <a:spLocks xmlns:a="http://schemas.openxmlformats.org/drawingml/2006/main" noGrp="1"/>
          </p:cNvSpPr>
          <p:nvPr/>
        </p:nvSpPr>
        <p:spPr>
          <a:xfrm xmlns:a="http://schemas.openxmlformats.org/drawingml/2006/main">
            <a:off x="3333750" y="3381375"/>
            <a:ext cx="1847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Joint trajectories</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Anatomical identity</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Cycle phase</a:t>
            </a:r>
          </a:p>
        </p:txBody>
      </p:sp>
      <p:sp>
        <p:nvSpPr>
          <p:cNvPr id="18" name="">
            <a:extLst xmlns:a="http://schemas.openxmlformats.org/drawingml/2006/main">
              <a:ext uri="{FF2B5EF4-FFF2-40B4-BE49-F238E27FC236}">
                <a16:creationId xmlns:a16="http://schemas.microsoft.com/office/drawing/2014/main" id="{B3407367-02AB-46AD-99C7-A4B3FDBE0CDE}"/>
              </a:ext>
            </a:extLst>
          </p:cNvPr>
          <p:cNvSpPr>
            <a:spLocks xmlns:a="http://schemas.openxmlformats.org/drawingml/2006/main" noGrp="1"/>
          </p:cNvSpPr>
          <p:nvPr/>
        </p:nvSpPr>
        <p:spPr>
          <a:xfrm xmlns:a="http://schemas.openxmlformats.org/drawingml/2006/main">
            <a:off x="6286500" y="1981200"/>
            <a:ext cx="2190750" cy="2571750"/>
          </a:xfrm>
          <a:prstGeom xmlns:a="http://schemas.openxmlformats.org/drawingml/2006/main" prst="roundRect">
            <a:avLst>
              <a:gd name="adj" fmla="val 5217"/>
            </a:avLst>
          </a:prstGeom>
          <a:solidFill xmlns:a="http://schemas.openxmlformats.org/drawingml/2006/main">
            <a:srgbClr val="FFF3E8"/>
          </a:solidFill>
          <a:ln xmlns:a="http://schemas.openxmlformats.org/drawingml/2006/main" w="9525">
            <a:solidFill>
              <a:srgbClr val="F4A261"/>
            </a:solidFill>
            <a:prstDash val="solid"/>
          </a:ln>
        </p:spPr>
      </p:sp>
      <p:sp>
        <p:nvSpPr>
          <p:cNvPr id="19" name="">
            <a:extLst xmlns:a="http://schemas.openxmlformats.org/drawingml/2006/main">
              <a:ext uri="{FF2B5EF4-FFF2-40B4-BE49-F238E27FC236}">
                <a16:creationId xmlns:a16="http://schemas.microsoft.com/office/drawing/2014/main" id="{3581B12C-5676-4B3A-BEBD-A81B4EFECE1D}"/>
              </a:ext>
            </a:extLst>
          </p:cNvPr>
          <p:cNvSpPr>
            <a:spLocks xmlns:a="http://schemas.openxmlformats.org/drawingml/2006/main" noGrp="1"/>
          </p:cNvSpPr>
          <p:nvPr/>
        </p:nvSpPr>
        <p:spPr>
          <a:xfrm xmlns:a="http://schemas.openxmlformats.org/drawingml/2006/main">
            <a:off x="6477000" y="22098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ctr">
              <a:defRPr sz="900" b="1">
                <a:solidFill>
                  <a:srgbClr val="F4A261"/>
                </a:solidFill>
                <a:latin typeface="Arial"/>
                <a:ea typeface="Arial"/>
                <a:cs typeface="Arial"/>
              </a:defRPr>
            </a:pPr>
            <a:r>
              <a:rPr sz="900" b="1">
                <a:solidFill>
                  <a:srgbClr val="F4A261"/>
                </a:solidFill>
                <a:latin typeface="Arial"/>
                <a:ea typeface="Arial"/>
                <a:cs typeface="Arial"/>
              </a:rPr>
              <a:t>LATENT PHYSICS</a:t>
            </a:r>
          </a:p>
        </p:txBody>
      </p:sp>
      <p:sp>
        <p:nvSpPr>
          <p:cNvPr id="20" name="">
            <a:extLst xmlns:a="http://schemas.openxmlformats.org/drawingml/2006/main">
              <a:ext uri="{FF2B5EF4-FFF2-40B4-BE49-F238E27FC236}">
                <a16:creationId xmlns:a16="http://schemas.microsoft.com/office/drawing/2014/main" id="{8C00F39D-79E8-46CE-8542-F6A9CB43FCDC}"/>
              </a:ext>
            </a:extLst>
          </p:cNvPr>
          <p:cNvSpPr>
            <a:spLocks xmlns:a="http://schemas.openxmlformats.org/drawingml/2006/main" noGrp="1"/>
          </p:cNvSpPr>
          <p:nvPr/>
        </p:nvSpPr>
        <p:spPr>
          <a:xfrm xmlns:a="http://schemas.openxmlformats.org/drawingml/2006/main">
            <a:off x="6457950" y="263842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611"/>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Contact and dynamics</a:t>
            </a:r>
          </a:p>
        </p:txBody>
      </p:sp>
      <p:sp>
        <p:nvSpPr>
          <p:cNvPr id="21" name="">
            <a:extLst xmlns:a="http://schemas.openxmlformats.org/drawingml/2006/main">
              <a:ext uri="{FF2B5EF4-FFF2-40B4-BE49-F238E27FC236}">
                <a16:creationId xmlns:a16="http://schemas.microsoft.com/office/drawing/2014/main" id="{FC8766BF-EAE8-45F6-AD0A-736A196AD7C9}"/>
              </a:ext>
            </a:extLst>
          </p:cNvPr>
          <p:cNvSpPr>
            <a:spLocks xmlns:a="http://schemas.openxmlformats.org/drawingml/2006/main" noGrp="1"/>
          </p:cNvSpPr>
          <p:nvPr/>
        </p:nvSpPr>
        <p:spPr>
          <a:xfrm xmlns:a="http://schemas.openxmlformats.org/drawingml/2006/main">
            <a:off x="6457950" y="3381375"/>
            <a:ext cx="1847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Ground contact</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External force</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Mass and control</a:t>
            </a:r>
          </a:p>
        </p:txBody>
      </p:sp>
      <p:sp>
        <p:nvSpPr>
          <p:cNvPr id="22" name="">
            <a:extLst xmlns:a="http://schemas.openxmlformats.org/drawingml/2006/main">
              <a:ext uri="{FF2B5EF4-FFF2-40B4-BE49-F238E27FC236}">
                <a16:creationId xmlns:a16="http://schemas.microsoft.com/office/drawing/2014/main" id="{FA964A7E-1743-43C2-AF53-179ADF03FDC4}"/>
              </a:ext>
            </a:extLst>
          </p:cNvPr>
          <p:cNvSpPr>
            <a:spLocks xmlns:a="http://schemas.openxmlformats.org/drawingml/2006/main" noGrp="1"/>
          </p:cNvSpPr>
          <p:nvPr/>
        </p:nvSpPr>
        <p:spPr>
          <a:xfrm xmlns:a="http://schemas.openxmlformats.org/drawingml/2006/main">
            <a:off x="8991600" y="1981200"/>
            <a:ext cx="2133600" cy="2571750"/>
          </a:xfrm>
          <a:prstGeom xmlns:a="http://schemas.openxmlformats.org/drawingml/2006/main" prst="roundRect">
            <a:avLst>
              <a:gd name="adj" fmla="val 5357"/>
            </a:avLst>
          </a:prstGeom>
          <a:solidFill xmlns:a="http://schemas.openxmlformats.org/drawingml/2006/main">
            <a:srgbClr val="FDECEC"/>
          </a:solidFill>
          <a:ln xmlns:a="http://schemas.openxmlformats.org/drawingml/2006/main" w="9525">
            <a:solidFill>
              <a:srgbClr val="D95D5D"/>
            </a:solidFill>
            <a:prstDash val="solid"/>
          </a:ln>
        </p:spPr>
      </p:sp>
      <p:sp>
        <p:nvSpPr>
          <p:cNvPr id="23" name="">
            <a:extLst xmlns:a="http://schemas.openxmlformats.org/drawingml/2006/main">
              <a:ext uri="{FF2B5EF4-FFF2-40B4-BE49-F238E27FC236}">
                <a16:creationId xmlns:a16="http://schemas.microsoft.com/office/drawing/2014/main" id="{13FC46C3-D142-4DE2-898E-D8AB4B7B1A11}"/>
              </a:ext>
            </a:extLst>
          </p:cNvPr>
          <p:cNvSpPr>
            <a:spLocks xmlns:a="http://schemas.openxmlformats.org/drawingml/2006/main" noGrp="1"/>
          </p:cNvSpPr>
          <p:nvPr/>
        </p:nvSpPr>
        <p:spPr>
          <a:xfrm xmlns:a="http://schemas.openxmlformats.org/drawingml/2006/main">
            <a:off x="9182100" y="2209800"/>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ctr">
              <a:defRPr sz="900" b="1">
                <a:solidFill>
                  <a:srgbClr val="D95D5D"/>
                </a:solidFill>
                <a:latin typeface="Arial"/>
                <a:ea typeface="Arial"/>
                <a:cs typeface="Arial"/>
              </a:defRPr>
            </a:pPr>
            <a:r>
              <a:rPr sz="900" b="1">
                <a:solidFill>
                  <a:srgbClr val="D95D5D"/>
                </a:solidFill>
                <a:latin typeface="Arial"/>
                <a:ea typeface="Arial"/>
                <a:cs typeface="Arial"/>
              </a:rPr>
              <a:t>DECISION</a:t>
            </a:r>
          </a:p>
        </p:txBody>
      </p:sp>
      <p:sp>
        <p:nvSpPr>
          <p:cNvPr id="24" name="">
            <a:extLst xmlns:a="http://schemas.openxmlformats.org/drawingml/2006/main">
              <a:ext uri="{FF2B5EF4-FFF2-40B4-BE49-F238E27FC236}">
                <a16:creationId xmlns:a16="http://schemas.microsoft.com/office/drawing/2014/main" id="{075AAB46-8F9D-4F0E-961D-979D7EE953C8}"/>
              </a:ext>
            </a:extLst>
          </p:cNvPr>
          <p:cNvSpPr>
            <a:spLocks xmlns:a="http://schemas.openxmlformats.org/drawingml/2006/main" noGrp="1"/>
          </p:cNvSpPr>
          <p:nvPr/>
        </p:nvSpPr>
        <p:spPr>
          <a:xfrm xmlns:a="http://schemas.openxmlformats.org/drawingml/2006/main">
            <a:off x="9163050" y="2638425"/>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1248"/>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Meaningful output</a:t>
            </a:r>
          </a:p>
        </p:txBody>
      </p:sp>
      <p:sp>
        <p:nvSpPr>
          <p:cNvPr id="25" name="">
            <a:extLst xmlns:a="http://schemas.openxmlformats.org/drawingml/2006/main">
              <a:ext uri="{FF2B5EF4-FFF2-40B4-BE49-F238E27FC236}">
                <a16:creationId xmlns:a16="http://schemas.microsoft.com/office/drawing/2014/main" id="{30E0FD9B-F430-4156-AE08-5130D28A8EE2}"/>
              </a:ext>
            </a:extLst>
          </p:cNvPr>
          <p:cNvSpPr>
            <a:spLocks xmlns:a="http://schemas.openxmlformats.org/drawingml/2006/main" noGrp="1"/>
          </p:cNvSpPr>
          <p:nvPr/>
        </p:nvSpPr>
        <p:spPr>
          <a:xfrm xmlns:a="http://schemas.openxmlformats.org/drawingml/2006/main">
            <a:off x="9163050" y="3381375"/>
            <a:ext cx="17907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Asymmetry</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Groundedness</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Uncertainty</a:t>
            </a:r>
          </a:p>
        </p:txBody>
      </p:sp>
      <p:sp>
        <p:nvSpPr>
          <p:cNvPr id="26" name="">
            <a:extLst xmlns:a="http://schemas.openxmlformats.org/drawingml/2006/main">
              <a:ext uri="{FF2B5EF4-FFF2-40B4-BE49-F238E27FC236}">
                <a16:creationId xmlns:a16="http://schemas.microsoft.com/office/drawing/2014/main" id="{86EE0E81-26EE-4F48-828E-225C0271108A}"/>
              </a:ext>
            </a:extLst>
          </p:cNvPr>
          <p:cNvSpPr>
            <a:spLocks xmlns:a="http://schemas.openxmlformats.org/drawingml/2006/main" noGrp="1"/>
          </p:cNvSpPr>
          <p:nvPr/>
        </p:nvSpPr>
        <p:spPr>
          <a:xfrm xmlns:a="http://schemas.openxmlformats.org/drawingml/2006/main">
            <a:off x="5391150" y="3552825"/>
            <a:ext cx="895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975" b="1">
                <a:solidFill>
                  <a:srgbClr val="D95D5D"/>
                </a:solidFill>
                <a:latin typeface="Arial"/>
                <a:ea typeface="Arial"/>
                <a:cs typeface="Arial"/>
              </a:defRPr>
            </a:pPr>
            <a:r>
              <a:rPr sz="975" b="1">
                <a:solidFill>
                  <a:srgbClr val="D95D5D"/>
                </a:solidFill>
                <a:latin typeface="Arial"/>
                <a:ea typeface="Arial"/>
                <a:cs typeface="Arial"/>
              </a:rPr>
              <a:t>The inverse problem</a:t>
            </a:r>
          </a:p>
        </p:txBody>
      </p:sp>
      <p:sp>
        <p:nvSpPr>
          <p:cNvPr id="27" name="">
            <a:extLst xmlns:a="http://schemas.openxmlformats.org/drawingml/2006/main">
              <a:ext uri="{FF2B5EF4-FFF2-40B4-BE49-F238E27FC236}">
                <a16:creationId xmlns:a16="http://schemas.microsoft.com/office/drawing/2014/main" id="{D5224BDD-A6D6-41A5-99D1-5D3090C8BAF0}"/>
              </a:ext>
            </a:extLst>
          </p:cNvPr>
          <p:cNvSpPr>
            <a:spLocks xmlns:a="http://schemas.openxmlformats.org/drawingml/2006/main" noGrp="1"/>
          </p:cNvSpPr>
          <p:nvPr/>
        </p:nvSpPr>
        <p:spPr>
          <a:xfrm xmlns:a="http://schemas.openxmlformats.org/drawingml/2006/main">
            <a:off x="1200150" y="4914900"/>
            <a:ext cx="9791700" cy="895350"/>
          </a:xfrm>
          <a:prstGeom xmlns:a="http://schemas.openxmlformats.org/drawingml/2006/main" prst="roundRect">
            <a:avLst>
              <a:gd name="adj" fmla="val 12766"/>
            </a:avLst>
          </a:prstGeom>
          <a:solidFill xmlns:a="http://schemas.openxmlformats.org/drawingml/2006/main">
            <a:srgbClr val="102A43"/>
          </a:solidFill>
          <a:ln xmlns:a="http://schemas.openxmlformats.org/drawingml/2006/main" w="9525">
            <a:solidFill>
              <a:srgbClr val="102A43"/>
            </a:solidFill>
            <a:prstDash val="solid"/>
          </a:ln>
        </p:spPr>
      </p:sp>
      <p:sp>
        <p:nvSpPr>
          <p:cNvPr id="28" name="">
            <a:extLst xmlns:a="http://schemas.openxmlformats.org/drawingml/2006/main">
              <a:ext uri="{FF2B5EF4-FFF2-40B4-BE49-F238E27FC236}">
                <a16:creationId xmlns:a16="http://schemas.microsoft.com/office/drawing/2014/main" id="{AF417DAD-F088-48CA-A083-8505A8B0A19D}"/>
              </a:ext>
            </a:extLst>
          </p:cNvPr>
          <p:cNvSpPr>
            <a:spLocks xmlns:a="http://schemas.openxmlformats.org/drawingml/2006/main" noGrp="1"/>
          </p:cNvSpPr>
          <p:nvPr/>
        </p:nvSpPr>
        <p:spPr>
          <a:xfrm xmlns:a="http://schemas.openxmlformats.org/drawingml/2006/main">
            <a:off x="1571625" y="5153025"/>
            <a:ext cx="904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808"/>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 useful world model must represent the hidden physical state and know when the observation is insufficient.</a:t>
            </a:r>
          </a:p>
        </p:txBody>
      </p:sp>
    </p:spTree>
    <p:extLst>
      <p:ext uri="{BB962C8B-B14F-4D97-AF65-F5344CB8AC3E}">
        <p14:creationId xmlns:p14="http://schemas.microsoft.com/office/powerpoint/2010/main" val="13830306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9DBE277-1911-498C-A635-2A34D060E60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95C36B98-718C-4E68-85C8-4FA38A99CBA4}"/>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MOTIVATION</a:t>
            </a:r>
          </a:p>
        </p:txBody>
      </p:sp>
      <p:sp>
        <p:nvSpPr>
          <p:cNvPr id="3" name="">
            <a:extLst xmlns:a="http://schemas.openxmlformats.org/drawingml/2006/main">
              <a:ext uri="{FF2B5EF4-FFF2-40B4-BE49-F238E27FC236}">
                <a16:creationId xmlns:a16="http://schemas.microsoft.com/office/drawing/2014/main" id="{CE274AFD-BAAA-4415-9B7F-D1DD6B13BF4C}"/>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missing physics matters in biomechanics and balance</a:t>
            </a:r>
          </a:p>
        </p:txBody>
      </p:sp>
      <p:sp>
        <p:nvSpPr>
          <p:cNvPr id="4" name="">
            <a:extLst xmlns:a="http://schemas.openxmlformats.org/drawingml/2006/main">
              <a:ext uri="{FF2B5EF4-FFF2-40B4-BE49-F238E27FC236}">
                <a16:creationId xmlns:a16="http://schemas.microsoft.com/office/drawing/2014/main" id="{3388C13F-FE67-4371-9102-0B55B30B7F20}"/>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80899396-8290-441F-844C-E94A59342326}"/>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2B3DEE58-3C29-4F4D-B834-4A22978CF098}"/>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The clinical quantity is often not simply how far a joint moved, but how the body generated and controlled that movement.</a:t>
            </a:r>
          </a:p>
        </p:txBody>
      </p:sp>
      <p:sp>
        <p:nvSpPr>
          <p:cNvPr id="7" name="">
            <a:extLst xmlns:a="http://schemas.openxmlformats.org/drawingml/2006/main">
              <a:ext uri="{FF2B5EF4-FFF2-40B4-BE49-F238E27FC236}">
                <a16:creationId xmlns:a16="http://schemas.microsoft.com/office/drawing/2014/main" id="{41BE22A4-30EB-4368-8466-5CF507301186}"/>
              </a:ext>
            </a:extLst>
          </p:cNvPr>
          <p:cNvSpPr>
            <a:spLocks xmlns:a="http://schemas.openxmlformats.org/drawingml/2006/main" noGrp="1"/>
          </p:cNvSpPr>
          <p:nvPr/>
        </p:nvSpPr>
        <p:spPr>
          <a:xfrm xmlns:a="http://schemas.openxmlformats.org/drawingml/2006/main">
            <a:off x="571500" y="17526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SETTING</a:t>
            </a:r>
          </a:p>
        </p:txBody>
      </p:sp>
      <p:sp>
        <p:nvSpPr>
          <p:cNvPr id="8" name="">
            <a:extLst xmlns:a="http://schemas.openxmlformats.org/drawingml/2006/main">
              <a:ext uri="{FF2B5EF4-FFF2-40B4-BE49-F238E27FC236}">
                <a16:creationId xmlns:a16="http://schemas.microsoft.com/office/drawing/2014/main" id="{7CB6A5E7-CB18-4E59-8CA3-2CDFD2F2CD4C}"/>
              </a:ext>
            </a:extLst>
          </p:cNvPr>
          <p:cNvSpPr>
            <a:spLocks xmlns:a="http://schemas.openxmlformats.org/drawingml/2006/main" noGrp="1"/>
          </p:cNvSpPr>
          <p:nvPr/>
        </p:nvSpPr>
        <p:spPr>
          <a:xfrm xmlns:a="http://schemas.openxmlformats.org/drawingml/2006/main">
            <a:off x="2819400" y="175260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PHYSICAL QUESTION</a:t>
            </a:r>
          </a:p>
        </p:txBody>
      </p:sp>
      <p:sp>
        <p:nvSpPr>
          <p:cNvPr id="9" name="">
            <a:extLst xmlns:a="http://schemas.openxmlformats.org/drawingml/2006/main">
              <a:ext uri="{FF2B5EF4-FFF2-40B4-BE49-F238E27FC236}">
                <a16:creationId xmlns:a16="http://schemas.microsoft.com/office/drawing/2014/main" id="{ECA04953-BAA4-4E40-B381-5B47281A3EE0}"/>
              </a:ext>
            </a:extLst>
          </p:cNvPr>
          <p:cNvSpPr>
            <a:spLocks xmlns:a="http://schemas.openxmlformats.org/drawingml/2006/main" noGrp="1"/>
          </p:cNvSpPr>
          <p:nvPr/>
        </p:nvSpPr>
        <p:spPr>
          <a:xfrm xmlns:a="http://schemas.openxmlformats.org/drawingml/2006/main">
            <a:off x="6972300" y="1752600"/>
            <a:ext cx="403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FAILURE IF SIDE OR PHYSICS IS WRONG</a:t>
            </a:r>
          </a:p>
        </p:txBody>
      </p:sp>
      <p:sp>
        <p:nvSpPr>
          <p:cNvPr id="10" name="">
            <a:extLst xmlns:a="http://schemas.openxmlformats.org/drawingml/2006/main">
              <a:ext uri="{FF2B5EF4-FFF2-40B4-BE49-F238E27FC236}">
                <a16:creationId xmlns:a16="http://schemas.microsoft.com/office/drawing/2014/main" id="{FF9322A5-DB4E-4C0D-901D-F8CD0F6AF30E}"/>
              </a:ext>
            </a:extLst>
          </p:cNvPr>
          <p:cNvSpPr>
            <a:spLocks xmlns:a="http://schemas.openxmlformats.org/drawingml/2006/main" noGrp="1"/>
          </p:cNvSpPr>
          <p:nvPr/>
        </p:nvSpPr>
        <p:spPr>
          <a:xfrm xmlns:a="http://schemas.openxmlformats.org/drawingml/2006/main">
            <a:off x="457200" y="2114550"/>
            <a:ext cx="10668000" cy="895350"/>
          </a:xfrm>
          <a:prstGeom xmlns:a="http://schemas.openxmlformats.org/drawingml/2006/main" prst="roundRect">
            <a:avLst>
              <a:gd name="adj" fmla="val 12766"/>
            </a:avLst>
          </a:prstGeom>
          <a:solidFill xmlns:a="http://schemas.openxmlformats.org/drawingml/2006/main">
            <a:srgbClr val="F3F6F9"/>
          </a:solidFill>
          <a:ln xmlns:a="http://schemas.openxmlformats.org/drawingml/2006/main" w="9525">
            <a:solidFill>
              <a:srgbClr val="C9D2DC"/>
            </a:solidFill>
            <a:prstDash val="solid"/>
          </a:ln>
        </p:spPr>
      </p:sp>
      <p:sp>
        <p:nvSpPr>
          <p:cNvPr id="11" name="">
            <a:extLst xmlns:a="http://schemas.openxmlformats.org/drawingml/2006/main">
              <a:ext uri="{FF2B5EF4-FFF2-40B4-BE49-F238E27FC236}">
                <a16:creationId xmlns:a16="http://schemas.microsoft.com/office/drawing/2014/main" id="{8CA19552-854E-44BF-AA77-0486087B9BDA}"/>
              </a:ext>
            </a:extLst>
          </p:cNvPr>
          <p:cNvSpPr>
            <a:spLocks xmlns:a="http://schemas.openxmlformats.org/drawingml/2006/main" noGrp="1"/>
          </p:cNvSpPr>
          <p:nvPr/>
        </p:nvSpPr>
        <p:spPr>
          <a:xfrm xmlns:a="http://schemas.openxmlformats.org/drawingml/2006/main">
            <a:off x="647700" y="23336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1">
                <a:solidFill>
                  <a:srgbClr val="D95D5D"/>
                </a:solidFill>
                <a:latin typeface="Arial"/>
                <a:ea typeface="Arial"/>
                <a:cs typeface="Arial"/>
              </a:defRPr>
            </a:pPr>
            <a:r>
              <a:rPr sz="1500" b="1">
                <a:solidFill>
                  <a:srgbClr val="D95D5D"/>
                </a:solidFill>
                <a:latin typeface="Arial"/>
                <a:ea typeface="Arial"/>
                <a:cs typeface="Arial"/>
              </a:rPr>
              <a:t>Stroke gait</a:t>
            </a:r>
          </a:p>
        </p:txBody>
      </p:sp>
      <p:sp>
        <p:nvSpPr>
          <p:cNvPr id="12" name="">
            <a:extLst xmlns:a="http://schemas.openxmlformats.org/drawingml/2006/main">
              <a:ext uri="{FF2B5EF4-FFF2-40B4-BE49-F238E27FC236}">
                <a16:creationId xmlns:a16="http://schemas.microsoft.com/office/drawing/2014/main" id="{CF96ABB6-E7AA-4404-BA20-CA48DE8E3AD2}"/>
              </a:ext>
            </a:extLst>
          </p:cNvPr>
          <p:cNvSpPr>
            <a:spLocks xmlns:a="http://schemas.openxmlformats.org/drawingml/2006/main" noGrp="1"/>
          </p:cNvSpPr>
          <p:nvPr/>
        </p:nvSpPr>
        <p:spPr>
          <a:xfrm xmlns:a="http://schemas.openxmlformats.org/drawingml/2006/main">
            <a:off x="2876550" y="2286000"/>
            <a:ext cx="3676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703"/>
          </a:bodyPr>
          <a:lstStyle xmlns:a="http://schemas.openxmlformats.org/drawingml/2006/main"/>
          <a:p xmlns:a="http://schemas.openxmlformats.org/drawingml/2006/main">
            <a:pPr algn="l">
              <a:defRPr sz="1350" b="1">
                <a:solidFill>
                  <a:srgbClr val="102A43"/>
                </a:solidFill>
                <a:latin typeface="Arial"/>
                <a:ea typeface="Arial"/>
                <a:cs typeface="Arial"/>
              </a:defRPr>
            </a:pPr>
            <a:r>
              <a:rPr sz="1350" b="1">
                <a:solidFill>
                  <a:srgbClr val="102A43"/>
                </a:solidFill>
                <a:latin typeface="Arial"/>
                <a:ea typeface="Arial"/>
                <a:cs typeface="Arial"/>
              </a:rPr>
              <a:t>Which leg contributes less propulsion—and how does the person compensate?</a:t>
            </a:r>
          </a:p>
        </p:txBody>
      </p:sp>
      <p:sp>
        <p:nvSpPr>
          <p:cNvPr id="13" name="">
            <a:extLst xmlns:a="http://schemas.openxmlformats.org/drawingml/2006/main">
              <a:ext uri="{FF2B5EF4-FFF2-40B4-BE49-F238E27FC236}">
                <a16:creationId xmlns:a16="http://schemas.microsoft.com/office/drawing/2014/main" id="{16B29AD8-4962-42E3-88DB-0BF9DF55E7D1}"/>
              </a:ext>
            </a:extLst>
          </p:cNvPr>
          <p:cNvSpPr>
            <a:spLocks xmlns:a="http://schemas.openxmlformats.org/drawingml/2006/main" noGrp="1"/>
          </p:cNvSpPr>
          <p:nvPr/>
        </p:nvSpPr>
        <p:spPr>
          <a:xfrm xmlns:a="http://schemas.openxmlformats.org/drawingml/2006/main">
            <a:off x="7029450" y="2286000"/>
            <a:ext cx="3886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A sign error can reverse the inferred side. A kinematic proxy can also miss force redistribution.</a:t>
            </a:r>
          </a:p>
        </p:txBody>
      </p:sp>
      <p:sp>
        <p:nvSpPr>
          <p:cNvPr id="14" name="">
            <a:extLst xmlns:a="http://schemas.openxmlformats.org/drawingml/2006/main">
              <a:ext uri="{FF2B5EF4-FFF2-40B4-BE49-F238E27FC236}">
                <a16:creationId xmlns:a16="http://schemas.microsoft.com/office/drawing/2014/main" id="{BF10128D-2F2F-4964-AABB-0090BA00ACD3}"/>
              </a:ext>
            </a:extLst>
          </p:cNvPr>
          <p:cNvSpPr>
            <a:spLocks xmlns:a="http://schemas.openxmlformats.org/drawingml/2006/main" noGrp="1"/>
          </p:cNvSpPr>
          <p:nvPr/>
        </p:nvSpPr>
        <p:spPr>
          <a:xfrm xmlns:a="http://schemas.openxmlformats.org/drawingml/2006/main">
            <a:off x="457200" y="3181350"/>
            <a:ext cx="1066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9D2DC"/>
            </a:solidFill>
            <a:prstDash val="solid"/>
          </a:ln>
        </p:spPr>
      </p:sp>
      <p:sp>
        <p:nvSpPr>
          <p:cNvPr id="15" name="">
            <a:extLst xmlns:a="http://schemas.openxmlformats.org/drawingml/2006/main">
              <a:ext uri="{FF2B5EF4-FFF2-40B4-BE49-F238E27FC236}">
                <a16:creationId xmlns:a16="http://schemas.microsoft.com/office/drawing/2014/main" id="{63716753-8866-4DE6-A54A-13855B8BB317}"/>
              </a:ext>
            </a:extLst>
          </p:cNvPr>
          <p:cNvSpPr>
            <a:spLocks xmlns:a="http://schemas.openxmlformats.org/drawingml/2006/main" noGrp="1"/>
          </p:cNvSpPr>
          <p:nvPr/>
        </p:nvSpPr>
        <p:spPr>
          <a:xfrm xmlns:a="http://schemas.openxmlformats.org/drawingml/2006/main">
            <a:off x="647700" y="34004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1">
                <a:solidFill>
                  <a:srgbClr val="F4A261"/>
                </a:solidFill>
                <a:latin typeface="Arial"/>
                <a:ea typeface="Arial"/>
                <a:cs typeface="Arial"/>
              </a:defRPr>
            </a:pPr>
            <a:r>
              <a:rPr sz="1500" b="1">
                <a:solidFill>
                  <a:srgbClr val="F4A261"/>
                </a:solidFill>
                <a:latin typeface="Arial"/>
                <a:ea typeface="Arial"/>
                <a:cs typeface="Arial"/>
              </a:rPr>
              <a:t>Balance</a:t>
            </a:r>
          </a:p>
        </p:txBody>
      </p:sp>
      <p:sp>
        <p:nvSpPr>
          <p:cNvPr id="16" name="">
            <a:extLst xmlns:a="http://schemas.openxmlformats.org/drawingml/2006/main">
              <a:ext uri="{FF2B5EF4-FFF2-40B4-BE49-F238E27FC236}">
                <a16:creationId xmlns:a16="http://schemas.microsoft.com/office/drawing/2014/main" id="{BDCB0F98-8915-4F7A-A87D-24C1DE2BAF2C}"/>
              </a:ext>
            </a:extLst>
          </p:cNvPr>
          <p:cNvSpPr>
            <a:spLocks xmlns:a="http://schemas.openxmlformats.org/drawingml/2006/main" noGrp="1"/>
          </p:cNvSpPr>
          <p:nvPr/>
        </p:nvSpPr>
        <p:spPr>
          <a:xfrm xmlns:a="http://schemas.openxmlformats.org/drawingml/2006/main">
            <a:off x="2876550" y="3352800"/>
            <a:ext cx="3676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350" b="1">
                <a:solidFill>
                  <a:srgbClr val="102A43"/>
                </a:solidFill>
                <a:latin typeface="Arial"/>
                <a:ea typeface="Arial"/>
                <a:cs typeface="Arial"/>
              </a:defRPr>
            </a:pPr>
            <a:r>
              <a:rPr sz="1350" b="1">
                <a:solidFill>
                  <a:srgbClr val="102A43"/>
                </a:solidFill>
                <a:latin typeface="Arial"/>
                <a:ea typeface="Arial"/>
                <a:cs typeface="Arial"/>
              </a:rPr>
              <a:t>Where is support, contact, and recoverable stability changing over time?</a:t>
            </a:r>
          </a:p>
        </p:txBody>
      </p:sp>
      <p:sp>
        <p:nvSpPr>
          <p:cNvPr id="17" name="">
            <a:extLst xmlns:a="http://schemas.openxmlformats.org/drawingml/2006/main">
              <a:ext uri="{FF2B5EF4-FFF2-40B4-BE49-F238E27FC236}">
                <a16:creationId xmlns:a16="http://schemas.microsoft.com/office/drawing/2014/main" id="{0B6220A9-A33F-457B-98DB-E880978C8D85}"/>
              </a:ext>
            </a:extLst>
          </p:cNvPr>
          <p:cNvSpPr>
            <a:spLocks xmlns:a="http://schemas.openxmlformats.org/drawingml/2006/main" noGrp="1"/>
          </p:cNvSpPr>
          <p:nvPr/>
        </p:nvSpPr>
        <p:spPr>
          <a:xfrm xmlns:a="http://schemas.openxmlformats.org/drawingml/2006/main">
            <a:off x="7029450" y="3352800"/>
            <a:ext cx="3886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A model that ignores the ground may describe pose while missing a physically unstable transition.</a:t>
            </a:r>
          </a:p>
        </p:txBody>
      </p:sp>
      <p:sp>
        <p:nvSpPr>
          <p:cNvPr id="18" name="">
            <a:extLst xmlns:a="http://schemas.openxmlformats.org/drawingml/2006/main">
              <a:ext uri="{FF2B5EF4-FFF2-40B4-BE49-F238E27FC236}">
                <a16:creationId xmlns:a16="http://schemas.microsoft.com/office/drawing/2014/main" id="{EE85733E-3B9C-421F-840C-C678BDA6225D}"/>
              </a:ext>
            </a:extLst>
          </p:cNvPr>
          <p:cNvSpPr>
            <a:spLocks xmlns:a="http://schemas.openxmlformats.org/drawingml/2006/main" noGrp="1"/>
          </p:cNvSpPr>
          <p:nvPr/>
        </p:nvSpPr>
        <p:spPr>
          <a:xfrm xmlns:a="http://schemas.openxmlformats.org/drawingml/2006/main">
            <a:off x="457200" y="4248150"/>
            <a:ext cx="10668000" cy="895350"/>
          </a:xfrm>
          <a:prstGeom xmlns:a="http://schemas.openxmlformats.org/drawingml/2006/main" prst="roundRect">
            <a:avLst>
              <a:gd name="adj" fmla="val 12766"/>
            </a:avLst>
          </a:prstGeom>
          <a:solidFill xmlns:a="http://schemas.openxmlformats.org/drawingml/2006/main">
            <a:srgbClr val="F3F6F9"/>
          </a:solidFill>
          <a:ln xmlns:a="http://schemas.openxmlformats.org/drawingml/2006/main" w="9525">
            <a:solidFill>
              <a:srgbClr val="C9D2DC"/>
            </a:solidFill>
            <a:prstDash val="solid"/>
          </a:ln>
        </p:spPr>
      </p:sp>
      <p:sp>
        <p:nvSpPr>
          <p:cNvPr id="19" name="">
            <a:extLst xmlns:a="http://schemas.openxmlformats.org/drawingml/2006/main">
              <a:ext uri="{FF2B5EF4-FFF2-40B4-BE49-F238E27FC236}">
                <a16:creationId xmlns:a16="http://schemas.microsoft.com/office/drawing/2014/main" id="{D4153777-592A-4F50-B104-2E0A7C2E6069}"/>
              </a:ext>
            </a:extLst>
          </p:cNvPr>
          <p:cNvSpPr>
            <a:spLocks xmlns:a="http://schemas.openxmlformats.org/drawingml/2006/main" noGrp="1"/>
          </p:cNvSpPr>
          <p:nvPr/>
        </p:nvSpPr>
        <p:spPr>
          <a:xfrm xmlns:a="http://schemas.openxmlformats.org/drawingml/2006/main">
            <a:off x="647700" y="44672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332"/>
          </a:bodyPr>
          <a:lstStyle xmlns:a="http://schemas.openxmlformats.org/drawingml/2006/main"/>
          <a:p xmlns:a="http://schemas.openxmlformats.org/drawingml/2006/main">
            <a:pPr algn="l">
              <a:defRPr sz="1500" b="1">
                <a:solidFill>
                  <a:srgbClr val="2A9D8F"/>
                </a:solidFill>
                <a:latin typeface="Arial"/>
                <a:ea typeface="Arial"/>
                <a:cs typeface="Arial"/>
              </a:defRPr>
            </a:pPr>
            <a:r>
              <a:rPr sz="1500" b="1">
                <a:solidFill>
                  <a:srgbClr val="2A9D8F"/>
                </a:solidFill>
                <a:latin typeface="Arial"/>
                <a:ea typeface="Arial"/>
                <a:cs typeface="Arial"/>
              </a:rPr>
              <a:t>Longitudinal care</a:t>
            </a:r>
          </a:p>
        </p:txBody>
      </p:sp>
      <p:sp>
        <p:nvSpPr>
          <p:cNvPr id="20" name="">
            <a:extLst xmlns:a="http://schemas.openxmlformats.org/drawingml/2006/main">
              <a:ext uri="{FF2B5EF4-FFF2-40B4-BE49-F238E27FC236}">
                <a16:creationId xmlns:a16="http://schemas.microsoft.com/office/drawing/2014/main" id="{7D9A3BB7-9181-4C1B-B83B-C04CB02A5836}"/>
              </a:ext>
            </a:extLst>
          </p:cNvPr>
          <p:cNvSpPr>
            <a:spLocks xmlns:a="http://schemas.openxmlformats.org/drawingml/2006/main" noGrp="1"/>
          </p:cNvSpPr>
          <p:nvPr/>
        </p:nvSpPr>
        <p:spPr>
          <a:xfrm xmlns:a="http://schemas.openxmlformats.org/drawingml/2006/main">
            <a:off x="2876550" y="4419600"/>
            <a:ext cx="3676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350" b="1">
                <a:solidFill>
                  <a:srgbClr val="102A43"/>
                </a:solidFill>
                <a:latin typeface="Arial"/>
                <a:ea typeface="Arial"/>
                <a:cs typeface="Arial"/>
              </a:defRPr>
            </a:pPr>
            <a:r>
              <a:rPr sz="1350" b="1">
                <a:solidFill>
                  <a:srgbClr val="102A43"/>
                </a:solidFill>
                <a:latin typeface="Arial"/>
                <a:ea typeface="Arial"/>
                <a:cs typeface="Arial"/>
              </a:rPr>
              <a:t>Did the person change, or did the camera and pose estimator change?</a:t>
            </a:r>
          </a:p>
        </p:txBody>
      </p:sp>
      <p:sp>
        <p:nvSpPr>
          <p:cNvPr id="21" name="">
            <a:extLst xmlns:a="http://schemas.openxmlformats.org/drawingml/2006/main">
              <a:ext uri="{FF2B5EF4-FFF2-40B4-BE49-F238E27FC236}">
                <a16:creationId xmlns:a16="http://schemas.microsoft.com/office/drawing/2014/main" id="{F8546C99-1A44-4CD4-B14E-546BF5E76B49}"/>
              </a:ext>
            </a:extLst>
          </p:cNvPr>
          <p:cNvSpPr>
            <a:spLocks xmlns:a="http://schemas.openxmlformats.org/drawingml/2006/main" noGrp="1"/>
          </p:cNvSpPr>
          <p:nvPr/>
        </p:nvSpPr>
        <p:spPr>
          <a:xfrm xmlns:a="http://schemas.openxmlformats.org/drawingml/2006/main">
            <a:off x="7029450" y="4419600"/>
            <a:ext cx="3886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Observation drift can masquerade as recovery, decline, fatigue, or treatment response.</a:t>
            </a:r>
          </a:p>
        </p:txBody>
      </p:sp>
      <p:sp>
        <p:nvSpPr>
          <p:cNvPr id="22" name="">
            <a:extLst xmlns:a="http://schemas.openxmlformats.org/drawingml/2006/main">
              <a:ext uri="{FF2B5EF4-FFF2-40B4-BE49-F238E27FC236}">
                <a16:creationId xmlns:a16="http://schemas.microsoft.com/office/drawing/2014/main" id="{1A4137E6-E58A-405F-A85C-34E00C6A2474}"/>
              </a:ext>
            </a:extLst>
          </p:cNvPr>
          <p:cNvSpPr>
            <a:spLocks xmlns:a="http://schemas.openxmlformats.org/drawingml/2006/main" noGrp="1"/>
          </p:cNvSpPr>
          <p:nvPr/>
        </p:nvSpPr>
        <p:spPr>
          <a:xfrm xmlns:a="http://schemas.openxmlformats.org/drawingml/2006/main">
            <a:off x="457200" y="5524500"/>
            <a:ext cx="10668000" cy="533400"/>
          </a:xfrm>
          <a:prstGeom xmlns:a="http://schemas.openxmlformats.org/drawingml/2006/main" prst="roundRect">
            <a:avLst>
              <a:gd name="adj" fmla="val 21429"/>
            </a:avLst>
          </a:prstGeom>
          <a:solidFill xmlns:a="http://schemas.openxmlformats.org/drawingml/2006/main">
            <a:srgbClr val="E8F5F2"/>
          </a:solidFill>
          <a:ln xmlns:a="http://schemas.openxmlformats.org/drawingml/2006/main" w="9525">
            <a:solidFill>
              <a:srgbClr val="6D5BD0"/>
            </a:solidFill>
            <a:prstDash val="solid"/>
          </a:ln>
        </p:spPr>
      </p:sp>
      <p:sp>
        <p:nvSpPr>
          <p:cNvPr id="23" name="">
            <a:extLst xmlns:a="http://schemas.openxmlformats.org/drawingml/2006/main">
              <a:ext uri="{FF2B5EF4-FFF2-40B4-BE49-F238E27FC236}">
                <a16:creationId xmlns:a16="http://schemas.microsoft.com/office/drawing/2014/main" id="{F16A3BCC-BE7F-4F53-B892-45CDEA665FDB}"/>
              </a:ext>
            </a:extLst>
          </p:cNvPr>
          <p:cNvSpPr>
            <a:spLocks xmlns:a="http://schemas.openxmlformats.org/drawingml/2006/main" noGrp="1"/>
          </p:cNvSpPr>
          <p:nvPr/>
        </p:nvSpPr>
        <p:spPr>
          <a:xfrm xmlns:a="http://schemas.openxmlformats.org/drawingml/2006/main">
            <a:off x="723900" y="567690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185"/>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Signed laterality is a concrete entry point because the expected transformation is known exactly.</a:t>
            </a:r>
          </a:p>
        </p:txBody>
      </p:sp>
    </p:spTree>
    <p:extLst>
      <p:ext uri="{BB962C8B-B14F-4D97-AF65-F5344CB8AC3E}">
        <p14:creationId xmlns:p14="http://schemas.microsoft.com/office/powerpoint/2010/main" val="11552897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FC10155-16A1-498A-8166-E538916C102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F24D777A-EBEF-42A9-A23F-ABF6DBEB513E}"/>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MOTIVATION</a:t>
            </a:r>
          </a:p>
        </p:txBody>
      </p:sp>
      <p:sp>
        <p:nvSpPr>
          <p:cNvPr id="3" name="">
            <a:extLst xmlns:a="http://schemas.openxmlformats.org/drawingml/2006/main">
              <a:ext uri="{FF2B5EF4-FFF2-40B4-BE49-F238E27FC236}">
                <a16:creationId xmlns:a16="http://schemas.microsoft.com/office/drawing/2014/main" id="{57DDB636-62AE-43AA-A26D-DF65B815DBDB}"/>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Ambient intelligence introduces its own failure modes</a:t>
            </a:r>
          </a:p>
        </p:txBody>
      </p:sp>
      <p:sp>
        <p:nvSpPr>
          <p:cNvPr id="4" name="">
            <a:extLst xmlns:a="http://schemas.openxmlformats.org/drawingml/2006/main">
              <a:ext uri="{FF2B5EF4-FFF2-40B4-BE49-F238E27FC236}">
                <a16:creationId xmlns:a16="http://schemas.microsoft.com/office/drawing/2014/main" id="{824629F7-F24E-4A2A-816C-28949087962E}"/>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46AFF04-719F-479C-A160-C7837B062EE1}"/>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809C584A-F8A1-44EE-A32C-D0D8B042921A}"/>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A room-scale model must distinguish changes in the body from changes in how the body is observed.</a:t>
            </a:r>
          </a:p>
        </p:txBody>
      </p:sp>
      <p:sp>
        <p:nvSpPr>
          <p:cNvPr id="7" name="">
            <a:extLst xmlns:a="http://schemas.openxmlformats.org/drawingml/2006/main">
              <a:ext uri="{FF2B5EF4-FFF2-40B4-BE49-F238E27FC236}">
                <a16:creationId xmlns:a16="http://schemas.microsoft.com/office/drawing/2014/main" id="{7EC7DE40-E7F9-4956-9105-D59D7FC46859}"/>
              </a:ext>
            </a:extLst>
          </p:cNvPr>
          <p:cNvSpPr>
            <a:spLocks xmlns:a="http://schemas.openxmlformats.org/drawingml/2006/main" noGrp="1"/>
          </p:cNvSpPr>
          <p:nvPr/>
        </p:nvSpPr>
        <p:spPr>
          <a:xfrm xmlns:a="http://schemas.openxmlformats.org/drawingml/2006/main">
            <a:off x="571500" y="17526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SETTING</a:t>
            </a:r>
          </a:p>
        </p:txBody>
      </p:sp>
      <p:sp>
        <p:nvSpPr>
          <p:cNvPr id="8" name="">
            <a:extLst xmlns:a="http://schemas.openxmlformats.org/drawingml/2006/main">
              <a:ext uri="{FF2B5EF4-FFF2-40B4-BE49-F238E27FC236}">
                <a16:creationId xmlns:a16="http://schemas.microsoft.com/office/drawing/2014/main" id="{665FCE7F-8D84-4CBD-BE8C-644A4DD3EA18}"/>
              </a:ext>
            </a:extLst>
          </p:cNvPr>
          <p:cNvSpPr>
            <a:spLocks xmlns:a="http://schemas.openxmlformats.org/drawingml/2006/main" noGrp="1"/>
          </p:cNvSpPr>
          <p:nvPr/>
        </p:nvSpPr>
        <p:spPr>
          <a:xfrm xmlns:a="http://schemas.openxmlformats.org/drawingml/2006/main">
            <a:off x="2819400" y="175260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PHYSICAL QUESTION</a:t>
            </a:r>
          </a:p>
        </p:txBody>
      </p:sp>
      <p:sp>
        <p:nvSpPr>
          <p:cNvPr id="9" name="">
            <a:extLst xmlns:a="http://schemas.openxmlformats.org/drawingml/2006/main">
              <a:ext uri="{FF2B5EF4-FFF2-40B4-BE49-F238E27FC236}">
                <a16:creationId xmlns:a16="http://schemas.microsoft.com/office/drawing/2014/main" id="{DE35D0D5-23E7-45AF-BE0F-DFF77A8693DD}"/>
              </a:ext>
            </a:extLst>
          </p:cNvPr>
          <p:cNvSpPr>
            <a:spLocks xmlns:a="http://schemas.openxmlformats.org/drawingml/2006/main" noGrp="1"/>
          </p:cNvSpPr>
          <p:nvPr/>
        </p:nvSpPr>
        <p:spPr>
          <a:xfrm xmlns:a="http://schemas.openxmlformats.org/drawingml/2006/main">
            <a:off x="6972300" y="1752600"/>
            <a:ext cx="403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FAILURE IF SIDE OR PHYSICS IS WRONG</a:t>
            </a:r>
          </a:p>
        </p:txBody>
      </p:sp>
      <p:sp>
        <p:nvSpPr>
          <p:cNvPr id="10" name="">
            <a:extLst xmlns:a="http://schemas.openxmlformats.org/drawingml/2006/main">
              <a:ext uri="{FF2B5EF4-FFF2-40B4-BE49-F238E27FC236}">
                <a16:creationId xmlns:a16="http://schemas.microsoft.com/office/drawing/2014/main" id="{78C24D81-1777-47F4-B60D-81AE4308E50A}"/>
              </a:ext>
            </a:extLst>
          </p:cNvPr>
          <p:cNvSpPr>
            <a:spLocks xmlns:a="http://schemas.openxmlformats.org/drawingml/2006/main" noGrp="1"/>
          </p:cNvSpPr>
          <p:nvPr/>
        </p:nvSpPr>
        <p:spPr>
          <a:xfrm xmlns:a="http://schemas.openxmlformats.org/drawingml/2006/main">
            <a:off x="457200" y="2114550"/>
            <a:ext cx="10668000" cy="895350"/>
          </a:xfrm>
          <a:prstGeom xmlns:a="http://schemas.openxmlformats.org/drawingml/2006/main" prst="roundRect">
            <a:avLst>
              <a:gd name="adj" fmla="val 12766"/>
            </a:avLst>
          </a:prstGeom>
          <a:solidFill xmlns:a="http://schemas.openxmlformats.org/drawingml/2006/main">
            <a:srgbClr val="F3F6F9"/>
          </a:solidFill>
          <a:ln xmlns:a="http://schemas.openxmlformats.org/drawingml/2006/main" w="9525">
            <a:solidFill>
              <a:srgbClr val="C9D2DC"/>
            </a:solidFill>
            <a:prstDash val="solid"/>
          </a:ln>
        </p:spPr>
      </p:sp>
      <p:sp>
        <p:nvSpPr>
          <p:cNvPr id="11" name="">
            <a:extLst xmlns:a="http://schemas.openxmlformats.org/drawingml/2006/main">
              <a:ext uri="{FF2B5EF4-FFF2-40B4-BE49-F238E27FC236}">
                <a16:creationId xmlns:a16="http://schemas.microsoft.com/office/drawing/2014/main" id="{6C9F260E-3197-477E-90F8-11313DCB6FA4}"/>
              </a:ext>
            </a:extLst>
          </p:cNvPr>
          <p:cNvSpPr>
            <a:spLocks xmlns:a="http://schemas.openxmlformats.org/drawingml/2006/main" noGrp="1"/>
          </p:cNvSpPr>
          <p:nvPr/>
        </p:nvSpPr>
        <p:spPr>
          <a:xfrm xmlns:a="http://schemas.openxmlformats.org/drawingml/2006/main">
            <a:off x="647700" y="23336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New viewpoint</a:t>
            </a:r>
          </a:p>
        </p:txBody>
      </p:sp>
      <p:sp>
        <p:nvSpPr>
          <p:cNvPr id="12" name="">
            <a:extLst xmlns:a="http://schemas.openxmlformats.org/drawingml/2006/main">
              <a:ext uri="{FF2B5EF4-FFF2-40B4-BE49-F238E27FC236}">
                <a16:creationId xmlns:a16="http://schemas.microsoft.com/office/drawing/2014/main" id="{78D31AF6-762F-4669-BB5B-21D6A0F3707D}"/>
              </a:ext>
            </a:extLst>
          </p:cNvPr>
          <p:cNvSpPr>
            <a:spLocks xmlns:a="http://schemas.openxmlformats.org/drawingml/2006/main" noGrp="1"/>
          </p:cNvSpPr>
          <p:nvPr/>
        </p:nvSpPr>
        <p:spPr>
          <a:xfrm xmlns:a="http://schemas.openxmlformats.org/drawingml/2006/main">
            <a:off x="2876550" y="2286000"/>
            <a:ext cx="3676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350" b="1">
                <a:solidFill>
                  <a:srgbClr val="102A43"/>
                </a:solidFill>
                <a:latin typeface="Arial"/>
                <a:ea typeface="Arial"/>
                <a:cs typeface="Arial"/>
              </a:defRPr>
            </a:pPr>
            <a:r>
              <a:rPr sz="1350" b="1">
                <a:solidFill>
                  <a:srgbClr val="102A43"/>
                </a:solidFill>
                <a:latin typeface="Arial"/>
                <a:ea typeface="Arial"/>
                <a:cs typeface="Arial"/>
              </a:rPr>
              <a:t>Same anatomy, different projection and occlusion</a:t>
            </a:r>
          </a:p>
        </p:txBody>
      </p:sp>
      <p:sp>
        <p:nvSpPr>
          <p:cNvPr id="13" name="">
            <a:extLst xmlns:a="http://schemas.openxmlformats.org/drawingml/2006/main">
              <a:ext uri="{FF2B5EF4-FFF2-40B4-BE49-F238E27FC236}">
                <a16:creationId xmlns:a16="http://schemas.microsoft.com/office/drawing/2014/main" id="{DF053E10-AC0A-4248-8AA3-D291F449428A}"/>
              </a:ext>
            </a:extLst>
          </p:cNvPr>
          <p:cNvSpPr>
            <a:spLocks xmlns:a="http://schemas.openxmlformats.org/drawingml/2006/main" noGrp="1"/>
          </p:cNvSpPr>
          <p:nvPr/>
        </p:nvSpPr>
        <p:spPr>
          <a:xfrm xmlns:a="http://schemas.openxmlformats.org/drawingml/2006/main">
            <a:off x="7029450" y="2286000"/>
            <a:ext cx="3886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A left–right estimate should remain stable after body-frame handling—not follow the camera.</a:t>
            </a:r>
          </a:p>
        </p:txBody>
      </p:sp>
      <p:sp>
        <p:nvSpPr>
          <p:cNvPr id="14" name="">
            <a:extLst xmlns:a="http://schemas.openxmlformats.org/drawingml/2006/main">
              <a:ext uri="{FF2B5EF4-FFF2-40B4-BE49-F238E27FC236}">
                <a16:creationId xmlns:a16="http://schemas.microsoft.com/office/drawing/2014/main" id="{A0A312C1-8C83-482B-940F-9A7D5CEAF510}"/>
              </a:ext>
            </a:extLst>
          </p:cNvPr>
          <p:cNvSpPr>
            <a:spLocks xmlns:a="http://schemas.openxmlformats.org/drawingml/2006/main" noGrp="1"/>
          </p:cNvSpPr>
          <p:nvPr/>
        </p:nvSpPr>
        <p:spPr>
          <a:xfrm xmlns:a="http://schemas.openxmlformats.org/drawingml/2006/main">
            <a:off x="457200" y="3181350"/>
            <a:ext cx="1066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9D2DC"/>
            </a:solidFill>
            <a:prstDash val="solid"/>
          </a:ln>
        </p:spPr>
      </p:sp>
      <p:sp>
        <p:nvSpPr>
          <p:cNvPr id="15" name="">
            <a:extLst xmlns:a="http://schemas.openxmlformats.org/drawingml/2006/main">
              <a:ext uri="{FF2B5EF4-FFF2-40B4-BE49-F238E27FC236}">
                <a16:creationId xmlns:a16="http://schemas.microsoft.com/office/drawing/2014/main" id="{5B45E724-96D2-4602-8701-CAE0BD62E14B}"/>
              </a:ext>
            </a:extLst>
          </p:cNvPr>
          <p:cNvSpPr>
            <a:spLocks xmlns:a="http://schemas.openxmlformats.org/drawingml/2006/main" noGrp="1"/>
          </p:cNvSpPr>
          <p:nvPr/>
        </p:nvSpPr>
        <p:spPr>
          <a:xfrm xmlns:a="http://schemas.openxmlformats.org/drawingml/2006/main">
            <a:off x="647700" y="34004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1">
                <a:solidFill>
                  <a:srgbClr val="D95D5D"/>
                </a:solidFill>
                <a:latin typeface="Arial"/>
                <a:ea typeface="Arial"/>
                <a:cs typeface="Arial"/>
              </a:defRPr>
            </a:pPr>
            <a:r>
              <a:rPr sz="1500" b="1">
                <a:solidFill>
                  <a:srgbClr val="D95D5D"/>
                </a:solidFill>
                <a:latin typeface="Arial"/>
                <a:ea typeface="Arial"/>
                <a:cs typeface="Arial"/>
              </a:rPr>
              <a:t>Mirrored feed</a:t>
            </a:r>
          </a:p>
        </p:txBody>
      </p:sp>
      <p:sp>
        <p:nvSpPr>
          <p:cNvPr id="16" name="">
            <a:extLst xmlns:a="http://schemas.openxmlformats.org/drawingml/2006/main">
              <a:ext uri="{FF2B5EF4-FFF2-40B4-BE49-F238E27FC236}">
                <a16:creationId xmlns:a16="http://schemas.microsoft.com/office/drawing/2014/main" id="{115A70A9-6115-4196-8C10-CA955C0DCAB8}"/>
              </a:ext>
            </a:extLst>
          </p:cNvPr>
          <p:cNvSpPr>
            <a:spLocks xmlns:a="http://schemas.openxmlformats.org/drawingml/2006/main" noGrp="1"/>
          </p:cNvSpPr>
          <p:nvPr/>
        </p:nvSpPr>
        <p:spPr>
          <a:xfrm xmlns:a="http://schemas.openxmlformats.org/drawingml/2006/main">
            <a:off x="2876550" y="3352800"/>
            <a:ext cx="3676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350" b="1">
                <a:solidFill>
                  <a:srgbClr val="102A43"/>
                </a:solidFill>
                <a:latin typeface="Arial"/>
                <a:ea typeface="Arial"/>
                <a:cs typeface="Arial"/>
              </a:defRPr>
            </a:pPr>
            <a:r>
              <a:rPr sz="1350" b="1">
                <a:solidFill>
                  <a:srgbClr val="102A43"/>
                </a:solidFill>
                <a:latin typeface="Arial"/>
                <a:ea typeface="Arial"/>
                <a:cs typeface="Arial"/>
              </a:rPr>
              <a:t>Anatomical labels are exchanged by the transformation</a:t>
            </a:r>
          </a:p>
        </p:txBody>
      </p:sp>
      <p:sp>
        <p:nvSpPr>
          <p:cNvPr id="17" name="">
            <a:extLst xmlns:a="http://schemas.openxmlformats.org/drawingml/2006/main">
              <a:ext uri="{FF2B5EF4-FFF2-40B4-BE49-F238E27FC236}">
                <a16:creationId xmlns:a16="http://schemas.microsoft.com/office/drawing/2014/main" id="{20EE1E6E-FCDF-4FCD-B65D-92D9247C64FF}"/>
              </a:ext>
            </a:extLst>
          </p:cNvPr>
          <p:cNvSpPr>
            <a:spLocks xmlns:a="http://schemas.openxmlformats.org/drawingml/2006/main" noGrp="1"/>
          </p:cNvSpPr>
          <p:nvPr/>
        </p:nvSpPr>
        <p:spPr>
          <a:xfrm xmlns:a="http://schemas.openxmlformats.org/drawingml/2006/main">
            <a:off x="7029450" y="3352800"/>
            <a:ext cx="3886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A signed asymmetry must reverse. Treating the mirror as ordinary augmentation erases meaning.</a:t>
            </a:r>
          </a:p>
        </p:txBody>
      </p:sp>
      <p:sp>
        <p:nvSpPr>
          <p:cNvPr id="18" name="">
            <a:extLst xmlns:a="http://schemas.openxmlformats.org/drawingml/2006/main">
              <a:ext uri="{FF2B5EF4-FFF2-40B4-BE49-F238E27FC236}">
                <a16:creationId xmlns:a16="http://schemas.microsoft.com/office/drawing/2014/main" id="{7F76AC98-87B2-4ABA-BDEB-93BE1DBCA36F}"/>
              </a:ext>
            </a:extLst>
          </p:cNvPr>
          <p:cNvSpPr>
            <a:spLocks xmlns:a="http://schemas.openxmlformats.org/drawingml/2006/main" noGrp="1"/>
          </p:cNvSpPr>
          <p:nvPr/>
        </p:nvSpPr>
        <p:spPr>
          <a:xfrm xmlns:a="http://schemas.openxmlformats.org/drawingml/2006/main">
            <a:off x="457200" y="4248150"/>
            <a:ext cx="10668000" cy="895350"/>
          </a:xfrm>
          <a:prstGeom xmlns:a="http://schemas.openxmlformats.org/drawingml/2006/main" prst="roundRect">
            <a:avLst>
              <a:gd name="adj" fmla="val 12766"/>
            </a:avLst>
          </a:prstGeom>
          <a:solidFill xmlns:a="http://schemas.openxmlformats.org/drawingml/2006/main">
            <a:srgbClr val="F3F6F9"/>
          </a:solidFill>
          <a:ln xmlns:a="http://schemas.openxmlformats.org/drawingml/2006/main" w="9525">
            <a:solidFill>
              <a:srgbClr val="C9D2DC"/>
            </a:solidFill>
            <a:prstDash val="solid"/>
          </a:ln>
        </p:spPr>
      </p:sp>
      <p:sp>
        <p:nvSpPr>
          <p:cNvPr id="19" name="">
            <a:extLst xmlns:a="http://schemas.openxmlformats.org/drawingml/2006/main">
              <a:ext uri="{FF2B5EF4-FFF2-40B4-BE49-F238E27FC236}">
                <a16:creationId xmlns:a16="http://schemas.microsoft.com/office/drawing/2014/main" id="{387B6010-EBD0-4F54-A470-2DE4AE467C5F}"/>
              </a:ext>
            </a:extLst>
          </p:cNvPr>
          <p:cNvSpPr>
            <a:spLocks xmlns:a="http://schemas.openxmlformats.org/drawingml/2006/main" noGrp="1"/>
          </p:cNvSpPr>
          <p:nvPr/>
        </p:nvSpPr>
        <p:spPr>
          <a:xfrm xmlns:a="http://schemas.openxmlformats.org/drawingml/2006/main">
            <a:off x="647700" y="44672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1">
                <a:solidFill>
                  <a:srgbClr val="F4A261"/>
                </a:solidFill>
                <a:latin typeface="Arial"/>
                <a:ea typeface="Arial"/>
                <a:cs typeface="Arial"/>
              </a:defRPr>
            </a:pPr>
            <a:r>
              <a:rPr sz="1500" b="1">
                <a:solidFill>
                  <a:srgbClr val="F4A261"/>
                </a:solidFill>
                <a:latin typeface="Arial"/>
                <a:ea typeface="Arial"/>
                <a:cs typeface="Arial"/>
              </a:rPr>
              <a:t>Missing joints</a:t>
            </a:r>
          </a:p>
        </p:txBody>
      </p:sp>
      <p:sp>
        <p:nvSpPr>
          <p:cNvPr id="20" name="">
            <a:extLst xmlns:a="http://schemas.openxmlformats.org/drawingml/2006/main">
              <a:ext uri="{FF2B5EF4-FFF2-40B4-BE49-F238E27FC236}">
                <a16:creationId xmlns:a16="http://schemas.microsoft.com/office/drawing/2014/main" id="{F1A0A25F-8596-489B-9908-C2FDF265F53A}"/>
              </a:ext>
            </a:extLst>
          </p:cNvPr>
          <p:cNvSpPr>
            <a:spLocks xmlns:a="http://schemas.openxmlformats.org/drawingml/2006/main" noGrp="1"/>
          </p:cNvSpPr>
          <p:nvPr/>
        </p:nvSpPr>
        <p:spPr>
          <a:xfrm xmlns:a="http://schemas.openxmlformats.org/drawingml/2006/main">
            <a:off x="2876550" y="4419600"/>
            <a:ext cx="3676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350" b="1">
                <a:solidFill>
                  <a:srgbClr val="102A43"/>
                </a:solidFill>
                <a:latin typeface="Arial"/>
                <a:ea typeface="Arial"/>
                <a:cs typeface="Arial"/>
              </a:defRPr>
            </a:pPr>
            <a:r>
              <a:rPr sz="1350" b="1">
                <a:solidFill>
                  <a:srgbClr val="102A43"/>
                </a:solidFill>
                <a:latin typeface="Arial"/>
                <a:ea typeface="Arial"/>
                <a:cs typeface="Arial"/>
              </a:rPr>
              <a:t>Visibility changes without a physical side change</a:t>
            </a:r>
          </a:p>
        </p:txBody>
      </p:sp>
      <p:sp>
        <p:nvSpPr>
          <p:cNvPr id="21" name="">
            <a:extLst xmlns:a="http://schemas.openxmlformats.org/drawingml/2006/main">
              <a:ext uri="{FF2B5EF4-FFF2-40B4-BE49-F238E27FC236}">
                <a16:creationId xmlns:a16="http://schemas.microsoft.com/office/drawing/2014/main" id="{70FD86BB-EAF2-462B-8825-78E2EC4FC4A4}"/>
              </a:ext>
            </a:extLst>
          </p:cNvPr>
          <p:cNvSpPr>
            <a:spLocks xmlns:a="http://schemas.openxmlformats.org/drawingml/2006/main" noGrp="1"/>
          </p:cNvSpPr>
          <p:nvPr/>
        </p:nvSpPr>
        <p:spPr>
          <a:xfrm xmlns:a="http://schemas.openxmlformats.org/drawingml/2006/main">
            <a:off x="7029450" y="4419600"/>
            <a:ext cx="3886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Uncertainty should increase; the predicted sign should not flip because one heel disappeared.</a:t>
            </a:r>
          </a:p>
        </p:txBody>
      </p:sp>
      <p:sp>
        <p:nvSpPr>
          <p:cNvPr id="22" name="">
            <a:extLst xmlns:a="http://schemas.openxmlformats.org/drawingml/2006/main">
              <a:ext uri="{FF2B5EF4-FFF2-40B4-BE49-F238E27FC236}">
                <a16:creationId xmlns:a16="http://schemas.microsoft.com/office/drawing/2014/main" id="{EFB99D38-913A-41FE-A9ED-65CC2A56E6D9}"/>
              </a:ext>
            </a:extLst>
          </p:cNvPr>
          <p:cNvSpPr>
            <a:spLocks xmlns:a="http://schemas.openxmlformats.org/drawingml/2006/main" noGrp="1"/>
          </p:cNvSpPr>
          <p:nvPr/>
        </p:nvSpPr>
        <p:spPr>
          <a:xfrm xmlns:a="http://schemas.openxmlformats.org/drawingml/2006/main">
            <a:off x="457200" y="5524500"/>
            <a:ext cx="10668000" cy="533400"/>
          </a:xfrm>
          <a:prstGeom xmlns:a="http://schemas.openxmlformats.org/drawingml/2006/main" prst="roundRect">
            <a:avLst>
              <a:gd name="adj" fmla="val 21429"/>
            </a:avLst>
          </a:prstGeom>
          <a:solidFill xmlns:a="http://schemas.openxmlformats.org/drawingml/2006/main">
            <a:srgbClr val="EAF5FB"/>
          </a:solidFill>
          <a:ln xmlns:a="http://schemas.openxmlformats.org/drawingml/2006/main" w="9525">
            <a:solidFill>
              <a:srgbClr val="6D5BD0"/>
            </a:solidFill>
            <a:prstDash val="solid"/>
          </a:ln>
        </p:spPr>
      </p:sp>
      <p:sp>
        <p:nvSpPr>
          <p:cNvPr id="23" name="">
            <a:extLst xmlns:a="http://schemas.openxmlformats.org/drawingml/2006/main">
              <a:ext uri="{FF2B5EF4-FFF2-40B4-BE49-F238E27FC236}">
                <a16:creationId xmlns:a16="http://schemas.microsoft.com/office/drawing/2014/main" id="{588B11E1-C6E4-4F6E-9943-180FF998B659}"/>
              </a:ext>
            </a:extLst>
          </p:cNvPr>
          <p:cNvSpPr>
            <a:spLocks xmlns:a="http://schemas.openxmlformats.org/drawingml/2006/main" noGrp="1"/>
          </p:cNvSpPr>
          <p:nvPr/>
        </p:nvSpPr>
        <p:spPr>
          <a:xfrm xmlns:a="http://schemas.openxmlformats.org/drawingml/2006/main">
            <a:off x="723900" y="567690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185"/>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Selective symmetry is the requirement: invariant to nuisance, equivariant to anatomy, sensitive to true dynamics.</a:t>
            </a:r>
          </a:p>
        </p:txBody>
      </p:sp>
    </p:spTree>
    <p:extLst>
      <p:ext uri="{BB962C8B-B14F-4D97-AF65-F5344CB8AC3E}">
        <p14:creationId xmlns:p14="http://schemas.microsoft.com/office/powerpoint/2010/main" val="178976664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119D5A-58CD-445E-94D1-ECA3F3C56D5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098162AC-1DFA-4971-BF96-392DB3149CDB}"/>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MOTIVATION</a:t>
            </a:r>
          </a:p>
        </p:txBody>
      </p:sp>
      <p:sp>
        <p:nvSpPr>
          <p:cNvPr id="3" name="">
            <a:extLst xmlns:a="http://schemas.openxmlformats.org/drawingml/2006/main">
              <a:ext uri="{FF2B5EF4-FFF2-40B4-BE49-F238E27FC236}">
                <a16:creationId xmlns:a16="http://schemas.microsoft.com/office/drawing/2014/main" id="{B72C9775-17D2-4920-81B7-3BE38B81BCC0}"/>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A body mirror and a camera move require opposite responses</a:t>
            </a:r>
          </a:p>
        </p:txBody>
      </p:sp>
      <p:sp>
        <p:nvSpPr>
          <p:cNvPr id="4" name="">
            <a:extLst xmlns:a="http://schemas.openxmlformats.org/drawingml/2006/main">
              <a:ext uri="{FF2B5EF4-FFF2-40B4-BE49-F238E27FC236}">
                <a16:creationId xmlns:a16="http://schemas.microsoft.com/office/drawing/2014/main" id="{B301EF5A-2070-4846-9430-66077BDD5F92}"/>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C7BD8D3-AF1B-4236-B9F6-67725F98E708}"/>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B27B0635-97AC-41BA-9762-6D0816FD7E29}"/>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447"/>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Reflection exchanges the body's sides. Viewpoint change preserves anatomy while changing projection, visibility, and estimation error.</a:t>
            </a:r>
          </a:p>
        </p:txBody>
      </p:sp>
      <p:sp>
        <p:nvSpPr>
          <p:cNvPr id="7" name="">
            <a:extLst xmlns:a="http://schemas.openxmlformats.org/drawingml/2006/main">
              <a:ext uri="{FF2B5EF4-FFF2-40B4-BE49-F238E27FC236}">
                <a16:creationId xmlns:a16="http://schemas.microsoft.com/office/drawing/2014/main" id="{FA2BD14D-EDE3-41F8-8150-08AD8EF5813C}"/>
              </a:ext>
            </a:extLst>
          </p:cNvPr>
          <p:cNvSpPr>
            <a:spLocks xmlns:a="http://schemas.openxmlformats.org/drawingml/2006/main" noGrp="1"/>
          </p:cNvSpPr>
          <p:nvPr/>
        </p:nvSpPr>
        <p:spPr>
          <a:xfrm xmlns:a="http://schemas.openxmlformats.org/drawingml/2006/main">
            <a:off x="457200" y="1695450"/>
            <a:ext cx="106680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9D2DC"/>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2986d0636f84d7e"/>
          <a:stretch xmlns:a="http://schemas.openxmlformats.org/drawingml/2006/main"/>
        </p:blipFill>
        <p:spPr>
          <a:xfrm xmlns:a="http://schemas.openxmlformats.org/drawingml/2006/main">
            <a:off x="1812681" y="1828800"/>
            <a:ext cx="7957038" cy="34480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C943E3A-F9D8-4F4F-8325-70EC3DA24374}"/>
              </a:ext>
            </a:extLst>
          </p:cNvPr>
          <p:cNvSpPr>
            <a:spLocks xmlns:a="http://schemas.openxmlformats.org/drawingml/2006/main" noGrp="1"/>
          </p:cNvSpPr>
          <p:nvPr/>
        </p:nvSpPr>
        <p:spPr>
          <a:xfrm xmlns:a="http://schemas.openxmlformats.org/drawingml/2006/main">
            <a:off x="457200" y="5581650"/>
            <a:ext cx="10668000" cy="762000"/>
          </a:xfrm>
          <a:prstGeom xmlns:a="http://schemas.openxmlformats.org/drawingml/2006/main" prst="roundRect">
            <a:avLst>
              <a:gd name="adj" fmla="val 15000"/>
            </a:avLst>
          </a:prstGeom>
          <a:solidFill xmlns:a="http://schemas.openxmlformats.org/drawingml/2006/main">
            <a:srgbClr val="EAF5FB"/>
          </a:solidFill>
          <a:ln xmlns:a="http://schemas.openxmlformats.org/drawingml/2006/main" w="9525">
            <a:solidFill>
              <a:srgbClr val="6DCBF4"/>
            </a:solidFill>
            <a:prstDash val="solid"/>
          </a:ln>
        </p:spPr>
      </p:sp>
      <p:sp>
        <p:nvSpPr>
          <p:cNvPr id="10" name="">
            <a:extLst xmlns:a="http://schemas.openxmlformats.org/drawingml/2006/main">
              <a:ext uri="{FF2B5EF4-FFF2-40B4-BE49-F238E27FC236}">
                <a16:creationId xmlns:a16="http://schemas.microsoft.com/office/drawing/2014/main" id="{1790007C-F15F-4140-9610-AC3BC5B1A49C}"/>
              </a:ext>
            </a:extLst>
          </p:cNvPr>
          <p:cNvSpPr>
            <a:spLocks xmlns:a="http://schemas.openxmlformats.org/drawingml/2006/main" noGrp="1"/>
          </p:cNvSpPr>
          <p:nvPr/>
        </p:nvSpPr>
        <p:spPr>
          <a:xfrm xmlns:a="http://schemas.openxmlformats.org/drawingml/2006/main">
            <a:off x="685800" y="5762625"/>
            <a:ext cx="1021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Odd target: y(Mx) = −y(x) · even target: y(Mx) = y(x) · viewpoint nuisance: y(Vx) ≈ y(x)</a:t>
            </a:r>
          </a:p>
        </p:txBody>
      </p:sp>
    </p:spTree>
    <p:extLst>
      <p:ext uri="{BB962C8B-B14F-4D97-AF65-F5344CB8AC3E}">
        <p14:creationId xmlns:p14="http://schemas.microsoft.com/office/powerpoint/2010/main" val="19490185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839CCB-7554-4D30-95F8-685037AF73C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DF662F15-9746-427B-B709-4BCD5F82874F}"/>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RESEARCH QUESTION</a:t>
            </a:r>
          </a:p>
        </p:txBody>
      </p:sp>
      <p:sp>
        <p:nvSpPr>
          <p:cNvPr id="3" name="">
            <a:extLst xmlns:a="http://schemas.openxmlformats.org/drawingml/2006/main">
              <a:ext uri="{FF2B5EF4-FFF2-40B4-BE49-F238E27FC236}">
                <a16:creationId xmlns:a16="http://schemas.microsoft.com/office/drawing/2014/main" id="{1A5BD404-871A-40C5-8D98-0DCD1D1AACFF}"/>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project separates geometry, information, and utility</a:t>
            </a:r>
          </a:p>
        </p:txBody>
      </p:sp>
      <p:sp>
        <p:nvSpPr>
          <p:cNvPr id="4" name="">
            <a:extLst xmlns:a="http://schemas.openxmlformats.org/drawingml/2006/main">
              <a:ext uri="{FF2B5EF4-FFF2-40B4-BE49-F238E27FC236}">
                <a16:creationId xmlns:a16="http://schemas.microsoft.com/office/drawing/2014/main" id="{1FA4E573-95C8-4042-AAF1-86608A2DF4D8}"/>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1CDB8B6-773E-4E3A-86A7-796675A2567E}"/>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C957ABE7-12C4-4867-9128-DAD20A46C2D0}"/>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Each rung supports a stronger claim; passing a lower rung cannot substitute for the next experiment.</a:t>
            </a:r>
          </a:p>
        </p:txBody>
      </p:sp>
      <p:sp>
        <p:nvSpPr>
          <p:cNvPr id="7" name="">
            <a:extLst xmlns:a="http://schemas.openxmlformats.org/drawingml/2006/main">
              <a:ext uri="{FF2B5EF4-FFF2-40B4-BE49-F238E27FC236}">
                <a16:creationId xmlns:a16="http://schemas.microsoft.com/office/drawing/2014/main" id="{15A29515-26C2-46CB-B075-CEF0F57CC688}"/>
              </a:ext>
            </a:extLst>
          </p:cNvPr>
          <p:cNvSpPr>
            <a:spLocks xmlns:a="http://schemas.openxmlformats.org/drawingml/2006/main" noGrp="1"/>
          </p:cNvSpPr>
          <p:nvPr/>
        </p:nvSpPr>
        <p:spPr>
          <a:xfrm xmlns:a="http://schemas.openxmlformats.org/drawingml/2006/main">
            <a:off x="457200" y="1695450"/>
            <a:ext cx="106680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9D2DC"/>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995b5c1bc76450e"/>
          <a:stretch xmlns:a="http://schemas.openxmlformats.org/drawingml/2006/main"/>
        </p:blipFill>
        <p:spPr>
          <a:xfrm xmlns:a="http://schemas.openxmlformats.org/drawingml/2006/main">
            <a:off x="2096861" y="1828800"/>
            <a:ext cx="7388679" cy="34480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8B0981F-EE16-4CF8-B9EA-2AAAD0767BAC}"/>
              </a:ext>
            </a:extLst>
          </p:cNvPr>
          <p:cNvSpPr>
            <a:spLocks xmlns:a="http://schemas.openxmlformats.org/drawingml/2006/main" noGrp="1"/>
          </p:cNvSpPr>
          <p:nvPr/>
        </p:nvSpPr>
        <p:spPr>
          <a:xfrm xmlns:a="http://schemas.openxmlformats.org/drawingml/2006/main">
            <a:off x="457200" y="5581650"/>
            <a:ext cx="10668000" cy="762000"/>
          </a:xfrm>
          <a:prstGeom xmlns:a="http://schemas.openxmlformats.org/drawingml/2006/main" prst="roundRect">
            <a:avLst>
              <a:gd name="adj" fmla="val 15000"/>
            </a:avLst>
          </a:prstGeom>
          <a:solidFill xmlns:a="http://schemas.openxmlformats.org/drawingml/2006/main">
            <a:srgbClr val="EAF5FB"/>
          </a:solidFill>
          <a:ln xmlns:a="http://schemas.openxmlformats.org/drawingml/2006/main" w="9525">
            <a:solidFill>
              <a:srgbClr val="6DCBF4"/>
            </a:solidFill>
            <a:prstDash val="solid"/>
          </a:ln>
        </p:spPr>
      </p:sp>
      <p:sp>
        <p:nvSpPr>
          <p:cNvPr id="10" name="">
            <a:extLst xmlns:a="http://schemas.openxmlformats.org/drawingml/2006/main">
              <a:ext uri="{FF2B5EF4-FFF2-40B4-BE49-F238E27FC236}">
                <a16:creationId xmlns:a16="http://schemas.microsoft.com/office/drawing/2014/main" id="{BDAD2103-4721-42C9-BAAE-7F654B0AB2EB}"/>
              </a:ext>
            </a:extLst>
          </p:cNvPr>
          <p:cNvSpPr>
            <a:spLocks xmlns:a="http://schemas.openxmlformats.org/drawingml/2006/main" noGrp="1"/>
          </p:cNvSpPr>
          <p:nvPr/>
        </p:nvSpPr>
        <p:spPr>
          <a:xfrm xmlns:a="http://schemas.openxmlformats.org/drawingml/2006/main">
            <a:off x="685800" y="5762625"/>
            <a:ext cx="1021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Current position: exact local geometry + registered representation health. Next gate: participant-held-out force prediction.</a:t>
            </a:r>
          </a:p>
        </p:txBody>
      </p:sp>
    </p:spTree>
    <p:extLst>
      <p:ext uri="{BB962C8B-B14F-4D97-AF65-F5344CB8AC3E}">
        <p14:creationId xmlns:p14="http://schemas.microsoft.com/office/powerpoint/2010/main" val="19938731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DB201B-6B56-44F4-90AF-56DB5140318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BC6865B4-2A28-47B4-B83E-23860DDCC07A}"/>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FOUNDATION</a:t>
            </a:r>
          </a:p>
        </p:txBody>
      </p:sp>
      <p:sp>
        <p:nvSpPr>
          <p:cNvPr id="3" name="">
            <a:extLst xmlns:a="http://schemas.openxmlformats.org/drawingml/2006/main">
              <a:ext uri="{FF2B5EF4-FFF2-40B4-BE49-F238E27FC236}">
                <a16:creationId xmlns:a16="http://schemas.microsoft.com/office/drawing/2014/main" id="{C8673080-2FD2-4619-ABCF-A50EE834560D}"/>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Previous work established an auditable S-JEPA pipeline</a:t>
            </a:r>
          </a:p>
        </p:txBody>
      </p:sp>
      <p:sp>
        <p:nvSpPr>
          <p:cNvPr id="4" name="">
            <a:extLst xmlns:a="http://schemas.openxmlformats.org/drawingml/2006/main">
              <a:ext uri="{FF2B5EF4-FFF2-40B4-BE49-F238E27FC236}">
                <a16:creationId xmlns:a16="http://schemas.microsoft.com/office/drawing/2014/main" id="{43D25EB1-E0D8-4D8E-B380-7126FE4175EB}"/>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D5A6ADD8-FFA4-4DDB-A4E7-DF2C4D6334BC}"/>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D218F9B7-995F-4E6E-987E-5F6987B9B95C}"/>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Public gait video became fixed-length skeleton motion, self-supervised features, and explicitly audited readouts.</a:t>
            </a:r>
          </a:p>
        </p:txBody>
      </p:sp>
      <p:sp>
        <p:nvSpPr>
          <p:cNvPr id="7" name="">
            <a:extLst xmlns:a="http://schemas.openxmlformats.org/drawingml/2006/main">
              <a:ext uri="{FF2B5EF4-FFF2-40B4-BE49-F238E27FC236}">
                <a16:creationId xmlns:a16="http://schemas.microsoft.com/office/drawing/2014/main" id="{0966106D-989A-4E3A-A402-021EFF56BC9D}"/>
              </a:ext>
            </a:extLst>
          </p:cNvPr>
          <p:cNvSpPr>
            <a:spLocks xmlns:a="http://schemas.openxmlformats.org/drawingml/2006/main" noGrp="1"/>
          </p:cNvSpPr>
          <p:nvPr/>
        </p:nvSpPr>
        <p:spPr>
          <a:xfrm xmlns:a="http://schemas.openxmlformats.org/drawingml/2006/main">
            <a:off x="457200" y="1695450"/>
            <a:ext cx="106680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9D2DC"/>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1a6560756fd4aa3"/>
          <a:stretch xmlns:a="http://schemas.openxmlformats.org/drawingml/2006/main"/>
        </p:blipFill>
        <p:spPr>
          <a:xfrm xmlns:a="http://schemas.openxmlformats.org/drawingml/2006/main">
            <a:off x="693543" y="1828800"/>
            <a:ext cx="10195313" cy="34480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44EBAD6-B32F-4839-A392-0C8065C2057A}"/>
              </a:ext>
            </a:extLst>
          </p:cNvPr>
          <p:cNvSpPr>
            <a:spLocks xmlns:a="http://schemas.openxmlformats.org/drawingml/2006/main" noGrp="1"/>
          </p:cNvSpPr>
          <p:nvPr/>
        </p:nvSpPr>
        <p:spPr>
          <a:xfrm xmlns:a="http://schemas.openxmlformats.org/drawingml/2006/main">
            <a:off x="457200" y="5581650"/>
            <a:ext cx="10668000" cy="762000"/>
          </a:xfrm>
          <a:prstGeom xmlns:a="http://schemas.openxmlformats.org/drawingml/2006/main" prst="roundRect">
            <a:avLst>
              <a:gd name="adj" fmla="val 15000"/>
            </a:avLst>
          </a:prstGeom>
          <a:solidFill xmlns:a="http://schemas.openxmlformats.org/drawingml/2006/main">
            <a:srgbClr val="EAF5FB"/>
          </a:solidFill>
          <a:ln xmlns:a="http://schemas.openxmlformats.org/drawingml/2006/main" w="9525">
            <a:solidFill>
              <a:srgbClr val="6DCBF4"/>
            </a:solidFill>
            <a:prstDash val="solid"/>
          </a:ln>
        </p:spPr>
      </p:sp>
      <p:sp>
        <p:nvSpPr>
          <p:cNvPr id="10" name="">
            <a:extLst xmlns:a="http://schemas.openxmlformats.org/drawingml/2006/main">
              <a:ext uri="{FF2B5EF4-FFF2-40B4-BE49-F238E27FC236}">
                <a16:creationId xmlns:a16="http://schemas.microsoft.com/office/drawing/2014/main" id="{D9FDF0D9-EEC1-4E16-AB0F-9B63EDE59518}"/>
              </a:ext>
            </a:extLst>
          </p:cNvPr>
          <p:cNvSpPr>
            <a:spLocks xmlns:a="http://schemas.openxmlformats.org/drawingml/2006/main" noGrp="1"/>
          </p:cNvSpPr>
          <p:nvPr/>
        </p:nvSpPr>
        <p:spPr>
          <a:xfrm xmlns:a="http://schemas.openxmlformats.org/drawingml/2006/main">
            <a:off x="685800" y="5762625"/>
            <a:ext cx="1021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96 canonical sequences · 18 source videos · 64 frames · 33 context landmarks · 12 mask-eligible landmark identities</a:t>
            </a:r>
          </a:p>
        </p:txBody>
      </p:sp>
    </p:spTree>
    <p:extLst>
      <p:ext uri="{BB962C8B-B14F-4D97-AF65-F5344CB8AC3E}">
        <p14:creationId xmlns:p14="http://schemas.microsoft.com/office/powerpoint/2010/main" val="14446429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071DCE0-55EC-4D5B-8901-DD85E0585D4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4C2404B0-CC00-409C-9D48-B0585150590E}"/>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FOUNDATION EVIDENCE</a:t>
            </a:r>
          </a:p>
        </p:txBody>
      </p:sp>
      <p:sp>
        <p:nvSpPr>
          <p:cNvPr id="3" name="">
            <a:extLst xmlns:a="http://schemas.openxmlformats.org/drawingml/2006/main">
              <a:ext uri="{FF2B5EF4-FFF2-40B4-BE49-F238E27FC236}">
                <a16:creationId xmlns:a16="http://schemas.microsoft.com/office/drawing/2014/main" id="{896559F5-2506-4A36-8636-E7878AFED028}"/>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12"/>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foundation learned motion structure—but not clean diagnoses</a:t>
            </a:r>
          </a:p>
        </p:txBody>
      </p:sp>
      <p:sp>
        <p:nvSpPr>
          <p:cNvPr id="4" name="">
            <a:extLst xmlns:a="http://schemas.openxmlformats.org/drawingml/2006/main">
              <a:ext uri="{FF2B5EF4-FFF2-40B4-BE49-F238E27FC236}">
                <a16:creationId xmlns:a16="http://schemas.microsoft.com/office/drawing/2014/main" id="{E81EFC6C-DBD2-4678-83B3-6B79B0442F3C}"/>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F8EB567E-5C99-46F1-92A3-B5ECBB5D69E1}"/>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1724829F-81FF-4D39-8B61-9B2E65D409DD}"/>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The final label-aware checkpoint produced 96 × 384 pooled embeddings after a five-stage curriculum.</a:t>
            </a:r>
          </a:p>
        </p:txBody>
      </p:sp>
      <p:sp>
        <p:nvSpPr>
          <p:cNvPr id="7" name="">
            <a:extLst xmlns:a="http://schemas.openxmlformats.org/drawingml/2006/main">
              <a:ext uri="{FF2B5EF4-FFF2-40B4-BE49-F238E27FC236}">
                <a16:creationId xmlns:a16="http://schemas.microsoft.com/office/drawing/2014/main" id="{1436D068-FCC7-49ED-AA55-5182373F9771}"/>
              </a:ext>
            </a:extLst>
          </p:cNvPr>
          <p:cNvSpPr>
            <a:spLocks xmlns:a="http://schemas.openxmlformats.org/drawingml/2006/main" noGrp="1"/>
          </p:cNvSpPr>
          <p:nvPr/>
        </p:nvSpPr>
        <p:spPr>
          <a:xfrm xmlns:a="http://schemas.openxmlformats.org/drawingml/2006/main">
            <a:off x="457200" y="1857375"/>
            <a:ext cx="3333750" cy="2428875"/>
          </a:xfrm>
          <a:prstGeom xmlns:a="http://schemas.openxmlformats.org/drawingml/2006/main" prst="roundRect">
            <a:avLst>
              <a:gd name="adj" fmla="val 4706"/>
            </a:avLst>
          </a:prstGeom>
          <a:solidFill xmlns:a="http://schemas.openxmlformats.org/drawingml/2006/main">
            <a:srgbClr val="EAF5FB"/>
          </a:solidFill>
          <a:ln xmlns:a="http://schemas.openxmlformats.org/drawingml/2006/main" w="9525">
            <a:solidFill>
              <a:srgbClr val="3D8DFF"/>
            </a:solidFill>
            <a:prstDash val="solid"/>
          </a:ln>
        </p:spPr>
      </p:sp>
      <p:sp>
        <p:nvSpPr>
          <p:cNvPr id="8" name="">
            <a:extLst xmlns:a="http://schemas.openxmlformats.org/drawingml/2006/main">
              <a:ext uri="{FF2B5EF4-FFF2-40B4-BE49-F238E27FC236}">
                <a16:creationId xmlns:a16="http://schemas.microsoft.com/office/drawing/2014/main" id="{9DDA6631-98BA-4DC9-BDFB-7D2CB858B935}"/>
              </a:ext>
            </a:extLst>
          </p:cNvPr>
          <p:cNvSpPr>
            <a:spLocks xmlns:a="http://schemas.openxmlformats.org/drawingml/2006/main" noGrp="1"/>
          </p:cNvSpPr>
          <p:nvPr/>
        </p:nvSpPr>
        <p:spPr>
          <a:xfrm xmlns:a="http://schemas.openxmlformats.org/drawingml/2006/main">
            <a:off x="685800" y="2143125"/>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925" b="1">
                <a:solidFill>
                  <a:srgbClr val="3D8DFF"/>
                </a:solidFill>
                <a:latin typeface="Arial"/>
                <a:ea typeface="Arial"/>
                <a:cs typeface="Arial"/>
              </a:defRPr>
            </a:pPr>
            <a:r>
              <a:rPr sz="2925" b="1">
                <a:solidFill>
                  <a:srgbClr val="3D8DFF"/>
                </a:solidFill>
                <a:latin typeface="Arial"/>
                <a:ea typeface="Arial"/>
                <a:cs typeface="Arial"/>
              </a:rPr>
              <a:t>0.558</a:t>
            </a:r>
          </a:p>
        </p:txBody>
      </p:sp>
      <p:sp>
        <p:nvSpPr>
          <p:cNvPr id="9" name="">
            <a:extLst xmlns:a="http://schemas.openxmlformats.org/drawingml/2006/main">
              <a:ext uri="{FF2B5EF4-FFF2-40B4-BE49-F238E27FC236}">
                <a16:creationId xmlns:a16="http://schemas.microsoft.com/office/drawing/2014/main" id="{D8BE5324-09C5-4E82-88DC-52E9F22A8E19}"/>
              </a:ext>
            </a:extLst>
          </p:cNvPr>
          <p:cNvSpPr>
            <a:spLocks xmlns:a="http://schemas.openxmlformats.org/drawingml/2006/main" noGrp="1"/>
          </p:cNvSpPr>
          <p:nvPr/>
        </p:nvSpPr>
        <p:spPr>
          <a:xfrm xmlns:a="http://schemas.openxmlformats.org/drawingml/2006/main">
            <a:off x="685800" y="2924175"/>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1">
                <a:solidFill>
                  <a:srgbClr val="102A43"/>
                </a:solidFill>
                <a:latin typeface="Arial"/>
                <a:ea typeface="Arial"/>
                <a:cs typeface="Arial"/>
              </a:defRPr>
            </a:pPr>
            <a:r>
              <a:rPr sz="1500" b="1">
                <a:solidFill>
                  <a:srgbClr val="102A43"/>
                </a:solidFill>
                <a:latin typeface="Arial"/>
                <a:ea typeface="Arial"/>
                <a:cs typeface="Arial"/>
              </a:rPr>
              <a:t>final JEPA loss</a:t>
            </a:r>
          </a:p>
        </p:txBody>
      </p:sp>
      <p:sp>
        <p:nvSpPr>
          <p:cNvPr id="10" name="">
            <a:extLst xmlns:a="http://schemas.openxmlformats.org/drawingml/2006/main">
              <a:ext uri="{FF2B5EF4-FFF2-40B4-BE49-F238E27FC236}">
                <a16:creationId xmlns:a16="http://schemas.microsoft.com/office/drawing/2014/main" id="{83A0B544-7B87-4EF5-9F49-6C192B6932F6}"/>
              </a:ext>
            </a:extLst>
          </p:cNvPr>
          <p:cNvSpPr>
            <a:spLocks xmlns:a="http://schemas.openxmlformats.org/drawingml/2006/main" noGrp="1"/>
          </p:cNvSpPr>
          <p:nvPr/>
        </p:nvSpPr>
        <p:spPr>
          <a:xfrm xmlns:a="http://schemas.openxmlformats.org/drawingml/2006/main">
            <a:off x="685800" y="3514725"/>
            <a:ext cx="2876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a:solidFill>
                  <a:srgbClr val="52606D"/>
                </a:solidFill>
                <a:latin typeface="Arial"/>
                <a:ea typeface="Arial"/>
                <a:cs typeface="Arial"/>
              </a:defRPr>
            </a:pPr>
            <a:r>
              <a:rPr sz="1125" b="0">
                <a:solidFill>
                  <a:srgbClr val="52606D"/>
                </a:solidFill>
                <a:latin typeface="Arial"/>
                <a:ea typeface="Arial"/>
                <a:cs typeface="Arial"/>
              </a:rPr>
              <a:t>Stage 0 began at 6.557; training remained finite</a:t>
            </a:r>
          </a:p>
        </p:txBody>
      </p:sp>
      <p:sp>
        <p:nvSpPr>
          <p:cNvPr id="11" name="">
            <a:extLst xmlns:a="http://schemas.openxmlformats.org/drawingml/2006/main">
              <a:ext uri="{FF2B5EF4-FFF2-40B4-BE49-F238E27FC236}">
                <a16:creationId xmlns:a16="http://schemas.microsoft.com/office/drawing/2014/main" id="{C0A37631-BE08-46BC-B1D0-0DA175441D45}"/>
              </a:ext>
            </a:extLst>
          </p:cNvPr>
          <p:cNvSpPr>
            <a:spLocks xmlns:a="http://schemas.openxmlformats.org/drawingml/2006/main" noGrp="1"/>
          </p:cNvSpPr>
          <p:nvPr/>
        </p:nvSpPr>
        <p:spPr>
          <a:xfrm xmlns:a="http://schemas.openxmlformats.org/drawingml/2006/main">
            <a:off x="4124325" y="1857375"/>
            <a:ext cx="3333750" cy="2428875"/>
          </a:xfrm>
          <a:prstGeom xmlns:a="http://schemas.openxmlformats.org/drawingml/2006/main" prst="roundRect">
            <a:avLst>
              <a:gd name="adj" fmla="val 4706"/>
            </a:avLst>
          </a:prstGeom>
          <a:solidFill xmlns:a="http://schemas.openxmlformats.org/drawingml/2006/main">
            <a:srgbClr val="E8F5F2"/>
          </a:solidFill>
          <a:ln xmlns:a="http://schemas.openxmlformats.org/drawingml/2006/main" w="9525">
            <a:solidFill>
              <a:srgbClr val="2A9D8F"/>
            </a:solidFill>
            <a:prstDash val="solid"/>
          </a:ln>
        </p:spPr>
      </p:sp>
      <p:sp>
        <p:nvSpPr>
          <p:cNvPr id="12" name="">
            <a:extLst xmlns:a="http://schemas.openxmlformats.org/drawingml/2006/main">
              <a:ext uri="{FF2B5EF4-FFF2-40B4-BE49-F238E27FC236}">
                <a16:creationId xmlns:a16="http://schemas.microsoft.com/office/drawing/2014/main" id="{6C7AC665-0C10-4635-A375-0B8A7F3E350C}"/>
              </a:ext>
            </a:extLst>
          </p:cNvPr>
          <p:cNvSpPr>
            <a:spLocks xmlns:a="http://schemas.openxmlformats.org/drawingml/2006/main" noGrp="1"/>
          </p:cNvSpPr>
          <p:nvPr/>
        </p:nvSpPr>
        <p:spPr>
          <a:xfrm xmlns:a="http://schemas.openxmlformats.org/drawingml/2006/main">
            <a:off x="4352925" y="2143125"/>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925" b="1">
                <a:solidFill>
                  <a:srgbClr val="2A9D8F"/>
                </a:solidFill>
                <a:latin typeface="Arial"/>
                <a:ea typeface="Arial"/>
                <a:cs typeface="Arial"/>
              </a:defRPr>
            </a:pPr>
            <a:r>
              <a:rPr sz="2925" b="1">
                <a:solidFill>
                  <a:srgbClr val="2A9D8F"/>
                </a:solidFill>
                <a:latin typeface="Arial"/>
                <a:ea typeface="Arial"/>
                <a:cs typeface="Arial"/>
              </a:rPr>
              <a:t>0.414</a:t>
            </a:r>
          </a:p>
        </p:txBody>
      </p:sp>
      <p:sp>
        <p:nvSpPr>
          <p:cNvPr id="13" name="">
            <a:extLst xmlns:a="http://schemas.openxmlformats.org/drawingml/2006/main">
              <a:ext uri="{FF2B5EF4-FFF2-40B4-BE49-F238E27FC236}">
                <a16:creationId xmlns:a16="http://schemas.microsoft.com/office/drawing/2014/main" id="{9A94FF9D-F3FB-41DC-B331-D52905B343A2}"/>
              </a:ext>
            </a:extLst>
          </p:cNvPr>
          <p:cNvSpPr>
            <a:spLocks xmlns:a="http://schemas.openxmlformats.org/drawingml/2006/main" noGrp="1"/>
          </p:cNvSpPr>
          <p:nvPr/>
        </p:nvSpPr>
        <p:spPr>
          <a:xfrm xmlns:a="http://schemas.openxmlformats.org/drawingml/2006/main">
            <a:off x="4352925" y="2924175"/>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1">
                <a:solidFill>
                  <a:srgbClr val="102A43"/>
                </a:solidFill>
                <a:latin typeface="Arial"/>
                <a:ea typeface="Arial"/>
                <a:cs typeface="Arial"/>
              </a:defRPr>
            </a:pPr>
            <a:r>
              <a:rPr sz="1500" b="1">
                <a:solidFill>
                  <a:srgbClr val="102A43"/>
                </a:solidFill>
                <a:latin typeface="Arial"/>
                <a:ea typeface="Arial"/>
                <a:cs typeface="Arial"/>
              </a:rPr>
              <a:t>feature std</a:t>
            </a:r>
          </a:p>
        </p:txBody>
      </p:sp>
      <p:sp>
        <p:nvSpPr>
          <p:cNvPr id="14" name="">
            <a:extLst xmlns:a="http://schemas.openxmlformats.org/drawingml/2006/main">
              <a:ext uri="{FF2B5EF4-FFF2-40B4-BE49-F238E27FC236}">
                <a16:creationId xmlns:a16="http://schemas.microsoft.com/office/drawing/2014/main" id="{776A3800-9B60-42E3-8031-92E1267D155D}"/>
              </a:ext>
            </a:extLst>
          </p:cNvPr>
          <p:cNvSpPr>
            <a:spLocks xmlns:a="http://schemas.openxmlformats.org/drawingml/2006/main" noGrp="1"/>
          </p:cNvSpPr>
          <p:nvPr/>
        </p:nvSpPr>
        <p:spPr>
          <a:xfrm xmlns:a="http://schemas.openxmlformats.org/drawingml/2006/main">
            <a:off x="4352925" y="3514725"/>
            <a:ext cx="2876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a:solidFill>
                  <a:srgbClr val="52606D"/>
                </a:solidFill>
                <a:latin typeface="Arial"/>
                <a:ea typeface="Arial"/>
                <a:cs typeface="Arial"/>
              </a:defRPr>
            </a:pPr>
            <a:r>
              <a:rPr sz="1125" b="0">
                <a:solidFill>
                  <a:srgbClr val="52606D"/>
                </a:solidFill>
                <a:latin typeface="Arial"/>
                <a:ea typeface="Arial"/>
                <a:cs typeface="Arial"/>
              </a:rPr>
              <a:t>Evidence against total constant collapse</a:t>
            </a:r>
          </a:p>
        </p:txBody>
      </p:sp>
      <p:sp>
        <p:nvSpPr>
          <p:cNvPr id="15" name="">
            <a:extLst xmlns:a="http://schemas.openxmlformats.org/drawingml/2006/main">
              <a:ext uri="{FF2B5EF4-FFF2-40B4-BE49-F238E27FC236}">
                <a16:creationId xmlns:a16="http://schemas.microsoft.com/office/drawing/2014/main" id="{7C78A3AC-9326-4203-B0AE-EF966AA36564}"/>
              </a:ext>
            </a:extLst>
          </p:cNvPr>
          <p:cNvSpPr>
            <a:spLocks xmlns:a="http://schemas.openxmlformats.org/drawingml/2006/main" noGrp="1"/>
          </p:cNvSpPr>
          <p:nvPr/>
        </p:nvSpPr>
        <p:spPr>
          <a:xfrm xmlns:a="http://schemas.openxmlformats.org/drawingml/2006/main">
            <a:off x="7791450" y="1857375"/>
            <a:ext cx="3333750" cy="2428875"/>
          </a:xfrm>
          <a:prstGeom xmlns:a="http://schemas.openxmlformats.org/drawingml/2006/main" prst="roundRect">
            <a:avLst>
              <a:gd name="adj" fmla="val 4706"/>
            </a:avLst>
          </a:prstGeom>
          <a:solidFill xmlns:a="http://schemas.openxmlformats.org/drawingml/2006/main">
            <a:srgbClr val="FDECEC"/>
          </a:solidFill>
          <a:ln xmlns:a="http://schemas.openxmlformats.org/drawingml/2006/main" w="9525">
            <a:solidFill>
              <a:srgbClr val="D95D5D"/>
            </a:solidFill>
            <a:prstDash val="solid"/>
          </a:ln>
        </p:spPr>
      </p:sp>
      <p:sp>
        <p:nvSpPr>
          <p:cNvPr id="16" name="">
            <a:extLst xmlns:a="http://schemas.openxmlformats.org/drawingml/2006/main">
              <a:ext uri="{FF2B5EF4-FFF2-40B4-BE49-F238E27FC236}">
                <a16:creationId xmlns:a16="http://schemas.microsoft.com/office/drawing/2014/main" id="{B8EBF165-9C56-452D-9643-E74AEF257BD8}"/>
              </a:ext>
            </a:extLst>
          </p:cNvPr>
          <p:cNvSpPr>
            <a:spLocks xmlns:a="http://schemas.openxmlformats.org/drawingml/2006/main" noGrp="1"/>
          </p:cNvSpPr>
          <p:nvPr/>
        </p:nvSpPr>
        <p:spPr>
          <a:xfrm xmlns:a="http://schemas.openxmlformats.org/drawingml/2006/main">
            <a:off x="8020050" y="2143125"/>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925" b="1">
                <a:solidFill>
                  <a:srgbClr val="D95D5D"/>
                </a:solidFill>
                <a:latin typeface="Arial"/>
                <a:ea typeface="Arial"/>
                <a:cs typeface="Arial"/>
              </a:defRPr>
            </a:pPr>
            <a:r>
              <a:rPr sz="2925" b="1">
                <a:solidFill>
                  <a:srgbClr val="D95D5D"/>
                </a:solidFill>
                <a:latin typeface="Arial"/>
                <a:ea typeface="Arial"/>
                <a:cs typeface="Arial"/>
              </a:rPr>
              <a:t>0.0278</a:t>
            </a:r>
          </a:p>
        </p:txBody>
      </p:sp>
      <p:sp>
        <p:nvSpPr>
          <p:cNvPr id="17" name="">
            <a:extLst xmlns:a="http://schemas.openxmlformats.org/drawingml/2006/main">
              <a:ext uri="{FF2B5EF4-FFF2-40B4-BE49-F238E27FC236}">
                <a16:creationId xmlns:a16="http://schemas.microsoft.com/office/drawing/2014/main" id="{3478DD0B-B38D-4C20-86CD-ED75965AEFF1}"/>
              </a:ext>
            </a:extLst>
          </p:cNvPr>
          <p:cNvSpPr>
            <a:spLocks xmlns:a="http://schemas.openxmlformats.org/drawingml/2006/main" noGrp="1"/>
          </p:cNvSpPr>
          <p:nvPr/>
        </p:nvSpPr>
        <p:spPr>
          <a:xfrm xmlns:a="http://schemas.openxmlformats.org/drawingml/2006/main">
            <a:off x="8020050" y="2924175"/>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1">
                <a:solidFill>
                  <a:srgbClr val="102A43"/>
                </a:solidFill>
                <a:latin typeface="Arial"/>
                <a:ea typeface="Arial"/>
                <a:cs typeface="Arial"/>
              </a:defRPr>
            </a:pPr>
            <a:r>
              <a:rPr sz="1500" b="1">
                <a:solidFill>
                  <a:srgbClr val="102A43"/>
                </a:solidFill>
                <a:latin typeface="Arial"/>
                <a:ea typeface="Arial"/>
                <a:cs typeface="Arial"/>
              </a:rPr>
              <a:t>cosine silhouette</a:t>
            </a:r>
          </a:p>
        </p:txBody>
      </p:sp>
      <p:sp>
        <p:nvSpPr>
          <p:cNvPr id="18" name="">
            <a:extLst xmlns:a="http://schemas.openxmlformats.org/drawingml/2006/main">
              <a:ext uri="{FF2B5EF4-FFF2-40B4-BE49-F238E27FC236}">
                <a16:creationId xmlns:a16="http://schemas.microsoft.com/office/drawing/2014/main" id="{85151F05-80D1-460B-AC0E-1F9E5E928A9F}"/>
              </a:ext>
            </a:extLst>
          </p:cNvPr>
          <p:cNvSpPr>
            <a:spLocks xmlns:a="http://schemas.openxmlformats.org/drawingml/2006/main" noGrp="1"/>
          </p:cNvSpPr>
          <p:nvPr/>
        </p:nvSpPr>
        <p:spPr>
          <a:xfrm xmlns:a="http://schemas.openxmlformats.org/drawingml/2006/main">
            <a:off x="8020050" y="3514725"/>
            <a:ext cx="2876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a:solidFill>
                  <a:srgbClr val="52606D"/>
                </a:solidFill>
                <a:latin typeface="Arial"/>
                <a:ea typeface="Arial"/>
                <a:cs typeface="Arial"/>
              </a:defRPr>
            </a:pPr>
            <a:r>
              <a:rPr sz="1125" b="0">
                <a:solidFill>
                  <a:srgbClr val="52606D"/>
                </a:solidFill>
                <a:latin typeface="Arial"/>
                <a:ea typeface="Arial"/>
                <a:cs typeface="Arial"/>
              </a:rPr>
              <a:t>Five condition groups overlap strongly</a:t>
            </a:r>
          </a:p>
        </p:txBody>
      </p:sp>
      <p:sp>
        <p:nvSpPr>
          <p:cNvPr id="19" name="">
            <a:extLst xmlns:a="http://schemas.openxmlformats.org/drawingml/2006/main">
              <a:ext uri="{FF2B5EF4-FFF2-40B4-BE49-F238E27FC236}">
                <a16:creationId xmlns:a16="http://schemas.microsoft.com/office/drawing/2014/main" id="{D145CD50-E7ED-48A0-8EE9-72D004EA1956}"/>
              </a:ext>
            </a:extLst>
          </p:cNvPr>
          <p:cNvSpPr>
            <a:spLocks xmlns:a="http://schemas.openxmlformats.org/drawingml/2006/main" noGrp="1"/>
          </p:cNvSpPr>
          <p:nvPr/>
        </p:nvSpPr>
        <p:spPr>
          <a:xfrm xmlns:a="http://schemas.openxmlformats.org/drawingml/2006/main">
            <a:off x="457200" y="4600575"/>
            <a:ext cx="10668000" cy="1143000"/>
          </a:xfrm>
          <a:prstGeom xmlns:a="http://schemas.openxmlformats.org/drawingml/2006/main" prst="roundRect">
            <a:avLst>
              <a:gd name="adj" fmla="val 10000"/>
            </a:avLst>
          </a:prstGeom>
          <a:solidFill xmlns:a="http://schemas.openxmlformats.org/drawingml/2006/main">
            <a:srgbClr val="EAF5FB"/>
          </a:solidFill>
          <a:ln xmlns:a="http://schemas.openxmlformats.org/drawingml/2006/main" w="9525">
            <a:solidFill>
              <a:srgbClr val="6D5BD0"/>
            </a:solidFill>
            <a:prstDash val="solid"/>
          </a:ln>
        </p:spPr>
      </p:sp>
      <p:sp>
        <p:nvSpPr>
          <p:cNvPr id="20" name="">
            <a:extLst xmlns:a="http://schemas.openxmlformats.org/drawingml/2006/main">
              <a:ext uri="{FF2B5EF4-FFF2-40B4-BE49-F238E27FC236}">
                <a16:creationId xmlns:a16="http://schemas.microsoft.com/office/drawing/2014/main" id="{A90FB21A-2143-4B05-87ED-8F5B4B4CA9AD}"/>
              </a:ext>
            </a:extLst>
          </p:cNvPr>
          <p:cNvSpPr>
            <a:spLocks xmlns:a="http://schemas.openxmlformats.org/drawingml/2006/main" noGrp="1"/>
          </p:cNvSpPr>
          <p:nvPr/>
        </p:nvSpPr>
        <p:spPr>
          <a:xfrm xmlns:a="http://schemas.openxmlformats.org/drawingml/2006/main">
            <a:off x="723900" y="48387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350" b="1">
                <a:solidFill>
                  <a:srgbClr val="6D5BD0"/>
                </a:solidFill>
                <a:latin typeface="Arial"/>
                <a:ea typeface="Arial"/>
                <a:cs typeface="Arial"/>
              </a:defRPr>
            </a:pPr>
            <a:r>
              <a:rPr sz="1350" b="1">
                <a:solidFill>
                  <a:srgbClr val="6D5BD0"/>
                </a:solidFill>
                <a:latin typeface="Arial"/>
                <a:ea typeface="Arial"/>
                <a:cs typeface="Arial"/>
              </a:rPr>
              <a:t>Interpretation</a:t>
            </a:r>
          </a:p>
        </p:txBody>
      </p:sp>
      <p:sp>
        <p:nvSpPr>
          <p:cNvPr id="21" name="">
            <a:extLst xmlns:a="http://schemas.openxmlformats.org/drawingml/2006/main">
              <a:ext uri="{FF2B5EF4-FFF2-40B4-BE49-F238E27FC236}">
                <a16:creationId xmlns:a16="http://schemas.microsoft.com/office/drawing/2014/main" id="{20889809-86B2-4A0F-B4EA-58F69A1CFBD5}"/>
              </a:ext>
            </a:extLst>
          </p:cNvPr>
          <p:cNvSpPr>
            <a:spLocks xmlns:a="http://schemas.openxmlformats.org/drawingml/2006/main" noGrp="1"/>
          </p:cNvSpPr>
          <p:nvPr/>
        </p:nvSpPr>
        <p:spPr>
          <a:xfrm xmlns:a="http://schemas.openxmlformats.org/drawingml/2006/main">
            <a:off x="3143250" y="4791075"/>
            <a:ext cx="7715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350" b="1">
                <a:solidFill>
                  <a:srgbClr val="102A43"/>
                </a:solidFill>
                <a:latin typeface="Arial"/>
                <a:ea typeface="Arial"/>
                <a:cs typeface="Arial"/>
              </a:defRPr>
            </a:pPr>
            <a:r>
              <a:rPr sz="1350" b="1">
                <a:solidFill>
                  <a:srgbClr val="102A43"/>
                </a:solidFill>
                <a:latin typeface="Arial"/>
                <a:ea typeface="Arial"/>
                <a:cs typeface="Arial"/>
              </a:rPr>
              <a:t>The encoder learned nontrivial motion features. Low silhouette and substantial representation drift argue against treating the latent space as a clean clinical taxonomy.</a:t>
            </a:r>
          </a:p>
        </p:txBody>
      </p:sp>
    </p:spTree>
    <p:extLst>
      <p:ext uri="{BB962C8B-B14F-4D97-AF65-F5344CB8AC3E}">
        <p14:creationId xmlns:p14="http://schemas.microsoft.com/office/powerpoint/2010/main" val="10105610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F0B9EF7-1B2D-4E9C-B589-7E01BD07E53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2" name="">
            <a:extLst xmlns:a="http://schemas.openxmlformats.org/drawingml/2006/main">
              <a:ext uri="{FF2B5EF4-FFF2-40B4-BE49-F238E27FC236}">
                <a16:creationId xmlns:a16="http://schemas.microsoft.com/office/drawing/2014/main" id="{0ED95F64-29B1-4209-90CE-8EC3D92FB487}"/>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FOUNDATION EVIDENCE</a:t>
            </a:r>
          </a:p>
        </p:txBody>
      </p:sp>
      <p:sp>
        <p:nvSpPr>
          <p:cNvPr id="3" name="">
            <a:extLst xmlns:a="http://schemas.openxmlformats.org/drawingml/2006/main">
              <a:ext uri="{FF2B5EF4-FFF2-40B4-BE49-F238E27FC236}">
                <a16:creationId xmlns:a16="http://schemas.microsoft.com/office/drawing/2014/main" id="{8209F7D5-03F5-45B2-9C39-8A1D60BD13B5}"/>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Earlier readouts exposed the central evidence problem</a:t>
            </a:r>
          </a:p>
        </p:txBody>
      </p:sp>
      <p:sp>
        <p:nvSpPr>
          <p:cNvPr id="4" name="">
            <a:extLst xmlns:a="http://schemas.openxmlformats.org/drawingml/2006/main">
              <a:ext uri="{FF2B5EF4-FFF2-40B4-BE49-F238E27FC236}">
                <a16:creationId xmlns:a16="http://schemas.microsoft.com/office/drawing/2014/main" id="{3894EA82-4062-4A16-8DEF-2D268A91F247}"/>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5BC1C256-FD5B-4FC7-BD8E-0CCDCF519B44}"/>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63F2C8F8-83AD-4D5F-A177-73EC2C538B17}"/>
              </a:ext>
            </a:extLst>
          </p:cNvPr>
          <p:cNvSpPr>
            <a:spLocks xmlns:a="http://schemas.openxmlformats.org/drawingml/2006/main" noGrp="1"/>
          </p:cNvSpPr>
          <p:nvPr/>
        </p:nvSpPr>
        <p:spPr>
          <a:xfrm xmlns:a="http://schemas.openxmlformats.org/drawingml/2006/main">
            <a:off x="457200" y="11239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75" b="0">
                <a:solidFill>
                  <a:srgbClr val="52606D"/>
                </a:solidFill>
                <a:latin typeface="Arial"/>
                <a:ea typeface="Arial"/>
                <a:cs typeface="Arial"/>
              </a:defRPr>
            </a:pPr>
            <a:r>
              <a:rPr sz="1575" b="0">
                <a:solidFill>
                  <a:srgbClr val="52606D"/>
                </a:solidFill>
                <a:latin typeface="Arial"/>
                <a:ea typeface="Arial"/>
                <a:cs typeface="Arial"/>
              </a:rPr>
              <a:t>Condition information was readable, but the representation had already seen every classifier-test row.</a:t>
            </a:r>
          </a:p>
        </p:txBody>
      </p:sp>
      <p:sp>
        <p:nvSpPr>
          <p:cNvPr id="7" name="">
            <a:extLst xmlns:a="http://schemas.openxmlformats.org/drawingml/2006/main">
              <a:ext uri="{FF2B5EF4-FFF2-40B4-BE49-F238E27FC236}">
                <a16:creationId xmlns:a16="http://schemas.microsoft.com/office/drawing/2014/main" id="{2DAB1672-E680-48F2-B02F-807328317B30}"/>
              </a:ext>
            </a:extLst>
          </p:cNvPr>
          <p:cNvSpPr>
            <a:spLocks xmlns:a="http://schemas.openxmlformats.org/drawingml/2006/main" noGrp="1"/>
          </p:cNvSpPr>
          <p:nvPr/>
        </p:nvSpPr>
        <p:spPr>
          <a:xfrm xmlns:a="http://schemas.openxmlformats.org/drawingml/2006/main">
            <a:off x="457200" y="1790700"/>
            <a:ext cx="5191125" cy="3733800"/>
          </a:xfrm>
          <a:prstGeom xmlns:a="http://schemas.openxmlformats.org/drawingml/2006/main" prst="roundRect">
            <a:avLst>
              <a:gd name="adj" fmla="val 3061"/>
            </a:avLst>
          </a:prstGeom>
          <a:solidFill xmlns:a="http://schemas.openxmlformats.org/drawingml/2006/main">
            <a:srgbClr val="E8F5F2"/>
          </a:solidFill>
          <a:ln xmlns:a="http://schemas.openxmlformats.org/drawingml/2006/main" w="9525">
            <a:solidFill>
              <a:srgbClr val="C9D2DC"/>
            </a:solidFill>
            <a:prstDash val="solid"/>
          </a:ln>
        </p:spPr>
      </p:sp>
      <p:sp>
        <p:nvSpPr>
          <p:cNvPr id="8" name="">
            <a:extLst xmlns:a="http://schemas.openxmlformats.org/drawingml/2006/main">
              <a:ext uri="{FF2B5EF4-FFF2-40B4-BE49-F238E27FC236}">
                <a16:creationId xmlns:a16="http://schemas.microsoft.com/office/drawing/2014/main" id="{377DDE6C-4F3A-4DE4-AA1E-6C0C6CD7BBCD}"/>
              </a:ext>
            </a:extLst>
          </p:cNvPr>
          <p:cNvSpPr>
            <a:spLocks xmlns:a="http://schemas.openxmlformats.org/drawingml/2006/main" noGrp="1"/>
          </p:cNvSpPr>
          <p:nvPr/>
        </p:nvSpPr>
        <p:spPr>
          <a:xfrm xmlns:a="http://schemas.openxmlformats.org/drawingml/2006/main">
            <a:off x="457200" y="1790700"/>
            <a:ext cx="5191125" cy="57150"/>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9" name="">
            <a:extLst xmlns:a="http://schemas.openxmlformats.org/drawingml/2006/main">
              <a:ext uri="{FF2B5EF4-FFF2-40B4-BE49-F238E27FC236}">
                <a16:creationId xmlns:a16="http://schemas.microsoft.com/office/drawing/2014/main" id="{4F368348-0568-4140-AECD-0488F629FBE9}"/>
              </a:ext>
            </a:extLst>
          </p:cNvPr>
          <p:cNvSpPr>
            <a:spLocks xmlns:a="http://schemas.openxmlformats.org/drawingml/2006/main" noGrp="1"/>
          </p:cNvSpPr>
          <p:nvPr/>
        </p:nvSpPr>
        <p:spPr>
          <a:xfrm xmlns:a="http://schemas.openxmlformats.org/drawingml/2006/main">
            <a:off x="666750" y="2000250"/>
            <a:ext cx="47720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2A9D8F"/>
                </a:solidFill>
                <a:latin typeface="Arial"/>
                <a:ea typeface="Arial"/>
                <a:cs typeface="Arial"/>
              </a:defRPr>
            </a:pPr>
            <a:r>
              <a:rPr sz="900" b="1">
                <a:solidFill>
                  <a:srgbClr val="2A9D8F"/>
                </a:solidFill>
                <a:latin typeface="Arial"/>
                <a:ea typeface="Arial"/>
                <a:cs typeface="Arial"/>
              </a:rPr>
              <a:t>IN-CORPUS SIGNAL</a:t>
            </a:r>
          </a:p>
        </p:txBody>
      </p:sp>
      <p:sp>
        <p:nvSpPr>
          <p:cNvPr id="10" name="">
            <a:extLst xmlns:a="http://schemas.openxmlformats.org/drawingml/2006/main">
              <a:ext uri="{FF2B5EF4-FFF2-40B4-BE49-F238E27FC236}">
                <a16:creationId xmlns:a16="http://schemas.microsoft.com/office/drawing/2014/main" id="{E04141EE-EF9F-41E7-9D5F-88326B66FE5E}"/>
              </a:ext>
            </a:extLst>
          </p:cNvPr>
          <p:cNvSpPr>
            <a:spLocks xmlns:a="http://schemas.openxmlformats.org/drawingml/2006/main" noGrp="1"/>
          </p:cNvSpPr>
          <p:nvPr/>
        </p:nvSpPr>
        <p:spPr>
          <a:xfrm xmlns:a="http://schemas.openxmlformats.org/drawingml/2006/main">
            <a:off x="666750" y="2305050"/>
            <a:ext cx="47720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950" b="1">
                <a:solidFill>
                  <a:srgbClr val="102A43"/>
                </a:solidFill>
                <a:latin typeface="Arial"/>
                <a:ea typeface="Arial"/>
                <a:cs typeface="Arial"/>
              </a:defRPr>
            </a:pPr>
            <a:r>
              <a:rPr sz="1950" b="1">
                <a:solidFill>
                  <a:srgbClr val="102A43"/>
                </a:solidFill>
                <a:latin typeface="Arial"/>
                <a:ea typeface="Arial"/>
                <a:cs typeface="Arial"/>
              </a:rPr>
              <a:t>Promising numbers</a:t>
            </a:r>
          </a:p>
        </p:txBody>
      </p:sp>
      <p:sp>
        <p:nvSpPr>
          <p:cNvPr id="11" name="">
            <a:extLst xmlns:a="http://schemas.openxmlformats.org/drawingml/2006/main">
              <a:ext uri="{FF2B5EF4-FFF2-40B4-BE49-F238E27FC236}">
                <a16:creationId xmlns:a16="http://schemas.microsoft.com/office/drawing/2014/main" id="{24D7C511-8A07-4A43-A731-AD57883CA337}"/>
              </a:ext>
            </a:extLst>
          </p:cNvPr>
          <p:cNvSpPr>
            <a:spLocks xmlns:a="http://schemas.openxmlformats.org/drawingml/2006/main" noGrp="1"/>
          </p:cNvSpPr>
          <p:nvPr/>
        </p:nvSpPr>
        <p:spPr>
          <a:xfrm xmlns:a="http://schemas.openxmlformats.org/drawingml/2006/main">
            <a:off x="666750" y="2933700"/>
            <a:ext cx="4772025"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Grouped normal-vs-abnormal</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Accuracy 0.843</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Macro-F1 0.821</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ROC-AUC 0.952</a:t>
            </a:r>
          </a:p>
          <a:p xmlns:a="http://schemas.openxmlformats.org/drawingml/2006/main">
            <a:r>
              <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Five-class pooled macro-F1 0.622</a:t>
            </a:r>
          </a:p>
        </p:txBody>
      </p:sp>
      <p:sp>
        <p:nvSpPr>
          <p:cNvPr id="12" name="">
            <a:extLst xmlns:a="http://schemas.openxmlformats.org/drawingml/2006/main">
              <a:ext uri="{FF2B5EF4-FFF2-40B4-BE49-F238E27FC236}">
                <a16:creationId xmlns:a16="http://schemas.microsoft.com/office/drawing/2014/main" id="{8D0F81C6-122C-4446-9126-856559987B57}"/>
              </a:ext>
            </a:extLst>
          </p:cNvPr>
          <p:cNvSpPr>
            <a:spLocks xmlns:a="http://schemas.openxmlformats.org/drawingml/2006/main" noGrp="1"/>
          </p:cNvSpPr>
          <p:nvPr/>
        </p:nvSpPr>
        <p:spPr>
          <a:xfrm xmlns:a="http://schemas.openxmlformats.org/drawingml/2006/main">
            <a:off x="5934075" y="1790700"/>
            <a:ext cx="5191125" cy="3733800"/>
          </a:xfrm>
          <a:prstGeom xmlns:a="http://schemas.openxmlformats.org/drawingml/2006/main" prst="roundRect">
            <a:avLst>
              <a:gd name="adj" fmla="val 3061"/>
            </a:avLst>
          </a:prstGeom>
          <a:solidFill xmlns:a="http://schemas.openxmlformats.org/drawingml/2006/main">
            <a:srgbClr val="FDECEC"/>
          </a:solidFill>
          <a:ln xmlns:a="http://schemas.openxmlformats.org/drawingml/2006/main" w="9525">
            <a:solidFill>
              <a:srgbClr val="C9D2DC"/>
            </a:solidFill>
            <a:prstDash val="solid"/>
          </a:ln>
        </p:spPr>
      </p:sp>
      <p:sp>
        <p:nvSpPr>
          <p:cNvPr id="13" name="">
            <a:extLst xmlns:a="http://schemas.openxmlformats.org/drawingml/2006/main">
              <a:ext uri="{FF2B5EF4-FFF2-40B4-BE49-F238E27FC236}">
                <a16:creationId xmlns:a16="http://schemas.microsoft.com/office/drawing/2014/main" id="{83A96CE3-459A-4C05-86DB-736006E43763}"/>
              </a:ext>
            </a:extLst>
          </p:cNvPr>
          <p:cNvSpPr>
            <a:spLocks xmlns:a="http://schemas.openxmlformats.org/drawingml/2006/main" noGrp="1"/>
          </p:cNvSpPr>
          <p:nvPr/>
        </p:nvSpPr>
        <p:spPr>
          <a:xfrm xmlns:a="http://schemas.openxmlformats.org/drawingml/2006/main">
            <a:off x="5934075" y="1790700"/>
            <a:ext cx="5191125" cy="57150"/>
          </a:xfrm>
          <a:prstGeom xmlns:a="http://schemas.openxmlformats.org/drawingml/2006/main" prst="rect">
            <a:avLst/>
          </a:prstGeom>
          <a:solidFill xmlns:a="http://schemas.openxmlformats.org/drawingml/2006/main">
            <a:srgbClr val="D95D5D"/>
          </a:solidFill>
          <a:ln xmlns:a="http://schemas.openxmlformats.org/drawingml/2006/main" w="0">
            <a:solidFill>
              <a:srgbClr val="D95D5D"/>
            </a:solidFill>
            <a:prstDash val="solid"/>
          </a:ln>
        </p:spPr>
      </p:sp>
      <p:sp>
        <p:nvSpPr>
          <p:cNvPr id="14" name="">
            <a:extLst xmlns:a="http://schemas.openxmlformats.org/drawingml/2006/main">
              <a:ext uri="{FF2B5EF4-FFF2-40B4-BE49-F238E27FC236}">
                <a16:creationId xmlns:a16="http://schemas.microsoft.com/office/drawing/2014/main" id="{17FBB140-2FBC-4F8C-AFED-68F91D1C23C9}"/>
              </a:ext>
            </a:extLst>
          </p:cNvPr>
          <p:cNvSpPr>
            <a:spLocks xmlns:a="http://schemas.openxmlformats.org/drawingml/2006/main" noGrp="1"/>
          </p:cNvSpPr>
          <p:nvPr/>
        </p:nvSpPr>
        <p:spPr>
          <a:xfrm xmlns:a="http://schemas.openxmlformats.org/drawingml/2006/main">
            <a:off x="6143625" y="2000250"/>
            <a:ext cx="47720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D95D5D"/>
                </a:solidFill>
                <a:latin typeface="Arial"/>
                <a:ea typeface="Arial"/>
                <a:cs typeface="Arial"/>
              </a:defRPr>
            </a:pPr>
            <a:r>
              <a:rPr sz="900" b="1">
                <a:solidFill>
                  <a:srgbClr val="D95D5D"/>
                </a:solidFill>
                <a:latin typeface="Arial"/>
                <a:ea typeface="Arial"/>
                <a:cs typeface="Arial"/>
              </a:rPr>
              <a:t>CLAIM LIMIT</a:t>
            </a:r>
          </a:p>
        </p:txBody>
      </p:sp>
      <p:sp>
        <p:nvSpPr>
          <p:cNvPr id="15" name="">
            <a:extLst xmlns:a="http://schemas.openxmlformats.org/drawingml/2006/main">
              <a:ext uri="{FF2B5EF4-FFF2-40B4-BE49-F238E27FC236}">
                <a16:creationId xmlns:a16="http://schemas.microsoft.com/office/drawing/2014/main" id="{BCF2C281-83A0-4BCF-8D47-80ADDC5FBF1E}"/>
              </a:ext>
            </a:extLst>
          </p:cNvPr>
          <p:cNvSpPr>
            <a:spLocks xmlns:a="http://schemas.openxmlformats.org/drawingml/2006/main" noGrp="1"/>
          </p:cNvSpPr>
          <p:nvPr/>
        </p:nvSpPr>
        <p:spPr>
          <a:xfrm xmlns:a="http://schemas.openxmlformats.org/drawingml/2006/main">
            <a:off x="6143625" y="2305050"/>
            <a:ext cx="47720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950" b="1">
                <a:solidFill>
                  <a:srgbClr val="102A43"/>
                </a:solidFill>
                <a:latin typeface="Arial"/>
                <a:ea typeface="Arial"/>
                <a:cs typeface="Arial"/>
              </a:defRPr>
            </a:pPr>
            <a:r>
              <a:rPr sz="1950" b="1">
                <a:solidFill>
                  <a:srgbClr val="102A43"/>
                </a:solidFill>
                <a:latin typeface="Arial"/>
                <a:ea typeface="Arial"/>
                <a:cs typeface="Arial"/>
              </a:rPr>
              <a:t>Encoder-transductive</a:t>
            </a:r>
          </a:p>
        </p:txBody>
      </p:sp>
      <p:sp>
        <p:nvSpPr>
          <p:cNvPr id="16" name="">
            <a:extLst xmlns:a="http://schemas.openxmlformats.org/drawingml/2006/main">
              <a:ext uri="{FF2B5EF4-FFF2-40B4-BE49-F238E27FC236}">
                <a16:creationId xmlns:a16="http://schemas.microsoft.com/office/drawing/2014/main" id="{9A8ABEF8-DE94-450D-811D-6BB9B8FC581D}"/>
              </a:ext>
            </a:extLst>
          </p:cNvPr>
          <p:cNvSpPr>
            <a:spLocks xmlns:a="http://schemas.openxmlformats.org/drawingml/2006/main" noGrp="1"/>
          </p:cNvSpPr>
          <p:nvPr/>
        </p:nvSpPr>
        <p:spPr>
          <a:xfrm xmlns:a="http://schemas.openxmlformats.org/drawingml/2006/main">
            <a:off x="6143625" y="2933700"/>
            <a:ext cx="4772025"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All 159 rows entered representation training. Later stages were label-aware. The grouped split applied only to the readout—not to representation learning.</a:t>
            </a:r>
          </a:p>
        </p:txBody>
      </p:sp>
      <p:sp>
        <p:nvSpPr>
          <p:cNvPr id="17" name="">
            <a:extLst xmlns:a="http://schemas.openxmlformats.org/drawingml/2006/main">
              <a:ext uri="{FF2B5EF4-FFF2-40B4-BE49-F238E27FC236}">
                <a16:creationId xmlns:a16="http://schemas.microsoft.com/office/drawing/2014/main" id="{5E9EF211-AA8A-4683-89E4-74689C438EF7}"/>
              </a:ext>
            </a:extLst>
          </p:cNvPr>
          <p:cNvSpPr>
            <a:spLocks xmlns:a="http://schemas.openxmlformats.org/drawingml/2006/main" noGrp="1"/>
          </p:cNvSpPr>
          <p:nvPr/>
        </p:nvSpPr>
        <p:spPr>
          <a:xfrm xmlns:a="http://schemas.openxmlformats.org/drawingml/2006/main">
            <a:off x="457200" y="5715000"/>
            <a:ext cx="10668000" cy="533400"/>
          </a:xfrm>
          <a:prstGeom xmlns:a="http://schemas.openxmlformats.org/drawingml/2006/main" prst="roundRect">
            <a:avLst>
              <a:gd name="adj" fmla="val 21429"/>
            </a:avLst>
          </a:prstGeom>
          <a:solidFill xmlns:a="http://schemas.openxmlformats.org/drawingml/2006/main">
            <a:srgbClr val="102A43"/>
          </a:solidFill>
          <a:ln xmlns:a="http://schemas.openxmlformats.org/drawingml/2006/main" w="9525">
            <a:solidFill>
              <a:srgbClr val="102A43"/>
            </a:solidFill>
            <a:prstDash val="solid"/>
          </a:ln>
        </p:spPr>
      </p:sp>
      <p:sp>
        <p:nvSpPr>
          <p:cNvPr id="18" name="">
            <a:extLst xmlns:a="http://schemas.openxmlformats.org/drawingml/2006/main">
              <a:ext uri="{FF2B5EF4-FFF2-40B4-BE49-F238E27FC236}">
                <a16:creationId xmlns:a16="http://schemas.microsoft.com/office/drawing/2014/main" id="{D8DE80E0-5DD2-4C80-83DE-4A95B43A8E8A}"/>
              </a:ext>
            </a:extLst>
          </p:cNvPr>
          <p:cNvSpPr>
            <a:spLocks xmlns:a="http://schemas.openxmlformats.org/drawingml/2006/main" noGrp="1"/>
          </p:cNvSpPr>
          <p:nvPr/>
        </p:nvSpPr>
        <p:spPr>
          <a:xfrm xmlns:a="http://schemas.openxmlformats.org/drawingml/2006/main">
            <a:off x="666750" y="5867400"/>
            <a:ext cx="1024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44"/>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The next study must split sources or participants before every fitted component—not only before the final classifier.</a:t>
            </a:r>
          </a:p>
        </p:txBody>
      </p:sp>
    </p:spTree>
    <p:extLst>
      <p:ext uri="{BB962C8B-B14F-4D97-AF65-F5344CB8AC3E}">
        <p14:creationId xmlns:p14="http://schemas.microsoft.com/office/powerpoint/2010/main" val="183543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A9F16D-E235-413C-B9BC-A2BAA600C1A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D95D5D"/>
          </a:solidFill>
          <a:ln xmlns:a="http://schemas.openxmlformats.org/drawingml/2006/main" w="0">
            <a:solidFill>
              <a:srgbClr val="D95D5D"/>
            </a:solidFill>
            <a:prstDash val="solid"/>
          </a:ln>
        </p:spPr>
      </p:sp>
      <p:sp>
        <p:nvSpPr>
          <p:cNvPr id="2" name="">
            <a:extLst xmlns:a="http://schemas.openxmlformats.org/drawingml/2006/main">
              <a:ext uri="{FF2B5EF4-FFF2-40B4-BE49-F238E27FC236}">
                <a16:creationId xmlns:a16="http://schemas.microsoft.com/office/drawing/2014/main" id="{EA19A105-395E-4B27-9DFD-540EDD396C61}"/>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D95D5D"/>
                </a:solidFill>
                <a:latin typeface="Arial"/>
                <a:ea typeface="Arial"/>
                <a:cs typeface="Arial"/>
              </a:defRPr>
            </a:pPr>
            <a:r>
              <a:rPr sz="900" b="1">
                <a:solidFill>
                  <a:srgbClr val="D95D5D"/>
                </a:solidFill>
                <a:latin typeface="Arial"/>
                <a:ea typeface="Arial"/>
                <a:cs typeface="Arial"/>
              </a:rPr>
              <a:t>GAITPARITY MOTIVATION</a:t>
            </a:r>
          </a:p>
        </p:txBody>
      </p:sp>
      <p:sp>
        <p:nvSpPr>
          <p:cNvPr id="3" name="">
            <a:extLst xmlns:a="http://schemas.openxmlformats.org/drawingml/2006/main">
              <a:ext uri="{FF2B5EF4-FFF2-40B4-BE49-F238E27FC236}">
                <a16:creationId xmlns:a16="http://schemas.microsoft.com/office/drawing/2014/main" id="{EB6CE582-BB91-4E25-8C2D-AA731D6B5F60}"/>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saved representation failed the signed-laterality test</a:t>
            </a:r>
          </a:p>
        </p:txBody>
      </p:sp>
      <p:sp>
        <p:nvSpPr>
          <p:cNvPr id="4" name="">
            <a:extLst xmlns:a="http://schemas.openxmlformats.org/drawingml/2006/main">
              <a:ext uri="{FF2B5EF4-FFF2-40B4-BE49-F238E27FC236}">
                <a16:creationId xmlns:a16="http://schemas.microsoft.com/office/drawing/2014/main" id="{C101C63C-0AFD-46CD-8C3F-EEBC2521F605}"/>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BA9881CA-095B-455C-B86A-8E3423487AC6}"/>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88C3F09E-A889-476F-9800-C6F233362CEB}"/>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A five-fold source-disjoint ridge readout tested a constructed pose-coordinate target and the required mirror response.</a:t>
            </a:r>
          </a:p>
        </p:txBody>
      </p:sp>
      <p:sp>
        <p:nvSpPr>
          <p:cNvPr id="7" name="">
            <a:extLst xmlns:a="http://schemas.openxmlformats.org/drawingml/2006/main">
              <a:ext uri="{FF2B5EF4-FFF2-40B4-BE49-F238E27FC236}">
                <a16:creationId xmlns:a16="http://schemas.microsoft.com/office/drawing/2014/main" id="{9D55D2F6-1D17-4041-B35B-3B80828E2A24}"/>
              </a:ext>
            </a:extLst>
          </p:cNvPr>
          <p:cNvSpPr>
            <a:spLocks xmlns:a="http://schemas.openxmlformats.org/drawingml/2006/main" noGrp="1"/>
          </p:cNvSpPr>
          <p:nvPr/>
        </p:nvSpPr>
        <p:spPr>
          <a:xfrm xmlns:a="http://schemas.openxmlformats.org/drawingml/2006/main">
            <a:off x="457200" y="1695450"/>
            <a:ext cx="106680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9D2DC"/>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175ad2000294ec9"/>
          <a:stretch xmlns:a="http://schemas.openxmlformats.org/drawingml/2006/main"/>
        </p:blipFill>
        <p:spPr>
          <a:xfrm xmlns:a="http://schemas.openxmlformats.org/drawingml/2006/main">
            <a:off x="1481138" y="1828800"/>
            <a:ext cx="8620125" cy="34480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5385EB0-A6F1-4F3D-8769-869885B0A665}"/>
              </a:ext>
            </a:extLst>
          </p:cNvPr>
          <p:cNvSpPr>
            <a:spLocks xmlns:a="http://schemas.openxmlformats.org/drawingml/2006/main" noGrp="1"/>
          </p:cNvSpPr>
          <p:nvPr/>
        </p:nvSpPr>
        <p:spPr>
          <a:xfrm xmlns:a="http://schemas.openxmlformats.org/drawingml/2006/main">
            <a:off x="457200" y="5581650"/>
            <a:ext cx="10668000" cy="762000"/>
          </a:xfrm>
          <a:prstGeom xmlns:a="http://schemas.openxmlformats.org/drawingml/2006/main" prst="roundRect">
            <a:avLst>
              <a:gd name="adj" fmla="val 15000"/>
            </a:avLst>
          </a:prstGeom>
          <a:solidFill xmlns:a="http://schemas.openxmlformats.org/drawingml/2006/main">
            <a:srgbClr val="FDECEC"/>
          </a:solidFill>
          <a:ln xmlns:a="http://schemas.openxmlformats.org/drawingml/2006/main" w="9525">
            <a:solidFill>
              <a:srgbClr val="D95D5D"/>
            </a:solidFill>
            <a:prstDash val="solid"/>
          </a:ln>
        </p:spPr>
      </p:sp>
      <p:sp>
        <p:nvSpPr>
          <p:cNvPr id="10" name="">
            <a:extLst xmlns:a="http://schemas.openxmlformats.org/drawingml/2006/main">
              <a:ext uri="{FF2B5EF4-FFF2-40B4-BE49-F238E27FC236}">
                <a16:creationId xmlns:a16="http://schemas.microsoft.com/office/drawing/2014/main" id="{30E3AA3C-B5C7-4D29-9B8C-5295BBA1ADF3}"/>
              </a:ext>
            </a:extLst>
          </p:cNvPr>
          <p:cNvSpPr>
            <a:spLocks xmlns:a="http://schemas.openxmlformats.org/drawingml/2006/main" noGrp="1"/>
          </p:cNvSpPr>
          <p:nvPr/>
        </p:nvSpPr>
        <p:spPr>
          <a:xfrm xmlns:a="http://schemas.openxmlformats.org/drawingml/2006/main">
            <a:off x="685800" y="5762625"/>
            <a:ext cx="1021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learned R² −0.0678 · MAE 2.596 · pooled latent R² −0.304 · sign consistency .444 · mirror slope −0.337</a:t>
            </a:r>
          </a:p>
        </p:txBody>
      </p:sp>
    </p:spTree>
    <p:extLst>
      <p:ext uri="{BB962C8B-B14F-4D97-AF65-F5344CB8AC3E}">
        <p14:creationId xmlns:p14="http://schemas.microsoft.com/office/powerpoint/2010/main" val="21247591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AEB2A2-9F47-41C1-83F5-32B7643F569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5609B7FF-9450-4DCA-957A-66737BA05DA8}"/>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PARITY METHODOLOGY</a:t>
            </a:r>
          </a:p>
        </p:txBody>
      </p:sp>
      <p:sp>
        <p:nvSpPr>
          <p:cNvPr id="3" name="">
            <a:extLst xmlns:a="http://schemas.openxmlformats.org/drawingml/2006/main">
              <a:ext uri="{FF2B5EF4-FFF2-40B4-BE49-F238E27FC236}">
                <a16:creationId xmlns:a16="http://schemas.microsoft.com/office/drawing/2014/main" id="{48FC2ACC-3C23-416D-9D34-74779134C60C}"/>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reflection operator is part of the measurement contract</a:t>
            </a:r>
          </a:p>
        </p:txBody>
      </p:sp>
      <p:sp>
        <p:nvSpPr>
          <p:cNvPr id="4" name="">
            <a:extLst xmlns:a="http://schemas.openxmlformats.org/drawingml/2006/main">
              <a:ext uri="{FF2B5EF4-FFF2-40B4-BE49-F238E27FC236}">
                <a16:creationId xmlns:a16="http://schemas.microsoft.com/office/drawing/2014/main" id="{451A3EEF-C6B5-4874-A86C-7E849C522A1E}"/>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AA2647CD-63D4-4B75-B6E0-3F7EE720A24E}"/>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1E083781-F714-402C-B315-EFC1083CBC42}"/>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M must transform geometry, identities, visibility, and confidence together; M(Mx) = x is necessary but not sufficient.</a:t>
            </a:r>
          </a:p>
        </p:txBody>
      </p:sp>
      <p:sp>
        <p:nvSpPr>
          <p:cNvPr id="7" name="">
            <a:extLst xmlns:a="http://schemas.openxmlformats.org/drawingml/2006/main">
              <a:ext uri="{FF2B5EF4-FFF2-40B4-BE49-F238E27FC236}">
                <a16:creationId xmlns:a16="http://schemas.microsoft.com/office/drawing/2014/main" id="{AB58683A-9BCF-425B-918D-22F82CCBE0FD}"/>
              </a:ext>
            </a:extLst>
          </p:cNvPr>
          <p:cNvSpPr>
            <a:spLocks xmlns:a="http://schemas.openxmlformats.org/drawingml/2006/main" noGrp="1"/>
          </p:cNvSpPr>
          <p:nvPr/>
        </p:nvSpPr>
        <p:spPr>
          <a:xfrm xmlns:a="http://schemas.openxmlformats.org/drawingml/2006/main">
            <a:off x="457200" y="1695450"/>
            <a:ext cx="106680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9D2DC"/>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aa76410afad4ca7"/>
          <a:stretch xmlns:a="http://schemas.openxmlformats.org/drawingml/2006/main"/>
        </p:blipFill>
        <p:spPr>
          <a:xfrm xmlns:a="http://schemas.openxmlformats.org/drawingml/2006/main">
            <a:off x="3010515" y="1828800"/>
            <a:ext cx="5561371" cy="34480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8B45FFA-83DA-4655-B37E-A0187E1B2441}"/>
              </a:ext>
            </a:extLst>
          </p:cNvPr>
          <p:cNvSpPr>
            <a:spLocks xmlns:a="http://schemas.openxmlformats.org/drawingml/2006/main" noGrp="1"/>
          </p:cNvSpPr>
          <p:nvPr/>
        </p:nvSpPr>
        <p:spPr>
          <a:xfrm xmlns:a="http://schemas.openxmlformats.org/drawingml/2006/main">
            <a:off x="457200" y="5581650"/>
            <a:ext cx="10668000" cy="762000"/>
          </a:xfrm>
          <a:prstGeom xmlns:a="http://schemas.openxmlformats.org/drawingml/2006/main" prst="roundRect">
            <a:avLst>
              <a:gd name="adj" fmla="val 15000"/>
            </a:avLst>
          </a:prstGeom>
          <a:solidFill xmlns:a="http://schemas.openxmlformats.org/drawingml/2006/main">
            <a:srgbClr val="EAF5FB"/>
          </a:solidFill>
          <a:ln xmlns:a="http://schemas.openxmlformats.org/drawingml/2006/main" w="9525">
            <a:solidFill>
              <a:srgbClr val="6DCBF4"/>
            </a:solidFill>
            <a:prstDash val="solid"/>
          </a:ln>
        </p:spPr>
      </p:sp>
      <p:sp>
        <p:nvSpPr>
          <p:cNvPr id="10" name="">
            <a:extLst xmlns:a="http://schemas.openxmlformats.org/drawingml/2006/main">
              <a:ext uri="{FF2B5EF4-FFF2-40B4-BE49-F238E27FC236}">
                <a16:creationId xmlns:a16="http://schemas.microsoft.com/office/drawing/2014/main" id="{F26B8E08-8B00-4727-885E-A33D450793C4}"/>
              </a:ext>
            </a:extLst>
          </p:cNvPr>
          <p:cNvSpPr>
            <a:spLocks xmlns:a="http://schemas.openxmlformats.org/drawingml/2006/main" noGrp="1"/>
          </p:cNvSpPr>
          <p:nvPr/>
        </p:nvSpPr>
        <p:spPr>
          <a:xfrm xmlns:a="http://schemas.openxmlformats.org/drawingml/2006/main">
            <a:off x="685800" y="5762625"/>
            <a:ext cx="1021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Negating the wrong axis twice can still pass involution. Odd/even target checks and real-data fixtures are also required.</a:t>
            </a:r>
          </a:p>
        </p:txBody>
      </p:sp>
    </p:spTree>
    <p:extLst>
      <p:ext uri="{BB962C8B-B14F-4D97-AF65-F5344CB8AC3E}">
        <p14:creationId xmlns:p14="http://schemas.microsoft.com/office/powerpoint/2010/main" val="16726037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7DD615-E8B4-440B-99AA-9217C628901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2AA1B566-1EEE-495A-B69C-3C8DB16AF8F0}"/>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PARITY METHODOLOGY</a:t>
            </a:r>
          </a:p>
        </p:txBody>
      </p:sp>
      <p:sp>
        <p:nvSpPr>
          <p:cNvPr id="3" name="">
            <a:extLst xmlns:a="http://schemas.openxmlformats.org/drawingml/2006/main">
              <a:ext uri="{FF2B5EF4-FFF2-40B4-BE49-F238E27FC236}">
                <a16:creationId xmlns:a16="http://schemas.microsoft.com/office/drawing/2014/main" id="{C03AED61-1CAE-4DDE-BB97-0FAC6FD3904D}"/>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Architecture isolation requires two strong controls</a:t>
            </a:r>
          </a:p>
        </p:txBody>
      </p:sp>
      <p:sp>
        <p:nvSpPr>
          <p:cNvPr id="4" name="">
            <a:extLst xmlns:a="http://schemas.openxmlformats.org/drawingml/2006/main">
              <a:ext uri="{FF2B5EF4-FFF2-40B4-BE49-F238E27FC236}">
                <a16:creationId xmlns:a16="http://schemas.microsoft.com/office/drawing/2014/main" id="{BEF71513-CE65-4C89-A316-AAA37BE7FC18}"/>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C516B0A6-92A8-4D5A-97C3-D73969EB14B1}"/>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042DBE79-3A12-49A9-8454-BECED4C83483}"/>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The output baseline guarantees oddness: qodd(x) = [q(E(x)) − q(E(Mx))] / 2.</a:t>
            </a:r>
          </a:p>
        </p:txBody>
      </p:sp>
      <p:sp>
        <p:nvSpPr>
          <p:cNvPr id="7" name="">
            <a:extLst xmlns:a="http://schemas.openxmlformats.org/drawingml/2006/main">
              <a:ext uri="{FF2B5EF4-FFF2-40B4-BE49-F238E27FC236}">
                <a16:creationId xmlns:a16="http://schemas.microsoft.com/office/drawing/2014/main" id="{4214E4D7-AFBF-4D5C-9BCD-2A589C516C82}"/>
              </a:ext>
            </a:extLst>
          </p:cNvPr>
          <p:cNvSpPr>
            <a:spLocks xmlns:a="http://schemas.openxmlformats.org/drawingml/2006/main" noGrp="1"/>
          </p:cNvSpPr>
          <p:nvPr/>
        </p:nvSpPr>
        <p:spPr>
          <a:xfrm xmlns:a="http://schemas.openxmlformats.org/drawingml/2006/main">
            <a:off x="457200" y="1695450"/>
            <a:ext cx="106680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9D2DC"/>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fc8ceed82524dde"/>
          <a:stretch xmlns:a="http://schemas.openxmlformats.org/drawingml/2006/main"/>
        </p:blipFill>
        <p:spPr>
          <a:xfrm xmlns:a="http://schemas.openxmlformats.org/drawingml/2006/main">
            <a:off x="2096861" y="1828800"/>
            <a:ext cx="7388679" cy="34480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687A30E-15F3-4196-8897-7EB19447BD50}"/>
              </a:ext>
            </a:extLst>
          </p:cNvPr>
          <p:cNvSpPr>
            <a:spLocks xmlns:a="http://schemas.openxmlformats.org/drawingml/2006/main" noGrp="1"/>
          </p:cNvSpPr>
          <p:nvPr/>
        </p:nvSpPr>
        <p:spPr>
          <a:xfrm xmlns:a="http://schemas.openxmlformats.org/drawingml/2006/main">
            <a:off x="457200" y="5581650"/>
            <a:ext cx="10668000" cy="762000"/>
          </a:xfrm>
          <a:prstGeom xmlns:a="http://schemas.openxmlformats.org/drawingml/2006/main" prst="roundRect">
            <a:avLst>
              <a:gd name="adj" fmla="val 15000"/>
            </a:avLst>
          </a:prstGeom>
          <a:solidFill xmlns:a="http://schemas.openxmlformats.org/drawingml/2006/main">
            <a:srgbClr val="EAF5FB"/>
          </a:solidFill>
          <a:ln xmlns:a="http://schemas.openxmlformats.org/drawingml/2006/main" w="9525">
            <a:solidFill>
              <a:srgbClr val="6DCBF4"/>
            </a:solidFill>
            <a:prstDash val="solid"/>
          </a:ln>
        </p:spPr>
      </p:sp>
      <p:sp>
        <p:nvSpPr>
          <p:cNvPr id="10" name="">
            <a:extLst xmlns:a="http://schemas.openxmlformats.org/drawingml/2006/main">
              <a:ext uri="{FF2B5EF4-FFF2-40B4-BE49-F238E27FC236}">
                <a16:creationId xmlns:a16="http://schemas.microsoft.com/office/drawing/2014/main" id="{85256643-F2F3-4994-8E98-CD70246E1B87}"/>
              </a:ext>
            </a:extLst>
          </p:cNvPr>
          <p:cNvSpPr>
            <a:spLocks xmlns:a="http://schemas.openxmlformats.org/drawingml/2006/main" noGrp="1"/>
          </p:cNvSpPr>
          <p:nvPr/>
        </p:nvSpPr>
        <p:spPr>
          <a:xfrm xmlns:a="http://schemas.openxmlformats.org/drawingml/2006/main">
            <a:off x="685800" y="5762625"/>
            <a:ext cx="1021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2625"/>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Co-primary comparisons: equivariant vs odd_output, and equivariant vs paired_unconstrained with matched exposure, compute, tuning, and seeds.</a:t>
            </a:r>
          </a:p>
        </p:txBody>
      </p:sp>
    </p:spTree>
    <p:extLst>
      <p:ext uri="{BB962C8B-B14F-4D97-AF65-F5344CB8AC3E}">
        <p14:creationId xmlns:p14="http://schemas.microsoft.com/office/powerpoint/2010/main" val="36099099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BAB3B5-05FF-4D83-9298-0E359621C30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2" name="">
            <a:extLst xmlns:a="http://schemas.openxmlformats.org/drawingml/2006/main">
              <a:ext uri="{FF2B5EF4-FFF2-40B4-BE49-F238E27FC236}">
                <a16:creationId xmlns:a16="http://schemas.microsoft.com/office/drawing/2014/main" id="{7B7303C8-AF45-4F7F-94BC-387111662296}"/>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VALIDATION GATES</a:t>
            </a:r>
          </a:p>
        </p:txBody>
      </p:sp>
      <p:sp>
        <p:nvSpPr>
          <p:cNvPr id="3" name="">
            <a:extLst xmlns:a="http://schemas.openxmlformats.org/drawingml/2006/main">
              <a:ext uri="{FF2B5EF4-FFF2-40B4-BE49-F238E27FC236}">
                <a16:creationId xmlns:a16="http://schemas.microsoft.com/office/drawing/2014/main" id="{78D9250F-F64C-47E2-9BA0-B8FF191B8B2C}"/>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Exact oddness is necessary—and can still be useless</a:t>
            </a:r>
          </a:p>
        </p:txBody>
      </p:sp>
      <p:sp>
        <p:nvSpPr>
          <p:cNvPr id="4" name="">
            <a:extLst xmlns:a="http://schemas.openxmlformats.org/drawingml/2006/main">
              <a:ext uri="{FF2B5EF4-FFF2-40B4-BE49-F238E27FC236}">
                <a16:creationId xmlns:a16="http://schemas.microsoft.com/office/drawing/2014/main" id="{53050E35-5BDD-46E7-98C0-B3C91435BF24}"/>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4E00D2BD-D7AB-45C9-8459-D1A46A87C91D}"/>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BC7163AA-58D3-42A0-A261-C00DC5AC5C14}"/>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An all-zero odd channel satisfies s(Mx) = −s(x) perfectly.</a:t>
            </a:r>
          </a:p>
        </p:txBody>
      </p:sp>
      <p:sp>
        <p:nvSpPr>
          <p:cNvPr id="7" name="">
            <a:extLst xmlns:a="http://schemas.openxmlformats.org/drawingml/2006/main">
              <a:ext uri="{FF2B5EF4-FFF2-40B4-BE49-F238E27FC236}">
                <a16:creationId xmlns:a16="http://schemas.microsoft.com/office/drawing/2014/main" id="{DCAC4E38-0B1E-4D12-88F5-CF9F9105637C}"/>
              </a:ext>
            </a:extLst>
          </p:cNvPr>
          <p:cNvSpPr>
            <a:spLocks xmlns:a="http://schemas.openxmlformats.org/drawingml/2006/main" noGrp="1"/>
          </p:cNvSpPr>
          <p:nvPr/>
        </p:nvSpPr>
        <p:spPr>
          <a:xfrm xmlns:a="http://schemas.openxmlformats.org/drawingml/2006/main">
            <a:off x="457200" y="1695450"/>
            <a:ext cx="106680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9D2DC"/>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07ed30cb8df4688"/>
          <a:stretch xmlns:a="http://schemas.openxmlformats.org/drawingml/2006/main"/>
        </p:blipFill>
        <p:spPr>
          <a:xfrm xmlns:a="http://schemas.openxmlformats.org/drawingml/2006/main">
            <a:off x="3010515" y="1828800"/>
            <a:ext cx="5561371" cy="34480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13AD5B9-F957-4C17-98C7-7519D1F522F1}"/>
              </a:ext>
            </a:extLst>
          </p:cNvPr>
          <p:cNvSpPr>
            <a:spLocks xmlns:a="http://schemas.openxmlformats.org/drawingml/2006/main" noGrp="1"/>
          </p:cNvSpPr>
          <p:nvPr/>
        </p:nvSpPr>
        <p:spPr>
          <a:xfrm xmlns:a="http://schemas.openxmlformats.org/drawingml/2006/main">
            <a:off x="457200" y="5581650"/>
            <a:ext cx="10668000" cy="762000"/>
          </a:xfrm>
          <a:prstGeom xmlns:a="http://schemas.openxmlformats.org/drawingml/2006/main" prst="roundRect">
            <a:avLst>
              <a:gd name="adj" fmla="val 15000"/>
            </a:avLst>
          </a:prstGeom>
          <a:solidFill xmlns:a="http://schemas.openxmlformats.org/drawingml/2006/main">
            <a:srgbClr val="FFF3E8"/>
          </a:solidFill>
          <a:ln xmlns:a="http://schemas.openxmlformats.org/drawingml/2006/main" w="9525">
            <a:solidFill>
              <a:srgbClr val="F4A261"/>
            </a:solidFill>
            <a:prstDash val="solid"/>
          </a:ln>
        </p:spPr>
      </p:sp>
      <p:sp>
        <p:nvSpPr>
          <p:cNvPr id="10" name="">
            <a:extLst xmlns:a="http://schemas.openxmlformats.org/drawingml/2006/main">
              <a:ext uri="{FF2B5EF4-FFF2-40B4-BE49-F238E27FC236}">
                <a16:creationId xmlns:a16="http://schemas.microsoft.com/office/drawing/2014/main" id="{A40C8E20-C5B4-4F55-BDB7-323651A17966}"/>
              </a:ext>
            </a:extLst>
          </p:cNvPr>
          <p:cNvSpPr>
            <a:spLocks xmlns:a="http://schemas.openxmlformats.org/drawingml/2006/main" noGrp="1"/>
          </p:cNvSpPr>
          <p:nvPr/>
        </p:nvSpPr>
        <p:spPr>
          <a:xfrm xmlns:a="http://schemas.openxmlformats.org/drawingml/2006/main">
            <a:off x="685800" y="5762625"/>
            <a:ext cx="1021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725"/>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Required gates: layerwise commutation, finite prediction loss, odd energy/variance, effective rank, offset fraction, and positive controls.</a:t>
            </a:r>
          </a:p>
        </p:txBody>
      </p:sp>
    </p:spTree>
    <p:extLst>
      <p:ext uri="{BB962C8B-B14F-4D97-AF65-F5344CB8AC3E}">
        <p14:creationId xmlns:p14="http://schemas.microsoft.com/office/powerpoint/2010/main" val="168707434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EE0C178-6BD9-42DA-930D-E6591279AED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6B87ECB1-0669-436E-9F51-6E9D80010741}"/>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CONTROLLED EXPERIMENT</a:t>
            </a:r>
          </a:p>
        </p:txBody>
      </p:sp>
      <p:sp>
        <p:nvSpPr>
          <p:cNvPr id="3" name="">
            <a:extLst xmlns:a="http://schemas.openxmlformats.org/drawingml/2006/main">
              <a:ext uri="{FF2B5EF4-FFF2-40B4-BE49-F238E27FC236}">
                <a16:creationId xmlns:a16="http://schemas.microsoft.com/office/drawing/2014/main" id="{F44505F7-C605-44D6-A21E-0243AD77E0DD}"/>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GAVD experiment isolates mirror geometry</a:t>
            </a:r>
          </a:p>
        </p:txBody>
      </p:sp>
      <p:sp>
        <p:nvSpPr>
          <p:cNvPr id="4" name="">
            <a:extLst xmlns:a="http://schemas.openxmlformats.org/drawingml/2006/main">
              <a:ext uri="{FF2B5EF4-FFF2-40B4-BE49-F238E27FC236}">
                <a16:creationId xmlns:a16="http://schemas.microsoft.com/office/drawing/2014/main" id="{E1FAA8C3-C7C2-41E0-AD50-72C3D81551E2}"/>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5B88F6C1-E2EE-449F-B49A-F9D1C25C8916}"/>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1ADDBBB4-1412-4039-916F-EE170BF94CC8}"/>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647"/>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The variants use the same real GAVD windows and are compared under both equal exposure and closely matched compute.</a:t>
            </a:r>
          </a:p>
        </p:txBody>
      </p:sp>
      <p:sp>
        <p:nvSpPr>
          <p:cNvPr id="7" name="">
            <a:extLst xmlns:a="http://schemas.openxmlformats.org/drawingml/2006/main">
              <a:ext uri="{FF2B5EF4-FFF2-40B4-BE49-F238E27FC236}">
                <a16:creationId xmlns:a16="http://schemas.microsoft.com/office/drawing/2014/main" id="{F26D9BD4-0051-4AD4-9256-E94ACA4BAAA0}"/>
              </a:ext>
            </a:extLst>
          </p:cNvPr>
          <p:cNvSpPr>
            <a:spLocks xmlns:a="http://schemas.openxmlformats.org/drawingml/2006/main" noGrp="1"/>
          </p:cNvSpPr>
          <p:nvPr/>
        </p:nvSpPr>
        <p:spPr>
          <a:xfrm xmlns:a="http://schemas.openxmlformats.org/drawingml/2006/main">
            <a:off x="457200" y="18288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2550" b="1">
                <a:solidFill>
                  <a:srgbClr val="6D5BD0"/>
                </a:solidFill>
                <a:latin typeface="Arial"/>
                <a:ea typeface="Arial"/>
                <a:cs typeface="Arial"/>
              </a:defRPr>
            </a:pPr>
            <a:r>
              <a:rPr sz="2550" b="1">
                <a:solidFill>
                  <a:srgbClr val="6D5BD0"/>
                </a:solidFill>
                <a:latin typeface="Arial"/>
                <a:ea typeface="Arial"/>
                <a:cs typeface="Arial"/>
              </a:rPr>
              <a:t>96</a:t>
            </a:r>
          </a:p>
        </p:txBody>
      </p:sp>
      <p:sp>
        <p:nvSpPr>
          <p:cNvPr id="8" name="">
            <a:extLst xmlns:a="http://schemas.openxmlformats.org/drawingml/2006/main">
              <a:ext uri="{FF2B5EF4-FFF2-40B4-BE49-F238E27FC236}">
                <a16:creationId xmlns:a16="http://schemas.microsoft.com/office/drawing/2014/main" id="{85D49B60-86AF-4C9B-86E7-5CC4AF031BD9}"/>
              </a:ext>
            </a:extLst>
          </p:cNvPr>
          <p:cNvSpPr>
            <a:spLocks xmlns:a="http://schemas.openxmlformats.org/drawingml/2006/main" noGrp="1"/>
          </p:cNvSpPr>
          <p:nvPr/>
        </p:nvSpPr>
        <p:spPr>
          <a:xfrm xmlns:a="http://schemas.openxmlformats.org/drawingml/2006/main">
            <a:off x="457200" y="2343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619"/>
          </a:bodyPr>
          <a:lstStyle xmlns:a="http://schemas.openxmlformats.org/drawingml/2006/main"/>
          <a:p xmlns:a="http://schemas.openxmlformats.org/drawingml/2006/main">
            <a:pPr algn="ctr">
              <a:defRPr sz="1050" b="0">
                <a:solidFill>
                  <a:srgbClr val="52606D"/>
                </a:solidFill>
                <a:latin typeface="Arial"/>
                <a:ea typeface="Arial"/>
                <a:cs typeface="Arial"/>
              </a:defRPr>
            </a:pPr>
            <a:r>
              <a:rPr sz="1050" b="0">
                <a:solidFill>
                  <a:srgbClr val="52606D"/>
                </a:solidFill>
                <a:latin typeface="Arial"/>
                <a:ea typeface="Arial"/>
                <a:cs typeface="Arial"/>
              </a:rPr>
              <a:t>sequences</a:t>
            </a:r>
          </a:p>
        </p:txBody>
      </p:sp>
      <p:sp>
        <p:nvSpPr>
          <p:cNvPr id="9" name="">
            <a:extLst xmlns:a="http://schemas.openxmlformats.org/drawingml/2006/main">
              <a:ext uri="{FF2B5EF4-FFF2-40B4-BE49-F238E27FC236}">
                <a16:creationId xmlns:a16="http://schemas.microsoft.com/office/drawing/2014/main" id="{DE1E1570-47AA-4E5A-A124-0E623D27FA50}"/>
              </a:ext>
            </a:extLst>
          </p:cNvPr>
          <p:cNvSpPr>
            <a:spLocks xmlns:a="http://schemas.openxmlformats.org/drawingml/2006/main" noGrp="1"/>
          </p:cNvSpPr>
          <p:nvPr/>
        </p:nvSpPr>
        <p:spPr>
          <a:xfrm xmlns:a="http://schemas.openxmlformats.org/drawingml/2006/main">
            <a:off x="2209800" y="18288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2550" b="1">
                <a:solidFill>
                  <a:srgbClr val="6D5BD0"/>
                </a:solidFill>
                <a:latin typeface="Arial"/>
                <a:ea typeface="Arial"/>
                <a:cs typeface="Arial"/>
              </a:defRPr>
            </a:pPr>
            <a:r>
              <a:rPr sz="2550" b="1">
                <a:solidFill>
                  <a:srgbClr val="6D5BD0"/>
                </a:solidFill>
                <a:latin typeface="Arial"/>
                <a:ea typeface="Arial"/>
                <a:cs typeface="Arial"/>
              </a:rPr>
              <a:t>18</a:t>
            </a:r>
          </a:p>
        </p:txBody>
      </p:sp>
      <p:sp>
        <p:nvSpPr>
          <p:cNvPr id="10" name="">
            <a:extLst xmlns:a="http://schemas.openxmlformats.org/drawingml/2006/main">
              <a:ext uri="{FF2B5EF4-FFF2-40B4-BE49-F238E27FC236}">
                <a16:creationId xmlns:a16="http://schemas.microsoft.com/office/drawing/2014/main" id="{FF80E280-F516-4FF0-91FD-D14CE9C4ABB4}"/>
              </a:ext>
            </a:extLst>
          </p:cNvPr>
          <p:cNvSpPr>
            <a:spLocks xmlns:a="http://schemas.openxmlformats.org/drawingml/2006/main" noGrp="1"/>
          </p:cNvSpPr>
          <p:nvPr/>
        </p:nvSpPr>
        <p:spPr>
          <a:xfrm xmlns:a="http://schemas.openxmlformats.org/drawingml/2006/main">
            <a:off x="2209800" y="2343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619"/>
          </a:bodyPr>
          <a:lstStyle xmlns:a="http://schemas.openxmlformats.org/drawingml/2006/main"/>
          <a:p xmlns:a="http://schemas.openxmlformats.org/drawingml/2006/main">
            <a:pPr algn="ctr">
              <a:defRPr sz="1050" b="0">
                <a:solidFill>
                  <a:srgbClr val="52606D"/>
                </a:solidFill>
                <a:latin typeface="Arial"/>
                <a:ea typeface="Arial"/>
                <a:cs typeface="Arial"/>
              </a:defRPr>
            </a:pPr>
            <a:r>
              <a:rPr sz="1050" b="0">
                <a:solidFill>
                  <a:srgbClr val="52606D"/>
                </a:solidFill>
                <a:latin typeface="Arial"/>
                <a:ea typeface="Arial"/>
                <a:cs typeface="Arial"/>
              </a:rPr>
              <a:t>source videos</a:t>
            </a:r>
          </a:p>
        </p:txBody>
      </p:sp>
      <p:sp>
        <p:nvSpPr>
          <p:cNvPr id="11" name="">
            <a:extLst xmlns:a="http://schemas.openxmlformats.org/drawingml/2006/main">
              <a:ext uri="{FF2B5EF4-FFF2-40B4-BE49-F238E27FC236}">
                <a16:creationId xmlns:a16="http://schemas.microsoft.com/office/drawing/2014/main" id="{D535BB4B-89FB-4D93-8550-068FFEC8C148}"/>
              </a:ext>
            </a:extLst>
          </p:cNvPr>
          <p:cNvSpPr>
            <a:spLocks xmlns:a="http://schemas.openxmlformats.org/drawingml/2006/main" noGrp="1"/>
          </p:cNvSpPr>
          <p:nvPr/>
        </p:nvSpPr>
        <p:spPr>
          <a:xfrm xmlns:a="http://schemas.openxmlformats.org/drawingml/2006/main">
            <a:off x="3962400" y="18288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2550" b="1">
                <a:solidFill>
                  <a:srgbClr val="6D5BD0"/>
                </a:solidFill>
                <a:latin typeface="Arial"/>
                <a:ea typeface="Arial"/>
                <a:cs typeface="Arial"/>
              </a:defRPr>
            </a:pPr>
            <a:r>
              <a:rPr sz="2550" b="1">
                <a:solidFill>
                  <a:srgbClr val="6D5BD0"/>
                </a:solidFill>
                <a:latin typeface="Arial"/>
                <a:ea typeface="Arial"/>
                <a:cs typeface="Arial"/>
              </a:rPr>
              <a:t>394</a:t>
            </a:r>
          </a:p>
        </p:txBody>
      </p:sp>
      <p:sp>
        <p:nvSpPr>
          <p:cNvPr id="12" name="">
            <a:extLst xmlns:a="http://schemas.openxmlformats.org/drawingml/2006/main">
              <a:ext uri="{FF2B5EF4-FFF2-40B4-BE49-F238E27FC236}">
                <a16:creationId xmlns:a16="http://schemas.microsoft.com/office/drawing/2014/main" id="{12434A23-11DF-46C3-8998-89ECF21F7CB7}"/>
              </a:ext>
            </a:extLst>
          </p:cNvPr>
          <p:cNvSpPr>
            <a:spLocks xmlns:a="http://schemas.openxmlformats.org/drawingml/2006/main" noGrp="1"/>
          </p:cNvSpPr>
          <p:nvPr/>
        </p:nvSpPr>
        <p:spPr>
          <a:xfrm xmlns:a="http://schemas.openxmlformats.org/drawingml/2006/main">
            <a:off x="3962400" y="2343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619"/>
          </a:bodyPr>
          <a:lstStyle xmlns:a="http://schemas.openxmlformats.org/drawingml/2006/main"/>
          <a:p xmlns:a="http://schemas.openxmlformats.org/drawingml/2006/main">
            <a:pPr algn="ctr">
              <a:defRPr sz="1050" b="0">
                <a:solidFill>
                  <a:srgbClr val="52606D"/>
                </a:solidFill>
                <a:latin typeface="Arial"/>
                <a:ea typeface="Arial"/>
                <a:cs typeface="Arial"/>
              </a:defRPr>
            </a:pPr>
            <a:r>
              <a:rPr sz="1050" b="0">
                <a:solidFill>
                  <a:srgbClr val="52606D"/>
                </a:solidFill>
                <a:latin typeface="Arial"/>
                <a:ea typeface="Arial"/>
                <a:cs typeface="Arial"/>
              </a:rPr>
              <a:t>windows</a:t>
            </a:r>
          </a:p>
        </p:txBody>
      </p:sp>
      <p:sp>
        <p:nvSpPr>
          <p:cNvPr id="13" name="">
            <a:extLst xmlns:a="http://schemas.openxmlformats.org/drawingml/2006/main">
              <a:ext uri="{FF2B5EF4-FFF2-40B4-BE49-F238E27FC236}">
                <a16:creationId xmlns:a16="http://schemas.microsoft.com/office/drawing/2014/main" id="{DCDDA83F-C21D-4552-BB40-4CC75E09FC35}"/>
              </a:ext>
            </a:extLst>
          </p:cNvPr>
          <p:cNvSpPr>
            <a:spLocks xmlns:a="http://schemas.openxmlformats.org/drawingml/2006/main" noGrp="1"/>
          </p:cNvSpPr>
          <p:nvPr/>
        </p:nvSpPr>
        <p:spPr>
          <a:xfrm xmlns:a="http://schemas.openxmlformats.org/drawingml/2006/main">
            <a:off x="5715000" y="18288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2550" b="1">
                <a:solidFill>
                  <a:srgbClr val="6D5BD0"/>
                </a:solidFill>
                <a:latin typeface="Arial"/>
                <a:ea typeface="Arial"/>
                <a:cs typeface="Arial"/>
              </a:defRPr>
            </a:pPr>
            <a:r>
              <a:rPr sz="2550" b="1">
                <a:solidFill>
                  <a:srgbClr val="6D5BD0"/>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5CDFBA24-FB91-4F93-8F68-F26130387788}"/>
              </a:ext>
            </a:extLst>
          </p:cNvPr>
          <p:cNvSpPr>
            <a:spLocks xmlns:a="http://schemas.openxmlformats.org/drawingml/2006/main" noGrp="1"/>
          </p:cNvSpPr>
          <p:nvPr/>
        </p:nvSpPr>
        <p:spPr>
          <a:xfrm xmlns:a="http://schemas.openxmlformats.org/drawingml/2006/main">
            <a:off x="5715000" y="2343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619"/>
          </a:bodyPr>
          <a:lstStyle xmlns:a="http://schemas.openxmlformats.org/drawingml/2006/main"/>
          <a:p xmlns:a="http://schemas.openxmlformats.org/drawingml/2006/main">
            <a:pPr algn="ctr">
              <a:defRPr sz="1050" b="0">
                <a:solidFill>
                  <a:srgbClr val="52606D"/>
                </a:solidFill>
                <a:latin typeface="Arial"/>
                <a:ea typeface="Arial"/>
                <a:cs typeface="Arial"/>
              </a:defRPr>
            </a:pPr>
            <a:r>
              <a:rPr sz="1050" b="0">
                <a:solidFill>
                  <a:srgbClr val="52606D"/>
                </a:solidFill>
                <a:latin typeface="Arial"/>
                <a:ea typeface="Arial"/>
                <a:cs typeface="Arial"/>
              </a:rPr>
              <a:t>paired seeds</a:t>
            </a:r>
          </a:p>
        </p:txBody>
      </p:sp>
      <p:sp>
        <p:nvSpPr>
          <p:cNvPr id="15" name="">
            <a:extLst xmlns:a="http://schemas.openxmlformats.org/drawingml/2006/main">
              <a:ext uri="{FF2B5EF4-FFF2-40B4-BE49-F238E27FC236}">
                <a16:creationId xmlns:a16="http://schemas.microsoft.com/office/drawing/2014/main" id="{9A9FD0E7-3FCB-4629-8F2C-3096FDBD5D0B}"/>
              </a:ext>
            </a:extLst>
          </p:cNvPr>
          <p:cNvSpPr>
            <a:spLocks xmlns:a="http://schemas.openxmlformats.org/drawingml/2006/main" noGrp="1"/>
          </p:cNvSpPr>
          <p:nvPr/>
        </p:nvSpPr>
        <p:spPr>
          <a:xfrm xmlns:a="http://schemas.openxmlformats.org/drawingml/2006/main">
            <a:off x="7486650" y="1762125"/>
            <a:ext cx="3638550" cy="895350"/>
          </a:xfrm>
          <a:prstGeom xmlns:a="http://schemas.openxmlformats.org/drawingml/2006/main" prst="roundRect">
            <a:avLst>
              <a:gd name="adj" fmla="val 12766"/>
            </a:avLst>
          </a:prstGeom>
          <a:solidFill xmlns:a="http://schemas.openxmlformats.org/drawingml/2006/main">
            <a:srgbClr val="FFF3E8"/>
          </a:solidFill>
          <a:ln xmlns:a="http://schemas.openxmlformats.org/drawingml/2006/main" w="9525">
            <a:solidFill>
              <a:srgbClr val="F4A261"/>
            </a:solidFill>
            <a:prstDash val="solid"/>
          </a:ln>
        </p:spPr>
      </p:sp>
      <p:sp>
        <p:nvSpPr>
          <p:cNvPr id="16" name="">
            <a:extLst xmlns:a="http://schemas.openxmlformats.org/drawingml/2006/main">
              <a:ext uri="{FF2B5EF4-FFF2-40B4-BE49-F238E27FC236}">
                <a16:creationId xmlns:a16="http://schemas.microsoft.com/office/drawing/2014/main" id="{9013B32A-42CA-464C-805F-3337C6CBA265}"/>
              </a:ext>
            </a:extLst>
          </p:cNvPr>
          <p:cNvSpPr>
            <a:spLocks xmlns:a="http://schemas.openxmlformats.org/drawingml/2006/main" noGrp="1"/>
          </p:cNvSpPr>
          <p:nvPr/>
        </p:nvSpPr>
        <p:spPr>
          <a:xfrm xmlns:a="http://schemas.openxmlformats.org/drawingml/2006/main">
            <a:off x="7715250" y="1971675"/>
            <a:ext cx="3181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9697"/>
          </a:bodyPr>
          <a:lstStyle xmlns:a="http://schemas.openxmlformats.org/drawingml/2006/main"/>
          <a:p xmlns:a="http://schemas.openxmlformats.org/drawingml/2006/main">
            <a:pPr algn="ctr">
              <a:defRPr sz="1650" b="1">
                <a:solidFill>
                  <a:srgbClr val="102A43"/>
                </a:solidFill>
                <a:latin typeface="Arial"/>
                <a:ea typeface="Arial"/>
                <a:cs typeface="Arial"/>
              </a:defRPr>
            </a:pPr>
            <a:r>
              <a:rPr sz="1650" b="1">
                <a:solidFill>
                  <a:srgbClr val="102A43"/>
                </a:solidFill>
                <a:latin typeface="Arial"/>
                <a:ea typeface="Arial"/>
                <a:cs typeface="Arial"/>
              </a:rPr>
              <a:t>Seeds 7 · 19 · 31</a:t>
            </a:r>
          </a:p>
        </p:txBody>
      </p:sp>
      <p:sp>
        <p:nvSpPr>
          <p:cNvPr id="17" name="">
            <a:extLst xmlns:a="http://schemas.openxmlformats.org/drawingml/2006/main">
              <a:ext uri="{FF2B5EF4-FFF2-40B4-BE49-F238E27FC236}">
                <a16:creationId xmlns:a16="http://schemas.microsoft.com/office/drawing/2014/main" id="{E327E91E-0D7F-44C7-8B27-3D87C8CD41AC}"/>
              </a:ext>
            </a:extLst>
          </p:cNvPr>
          <p:cNvSpPr>
            <a:spLocks xmlns:a="http://schemas.openxmlformats.org/drawingml/2006/main" noGrp="1"/>
          </p:cNvSpPr>
          <p:nvPr/>
        </p:nvSpPr>
        <p:spPr>
          <a:xfrm xmlns:a="http://schemas.openxmlformats.org/drawingml/2006/main">
            <a:off x="7715250" y="2305050"/>
            <a:ext cx="3181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1905"/>
          </a:bodyPr>
          <a:lstStyle xmlns:a="http://schemas.openxmlformats.org/drawingml/2006/main"/>
          <a:p xmlns:a="http://schemas.openxmlformats.org/drawingml/2006/main">
            <a:pPr algn="ctr">
              <a:defRPr sz="1050" b="0">
                <a:solidFill>
                  <a:srgbClr val="52606D"/>
                </a:solidFill>
                <a:latin typeface="Arial"/>
                <a:ea typeface="Arial"/>
                <a:cs typeface="Arial"/>
              </a:defRPr>
            </a:pPr>
            <a:r>
              <a:rPr sz="1050" b="0">
                <a:solidFill>
                  <a:srgbClr val="52606D"/>
                </a:solidFill>
                <a:latin typeface="Arial"/>
                <a:ea typeface="Arial"/>
                <a:cs typeface="Arial"/>
              </a:rPr>
              <a:t>Compared run-for-run—not best against best</a:t>
            </a:r>
          </a:p>
        </p:txBody>
      </p:sp>
      <p:sp>
        <p:nvSpPr>
          <p:cNvPr id="18" name="">
            <a:extLst xmlns:a="http://schemas.openxmlformats.org/drawingml/2006/main">
              <a:ext uri="{FF2B5EF4-FFF2-40B4-BE49-F238E27FC236}">
                <a16:creationId xmlns:a16="http://schemas.microsoft.com/office/drawing/2014/main" id="{80F0A4FA-B2DE-4651-AF11-70E25BBECAF5}"/>
              </a:ext>
            </a:extLst>
          </p:cNvPr>
          <p:cNvSpPr>
            <a:spLocks xmlns:a="http://schemas.openxmlformats.org/drawingml/2006/main" noGrp="1"/>
          </p:cNvSpPr>
          <p:nvPr/>
        </p:nvSpPr>
        <p:spPr>
          <a:xfrm xmlns:a="http://schemas.openxmlformats.org/drawingml/2006/main">
            <a:off x="457200" y="3000375"/>
            <a:ext cx="3333750" cy="2190750"/>
          </a:xfrm>
          <a:prstGeom xmlns:a="http://schemas.openxmlformats.org/drawingml/2006/main" prst="roundRect">
            <a:avLst>
              <a:gd name="adj" fmla="val 5217"/>
            </a:avLst>
          </a:prstGeom>
          <a:solidFill xmlns:a="http://schemas.openxmlformats.org/drawingml/2006/main">
            <a:srgbClr val="EAF5FB"/>
          </a:solidFill>
          <a:ln xmlns:a="http://schemas.openxmlformats.org/drawingml/2006/main" w="9525">
            <a:solidFill>
              <a:srgbClr val="C9D2DC"/>
            </a:solidFill>
            <a:prstDash val="solid"/>
          </a:ln>
        </p:spPr>
      </p:sp>
      <p:sp>
        <p:nvSpPr>
          <p:cNvPr id="19" name="">
            <a:extLst xmlns:a="http://schemas.openxmlformats.org/drawingml/2006/main">
              <a:ext uri="{FF2B5EF4-FFF2-40B4-BE49-F238E27FC236}">
                <a16:creationId xmlns:a16="http://schemas.microsoft.com/office/drawing/2014/main" id="{3C742447-E937-45C9-8228-F5CCDB30E79D}"/>
              </a:ext>
            </a:extLst>
          </p:cNvPr>
          <p:cNvSpPr>
            <a:spLocks xmlns:a="http://schemas.openxmlformats.org/drawingml/2006/main" noGrp="1"/>
          </p:cNvSpPr>
          <p:nvPr/>
        </p:nvSpPr>
        <p:spPr>
          <a:xfrm xmlns:a="http://schemas.openxmlformats.org/drawingml/2006/main">
            <a:off x="457200" y="3000375"/>
            <a:ext cx="33337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0" name="">
            <a:extLst xmlns:a="http://schemas.openxmlformats.org/drawingml/2006/main">
              <a:ext uri="{FF2B5EF4-FFF2-40B4-BE49-F238E27FC236}">
                <a16:creationId xmlns:a16="http://schemas.microsoft.com/office/drawing/2014/main" id="{5B9B4700-0E19-4CC2-8536-12234A774079}"/>
              </a:ext>
            </a:extLst>
          </p:cNvPr>
          <p:cNvSpPr>
            <a:spLocks xmlns:a="http://schemas.openxmlformats.org/drawingml/2006/main" noGrp="1"/>
          </p:cNvSpPr>
          <p:nvPr/>
        </p:nvSpPr>
        <p:spPr>
          <a:xfrm xmlns:a="http://schemas.openxmlformats.org/drawingml/2006/main">
            <a:off x="666750" y="3209925"/>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3D8DFF"/>
                </a:solidFill>
                <a:latin typeface="Arial"/>
                <a:ea typeface="Arial"/>
                <a:cs typeface="Arial"/>
              </a:defRPr>
            </a:pPr>
            <a:r>
              <a:rPr sz="900" b="1">
                <a:solidFill>
                  <a:srgbClr val="3D8DFF"/>
                </a:solidFill>
                <a:latin typeface="Arial"/>
                <a:ea typeface="Arial"/>
                <a:cs typeface="Arial"/>
              </a:rPr>
              <a:t>EXPOSURE-MATCHED</a:t>
            </a:r>
          </a:p>
        </p:txBody>
      </p:sp>
      <p:sp>
        <p:nvSpPr>
          <p:cNvPr id="21" name="">
            <a:extLst xmlns:a="http://schemas.openxmlformats.org/drawingml/2006/main">
              <a:ext uri="{FF2B5EF4-FFF2-40B4-BE49-F238E27FC236}">
                <a16:creationId xmlns:a16="http://schemas.microsoft.com/office/drawing/2014/main" id="{52C1F19D-B537-4A15-9412-56B9FFC68C28}"/>
              </a:ext>
            </a:extLst>
          </p:cNvPr>
          <p:cNvSpPr>
            <a:spLocks xmlns:a="http://schemas.openxmlformats.org/drawingml/2006/main" noGrp="1"/>
          </p:cNvSpPr>
          <p:nvPr/>
        </p:nvSpPr>
        <p:spPr>
          <a:xfrm xmlns:a="http://schemas.openxmlformats.org/drawingml/2006/main">
            <a:off x="666750" y="3514725"/>
            <a:ext cx="2914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Same data budget</a:t>
            </a:r>
          </a:p>
        </p:txBody>
      </p:sp>
      <p:sp>
        <p:nvSpPr>
          <p:cNvPr id="22" name="">
            <a:extLst xmlns:a="http://schemas.openxmlformats.org/drawingml/2006/main">
              <a:ext uri="{FF2B5EF4-FFF2-40B4-BE49-F238E27FC236}">
                <a16:creationId xmlns:a16="http://schemas.microsoft.com/office/drawing/2014/main" id="{25725258-DA2A-41A8-8F1B-3F9102242D25}"/>
              </a:ext>
            </a:extLst>
          </p:cNvPr>
          <p:cNvSpPr>
            <a:spLocks xmlns:a="http://schemas.openxmlformats.org/drawingml/2006/main" noGrp="1"/>
          </p:cNvSpPr>
          <p:nvPr/>
        </p:nvSpPr>
        <p:spPr>
          <a:xfrm xmlns:a="http://schemas.openxmlformats.org/drawingml/2006/main">
            <a:off x="666750" y="4143375"/>
            <a:ext cx="2914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300 updates per model</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2,400 orbit exposures</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Original and reflected views matched</a:t>
            </a:r>
          </a:p>
        </p:txBody>
      </p:sp>
      <p:sp>
        <p:nvSpPr>
          <p:cNvPr id="23" name="">
            <a:extLst xmlns:a="http://schemas.openxmlformats.org/drawingml/2006/main">
              <a:ext uri="{FF2B5EF4-FFF2-40B4-BE49-F238E27FC236}">
                <a16:creationId xmlns:a16="http://schemas.microsoft.com/office/drawing/2014/main" id="{F40D4EAB-9AE7-48E1-B640-0F96674FBCB4}"/>
              </a:ext>
            </a:extLst>
          </p:cNvPr>
          <p:cNvSpPr>
            <a:spLocks xmlns:a="http://schemas.openxmlformats.org/drawingml/2006/main" noGrp="1"/>
          </p:cNvSpPr>
          <p:nvPr/>
        </p:nvSpPr>
        <p:spPr>
          <a:xfrm xmlns:a="http://schemas.openxmlformats.org/drawingml/2006/main">
            <a:off x="4124325" y="3000375"/>
            <a:ext cx="3333750" cy="2190750"/>
          </a:xfrm>
          <a:prstGeom xmlns:a="http://schemas.openxmlformats.org/drawingml/2006/main" prst="roundRect">
            <a:avLst>
              <a:gd name="adj" fmla="val 5217"/>
            </a:avLst>
          </a:prstGeom>
          <a:solidFill xmlns:a="http://schemas.openxmlformats.org/drawingml/2006/main">
            <a:srgbClr val="E8F5F2"/>
          </a:solidFill>
          <a:ln xmlns:a="http://schemas.openxmlformats.org/drawingml/2006/main" w="9525">
            <a:solidFill>
              <a:srgbClr val="C9D2DC"/>
            </a:solidFill>
            <a:prstDash val="solid"/>
          </a:ln>
        </p:spPr>
      </p:sp>
      <p:sp>
        <p:nvSpPr>
          <p:cNvPr id="24" name="">
            <a:extLst xmlns:a="http://schemas.openxmlformats.org/drawingml/2006/main">
              <a:ext uri="{FF2B5EF4-FFF2-40B4-BE49-F238E27FC236}">
                <a16:creationId xmlns:a16="http://schemas.microsoft.com/office/drawing/2014/main" id="{29119D81-DEA0-4655-A8AF-FC00641A96D7}"/>
              </a:ext>
            </a:extLst>
          </p:cNvPr>
          <p:cNvSpPr>
            <a:spLocks xmlns:a="http://schemas.openxmlformats.org/drawingml/2006/main" noGrp="1"/>
          </p:cNvSpPr>
          <p:nvPr/>
        </p:nvSpPr>
        <p:spPr>
          <a:xfrm xmlns:a="http://schemas.openxmlformats.org/drawingml/2006/main">
            <a:off x="4124325" y="3000375"/>
            <a:ext cx="3333750" cy="57150"/>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25" name="">
            <a:extLst xmlns:a="http://schemas.openxmlformats.org/drawingml/2006/main">
              <a:ext uri="{FF2B5EF4-FFF2-40B4-BE49-F238E27FC236}">
                <a16:creationId xmlns:a16="http://schemas.microsoft.com/office/drawing/2014/main" id="{3603ABFA-2C28-40C9-847F-1FBB83ADA2F1}"/>
              </a:ext>
            </a:extLst>
          </p:cNvPr>
          <p:cNvSpPr>
            <a:spLocks xmlns:a="http://schemas.openxmlformats.org/drawingml/2006/main" noGrp="1"/>
          </p:cNvSpPr>
          <p:nvPr/>
        </p:nvSpPr>
        <p:spPr>
          <a:xfrm xmlns:a="http://schemas.openxmlformats.org/drawingml/2006/main">
            <a:off x="4333875" y="3209925"/>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2A9D8F"/>
                </a:solidFill>
                <a:latin typeface="Arial"/>
                <a:ea typeface="Arial"/>
                <a:cs typeface="Arial"/>
              </a:defRPr>
            </a:pPr>
            <a:r>
              <a:rPr sz="900" b="1">
                <a:solidFill>
                  <a:srgbClr val="2A9D8F"/>
                </a:solidFill>
                <a:latin typeface="Arial"/>
                <a:ea typeface="Arial"/>
                <a:cs typeface="Arial"/>
              </a:rPr>
              <a:t>COMPUTE-MATCHED</a:t>
            </a:r>
          </a:p>
        </p:txBody>
      </p:sp>
      <p:sp>
        <p:nvSpPr>
          <p:cNvPr id="26" name="">
            <a:extLst xmlns:a="http://schemas.openxmlformats.org/drawingml/2006/main">
              <a:ext uri="{FF2B5EF4-FFF2-40B4-BE49-F238E27FC236}">
                <a16:creationId xmlns:a16="http://schemas.microsoft.com/office/drawing/2014/main" id="{4089A296-2DD7-46C9-8CDC-76D569C39F4F}"/>
              </a:ext>
            </a:extLst>
          </p:cNvPr>
          <p:cNvSpPr>
            <a:spLocks xmlns:a="http://schemas.openxmlformats.org/drawingml/2006/main" noGrp="1"/>
          </p:cNvSpPr>
          <p:nvPr/>
        </p:nvSpPr>
        <p:spPr>
          <a:xfrm xmlns:a="http://schemas.openxmlformats.org/drawingml/2006/main">
            <a:off x="4333875" y="3514725"/>
            <a:ext cx="2914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Same compute proxy</a:t>
            </a:r>
          </a:p>
        </p:txBody>
      </p:sp>
      <p:sp>
        <p:nvSpPr>
          <p:cNvPr id="27" name="">
            <a:extLst xmlns:a="http://schemas.openxmlformats.org/drawingml/2006/main">
              <a:ext uri="{FF2B5EF4-FFF2-40B4-BE49-F238E27FC236}">
                <a16:creationId xmlns:a16="http://schemas.microsoft.com/office/drawing/2014/main" id="{0E600F98-6F31-404E-953A-E2312F2BB85E}"/>
              </a:ext>
            </a:extLst>
          </p:cNvPr>
          <p:cNvSpPr>
            <a:spLocks xmlns:a="http://schemas.openxmlformats.org/drawingml/2006/main" noGrp="1"/>
          </p:cNvSpPr>
          <p:nvPr/>
        </p:nvSpPr>
        <p:spPr>
          <a:xfrm xmlns:a="http://schemas.openxmlformats.org/drawingml/2006/main">
            <a:off x="4333875" y="4143375"/>
            <a:ext cx="2914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≈183.2–183.7B</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Standard 393 updates</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Paired 155 · Equivariant 300</a:t>
            </a:r>
          </a:p>
        </p:txBody>
      </p:sp>
      <p:sp>
        <p:nvSpPr>
          <p:cNvPr id="28" name="">
            <a:extLst xmlns:a="http://schemas.openxmlformats.org/drawingml/2006/main">
              <a:ext uri="{FF2B5EF4-FFF2-40B4-BE49-F238E27FC236}">
                <a16:creationId xmlns:a16="http://schemas.microsoft.com/office/drawing/2014/main" id="{AEE15168-2435-47E2-8436-E8A5C21401AF}"/>
              </a:ext>
            </a:extLst>
          </p:cNvPr>
          <p:cNvSpPr>
            <a:spLocks xmlns:a="http://schemas.openxmlformats.org/drawingml/2006/main" noGrp="1"/>
          </p:cNvSpPr>
          <p:nvPr/>
        </p:nvSpPr>
        <p:spPr>
          <a:xfrm xmlns:a="http://schemas.openxmlformats.org/drawingml/2006/main">
            <a:off x="7791450" y="3000375"/>
            <a:ext cx="3333750" cy="2190750"/>
          </a:xfrm>
          <a:prstGeom xmlns:a="http://schemas.openxmlformats.org/drawingml/2006/main" prst="roundRect">
            <a:avLst>
              <a:gd name="adj" fmla="val 5217"/>
            </a:avLst>
          </a:prstGeom>
          <a:solidFill xmlns:a="http://schemas.openxmlformats.org/drawingml/2006/main">
            <a:srgbClr val="FFF3E8"/>
          </a:solidFill>
          <a:ln xmlns:a="http://schemas.openxmlformats.org/drawingml/2006/main" w="9525">
            <a:solidFill>
              <a:srgbClr val="C9D2DC"/>
            </a:solidFill>
            <a:prstDash val="solid"/>
          </a:ln>
        </p:spPr>
      </p:sp>
      <p:sp>
        <p:nvSpPr>
          <p:cNvPr id="29" name="">
            <a:extLst xmlns:a="http://schemas.openxmlformats.org/drawingml/2006/main">
              <a:ext uri="{FF2B5EF4-FFF2-40B4-BE49-F238E27FC236}">
                <a16:creationId xmlns:a16="http://schemas.microsoft.com/office/drawing/2014/main" id="{314791CA-002B-416B-A4A4-7B14179A86F2}"/>
              </a:ext>
            </a:extLst>
          </p:cNvPr>
          <p:cNvSpPr>
            <a:spLocks xmlns:a="http://schemas.openxmlformats.org/drawingml/2006/main" noGrp="1"/>
          </p:cNvSpPr>
          <p:nvPr/>
        </p:nvSpPr>
        <p:spPr>
          <a:xfrm xmlns:a="http://schemas.openxmlformats.org/drawingml/2006/main">
            <a:off x="7791450" y="3000375"/>
            <a:ext cx="3333750" cy="571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30" name="">
            <a:extLst xmlns:a="http://schemas.openxmlformats.org/drawingml/2006/main">
              <a:ext uri="{FF2B5EF4-FFF2-40B4-BE49-F238E27FC236}">
                <a16:creationId xmlns:a16="http://schemas.microsoft.com/office/drawing/2014/main" id="{03A35836-2AB0-4BC1-BA6D-39E5A084DA93}"/>
              </a:ext>
            </a:extLst>
          </p:cNvPr>
          <p:cNvSpPr>
            <a:spLocks xmlns:a="http://schemas.openxmlformats.org/drawingml/2006/main" noGrp="1"/>
          </p:cNvSpPr>
          <p:nvPr/>
        </p:nvSpPr>
        <p:spPr>
          <a:xfrm xmlns:a="http://schemas.openxmlformats.org/drawingml/2006/main">
            <a:off x="8001000" y="3209925"/>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CAPACITY ACCOUNTING</a:t>
            </a:r>
          </a:p>
        </p:txBody>
      </p:sp>
      <p:sp>
        <p:nvSpPr>
          <p:cNvPr id="31" name="">
            <a:extLst xmlns:a="http://schemas.openxmlformats.org/drawingml/2006/main">
              <a:ext uri="{FF2B5EF4-FFF2-40B4-BE49-F238E27FC236}">
                <a16:creationId xmlns:a16="http://schemas.microsoft.com/office/drawing/2014/main" id="{BB0CD910-9759-4C1E-95A2-E60AD137DD74}"/>
              </a:ext>
            </a:extLst>
          </p:cNvPr>
          <p:cNvSpPr>
            <a:spLocks xmlns:a="http://schemas.openxmlformats.org/drawingml/2006/main" noGrp="1"/>
          </p:cNvSpPr>
          <p:nvPr/>
        </p:nvSpPr>
        <p:spPr>
          <a:xfrm xmlns:a="http://schemas.openxmlformats.org/drawingml/2006/main">
            <a:off x="8001000" y="3514725"/>
            <a:ext cx="2914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7500"/>
          </a:bodyPr>
          <a:lstStyle xmlns:a="http://schemas.openxmlformats.org/drawingml/2006/main"/>
          <a:p xmlns:a="http://schemas.openxmlformats.org/drawingml/2006/main">
            <a:pPr algn="l">
              <a:defRPr sz="1800" b="1">
                <a:solidFill>
                  <a:srgbClr val="102A43"/>
                </a:solidFill>
                <a:latin typeface="Arial"/>
                <a:ea typeface="Arial"/>
                <a:cs typeface="Arial"/>
              </a:defRPr>
            </a:pPr>
            <a:r>
              <a:rPr sz="1800" b="1">
                <a:solidFill>
                  <a:srgbClr val="102A43"/>
                </a:solidFill>
                <a:latin typeface="Arial"/>
                <a:ea typeface="Arial"/>
                <a:cs typeface="Arial"/>
              </a:rPr>
              <a:t>Report—not pretend—matching</a:t>
            </a:r>
          </a:p>
        </p:txBody>
      </p:sp>
      <p:sp>
        <p:nvSpPr>
          <p:cNvPr id="32" name="">
            <a:extLst xmlns:a="http://schemas.openxmlformats.org/drawingml/2006/main">
              <a:ext uri="{FF2B5EF4-FFF2-40B4-BE49-F238E27FC236}">
                <a16:creationId xmlns:a16="http://schemas.microsoft.com/office/drawing/2014/main" id="{81CF1E74-D867-47CE-BCD5-8CA45E2560AB}"/>
              </a:ext>
            </a:extLst>
          </p:cNvPr>
          <p:cNvSpPr>
            <a:spLocks xmlns:a="http://schemas.openxmlformats.org/drawingml/2006/main" noGrp="1"/>
          </p:cNvSpPr>
          <p:nvPr/>
        </p:nvSpPr>
        <p:spPr>
          <a:xfrm xmlns:a="http://schemas.openxmlformats.org/drawingml/2006/main">
            <a:off x="8001000" y="4143375"/>
            <a:ext cx="2914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Standard 41,696 params</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Paired 84,256</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Equivariant 50,272</a:t>
            </a:r>
          </a:p>
        </p:txBody>
      </p:sp>
      <p:sp>
        <p:nvSpPr>
          <p:cNvPr id="33" name="">
            <a:extLst xmlns:a="http://schemas.openxmlformats.org/drawingml/2006/main">
              <a:ext uri="{FF2B5EF4-FFF2-40B4-BE49-F238E27FC236}">
                <a16:creationId xmlns:a16="http://schemas.microsoft.com/office/drawing/2014/main" id="{F4631551-5E7B-41B8-B775-0A649DE845B5}"/>
              </a:ext>
            </a:extLst>
          </p:cNvPr>
          <p:cNvSpPr>
            <a:spLocks xmlns:a="http://schemas.openxmlformats.org/drawingml/2006/main" noGrp="1"/>
          </p:cNvSpPr>
          <p:nvPr/>
        </p:nvSpPr>
        <p:spPr>
          <a:xfrm xmlns:a="http://schemas.openxmlformats.org/drawingml/2006/main">
            <a:off x="819150" y="5505450"/>
            <a:ext cx="998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75" b="1">
                <a:solidFill>
                  <a:srgbClr val="102A43"/>
                </a:solidFill>
                <a:latin typeface="Arial"/>
                <a:ea typeface="Arial"/>
                <a:cs typeface="Arial"/>
              </a:defRPr>
            </a:pPr>
            <a:r>
              <a:rPr sz="1275" b="1">
                <a:solidFill>
                  <a:srgbClr val="102A43"/>
                </a:solidFill>
                <a:latin typeface="Arial"/>
                <a:ea typeface="Arial"/>
                <a:cs typeface="Arial"/>
              </a:rPr>
              <a:t>This experiment asks whether the implementation and audit are trustworthy. It contains no independent force target.</a:t>
            </a:r>
          </a:p>
        </p:txBody>
      </p:sp>
    </p:spTree>
    <p:extLst>
      <p:ext uri="{BB962C8B-B14F-4D97-AF65-F5344CB8AC3E}">
        <p14:creationId xmlns:p14="http://schemas.microsoft.com/office/powerpoint/2010/main" val="137767123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1FDCA3B-6325-4E9B-9D06-A31249ABA3C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2" name="">
            <a:extLst xmlns:a="http://schemas.openxmlformats.org/drawingml/2006/main">
              <a:ext uri="{FF2B5EF4-FFF2-40B4-BE49-F238E27FC236}">
                <a16:creationId xmlns:a16="http://schemas.microsoft.com/office/drawing/2014/main" id="{B9157BF9-2357-46D2-A029-4D8870CB6311}"/>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2A9D8F"/>
                </a:solidFill>
                <a:latin typeface="Arial"/>
                <a:ea typeface="Arial"/>
                <a:cs typeface="Arial"/>
              </a:defRPr>
            </a:pPr>
            <a:r>
              <a:rPr sz="900" b="1">
                <a:solidFill>
                  <a:srgbClr val="2A9D8F"/>
                </a:solidFill>
                <a:latin typeface="Arial"/>
                <a:ea typeface="Arial"/>
                <a:cs typeface="Arial"/>
              </a:rPr>
              <a:t>PARITY RESULTS</a:t>
            </a:r>
          </a:p>
        </p:txBody>
      </p:sp>
      <p:sp>
        <p:nvSpPr>
          <p:cNvPr id="3" name="">
            <a:extLst xmlns:a="http://schemas.openxmlformats.org/drawingml/2006/main">
              <a:ext uri="{FF2B5EF4-FFF2-40B4-BE49-F238E27FC236}">
                <a16:creationId xmlns:a16="http://schemas.microsoft.com/office/drawing/2014/main" id="{4F54EDE5-207D-4CB2-B366-71A2338A21DB}"/>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Full-GAVD replication: geometry is exact; utility is untested</a:t>
            </a:r>
          </a:p>
        </p:txBody>
      </p:sp>
      <p:sp>
        <p:nvSpPr>
          <p:cNvPr id="4" name="">
            <a:extLst xmlns:a="http://schemas.openxmlformats.org/drawingml/2006/main">
              <a:ext uri="{FF2B5EF4-FFF2-40B4-BE49-F238E27FC236}">
                <a16:creationId xmlns:a16="http://schemas.microsoft.com/office/drawing/2014/main" id="{E15A5EF5-B901-413F-9BF0-8F5551A3ACE3}"/>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48C6B837-9DF1-4E91-97A0-F394C0CCF88F}"/>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178908AD-F163-47F2-8F1B-27DC08B9FE3D}"/>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Nine checkpoints per matching regime; 96 sequences, 18 videos, 394 windows, 3 seeds.</a:t>
            </a:r>
          </a:p>
        </p:txBody>
      </p:sp>
      <p:sp>
        <p:nvSpPr>
          <p:cNvPr id="7" name="">
            <a:extLst xmlns:a="http://schemas.openxmlformats.org/drawingml/2006/main">
              <a:ext uri="{FF2B5EF4-FFF2-40B4-BE49-F238E27FC236}">
                <a16:creationId xmlns:a16="http://schemas.microsoft.com/office/drawing/2014/main" id="{372B4743-0487-4DF1-859A-D7C941F14A38}"/>
              </a:ext>
            </a:extLst>
          </p:cNvPr>
          <p:cNvSpPr>
            <a:spLocks xmlns:a="http://schemas.openxmlformats.org/drawingml/2006/main" noGrp="1"/>
          </p:cNvSpPr>
          <p:nvPr/>
        </p:nvSpPr>
        <p:spPr>
          <a:xfrm xmlns:a="http://schemas.openxmlformats.org/drawingml/2006/main">
            <a:off x="457200" y="1695450"/>
            <a:ext cx="106680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9D2DC"/>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ef0713e09b147a1"/>
          <a:stretch xmlns:a="http://schemas.openxmlformats.org/drawingml/2006/main"/>
        </p:blipFill>
        <p:spPr>
          <a:xfrm xmlns:a="http://schemas.openxmlformats.org/drawingml/2006/main">
            <a:off x="2657306" y="1828800"/>
            <a:ext cx="6267789" cy="34480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0316694-305E-40D7-B763-C769FC85F273}"/>
              </a:ext>
            </a:extLst>
          </p:cNvPr>
          <p:cNvSpPr>
            <a:spLocks xmlns:a="http://schemas.openxmlformats.org/drawingml/2006/main" noGrp="1"/>
          </p:cNvSpPr>
          <p:nvPr/>
        </p:nvSpPr>
        <p:spPr>
          <a:xfrm xmlns:a="http://schemas.openxmlformats.org/drawingml/2006/main">
            <a:off x="457200" y="5581650"/>
            <a:ext cx="10668000" cy="762000"/>
          </a:xfrm>
          <a:prstGeom xmlns:a="http://schemas.openxmlformats.org/drawingml/2006/main" prst="roundRect">
            <a:avLst>
              <a:gd name="adj" fmla="val 15000"/>
            </a:avLst>
          </a:prstGeom>
          <a:solidFill xmlns:a="http://schemas.openxmlformats.org/drawingml/2006/main">
            <a:srgbClr val="EAF5FB"/>
          </a:solidFill>
          <a:ln xmlns:a="http://schemas.openxmlformats.org/drawingml/2006/main" w="9525">
            <a:solidFill>
              <a:srgbClr val="6DCBF4"/>
            </a:solidFill>
            <a:prstDash val="solid"/>
          </a:ln>
        </p:spPr>
      </p:sp>
      <p:sp>
        <p:nvSpPr>
          <p:cNvPr id="10" name="">
            <a:extLst xmlns:a="http://schemas.openxmlformats.org/drawingml/2006/main">
              <a:ext uri="{FF2B5EF4-FFF2-40B4-BE49-F238E27FC236}">
                <a16:creationId xmlns:a16="http://schemas.microsoft.com/office/drawing/2014/main" id="{EB38DC6F-3619-4A10-9578-99503F47D1D1}"/>
              </a:ext>
            </a:extLst>
          </p:cNvPr>
          <p:cNvSpPr>
            <a:spLocks xmlns:a="http://schemas.openxmlformats.org/drawingml/2006/main" noGrp="1"/>
          </p:cNvSpPr>
          <p:nvPr/>
        </p:nvSpPr>
        <p:spPr>
          <a:xfrm xmlns:a="http://schemas.openxmlformats.org/drawingml/2006/main">
            <a:off x="685800" y="5762625"/>
            <a:ext cx="1021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Equivariant residual 0 · paired residual 5.900 exposure / 5.286 compute · equivariant odd/even energy .022 · odd rank 1.532</a:t>
            </a:r>
          </a:p>
        </p:txBody>
      </p:sp>
    </p:spTree>
    <p:extLst>
      <p:ext uri="{BB962C8B-B14F-4D97-AF65-F5344CB8AC3E}">
        <p14:creationId xmlns:p14="http://schemas.microsoft.com/office/powerpoint/2010/main" val="46330530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799AEB5-C799-4DD8-898E-3DE99E865CB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2" name="">
            <a:extLst xmlns:a="http://schemas.openxmlformats.org/drawingml/2006/main">
              <a:ext uri="{FF2B5EF4-FFF2-40B4-BE49-F238E27FC236}">
                <a16:creationId xmlns:a16="http://schemas.microsoft.com/office/drawing/2014/main" id="{5975FB0B-B724-4243-8BD0-0F2CA44B7564}"/>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2A9D8F"/>
                </a:solidFill>
                <a:latin typeface="Arial"/>
                <a:ea typeface="Arial"/>
                <a:cs typeface="Arial"/>
              </a:defRPr>
            </a:pPr>
            <a:r>
              <a:rPr sz="900" b="1">
                <a:solidFill>
                  <a:srgbClr val="2A9D8F"/>
                </a:solidFill>
                <a:latin typeface="Arial"/>
                <a:ea typeface="Arial"/>
                <a:cs typeface="Arial"/>
              </a:rPr>
              <a:t>DISCUSSION</a:t>
            </a:r>
          </a:p>
        </p:txBody>
      </p:sp>
      <p:sp>
        <p:nvSpPr>
          <p:cNvPr id="3" name="">
            <a:extLst xmlns:a="http://schemas.openxmlformats.org/drawingml/2006/main">
              <a:ext uri="{FF2B5EF4-FFF2-40B4-BE49-F238E27FC236}">
                <a16:creationId xmlns:a16="http://schemas.microsoft.com/office/drawing/2014/main" id="{A8A0E0C8-A779-4CE5-9DBB-36A98493F661}"/>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Implementation passes; physical utility remains open</a:t>
            </a:r>
          </a:p>
        </p:txBody>
      </p:sp>
      <p:sp>
        <p:nvSpPr>
          <p:cNvPr id="4" name="">
            <a:extLst xmlns:a="http://schemas.openxmlformats.org/drawingml/2006/main">
              <a:ext uri="{FF2B5EF4-FFF2-40B4-BE49-F238E27FC236}">
                <a16:creationId xmlns:a16="http://schemas.microsoft.com/office/drawing/2014/main" id="{CD322D47-1451-47E5-ACF5-048743BBE329}"/>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906A2723-908C-45AB-AEF4-A60E39F44D96}"/>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CE649E6A-4AC7-4A58-82A1-585F5A722A2E}"/>
              </a:ext>
            </a:extLst>
          </p:cNvPr>
          <p:cNvSpPr>
            <a:spLocks xmlns:a="http://schemas.openxmlformats.org/drawingml/2006/main" noGrp="1"/>
          </p:cNvSpPr>
          <p:nvPr/>
        </p:nvSpPr>
        <p:spPr>
          <a:xfrm xmlns:a="http://schemas.openxmlformats.org/drawingml/2006/main">
            <a:off x="457200" y="11239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75" b="0">
                <a:solidFill>
                  <a:srgbClr val="52606D"/>
                </a:solidFill>
                <a:latin typeface="Arial"/>
                <a:ea typeface="Arial"/>
                <a:cs typeface="Arial"/>
              </a:defRPr>
            </a:pPr>
            <a:r>
              <a:rPr sz="1575" b="0">
                <a:solidFill>
                  <a:srgbClr val="52606D"/>
                </a:solidFill>
                <a:latin typeface="Arial"/>
                <a:ea typeface="Arial"/>
                <a:cs typeface="Arial"/>
              </a:rPr>
              <a:t>All variants train under matched exposure and closely matched compute, but prediction loss is not gait utility.</a:t>
            </a:r>
          </a:p>
        </p:txBody>
      </p:sp>
      <p:sp>
        <p:nvSpPr>
          <p:cNvPr id="7" name="">
            <a:extLst xmlns:a="http://schemas.openxmlformats.org/drawingml/2006/main">
              <a:ext uri="{FF2B5EF4-FFF2-40B4-BE49-F238E27FC236}">
                <a16:creationId xmlns:a16="http://schemas.microsoft.com/office/drawing/2014/main" id="{9C6647D5-D44F-464C-89C3-9AC2CFFE44C8}"/>
              </a:ext>
            </a:extLst>
          </p:cNvPr>
          <p:cNvSpPr>
            <a:spLocks xmlns:a="http://schemas.openxmlformats.org/drawingml/2006/main" noGrp="1"/>
          </p:cNvSpPr>
          <p:nvPr/>
        </p:nvSpPr>
        <p:spPr>
          <a:xfrm xmlns:a="http://schemas.openxmlformats.org/drawingml/2006/main">
            <a:off x="457200" y="1790700"/>
            <a:ext cx="5191125" cy="3733800"/>
          </a:xfrm>
          <a:prstGeom xmlns:a="http://schemas.openxmlformats.org/drawingml/2006/main" prst="roundRect">
            <a:avLst>
              <a:gd name="adj" fmla="val 3061"/>
            </a:avLst>
          </a:prstGeom>
          <a:solidFill xmlns:a="http://schemas.openxmlformats.org/drawingml/2006/main">
            <a:srgbClr val="E8F5F2"/>
          </a:solidFill>
          <a:ln xmlns:a="http://schemas.openxmlformats.org/drawingml/2006/main" w="9525">
            <a:solidFill>
              <a:srgbClr val="C9D2DC"/>
            </a:solidFill>
            <a:prstDash val="solid"/>
          </a:ln>
        </p:spPr>
      </p:sp>
      <p:sp>
        <p:nvSpPr>
          <p:cNvPr id="8" name="">
            <a:extLst xmlns:a="http://schemas.openxmlformats.org/drawingml/2006/main">
              <a:ext uri="{FF2B5EF4-FFF2-40B4-BE49-F238E27FC236}">
                <a16:creationId xmlns:a16="http://schemas.microsoft.com/office/drawing/2014/main" id="{A8642365-25BF-41CB-88DA-8E6C02AF20CB}"/>
              </a:ext>
            </a:extLst>
          </p:cNvPr>
          <p:cNvSpPr>
            <a:spLocks xmlns:a="http://schemas.openxmlformats.org/drawingml/2006/main" noGrp="1"/>
          </p:cNvSpPr>
          <p:nvPr/>
        </p:nvSpPr>
        <p:spPr>
          <a:xfrm xmlns:a="http://schemas.openxmlformats.org/drawingml/2006/main">
            <a:off x="457200" y="1790700"/>
            <a:ext cx="5191125" cy="57150"/>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9" name="">
            <a:extLst xmlns:a="http://schemas.openxmlformats.org/drawingml/2006/main">
              <a:ext uri="{FF2B5EF4-FFF2-40B4-BE49-F238E27FC236}">
                <a16:creationId xmlns:a16="http://schemas.microsoft.com/office/drawing/2014/main" id="{A3B474A1-1D28-4468-AA8F-AD5C3C8A27C6}"/>
              </a:ext>
            </a:extLst>
          </p:cNvPr>
          <p:cNvSpPr>
            <a:spLocks xmlns:a="http://schemas.openxmlformats.org/drawingml/2006/main" noGrp="1"/>
          </p:cNvSpPr>
          <p:nvPr/>
        </p:nvSpPr>
        <p:spPr>
          <a:xfrm xmlns:a="http://schemas.openxmlformats.org/drawingml/2006/main">
            <a:off x="666750" y="2000250"/>
            <a:ext cx="47720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2A9D8F"/>
                </a:solidFill>
                <a:latin typeface="Arial"/>
                <a:ea typeface="Arial"/>
                <a:cs typeface="Arial"/>
              </a:defRPr>
            </a:pPr>
            <a:r>
              <a:rPr sz="900" b="1">
                <a:solidFill>
                  <a:srgbClr val="2A9D8F"/>
                </a:solidFill>
                <a:latin typeface="Arial"/>
                <a:ea typeface="Arial"/>
                <a:cs typeface="Arial"/>
              </a:rPr>
              <a:t>SUPPORTED</a:t>
            </a:r>
          </a:p>
        </p:txBody>
      </p:sp>
      <p:sp>
        <p:nvSpPr>
          <p:cNvPr id="10" name="">
            <a:extLst xmlns:a="http://schemas.openxmlformats.org/drawingml/2006/main">
              <a:ext uri="{FF2B5EF4-FFF2-40B4-BE49-F238E27FC236}">
                <a16:creationId xmlns:a16="http://schemas.microsoft.com/office/drawing/2014/main" id="{C6BF333D-8CB4-41BD-963A-FDB04A9D35F7}"/>
              </a:ext>
            </a:extLst>
          </p:cNvPr>
          <p:cNvSpPr>
            <a:spLocks xmlns:a="http://schemas.openxmlformats.org/drawingml/2006/main" noGrp="1"/>
          </p:cNvSpPr>
          <p:nvPr/>
        </p:nvSpPr>
        <p:spPr>
          <a:xfrm xmlns:a="http://schemas.openxmlformats.org/drawingml/2006/main">
            <a:off x="666750" y="2305050"/>
            <a:ext cx="47720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950" b="1">
                <a:solidFill>
                  <a:srgbClr val="102A43"/>
                </a:solidFill>
                <a:latin typeface="Arial"/>
                <a:ea typeface="Arial"/>
                <a:cs typeface="Arial"/>
              </a:defRPr>
            </a:pPr>
            <a:r>
              <a:rPr sz="1950" b="1">
                <a:solidFill>
                  <a:srgbClr val="102A43"/>
                </a:solidFill>
                <a:latin typeface="Arial"/>
                <a:ea typeface="Arial"/>
                <a:cs typeface="Arial"/>
              </a:rPr>
              <a:t>Exact, inspectable parity</a:t>
            </a:r>
          </a:p>
        </p:txBody>
      </p:sp>
      <p:sp>
        <p:nvSpPr>
          <p:cNvPr id="11" name="">
            <a:extLst xmlns:a="http://schemas.openxmlformats.org/drawingml/2006/main">
              <a:ext uri="{FF2B5EF4-FFF2-40B4-BE49-F238E27FC236}">
                <a16:creationId xmlns:a16="http://schemas.microsoft.com/office/drawing/2014/main" id="{3AFF2171-9721-4949-BF9C-CFFF63D75A4F}"/>
              </a:ext>
            </a:extLst>
          </p:cNvPr>
          <p:cNvSpPr>
            <a:spLocks xmlns:a="http://schemas.openxmlformats.org/drawingml/2006/main" noGrp="1"/>
          </p:cNvSpPr>
          <p:nvPr/>
        </p:nvSpPr>
        <p:spPr>
          <a:xfrm xmlns:a="http://schemas.openxmlformats.org/drawingml/2006/main">
            <a:off x="666750" y="2933700"/>
            <a:ext cx="4772025"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Equivariant worst residual = 0</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Unrestricted control residual &gt; 5</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All registered health gates passed</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Audit survives save/reload and masks</a:t>
            </a:r>
          </a:p>
        </p:txBody>
      </p:sp>
      <p:sp>
        <p:nvSpPr>
          <p:cNvPr id="12" name="">
            <a:extLst xmlns:a="http://schemas.openxmlformats.org/drawingml/2006/main">
              <a:ext uri="{FF2B5EF4-FFF2-40B4-BE49-F238E27FC236}">
                <a16:creationId xmlns:a16="http://schemas.microsoft.com/office/drawing/2014/main" id="{27D55C88-1ED3-48B0-84F9-A80ACE647611}"/>
              </a:ext>
            </a:extLst>
          </p:cNvPr>
          <p:cNvSpPr>
            <a:spLocks xmlns:a="http://schemas.openxmlformats.org/drawingml/2006/main" noGrp="1"/>
          </p:cNvSpPr>
          <p:nvPr/>
        </p:nvSpPr>
        <p:spPr>
          <a:xfrm xmlns:a="http://schemas.openxmlformats.org/drawingml/2006/main">
            <a:off x="5934075" y="1790700"/>
            <a:ext cx="5191125" cy="3733800"/>
          </a:xfrm>
          <a:prstGeom xmlns:a="http://schemas.openxmlformats.org/drawingml/2006/main" prst="roundRect">
            <a:avLst>
              <a:gd name="adj" fmla="val 3061"/>
            </a:avLst>
          </a:prstGeom>
          <a:solidFill xmlns:a="http://schemas.openxmlformats.org/drawingml/2006/main">
            <a:srgbClr val="FDECEC"/>
          </a:solidFill>
          <a:ln xmlns:a="http://schemas.openxmlformats.org/drawingml/2006/main" w="9525">
            <a:solidFill>
              <a:srgbClr val="C9D2DC"/>
            </a:solidFill>
            <a:prstDash val="solid"/>
          </a:ln>
        </p:spPr>
      </p:sp>
      <p:sp>
        <p:nvSpPr>
          <p:cNvPr id="13" name="">
            <a:extLst xmlns:a="http://schemas.openxmlformats.org/drawingml/2006/main">
              <a:ext uri="{FF2B5EF4-FFF2-40B4-BE49-F238E27FC236}">
                <a16:creationId xmlns:a16="http://schemas.microsoft.com/office/drawing/2014/main" id="{108832F9-03F1-41A3-940B-7CB3BB1B1879}"/>
              </a:ext>
            </a:extLst>
          </p:cNvPr>
          <p:cNvSpPr>
            <a:spLocks xmlns:a="http://schemas.openxmlformats.org/drawingml/2006/main" noGrp="1"/>
          </p:cNvSpPr>
          <p:nvPr/>
        </p:nvSpPr>
        <p:spPr>
          <a:xfrm xmlns:a="http://schemas.openxmlformats.org/drawingml/2006/main">
            <a:off x="5934075" y="1790700"/>
            <a:ext cx="5191125" cy="57150"/>
          </a:xfrm>
          <a:prstGeom xmlns:a="http://schemas.openxmlformats.org/drawingml/2006/main" prst="rect">
            <a:avLst/>
          </a:prstGeom>
          <a:solidFill xmlns:a="http://schemas.openxmlformats.org/drawingml/2006/main">
            <a:srgbClr val="D95D5D"/>
          </a:solidFill>
          <a:ln xmlns:a="http://schemas.openxmlformats.org/drawingml/2006/main" w="0">
            <a:solidFill>
              <a:srgbClr val="D95D5D"/>
            </a:solidFill>
            <a:prstDash val="solid"/>
          </a:ln>
        </p:spPr>
      </p:sp>
      <p:sp>
        <p:nvSpPr>
          <p:cNvPr id="14" name="">
            <a:extLst xmlns:a="http://schemas.openxmlformats.org/drawingml/2006/main">
              <a:ext uri="{FF2B5EF4-FFF2-40B4-BE49-F238E27FC236}">
                <a16:creationId xmlns:a16="http://schemas.microsoft.com/office/drawing/2014/main" id="{F92CEFD1-B4CF-4CC1-A0D1-F2E1E4A57C1B}"/>
              </a:ext>
            </a:extLst>
          </p:cNvPr>
          <p:cNvSpPr>
            <a:spLocks xmlns:a="http://schemas.openxmlformats.org/drawingml/2006/main" noGrp="1"/>
          </p:cNvSpPr>
          <p:nvPr/>
        </p:nvSpPr>
        <p:spPr>
          <a:xfrm xmlns:a="http://schemas.openxmlformats.org/drawingml/2006/main">
            <a:off x="6143625" y="2000250"/>
            <a:ext cx="47720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D95D5D"/>
                </a:solidFill>
                <a:latin typeface="Arial"/>
                <a:ea typeface="Arial"/>
                <a:cs typeface="Arial"/>
              </a:defRPr>
            </a:pPr>
            <a:r>
              <a:rPr sz="900" b="1">
                <a:solidFill>
                  <a:srgbClr val="D95D5D"/>
                </a:solidFill>
                <a:latin typeface="Arial"/>
                <a:ea typeface="Arial"/>
                <a:cs typeface="Arial"/>
              </a:rPr>
              <a:t>OPEN</a:t>
            </a:r>
          </a:p>
        </p:txBody>
      </p:sp>
      <p:sp>
        <p:nvSpPr>
          <p:cNvPr id="15" name="">
            <a:extLst xmlns:a="http://schemas.openxmlformats.org/drawingml/2006/main">
              <a:ext uri="{FF2B5EF4-FFF2-40B4-BE49-F238E27FC236}">
                <a16:creationId xmlns:a16="http://schemas.microsoft.com/office/drawing/2014/main" id="{E1CF9F36-1F4D-48AD-B1ED-2B9A5C50ACCC}"/>
              </a:ext>
            </a:extLst>
          </p:cNvPr>
          <p:cNvSpPr>
            <a:spLocks xmlns:a="http://schemas.openxmlformats.org/drawingml/2006/main" noGrp="1"/>
          </p:cNvSpPr>
          <p:nvPr/>
        </p:nvSpPr>
        <p:spPr>
          <a:xfrm xmlns:a="http://schemas.openxmlformats.org/drawingml/2006/main">
            <a:off x="6143625" y="2305050"/>
            <a:ext cx="47720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950" b="1">
                <a:solidFill>
                  <a:srgbClr val="102A43"/>
                </a:solidFill>
                <a:latin typeface="Arial"/>
                <a:ea typeface="Arial"/>
                <a:cs typeface="Arial"/>
              </a:defRPr>
            </a:pPr>
            <a:r>
              <a:rPr sz="1950" b="1">
                <a:solidFill>
                  <a:srgbClr val="102A43"/>
                </a:solidFill>
                <a:latin typeface="Arial"/>
                <a:ea typeface="Arial"/>
                <a:cs typeface="Arial"/>
              </a:rPr>
              <a:t>Meaningful biomechanics</a:t>
            </a:r>
          </a:p>
        </p:txBody>
      </p:sp>
      <p:sp>
        <p:nvSpPr>
          <p:cNvPr id="16" name="">
            <a:extLst xmlns:a="http://schemas.openxmlformats.org/drawingml/2006/main">
              <a:ext uri="{FF2B5EF4-FFF2-40B4-BE49-F238E27FC236}">
                <a16:creationId xmlns:a16="http://schemas.microsoft.com/office/drawing/2014/main" id="{2EC3FC55-85A1-43C4-9EC7-5B0AD44AF902}"/>
              </a:ext>
            </a:extLst>
          </p:cNvPr>
          <p:cNvSpPr>
            <a:spLocks xmlns:a="http://schemas.openxmlformats.org/drawingml/2006/main" noGrp="1"/>
          </p:cNvSpPr>
          <p:nvPr/>
        </p:nvSpPr>
        <p:spPr>
          <a:xfrm xmlns:a="http://schemas.openxmlformats.org/drawingml/2006/main">
            <a:off x="6143625" y="2933700"/>
            <a:ext cx="4772025"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No force target</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No participant holdout</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No robustness advantage</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No label-efficiency advantage</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No GPU replication</a:t>
            </a:r>
          </a:p>
        </p:txBody>
      </p:sp>
      <p:sp>
        <p:nvSpPr>
          <p:cNvPr id="17" name="">
            <a:extLst xmlns:a="http://schemas.openxmlformats.org/drawingml/2006/main">
              <a:ext uri="{FF2B5EF4-FFF2-40B4-BE49-F238E27FC236}">
                <a16:creationId xmlns:a16="http://schemas.microsoft.com/office/drawing/2014/main" id="{F79D7FE1-680F-4ADB-9153-4231471F3E72}"/>
              </a:ext>
            </a:extLst>
          </p:cNvPr>
          <p:cNvSpPr>
            <a:spLocks xmlns:a="http://schemas.openxmlformats.org/drawingml/2006/main" noGrp="1"/>
          </p:cNvSpPr>
          <p:nvPr/>
        </p:nvSpPr>
        <p:spPr>
          <a:xfrm xmlns:a="http://schemas.openxmlformats.org/drawingml/2006/main">
            <a:off x="457200" y="5715000"/>
            <a:ext cx="10668000" cy="533400"/>
          </a:xfrm>
          <a:prstGeom xmlns:a="http://schemas.openxmlformats.org/drawingml/2006/main" prst="roundRect">
            <a:avLst>
              <a:gd name="adj" fmla="val 21429"/>
            </a:avLst>
          </a:prstGeom>
          <a:solidFill xmlns:a="http://schemas.openxmlformats.org/drawingml/2006/main">
            <a:srgbClr val="102A43"/>
          </a:solidFill>
          <a:ln xmlns:a="http://schemas.openxmlformats.org/drawingml/2006/main" w="9525">
            <a:solidFill>
              <a:srgbClr val="102A43"/>
            </a:solidFill>
            <a:prstDash val="solid"/>
          </a:ln>
        </p:spPr>
      </p:sp>
      <p:sp>
        <p:nvSpPr>
          <p:cNvPr id="18" name="">
            <a:extLst xmlns:a="http://schemas.openxmlformats.org/drawingml/2006/main">
              <a:ext uri="{FF2B5EF4-FFF2-40B4-BE49-F238E27FC236}">
                <a16:creationId xmlns:a16="http://schemas.microsoft.com/office/drawing/2014/main" id="{A0ABA744-19FD-465B-9444-D870B0067462}"/>
              </a:ext>
            </a:extLst>
          </p:cNvPr>
          <p:cNvSpPr>
            <a:spLocks xmlns:a="http://schemas.openxmlformats.org/drawingml/2006/main" noGrp="1"/>
          </p:cNvSpPr>
          <p:nvPr/>
        </p:nvSpPr>
        <p:spPr>
          <a:xfrm xmlns:a="http://schemas.openxmlformats.org/drawingml/2006/main">
            <a:off x="666750" y="5867400"/>
            <a:ext cx="1024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44"/>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Odd-channel energy is low and rank is modest; downstream physical supervision is the decisive test.</a:t>
            </a:r>
          </a:p>
        </p:txBody>
      </p:sp>
    </p:spTree>
    <p:extLst>
      <p:ext uri="{BB962C8B-B14F-4D97-AF65-F5344CB8AC3E}">
        <p14:creationId xmlns:p14="http://schemas.microsoft.com/office/powerpoint/2010/main" val="9784821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8686366-568D-4B92-82CB-259E76E31C7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2" name="">
            <a:extLst xmlns:a="http://schemas.openxmlformats.org/drawingml/2006/main">
              <a:ext uri="{FF2B5EF4-FFF2-40B4-BE49-F238E27FC236}">
                <a16:creationId xmlns:a16="http://schemas.microsoft.com/office/drawing/2014/main" id="{71EAEF6A-0B14-41F9-944C-00B6248A2421}"/>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PLANNED STUDY</a:t>
            </a:r>
          </a:p>
        </p:txBody>
      </p:sp>
      <p:sp>
        <p:nvSpPr>
          <p:cNvPr id="3" name="">
            <a:extLst xmlns:a="http://schemas.openxmlformats.org/drawingml/2006/main">
              <a:ext uri="{FF2B5EF4-FFF2-40B4-BE49-F238E27FC236}">
                <a16:creationId xmlns:a16="http://schemas.microsoft.com/office/drawing/2014/main" id="{5222AD0D-C3BC-4319-903C-AD8F09821B5B}"/>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force study is designed to decide whether parity is useful</a:t>
            </a:r>
          </a:p>
        </p:txBody>
      </p:sp>
      <p:sp>
        <p:nvSpPr>
          <p:cNvPr id="4" name="">
            <a:extLst xmlns:a="http://schemas.openxmlformats.org/drawingml/2006/main">
              <a:ext uri="{FF2B5EF4-FFF2-40B4-BE49-F238E27FC236}">
                <a16:creationId xmlns:a16="http://schemas.microsoft.com/office/drawing/2014/main" id="{C1DD723F-5973-4BE5-A998-EE0CF06FB86A}"/>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A3CF6CDE-1723-4FEA-B4EF-D8081B96DDB0}"/>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55530144-DEBF-4885-9A53-792EB6B9E769}"/>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677"/>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Pretraining broadens the motion prior; force plates then provide an independent signed propulsion target on held-out people.</a:t>
            </a:r>
          </a:p>
        </p:txBody>
      </p:sp>
      <p:sp>
        <p:nvSpPr>
          <p:cNvPr id="7" name="">
            <a:extLst xmlns:a="http://schemas.openxmlformats.org/drawingml/2006/main">
              <a:ext uri="{FF2B5EF4-FFF2-40B4-BE49-F238E27FC236}">
                <a16:creationId xmlns:a16="http://schemas.microsoft.com/office/drawing/2014/main" id="{9FF6E5F9-5F4C-478A-BFBC-AA405F69B744}"/>
              </a:ext>
            </a:extLst>
          </p:cNvPr>
          <p:cNvSpPr>
            <a:spLocks xmlns:a="http://schemas.openxmlformats.org/drawingml/2006/main" noGrp="1"/>
          </p:cNvSpPr>
          <p:nvPr/>
        </p:nvSpPr>
        <p:spPr>
          <a:xfrm xmlns:a="http://schemas.openxmlformats.org/drawingml/2006/main">
            <a:off x="2909888" y="2857500"/>
            <a:ext cx="26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31234"/>
          </a:bodyPr>
          <a:lstStyle xmlns:a="http://schemas.openxmlformats.org/drawingml/2006/main"/>
          <a:p xmlns:a="http://schemas.openxmlformats.org/drawingml/2006/main">
            <a:pPr algn="ctr">
              <a:defRPr sz="2100" b="1">
                <a:solidFill>
                  <a:srgbClr val="F4A261"/>
                </a:solidFill>
                <a:latin typeface="Arial"/>
                <a:ea typeface="Arial"/>
                <a:cs typeface="Arial"/>
              </a:defRPr>
            </a:pPr>
            <a:r>
              <a:rPr sz="2100" b="1">
                <a:solidFill>
                  <a:srgbClr val="F4A261"/>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96E68A9F-0FAB-43EE-B49B-6F32EAF4246B}"/>
              </a:ext>
            </a:extLst>
          </p:cNvPr>
          <p:cNvSpPr>
            <a:spLocks xmlns:a="http://schemas.openxmlformats.org/drawingml/2006/main" noGrp="1"/>
          </p:cNvSpPr>
          <p:nvPr/>
        </p:nvSpPr>
        <p:spPr>
          <a:xfrm xmlns:a="http://schemas.openxmlformats.org/drawingml/2006/main">
            <a:off x="5657850" y="2857500"/>
            <a:ext cx="26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31234"/>
          </a:bodyPr>
          <a:lstStyle xmlns:a="http://schemas.openxmlformats.org/drawingml/2006/main"/>
          <a:p xmlns:a="http://schemas.openxmlformats.org/drawingml/2006/main">
            <a:pPr algn="ctr">
              <a:defRPr sz="2100" b="1">
                <a:solidFill>
                  <a:srgbClr val="F4A261"/>
                </a:solidFill>
                <a:latin typeface="Arial"/>
                <a:ea typeface="Arial"/>
                <a:cs typeface="Arial"/>
              </a:defRPr>
            </a:pPr>
            <a:r>
              <a:rPr sz="2100" b="1">
                <a:solidFill>
                  <a:srgbClr val="F4A261"/>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2CDAAB6D-B8FC-4FDD-95F0-F17522DC3F3E}"/>
              </a:ext>
            </a:extLst>
          </p:cNvPr>
          <p:cNvSpPr>
            <a:spLocks xmlns:a="http://schemas.openxmlformats.org/drawingml/2006/main" noGrp="1"/>
          </p:cNvSpPr>
          <p:nvPr/>
        </p:nvSpPr>
        <p:spPr>
          <a:xfrm xmlns:a="http://schemas.openxmlformats.org/drawingml/2006/main">
            <a:off x="8405813" y="2857500"/>
            <a:ext cx="26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31234"/>
          </a:bodyPr>
          <a:lstStyle xmlns:a="http://schemas.openxmlformats.org/drawingml/2006/main"/>
          <a:p xmlns:a="http://schemas.openxmlformats.org/drawingml/2006/main">
            <a:pPr algn="ctr">
              <a:defRPr sz="2100" b="1">
                <a:solidFill>
                  <a:srgbClr val="F4A261"/>
                </a:solidFill>
                <a:latin typeface="Arial"/>
                <a:ea typeface="Arial"/>
                <a:cs typeface="Arial"/>
              </a:defRPr>
            </a:pPr>
            <a:r>
              <a:rPr sz="2100" b="1">
                <a:solidFill>
                  <a:srgbClr val="F4A261"/>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A6462579-10FE-4FA4-BE4B-EEB1402C7BB3}"/>
              </a:ext>
            </a:extLst>
          </p:cNvPr>
          <p:cNvSpPr>
            <a:spLocks xmlns:a="http://schemas.openxmlformats.org/drawingml/2006/main" noGrp="1"/>
          </p:cNvSpPr>
          <p:nvPr/>
        </p:nvSpPr>
        <p:spPr>
          <a:xfrm xmlns:a="http://schemas.openxmlformats.org/drawingml/2006/main">
            <a:off x="457200" y="2076450"/>
            <a:ext cx="2424113" cy="2428875"/>
          </a:xfrm>
          <a:prstGeom xmlns:a="http://schemas.openxmlformats.org/drawingml/2006/main" prst="roundRect">
            <a:avLst>
              <a:gd name="adj" fmla="val 4715"/>
            </a:avLst>
          </a:prstGeom>
          <a:solidFill xmlns:a="http://schemas.openxmlformats.org/drawingml/2006/main">
            <a:srgbClr val="EAF5FB"/>
          </a:solidFill>
          <a:ln xmlns:a="http://schemas.openxmlformats.org/drawingml/2006/main" w="9525">
            <a:solidFill>
              <a:srgbClr val="C9D2DC"/>
            </a:solidFill>
            <a:prstDash val="solid"/>
          </a:ln>
        </p:spPr>
      </p:sp>
      <p:sp>
        <p:nvSpPr>
          <p:cNvPr id="11" name="">
            <a:extLst xmlns:a="http://schemas.openxmlformats.org/drawingml/2006/main">
              <a:ext uri="{FF2B5EF4-FFF2-40B4-BE49-F238E27FC236}">
                <a16:creationId xmlns:a16="http://schemas.microsoft.com/office/drawing/2014/main" id="{A2C187DA-FC10-4FF7-8507-333535360FA7}"/>
              </a:ext>
            </a:extLst>
          </p:cNvPr>
          <p:cNvSpPr>
            <a:spLocks xmlns:a="http://schemas.openxmlformats.org/drawingml/2006/main" noGrp="1"/>
          </p:cNvSpPr>
          <p:nvPr/>
        </p:nvSpPr>
        <p:spPr>
          <a:xfrm xmlns:a="http://schemas.openxmlformats.org/drawingml/2006/main">
            <a:off x="628650" y="2247900"/>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F5835F71-E29D-4E05-8878-6D37C628DAC6}"/>
              </a:ext>
            </a:extLst>
          </p:cNvPr>
          <p:cNvSpPr>
            <a:spLocks xmlns:a="http://schemas.openxmlformats.org/drawingml/2006/main" noGrp="1"/>
          </p:cNvSpPr>
          <p:nvPr/>
        </p:nvSpPr>
        <p:spPr>
          <a:xfrm xmlns:a="http://schemas.openxmlformats.org/drawingml/2006/main">
            <a:off x="628650" y="2628900"/>
            <a:ext cx="2081213"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1">
                <a:solidFill>
                  <a:srgbClr val="102A43"/>
                </a:solidFill>
                <a:latin typeface="Arial"/>
                <a:ea typeface="Arial"/>
                <a:cs typeface="Arial"/>
              </a:defRPr>
            </a:pPr>
            <a:r>
              <a:rPr sz="1650" b="1">
                <a:solidFill>
                  <a:srgbClr val="102A43"/>
                </a:solidFill>
                <a:latin typeface="Arial"/>
                <a:ea typeface="Arial"/>
                <a:cs typeface="Arial"/>
              </a:rPr>
              <a:t>AMASS</a:t>
            </a:r>
          </a:p>
        </p:txBody>
      </p:sp>
      <p:sp>
        <p:nvSpPr>
          <p:cNvPr id="13" name="">
            <a:extLst xmlns:a="http://schemas.openxmlformats.org/drawingml/2006/main">
              <a:ext uri="{FF2B5EF4-FFF2-40B4-BE49-F238E27FC236}">
                <a16:creationId xmlns:a16="http://schemas.microsoft.com/office/drawing/2014/main" id="{03AA9250-7DBD-4AF8-8284-8E97E681A709}"/>
              </a:ext>
            </a:extLst>
          </p:cNvPr>
          <p:cNvSpPr>
            <a:spLocks xmlns:a="http://schemas.openxmlformats.org/drawingml/2006/main" noGrp="1"/>
          </p:cNvSpPr>
          <p:nvPr/>
        </p:nvSpPr>
        <p:spPr>
          <a:xfrm xmlns:a="http://schemas.openxmlformats.org/drawingml/2006/main">
            <a:off x="628650" y="3333750"/>
            <a:ext cx="20812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Broad SMPL-H pretraining with parity-preserving masks and corruptions</a:t>
            </a:r>
          </a:p>
        </p:txBody>
      </p:sp>
      <p:sp>
        <p:nvSpPr>
          <p:cNvPr id="14" name="">
            <a:extLst xmlns:a="http://schemas.openxmlformats.org/drawingml/2006/main">
              <a:ext uri="{FF2B5EF4-FFF2-40B4-BE49-F238E27FC236}">
                <a16:creationId xmlns:a16="http://schemas.microsoft.com/office/drawing/2014/main" id="{2334C7B7-7CC0-412C-9E9B-B29E1BD5D5E7}"/>
              </a:ext>
            </a:extLst>
          </p:cNvPr>
          <p:cNvSpPr>
            <a:spLocks xmlns:a="http://schemas.openxmlformats.org/drawingml/2006/main" noGrp="1"/>
          </p:cNvSpPr>
          <p:nvPr/>
        </p:nvSpPr>
        <p:spPr>
          <a:xfrm xmlns:a="http://schemas.openxmlformats.org/drawingml/2006/main">
            <a:off x="3205163" y="2076450"/>
            <a:ext cx="2424113" cy="2428875"/>
          </a:xfrm>
          <a:prstGeom xmlns:a="http://schemas.openxmlformats.org/drawingml/2006/main" prst="roundRect">
            <a:avLst>
              <a:gd name="adj" fmla="val 4715"/>
            </a:avLst>
          </a:prstGeom>
          <a:solidFill xmlns:a="http://schemas.openxmlformats.org/drawingml/2006/main">
            <a:srgbClr val="E8F5F2"/>
          </a:solidFill>
          <a:ln xmlns:a="http://schemas.openxmlformats.org/drawingml/2006/main" w="9525">
            <a:solidFill>
              <a:srgbClr val="C9D2DC"/>
            </a:solidFill>
            <a:prstDash val="solid"/>
          </a:ln>
        </p:spPr>
      </p:sp>
      <p:sp>
        <p:nvSpPr>
          <p:cNvPr id="15" name="">
            <a:extLst xmlns:a="http://schemas.openxmlformats.org/drawingml/2006/main">
              <a:ext uri="{FF2B5EF4-FFF2-40B4-BE49-F238E27FC236}">
                <a16:creationId xmlns:a16="http://schemas.microsoft.com/office/drawing/2014/main" id="{8C4BE5D6-B6B7-43C3-8324-1FBB6036CAF5}"/>
              </a:ext>
            </a:extLst>
          </p:cNvPr>
          <p:cNvSpPr>
            <a:spLocks xmlns:a="http://schemas.openxmlformats.org/drawingml/2006/main" noGrp="1"/>
          </p:cNvSpPr>
          <p:nvPr/>
        </p:nvSpPr>
        <p:spPr>
          <a:xfrm xmlns:a="http://schemas.openxmlformats.org/drawingml/2006/main">
            <a:off x="3376613" y="2247900"/>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75" b="1">
                <a:solidFill>
                  <a:srgbClr val="2A9D8F"/>
                </a:solidFill>
                <a:latin typeface="Arial"/>
                <a:ea typeface="Arial"/>
                <a:cs typeface="Arial"/>
              </a:defRPr>
            </a:pPr>
            <a:r>
              <a:rPr sz="975" b="1">
                <a:solidFill>
                  <a:srgbClr val="2A9D8F"/>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4E858EC5-65B5-4CB2-B2A6-8702AB31DF1D}"/>
              </a:ext>
            </a:extLst>
          </p:cNvPr>
          <p:cNvSpPr>
            <a:spLocks xmlns:a="http://schemas.openxmlformats.org/drawingml/2006/main" noGrp="1"/>
          </p:cNvSpPr>
          <p:nvPr/>
        </p:nvSpPr>
        <p:spPr>
          <a:xfrm xmlns:a="http://schemas.openxmlformats.org/drawingml/2006/main">
            <a:off x="3376613" y="2628900"/>
            <a:ext cx="2081213"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1">
                <a:solidFill>
                  <a:srgbClr val="102A43"/>
                </a:solidFill>
                <a:latin typeface="Arial"/>
                <a:ea typeface="Arial"/>
                <a:cs typeface="Arial"/>
              </a:defRPr>
            </a:pPr>
            <a:r>
              <a:rPr sz="1650" b="1">
                <a:solidFill>
                  <a:srgbClr val="102A43"/>
                </a:solidFill>
                <a:latin typeface="Arial"/>
                <a:ea typeface="Arial"/>
                <a:cs typeface="Arial"/>
              </a:rPr>
              <a:t>BABEL walking</a:t>
            </a:r>
          </a:p>
        </p:txBody>
      </p:sp>
      <p:sp>
        <p:nvSpPr>
          <p:cNvPr id="17" name="">
            <a:extLst xmlns:a="http://schemas.openxmlformats.org/drawingml/2006/main">
              <a:ext uri="{FF2B5EF4-FFF2-40B4-BE49-F238E27FC236}">
                <a16:creationId xmlns:a16="http://schemas.microsoft.com/office/drawing/2014/main" id="{422BC920-ED71-4ED2-835C-9858B4AD6ACD}"/>
              </a:ext>
            </a:extLst>
          </p:cNvPr>
          <p:cNvSpPr>
            <a:spLocks xmlns:a="http://schemas.openxmlformats.org/drawingml/2006/main" noGrp="1"/>
          </p:cNvSpPr>
          <p:nvPr/>
        </p:nvSpPr>
        <p:spPr>
          <a:xfrm xmlns:a="http://schemas.openxmlformats.org/drawingml/2006/main">
            <a:off x="3376613" y="3333750"/>
            <a:ext cx="20812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Walking-focused continuation without clinical outcome labels</a:t>
            </a:r>
          </a:p>
        </p:txBody>
      </p:sp>
      <p:sp>
        <p:nvSpPr>
          <p:cNvPr id="18" name="">
            <a:extLst xmlns:a="http://schemas.openxmlformats.org/drawingml/2006/main">
              <a:ext uri="{FF2B5EF4-FFF2-40B4-BE49-F238E27FC236}">
                <a16:creationId xmlns:a16="http://schemas.microsoft.com/office/drawing/2014/main" id="{6F746FB2-3E39-4BC9-8123-6D5A717964A8}"/>
              </a:ext>
            </a:extLst>
          </p:cNvPr>
          <p:cNvSpPr>
            <a:spLocks xmlns:a="http://schemas.openxmlformats.org/drawingml/2006/main" noGrp="1"/>
          </p:cNvSpPr>
          <p:nvPr/>
        </p:nvSpPr>
        <p:spPr>
          <a:xfrm xmlns:a="http://schemas.openxmlformats.org/drawingml/2006/main">
            <a:off x="5953125" y="2076450"/>
            <a:ext cx="2424113" cy="2428875"/>
          </a:xfrm>
          <a:prstGeom xmlns:a="http://schemas.openxmlformats.org/drawingml/2006/main" prst="roundRect">
            <a:avLst>
              <a:gd name="adj" fmla="val 4715"/>
            </a:avLst>
          </a:prstGeom>
          <a:solidFill xmlns:a="http://schemas.openxmlformats.org/drawingml/2006/main">
            <a:srgbClr val="FFF3E8"/>
          </a:solidFill>
          <a:ln xmlns:a="http://schemas.openxmlformats.org/drawingml/2006/main" w="9525">
            <a:solidFill>
              <a:srgbClr val="C9D2DC"/>
            </a:solidFill>
            <a:prstDash val="solid"/>
          </a:ln>
        </p:spPr>
      </p:sp>
      <p:sp>
        <p:nvSpPr>
          <p:cNvPr id="19" name="">
            <a:extLst xmlns:a="http://schemas.openxmlformats.org/drawingml/2006/main">
              <a:ext uri="{FF2B5EF4-FFF2-40B4-BE49-F238E27FC236}">
                <a16:creationId xmlns:a16="http://schemas.microsoft.com/office/drawing/2014/main" id="{F47EA51A-694C-4411-93C8-12F39A70FAFE}"/>
              </a:ext>
            </a:extLst>
          </p:cNvPr>
          <p:cNvSpPr>
            <a:spLocks xmlns:a="http://schemas.openxmlformats.org/drawingml/2006/main" noGrp="1"/>
          </p:cNvSpPr>
          <p:nvPr/>
        </p:nvSpPr>
        <p:spPr>
          <a:xfrm xmlns:a="http://schemas.openxmlformats.org/drawingml/2006/main">
            <a:off x="6124575" y="2247900"/>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74A29D9B-692B-4DB8-858F-483C9BA26932}"/>
              </a:ext>
            </a:extLst>
          </p:cNvPr>
          <p:cNvSpPr>
            <a:spLocks xmlns:a="http://schemas.openxmlformats.org/drawingml/2006/main" noGrp="1"/>
          </p:cNvSpPr>
          <p:nvPr/>
        </p:nvSpPr>
        <p:spPr>
          <a:xfrm xmlns:a="http://schemas.openxmlformats.org/drawingml/2006/main">
            <a:off x="6124575" y="2628900"/>
            <a:ext cx="2081213"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1">
                <a:solidFill>
                  <a:srgbClr val="102A43"/>
                </a:solidFill>
                <a:latin typeface="Arial"/>
                <a:ea typeface="Arial"/>
                <a:cs typeface="Arial"/>
              </a:defRPr>
            </a:pPr>
            <a:r>
              <a:rPr sz="1650" b="1">
                <a:solidFill>
                  <a:srgbClr val="102A43"/>
                </a:solidFill>
                <a:latin typeface="Arial"/>
                <a:ea typeface="Arial"/>
                <a:cs typeface="Arial"/>
              </a:rPr>
              <a:t>Force cohort</a:t>
            </a:r>
          </a:p>
        </p:txBody>
      </p:sp>
      <p:sp>
        <p:nvSpPr>
          <p:cNvPr id="21" name="">
            <a:extLst xmlns:a="http://schemas.openxmlformats.org/drawingml/2006/main">
              <a:ext uri="{FF2B5EF4-FFF2-40B4-BE49-F238E27FC236}">
                <a16:creationId xmlns:a16="http://schemas.microsoft.com/office/drawing/2014/main" id="{B8767234-5D0E-42C6-8411-B0CB55DC9314}"/>
              </a:ext>
            </a:extLst>
          </p:cNvPr>
          <p:cNvSpPr>
            <a:spLocks xmlns:a="http://schemas.openxmlformats.org/drawingml/2006/main" noGrp="1"/>
          </p:cNvSpPr>
          <p:nvPr/>
        </p:nvSpPr>
        <p:spPr>
          <a:xfrm xmlns:a="http://schemas.openxmlformats.org/drawingml/2006/main">
            <a:off x="6124575" y="3333750"/>
            <a:ext cx="20812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Outer participant split before fitting; right-minus-left propulsion target</a:t>
            </a:r>
          </a:p>
        </p:txBody>
      </p:sp>
      <p:sp>
        <p:nvSpPr>
          <p:cNvPr id="22" name="">
            <a:extLst xmlns:a="http://schemas.openxmlformats.org/drawingml/2006/main">
              <a:ext uri="{FF2B5EF4-FFF2-40B4-BE49-F238E27FC236}">
                <a16:creationId xmlns:a16="http://schemas.microsoft.com/office/drawing/2014/main" id="{17D5D059-D002-4C39-A22D-43B9CB5962AE}"/>
              </a:ext>
            </a:extLst>
          </p:cNvPr>
          <p:cNvSpPr>
            <a:spLocks xmlns:a="http://schemas.openxmlformats.org/drawingml/2006/main" noGrp="1"/>
          </p:cNvSpPr>
          <p:nvPr/>
        </p:nvSpPr>
        <p:spPr>
          <a:xfrm xmlns:a="http://schemas.openxmlformats.org/drawingml/2006/main">
            <a:off x="8701088" y="2076450"/>
            <a:ext cx="2424113" cy="2428875"/>
          </a:xfrm>
          <a:prstGeom xmlns:a="http://schemas.openxmlformats.org/drawingml/2006/main" prst="roundRect">
            <a:avLst>
              <a:gd name="adj" fmla="val 4715"/>
            </a:avLst>
          </a:prstGeom>
          <a:solidFill xmlns:a="http://schemas.openxmlformats.org/drawingml/2006/main">
            <a:srgbClr val="FDECEC"/>
          </a:solidFill>
          <a:ln xmlns:a="http://schemas.openxmlformats.org/drawingml/2006/main" w="9525">
            <a:solidFill>
              <a:srgbClr val="C9D2DC"/>
            </a:solidFill>
            <a:prstDash val="solid"/>
          </a:ln>
        </p:spPr>
      </p:sp>
      <p:sp>
        <p:nvSpPr>
          <p:cNvPr id="23" name="">
            <a:extLst xmlns:a="http://schemas.openxmlformats.org/drawingml/2006/main">
              <a:ext uri="{FF2B5EF4-FFF2-40B4-BE49-F238E27FC236}">
                <a16:creationId xmlns:a16="http://schemas.microsoft.com/office/drawing/2014/main" id="{D09875AE-B3F3-480B-B0B7-64D0C34993D3}"/>
              </a:ext>
            </a:extLst>
          </p:cNvPr>
          <p:cNvSpPr>
            <a:spLocks xmlns:a="http://schemas.openxmlformats.org/drawingml/2006/main" noGrp="1"/>
          </p:cNvSpPr>
          <p:nvPr/>
        </p:nvSpPr>
        <p:spPr>
          <a:xfrm xmlns:a="http://schemas.openxmlformats.org/drawingml/2006/main">
            <a:off x="8872538" y="2247900"/>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75" b="1">
                <a:solidFill>
                  <a:srgbClr val="D95D5D"/>
                </a:solidFill>
                <a:latin typeface="Arial"/>
                <a:ea typeface="Arial"/>
                <a:cs typeface="Arial"/>
              </a:defRPr>
            </a:pPr>
            <a:r>
              <a:rPr sz="975" b="1">
                <a:solidFill>
                  <a:srgbClr val="D95D5D"/>
                </a:solidFill>
                <a:latin typeface="Arial"/>
                <a:ea typeface="Arial"/>
                <a:cs typeface="Arial"/>
              </a:rPr>
              <a:t>04</a:t>
            </a:r>
          </a:p>
        </p:txBody>
      </p:sp>
      <p:sp>
        <p:nvSpPr>
          <p:cNvPr id="24" name="">
            <a:extLst xmlns:a="http://schemas.openxmlformats.org/drawingml/2006/main">
              <a:ext uri="{FF2B5EF4-FFF2-40B4-BE49-F238E27FC236}">
                <a16:creationId xmlns:a16="http://schemas.microsoft.com/office/drawing/2014/main" id="{D7FF014C-3E07-48E9-8468-00364FBDA043}"/>
              </a:ext>
            </a:extLst>
          </p:cNvPr>
          <p:cNvSpPr>
            <a:spLocks xmlns:a="http://schemas.openxmlformats.org/drawingml/2006/main" noGrp="1"/>
          </p:cNvSpPr>
          <p:nvPr/>
        </p:nvSpPr>
        <p:spPr>
          <a:xfrm xmlns:a="http://schemas.openxmlformats.org/drawingml/2006/main">
            <a:off x="8872538" y="2628900"/>
            <a:ext cx="2081213"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1">
                <a:solidFill>
                  <a:srgbClr val="102A43"/>
                </a:solidFill>
                <a:latin typeface="Arial"/>
                <a:ea typeface="Arial"/>
                <a:cs typeface="Arial"/>
              </a:defRPr>
            </a:pPr>
            <a:r>
              <a:rPr sz="1650" b="1">
                <a:solidFill>
                  <a:srgbClr val="102A43"/>
                </a:solidFill>
                <a:latin typeface="Arial"/>
                <a:ea typeface="Arial"/>
                <a:cs typeface="Arial"/>
              </a:rPr>
              <a:t>MoVi + replicate</a:t>
            </a:r>
          </a:p>
        </p:txBody>
      </p:sp>
      <p:sp>
        <p:nvSpPr>
          <p:cNvPr id="25" name="">
            <a:extLst xmlns:a="http://schemas.openxmlformats.org/drawingml/2006/main">
              <a:ext uri="{FF2B5EF4-FFF2-40B4-BE49-F238E27FC236}">
                <a16:creationId xmlns:a16="http://schemas.microsoft.com/office/drawing/2014/main" id="{E21C13E0-76B9-497B-9C86-49DC0BA04A58}"/>
              </a:ext>
            </a:extLst>
          </p:cNvPr>
          <p:cNvSpPr>
            <a:spLocks xmlns:a="http://schemas.openxmlformats.org/drawingml/2006/main" noGrp="1"/>
          </p:cNvSpPr>
          <p:nvPr/>
        </p:nvSpPr>
        <p:spPr>
          <a:xfrm xmlns:a="http://schemas.openxmlformats.org/drawingml/2006/main">
            <a:off x="8872538" y="3333750"/>
            <a:ext cx="20812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Test real viewpoint stability, then repeat a frozen analysis in a sealed cohort</a:t>
            </a:r>
          </a:p>
        </p:txBody>
      </p:sp>
      <p:sp>
        <p:nvSpPr>
          <p:cNvPr id="26" name="">
            <a:extLst xmlns:a="http://schemas.openxmlformats.org/drawingml/2006/main">
              <a:ext uri="{FF2B5EF4-FFF2-40B4-BE49-F238E27FC236}">
                <a16:creationId xmlns:a16="http://schemas.microsoft.com/office/drawing/2014/main" id="{E4EFDC76-D255-4C09-B078-920D59D7A1EC}"/>
              </a:ext>
            </a:extLst>
          </p:cNvPr>
          <p:cNvSpPr>
            <a:spLocks xmlns:a="http://schemas.openxmlformats.org/drawingml/2006/main" noGrp="1"/>
          </p:cNvSpPr>
          <p:nvPr/>
        </p:nvSpPr>
        <p:spPr>
          <a:xfrm xmlns:a="http://schemas.openxmlformats.org/drawingml/2006/main">
            <a:off x="1695450" y="4991100"/>
            <a:ext cx="8229600" cy="685800"/>
          </a:xfrm>
          <a:prstGeom xmlns:a="http://schemas.openxmlformats.org/drawingml/2006/main" prst="roundRect">
            <a:avLst>
              <a:gd name="adj" fmla="val 16667"/>
            </a:avLst>
          </a:prstGeom>
          <a:solidFill xmlns:a="http://schemas.openxmlformats.org/drawingml/2006/main">
            <a:srgbClr val="EAF5FB"/>
          </a:solidFill>
          <a:ln xmlns:a="http://schemas.openxmlformats.org/drawingml/2006/main" w="9525">
            <a:solidFill>
              <a:srgbClr val="6DCBF4"/>
            </a:solidFill>
            <a:prstDash val="solid"/>
          </a:ln>
        </p:spPr>
      </p:sp>
      <p:sp>
        <p:nvSpPr>
          <p:cNvPr id="27" name="">
            <a:extLst xmlns:a="http://schemas.openxmlformats.org/drawingml/2006/main">
              <a:ext uri="{FF2B5EF4-FFF2-40B4-BE49-F238E27FC236}">
                <a16:creationId xmlns:a16="http://schemas.microsoft.com/office/drawing/2014/main" id="{D59F822C-A269-4ED8-87A7-EE4694C0B498}"/>
              </a:ext>
            </a:extLst>
          </p:cNvPr>
          <p:cNvSpPr>
            <a:spLocks xmlns:a="http://schemas.openxmlformats.org/drawingml/2006/main" noGrp="1"/>
          </p:cNvSpPr>
          <p:nvPr/>
        </p:nvSpPr>
        <p:spPr>
          <a:xfrm xmlns:a="http://schemas.openxmlformats.org/drawingml/2006/main">
            <a:off x="1981200" y="5191125"/>
            <a:ext cx="7658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4842"/>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GAVD remains an implementation audit only. People—not gait cycles—are the independent observations in the force claim.</a:t>
            </a:r>
          </a:p>
        </p:txBody>
      </p:sp>
    </p:spTree>
    <p:extLst>
      <p:ext uri="{BB962C8B-B14F-4D97-AF65-F5344CB8AC3E}">
        <p14:creationId xmlns:p14="http://schemas.microsoft.com/office/powerpoint/2010/main" val="18094522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3F48F5B-5E20-4F12-A930-807F1307648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2" name="">
            <a:extLst xmlns:a="http://schemas.openxmlformats.org/drawingml/2006/main">
              <a:ext uri="{FF2B5EF4-FFF2-40B4-BE49-F238E27FC236}">
                <a16:creationId xmlns:a16="http://schemas.microsoft.com/office/drawing/2014/main" id="{2F6B2E77-92E1-4F64-98B7-4FE8B2AADB18}"/>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DECISION RULE</a:t>
            </a:r>
          </a:p>
        </p:txBody>
      </p:sp>
      <p:sp>
        <p:nvSpPr>
          <p:cNvPr id="3" name="">
            <a:extLst xmlns:a="http://schemas.openxmlformats.org/drawingml/2006/main">
              <a:ext uri="{FF2B5EF4-FFF2-40B4-BE49-F238E27FC236}">
                <a16:creationId xmlns:a16="http://schemas.microsoft.com/office/drawing/2014/main" id="{F5E6EC3F-CAF5-4228-9160-6A945B49FF4F}"/>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outcome table prevents a positive-spin interpretation</a:t>
            </a:r>
          </a:p>
        </p:txBody>
      </p:sp>
      <p:sp>
        <p:nvSpPr>
          <p:cNvPr id="4" name="">
            <a:extLst xmlns:a="http://schemas.openxmlformats.org/drawingml/2006/main">
              <a:ext uri="{FF2B5EF4-FFF2-40B4-BE49-F238E27FC236}">
                <a16:creationId xmlns:a16="http://schemas.microsoft.com/office/drawing/2014/main" id="{93613549-23FC-4C50-AE21-66A5278D7709}"/>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8EDCA302-FDC0-43A6-9548-F9BF8721C830}"/>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1102E854-31AB-4114-AEA4-2096D7B67B20}"/>
              </a:ext>
            </a:extLst>
          </p:cNvPr>
          <p:cNvSpPr>
            <a:spLocks xmlns:a="http://schemas.openxmlformats.org/drawingml/2006/main" noGrp="1"/>
          </p:cNvSpPr>
          <p:nvPr/>
        </p:nvSpPr>
        <p:spPr>
          <a:xfrm xmlns:a="http://schemas.openxmlformats.org/drawingml/2006/main">
            <a:off x="457200" y="113347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Primary unit: participant. Primary metric: participant-orbit-averaged force MAE.</a:t>
            </a:r>
          </a:p>
        </p:txBody>
      </p:sp>
      <p:sp>
        <p:nvSpPr>
          <p:cNvPr id="7" name="">
            <a:extLst xmlns:a="http://schemas.openxmlformats.org/drawingml/2006/main">
              <a:ext uri="{FF2B5EF4-FFF2-40B4-BE49-F238E27FC236}">
                <a16:creationId xmlns:a16="http://schemas.microsoft.com/office/drawing/2014/main" id="{53BB2EE9-471B-48FC-8F4F-C9B7B8632C69}"/>
              </a:ext>
            </a:extLst>
          </p:cNvPr>
          <p:cNvSpPr>
            <a:spLocks xmlns:a="http://schemas.openxmlformats.org/drawingml/2006/main" noGrp="1"/>
          </p:cNvSpPr>
          <p:nvPr/>
        </p:nvSpPr>
        <p:spPr>
          <a:xfrm xmlns:a="http://schemas.openxmlformats.org/drawingml/2006/main">
            <a:off x="457200" y="1771650"/>
            <a:ext cx="3486150" cy="4305300"/>
          </a:xfrm>
          <a:prstGeom xmlns:a="http://schemas.openxmlformats.org/drawingml/2006/main" prst="roundRect">
            <a:avLst>
              <a:gd name="adj" fmla="val 3279"/>
            </a:avLst>
          </a:prstGeom>
          <a:solidFill xmlns:a="http://schemas.openxmlformats.org/drawingml/2006/main">
            <a:srgbClr val="E8F5F2"/>
          </a:solidFill>
          <a:ln xmlns:a="http://schemas.openxmlformats.org/drawingml/2006/main" w="9525">
            <a:solidFill>
              <a:srgbClr val="C9D2DC"/>
            </a:solidFill>
            <a:prstDash val="solid"/>
          </a:ln>
        </p:spPr>
      </p:sp>
      <p:sp>
        <p:nvSpPr>
          <p:cNvPr id="8" name="">
            <a:extLst xmlns:a="http://schemas.openxmlformats.org/drawingml/2006/main">
              <a:ext uri="{FF2B5EF4-FFF2-40B4-BE49-F238E27FC236}">
                <a16:creationId xmlns:a16="http://schemas.microsoft.com/office/drawing/2014/main" id="{AFF34749-04D2-47B2-9932-AF013667585D}"/>
              </a:ext>
            </a:extLst>
          </p:cNvPr>
          <p:cNvSpPr>
            <a:spLocks xmlns:a="http://schemas.openxmlformats.org/drawingml/2006/main" noGrp="1"/>
          </p:cNvSpPr>
          <p:nvPr/>
        </p:nvSpPr>
        <p:spPr>
          <a:xfrm xmlns:a="http://schemas.openxmlformats.org/drawingml/2006/main">
            <a:off x="457200" y="1771650"/>
            <a:ext cx="3486150" cy="57150"/>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9" name="">
            <a:extLst xmlns:a="http://schemas.openxmlformats.org/drawingml/2006/main">
              <a:ext uri="{FF2B5EF4-FFF2-40B4-BE49-F238E27FC236}">
                <a16:creationId xmlns:a16="http://schemas.microsoft.com/office/drawing/2014/main" id="{7B12202F-B88D-439B-B891-B6AEBD2172C1}"/>
              </a:ext>
            </a:extLst>
          </p:cNvPr>
          <p:cNvSpPr>
            <a:spLocks xmlns:a="http://schemas.openxmlformats.org/drawingml/2006/main" noGrp="1"/>
          </p:cNvSpPr>
          <p:nvPr/>
        </p:nvSpPr>
        <p:spPr>
          <a:xfrm xmlns:a="http://schemas.openxmlformats.org/drawingml/2006/main">
            <a:off x="666750" y="1981200"/>
            <a:ext cx="3067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2A9D8F"/>
                </a:solidFill>
                <a:latin typeface="Arial"/>
                <a:ea typeface="Arial"/>
                <a:cs typeface="Arial"/>
              </a:defRPr>
            </a:pPr>
            <a:r>
              <a:rPr sz="900" b="1">
                <a:solidFill>
                  <a:srgbClr val="2A9D8F"/>
                </a:solidFill>
                <a:latin typeface="Arial"/>
                <a:ea typeface="Arial"/>
                <a:cs typeface="Arial"/>
              </a:rPr>
              <a:t>BEATS BOTH</a:t>
            </a:r>
          </a:p>
        </p:txBody>
      </p:sp>
      <p:sp>
        <p:nvSpPr>
          <p:cNvPr id="10" name="">
            <a:extLst xmlns:a="http://schemas.openxmlformats.org/drawingml/2006/main">
              <a:ext uri="{FF2B5EF4-FFF2-40B4-BE49-F238E27FC236}">
                <a16:creationId xmlns:a16="http://schemas.microsoft.com/office/drawing/2014/main" id="{6268C879-2BB3-4544-8848-7DA37839D44C}"/>
              </a:ext>
            </a:extLst>
          </p:cNvPr>
          <p:cNvSpPr>
            <a:spLocks xmlns:a="http://schemas.openxmlformats.org/drawingml/2006/main" noGrp="1"/>
          </p:cNvSpPr>
          <p:nvPr/>
        </p:nvSpPr>
        <p:spPr>
          <a:xfrm xmlns:a="http://schemas.openxmlformats.org/drawingml/2006/main">
            <a:off x="666750" y="2286000"/>
            <a:ext cx="3067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421"/>
          </a:bodyPr>
          <a:lstStyle xmlns:a="http://schemas.openxmlformats.org/drawingml/2006/main"/>
          <a:p xmlns:a="http://schemas.openxmlformats.org/drawingml/2006/main">
            <a:pPr algn="l">
              <a:defRPr sz="1950" b="1">
                <a:solidFill>
                  <a:srgbClr val="102A43"/>
                </a:solidFill>
                <a:latin typeface="Arial"/>
                <a:ea typeface="Arial"/>
                <a:cs typeface="Arial"/>
              </a:defRPr>
            </a:pPr>
            <a:r>
              <a:rPr sz="1950" b="1">
                <a:solidFill>
                  <a:srgbClr val="102A43"/>
                </a:solidFill>
                <a:latin typeface="Arial"/>
                <a:ea typeface="Arial"/>
                <a:cs typeface="Arial"/>
              </a:rPr>
              <a:t>Encoder parity adds value</a:t>
            </a:r>
          </a:p>
        </p:txBody>
      </p:sp>
      <p:sp>
        <p:nvSpPr>
          <p:cNvPr id="11" name="">
            <a:extLst xmlns:a="http://schemas.openxmlformats.org/drawingml/2006/main">
              <a:ext uri="{FF2B5EF4-FFF2-40B4-BE49-F238E27FC236}">
                <a16:creationId xmlns:a16="http://schemas.microsoft.com/office/drawing/2014/main" id="{582EEDEE-411B-4CE9-ACE9-D5C382DB4E1A}"/>
              </a:ext>
            </a:extLst>
          </p:cNvPr>
          <p:cNvSpPr>
            <a:spLocks xmlns:a="http://schemas.openxmlformats.org/drawingml/2006/main" noGrp="1"/>
          </p:cNvSpPr>
          <p:nvPr/>
        </p:nvSpPr>
        <p:spPr>
          <a:xfrm xmlns:a="http://schemas.openxmlformats.org/drawingml/2006/main">
            <a:off x="666750" y="2914650"/>
            <a:ext cx="30670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Meaningful MAE advantage over odd_output and paired_unconstrained on simultaneous intervals.</a:t>
            </a:r>
          </a:p>
        </p:txBody>
      </p:sp>
      <p:sp>
        <p:nvSpPr>
          <p:cNvPr id="12" name="">
            <a:extLst xmlns:a="http://schemas.openxmlformats.org/drawingml/2006/main">
              <a:ext uri="{FF2B5EF4-FFF2-40B4-BE49-F238E27FC236}">
                <a16:creationId xmlns:a16="http://schemas.microsoft.com/office/drawing/2014/main" id="{C1F4C80B-4A53-4F88-B26C-F5C8B14D9708}"/>
              </a:ext>
            </a:extLst>
          </p:cNvPr>
          <p:cNvSpPr>
            <a:spLocks xmlns:a="http://schemas.openxmlformats.org/drawingml/2006/main" noGrp="1"/>
          </p:cNvSpPr>
          <p:nvPr/>
        </p:nvSpPr>
        <p:spPr>
          <a:xfrm xmlns:a="http://schemas.openxmlformats.org/drawingml/2006/main">
            <a:off x="4171950" y="1771650"/>
            <a:ext cx="3486150" cy="4305300"/>
          </a:xfrm>
          <a:prstGeom xmlns:a="http://schemas.openxmlformats.org/drawingml/2006/main" prst="roundRect">
            <a:avLst>
              <a:gd name="adj" fmla="val 3279"/>
            </a:avLst>
          </a:prstGeom>
          <a:solidFill xmlns:a="http://schemas.openxmlformats.org/drawingml/2006/main">
            <a:srgbClr val="FFF3E8"/>
          </a:solidFill>
          <a:ln xmlns:a="http://schemas.openxmlformats.org/drawingml/2006/main" w="9525">
            <a:solidFill>
              <a:srgbClr val="C9D2DC"/>
            </a:solidFill>
            <a:prstDash val="solid"/>
          </a:ln>
        </p:spPr>
      </p:sp>
      <p:sp>
        <p:nvSpPr>
          <p:cNvPr id="13" name="">
            <a:extLst xmlns:a="http://schemas.openxmlformats.org/drawingml/2006/main">
              <a:ext uri="{FF2B5EF4-FFF2-40B4-BE49-F238E27FC236}">
                <a16:creationId xmlns:a16="http://schemas.microsoft.com/office/drawing/2014/main" id="{7D83F562-5540-4B7F-B2DF-345D3C87AF9D}"/>
              </a:ext>
            </a:extLst>
          </p:cNvPr>
          <p:cNvSpPr>
            <a:spLocks xmlns:a="http://schemas.openxmlformats.org/drawingml/2006/main" noGrp="1"/>
          </p:cNvSpPr>
          <p:nvPr/>
        </p:nvSpPr>
        <p:spPr>
          <a:xfrm xmlns:a="http://schemas.openxmlformats.org/drawingml/2006/main">
            <a:off x="4171950" y="1771650"/>
            <a:ext cx="3486150" cy="571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4" name="">
            <a:extLst xmlns:a="http://schemas.openxmlformats.org/drawingml/2006/main">
              <a:ext uri="{FF2B5EF4-FFF2-40B4-BE49-F238E27FC236}">
                <a16:creationId xmlns:a16="http://schemas.microsoft.com/office/drawing/2014/main" id="{748FFC12-5DCD-456B-93AA-C7479120270F}"/>
              </a:ext>
            </a:extLst>
          </p:cNvPr>
          <p:cNvSpPr>
            <a:spLocks xmlns:a="http://schemas.openxmlformats.org/drawingml/2006/main" noGrp="1"/>
          </p:cNvSpPr>
          <p:nvPr/>
        </p:nvSpPr>
        <p:spPr>
          <a:xfrm xmlns:a="http://schemas.openxmlformats.org/drawingml/2006/main">
            <a:off x="4381500" y="1981200"/>
            <a:ext cx="3067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TIES OUTPUT REPAIR</a:t>
            </a:r>
          </a:p>
        </p:txBody>
      </p:sp>
      <p:sp>
        <p:nvSpPr>
          <p:cNvPr id="15" name="">
            <a:extLst xmlns:a="http://schemas.openxmlformats.org/drawingml/2006/main">
              <a:ext uri="{FF2B5EF4-FFF2-40B4-BE49-F238E27FC236}">
                <a16:creationId xmlns:a16="http://schemas.microsoft.com/office/drawing/2014/main" id="{F8DCA2B3-55E5-4B40-BB22-8B75A204488E}"/>
              </a:ext>
            </a:extLst>
          </p:cNvPr>
          <p:cNvSpPr>
            <a:spLocks xmlns:a="http://schemas.openxmlformats.org/drawingml/2006/main" noGrp="1"/>
          </p:cNvSpPr>
          <p:nvPr/>
        </p:nvSpPr>
        <p:spPr>
          <a:xfrm xmlns:a="http://schemas.openxmlformats.org/drawingml/2006/main">
            <a:off x="4381500" y="2286000"/>
            <a:ext cx="3067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950" b="1">
                <a:solidFill>
                  <a:srgbClr val="102A43"/>
                </a:solidFill>
                <a:latin typeface="Arial"/>
                <a:ea typeface="Arial"/>
                <a:cs typeface="Arial"/>
              </a:defRPr>
            </a:pPr>
            <a:r>
              <a:rPr sz="1950" b="1">
                <a:solidFill>
                  <a:srgbClr val="102A43"/>
                </a:solidFill>
                <a:latin typeface="Arial"/>
                <a:ea typeface="Arial"/>
                <a:cs typeface="Arial"/>
              </a:rPr>
              <a:t>Prefer three lines</a:t>
            </a:r>
          </a:p>
        </p:txBody>
      </p:sp>
      <p:sp>
        <p:nvSpPr>
          <p:cNvPr id="16" name="">
            <a:extLst xmlns:a="http://schemas.openxmlformats.org/drawingml/2006/main">
              <a:ext uri="{FF2B5EF4-FFF2-40B4-BE49-F238E27FC236}">
                <a16:creationId xmlns:a16="http://schemas.microsoft.com/office/drawing/2014/main" id="{DF609924-8B3A-4673-A7AD-AAA6A9F63379}"/>
              </a:ext>
            </a:extLst>
          </p:cNvPr>
          <p:cNvSpPr>
            <a:spLocks xmlns:a="http://schemas.openxmlformats.org/drawingml/2006/main" noGrp="1"/>
          </p:cNvSpPr>
          <p:nvPr/>
        </p:nvSpPr>
        <p:spPr>
          <a:xfrm xmlns:a="http://schemas.openxmlformats.org/drawingml/2006/main">
            <a:off x="4381500" y="2914650"/>
            <a:ext cx="30670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Exact final parity helps, but organized internal parity adds no detectable practical benefit.</a:t>
            </a:r>
          </a:p>
        </p:txBody>
      </p:sp>
      <p:sp>
        <p:nvSpPr>
          <p:cNvPr id="17" name="">
            <a:extLst xmlns:a="http://schemas.openxmlformats.org/drawingml/2006/main">
              <a:ext uri="{FF2B5EF4-FFF2-40B4-BE49-F238E27FC236}">
                <a16:creationId xmlns:a16="http://schemas.microsoft.com/office/drawing/2014/main" id="{C3A1237D-EB13-457A-B253-988664C747AD}"/>
              </a:ext>
            </a:extLst>
          </p:cNvPr>
          <p:cNvSpPr>
            <a:spLocks xmlns:a="http://schemas.openxmlformats.org/drawingml/2006/main" noGrp="1"/>
          </p:cNvSpPr>
          <p:nvPr/>
        </p:nvSpPr>
        <p:spPr>
          <a:xfrm xmlns:a="http://schemas.openxmlformats.org/drawingml/2006/main">
            <a:off x="7886700" y="1771650"/>
            <a:ext cx="3486150" cy="4305300"/>
          </a:xfrm>
          <a:prstGeom xmlns:a="http://schemas.openxmlformats.org/drawingml/2006/main" prst="roundRect">
            <a:avLst>
              <a:gd name="adj" fmla="val 3279"/>
            </a:avLst>
          </a:prstGeom>
          <a:solidFill xmlns:a="http://schemas.openxmlformats.org/drawingml/2006/main">
            <a:srgbClr val="FDECEC"/>
          </a:solidFill>
          <a:ln xmlns:a="http://schemas.openxmlformats.org/drawingml/2006/main" w="9525">
            <a:solidFill>
              <a:srgbClr val="C9D2DC"/>
            </a:solidFill>
            <a:prstDash val="solid"/>
          </a:ln>
        </p:spPr>
      </p:sp>
      <p:sp>
        <p:nvSpPr>
          <p:cNvPr id="18" name="">
            <a:extLst xmlns:a="http://schemas.openxmlformats.org/drawingml/2006/main">
              <a:ext uri="{FF2B5EF4-FFF2-40B4-BE49-F238E27FC236}">
                <a16:creationId xmlns:a16="http://schemas.microsoft.com/office/drawing/2014/main" id="{EA2324EE-2E2C-4092-9A8A-1264251B146A}"/>
              </a:ext>
            </a:extLst>
          </p:cNvPr>
          <p:cNvSpPr>
            <a:spLocks xmlns:a="http://schemas.openxmlformats.org/drawingml/2006/main" noGrp="1"/>
          </p:cNvSpPr>
          <p:nvPr/>
        </p:nvSpPr>
        <p:spPr>
          <a:xfrm xmlns:a="http://schemas.openxmlformats.org/drawingml/2006/main">
            <a:off x="7886700" y="1771650"/>
            <a:ext cx="3486150" cy="57150"/>
          </a:xfrm>
          <a:prstGeom xmlns:a="http://schemas.openxmlformats.org/drawingml/2006/main" prst="rect">
            <a:avLst/>
          </a:prstGeom>
          <a:solidFill xmlns:a="http://schemas.openxmlformats.org/drawingml/2006/main">
            <a:srgbClr val="D95D5D"/>
          </a:solidFill>
          <a:ln xmlns:a="http://schemas.openxmlformats.org/drawingml/2006/main" w="0">
            <a:solidFill>
              <a:srgbClr val="D95D5D"/>
            </a:solidFill>
            <a:prstDash val="solid"/>
          </a:ln>
        </p:spPr>
      </p:sp>
      <p:sp>
        <p:nvSpPr>
          <p:cNvPr id="19" name="">
            <a:extLst xmlns:a="http://schemas.openxmlformats.org/drawingml/2006/main">
              <a:ext uri="{FF2B5EF4-FFF2-40B4-BE49-F238E27FC236}">
                <a16:creationId xmlns:a16="http://schemas.microsoft.com/office/drawing/2014/main" id="{D82A9182-6018-4255-A11E-4B9E84E65ED9}"/>
              </a:ext>
            </a:extLst>
          </p:cNvPr>
          <p:cNvSpPr>
            <a:spLocks xmlns:a="http://schemas.openxmlformats.org/drawingml/2006/main" noGrp="1"/>
          </p:cNvSpPr>
          <p:nvPr/>
        </p:nvSpPr>
        <p:spPr>
          <a:xfrm xmlns:a="http://schemas.openxmlformats.org/drawingml/2006/main">
            <a:off x="8096250" y="1981200"/>
            <a:ext cx="3067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D95D5D"/>
                </a:solidFill>
                <a:latin typeface="Arial"/>
                <a:ea typeface="Arial"/>
                <a:cs typeface="Arial"/>
              </a:defRPr>
            </a:pPr>
            <a:r>
              <a:rPr sz="900" b="1">
                <a:solidFill>
                  <a:srgbClr val="D95D5D"/>
                </a:solidFill>
                <a:latin typeface="Arial"/>
                <a:ea typeface="Arial"/>
                <a:cs typeface="Arial"/>
              </a:rPr>
              <a:t>WIDE OR UNHEALTHY</a:t>
            </a:r>
          </a:p>
        </p:txBody>
      </p:sp>
      <p:sp>
        <p:nvSpPr>
          <p:cNvPr id="20" name="">
            <a:extLst xmlns:a="http://schemas.openxmlformats.org/drawingml/2006/main">
              <a:ext uri="{FF2B5EF4-FFF2-40B4-BE49-F238E27FC236}">
                <a16:creationId xmlns:a16="http://schemas.microsoft.com/office/drawing/2014/main" id="{78930F7F-5F18-4B17-AA89-7F571C579AC4}"/>
              </a:ext>
            </a:extLst>
          </p:cNvPr>
          <p:cNvSpPr>
            <a:spLocks xmlns:a="http://schemas.openxmlformats.org/drawingml/2006/main" noGrp="1"/>
          </p:cNvSpPr>
          <p:nvPr/>
        </p:nvSpPr>
        <p:spPr>
          <a:xfrm xmlns:a="http://schemas.openxmlformats.org/drawingml/2006/main">
            <a:off x="8096250" y="2286000"/>
            <a:ext cx="3067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950" b="1">
                <a:solidFill>
                  <a:srgbClr val="102A43"/>
                </a:solidFill>
                <a:latin typeface="Arial"/>
                <a:ea typeface="Arial"/>
                <a:cs typeface="Arial"/>
              </a:defRPr>
            </a:pPr>
            <a:r>
              <a:rPr sz="1950" b="1">
                <a:solidFill>
                  <a:srgbClr val="102A43"/>
                </a:solidFill>
                <a:latin typeface="Arial"/>
                <a:ea typeface="Arial"/>
                <a:cs typeface="Arial"/>
              </a:rPr>
              <a:t>Defer the claim</a:t>
            </a:r>
          </a:p>
        </p:txBody>
      </p:sp>
      <p:sp>
        <p:nvSpPr>
          <p:cNvPr id="21" name="">
            <a:extLst xmlns:a="http://schemas.openxmlformats.org/drawingml/2006/main">
              <a:ext uri="{FF2B5EF4-FFF2-40B4-BE49-F238E27FC236}">
                <a16:creationId xmlns:a16="http://schemas.microsoft.com/office/drawing/2014/main" id="{A121573D-84F5-4EA5-91C8-D6AE800F848F}"/>
              </a:ext>
            </a:extLst>
          </p:cNvPr>
          <p:cNvSpPr>
            <a:spLocks xmlns:a="http://schemas.openxmlformats.org/drawingml/2006/main" noGrp="1"/>
          </p:cNvSpPr>
          <p:nvPr/>
        </p:nvSpPr>
        <p:spPr>
          <a:xfrm xmlns:a="http://schemas.openxmlformats.org/drawingml/2006/main">
            <a:off x="8096250" y="2914650"/>
            <a:ext cx="30670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Inconclusive intervals, broken commutation, or weak parity channels require more evidence—not a softened headline.</a:t>
            </a:r>
          </a:p>
        </p:txBody>
      </p:sp>
      <p:sp>
        <p:nvSpPr>
          <p:cNvPr id="22" name="">
            <a:extLst xmlns:a="http://schemas.openxmlformats.org/drawingml/2006/main">
              <a:ext uri="{FF2B5EF4-FFF2-40B4-BE49-F238E27FC236}">
                <a16:creationId xmlns:a16="http://schemas.microsoft.com/office/drawing/2014/main" id="{5743C867-6AB8-4742-80A0-010380505F0C}"/>
              </a:ext>
            </a:extLst>
          </p:cNvPr>
          <p:cNvSpPr>
            <a:spLocks xmlns:a="http://schemas.openxmlformats.org/drawingml/2006/main" noGrp="1"/>
          </p:cNvSpPr>
          <p:nvPr/>
        </p:nvSpPr>
        <p:spPr>
          <a:xfrm xmlns:a="http://schemas.openxmlformats.org/drawingml/2006/main">
            <a:off x="457200" y="5829300"/>
            <a:ext cx="10668000" cy="419100"/>
          </a:xfrm>
          <a:prstGeom xmlns:a="http://schemas.openxmlformats.org/drawingml/2006/main" prst="roundRect">
            <a:avLst>
              <a:gd name="adj" fmla="val 27273"/>
            </a:avLst>
          </a:prstGeom>
          <a:solidFill xmlns:a="http://schemas.openxmlformats.org/drawingml/2006/main">
            <a:srgbClr val="102A43"/>
          </a:solidFill>
          <a:ln xmlns:a="http://schemas.openxmlformats.org/drawingml/2006/main" w="9525">
            <a:solidFill>
              <a:srgbClr val="102A43"/>
            </a:solidFill>
            <a:prstDash val="solid"/>
          </a:ln>
        </p:spPr>
      </p:sp>
      <p:sp>
        <p:nvSpPr>
          <p:cNvPr id="23" name="">
            <a:extLst xmlns:a="http://schemas.openxmlformats.org/drawingml/2006/main">
              <a:ext uri="{FF2B5EF4-FFF2-40B4-BE49-F238E27FC236}">
                <a16:creationId xmlns:a16="http://schemas.microsoft.com/office/drawing/2014/main" id="{A732F67D-0DD5-4C0E-B8D5-694161B5374C}"/>
              </a:ext>
            </a:extLst>
          </p:cNvPr>
          <p:cNvSpPr>
            <a:spLocks xmlns:a="http://schemas.openxmlformats.org/drawingml/2006/main" noGrp="1"/>
          </p:cNvSpPr>
          <p:nvPr/>
        </p:nvSpPr>
        <p:spPr>
          <a:xfrm xmlns:a="http://schemas.openxmlformats.org/drawingml/2006/main">
            <a:off x="647700" y="59436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5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Secondary analyses explain the result: sign accuracy, calibration, label efficiency, corruption robustness, and MoVi view stability.</a:t>
            </a:r>
          </a:p>
        </p:txBody>
      </p:sp>
    </p:spTree>
    <p:extLst>
      <p:ext uri="{BB962C8B-B14F-4D97-AF65-F5344CB8AC3E}">
        <p14:creationId xmlns:p14="http://schemas.microsoft.com/office/powerpoint/2010/main" val="2546441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1401941-A9EE-4ACC-93D4-96FB0F11592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1D3B025C-139A-42FB-A06C-A65A8F2F7849}"/>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FUTURE DIRECTION</a:t>
            </a:r>
          </a:p>
        </p:txBody>
      </p:sp>
      <p:sp>
        <p:nvSpPr>
          <p:cNvPr id="3" name="">
            <a:extLst xmlns:a="http://schemas.openxmlformats.org/drawingml/2006/main">
              <a:ext uri="{FF2B5EF4-FFF2-40B4-BE49-F238E27FC236}">
                <a16:creationId xmlns:a16="http://schemas.microsoft.com/office/drawing/2014/main" id="{2066160F-4CC0-4046-B297-D8226CE68813}"/>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836"/>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Biomech-JEPA extends parity into physical movement understanding</a:t>
            </a:r>
          </a:p>
        </p:txBody>
      </p:sp>
      <p:sp>
        <p:nvSpPr>
          <p:cNvPr id="4" name="">
            <a:extLst xmlns:a="http://schemas.openxmlformats.org/drawingml/2006/main">
              <a:ext uri="{FF2B5EF4-FFF2-40B4-BE49-F238E27FC236}">
                <a16:creationId xmlns:a16="http://schemas.microsoft.com/office/drawing/2014/main" id="{D7956F99-7447-4981-AD60-B84275E29411}"/>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8C727476-50B5-4714-87FF-7CE2241EE365}"/>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F92431C5-9981-459A-A5B5-D1C156DDFB6B}"/>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211"/>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The proposed model predicts a typed state rather than a single undifferentiated embedding, supporting estimation, generation, groundedness, and uncertainty.</a:t>
            </a:r>
          </a:p>
        </p:txBody>
      </p:sp>
      <p:sp>
        <p:nvSpPr>
          <p:cNvPr id="7" name="">
            <a:extLst xmlns:a="http://schemas.openxmlformats.org/drawingml/2006/main">
              <a:ext uri="{FF2B5EF4-FFF2-40B4-BE49-F238E27FC236}">
                <a16:creationId xmlns:a16="http://schemas.microsoft.com/office/drawing/2014/main" id="{3364A91D-C5D3-4C68-86DF-9B548C95B1C6}"/>
              </a:ext>
            </a:extLst>
          </p:cNvPr>
          <p:cNvSpPr>
            <a:spLocks xmlns:a="http://schemas.openxmlformats.org/drawingml/2006/main" noGrp="1"/>
          </p:cNvSpPr>
          <p:nvPr/>
        </p:nvSpPr>
        <p:spPr>
          <a:xfrm xmlns:a="http://schemas.openxmlformats.org/drawingml/2006/main">
            <a:off x="5638800" y="2038350"/>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571"/>
          </a:bodyPr>
          <a:lstStyle xmlns:a="http://schemas.openxmlformats.org/drawingml/2006/main"/>
          <a:p xmlns:a="http://schemas.openxmlformats.org/drawingml/2006/main">
            <a:pPr algn="ctr">
              <a:defRPr sz="2100" b="1">
                <a:solidFill>
                  <a:srgbClr val="52606D"/>
                </a:solidFill>
                <a:latin typeface="Arial"/>
                <a:ea typeface="Arial"/>
                <a:cs typeface="Arial"/>
              </a:defRPr>
            </a:pPr>
            <a:r>
              <a:rPr sz="2100" b="1">
                <a:solidFill>
                  <a:srgbClr val="52606D"/>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D6E10049-09E9-4D6B-9342-08EECFBF15BF}"/>
              </a:ext>
            </a:extLst>
          </p:cNvPr>
          <p:cNvSpPr>
            <a:spLocks xmlns:a="http://schemas.openxmlformats.org/drawingml/2006/main" noGrp="1"/>
          </p:cNvSpPr>
          <p:nvPr/>
        </p:nvSpPr>
        <p:spPr>
          <a:xfrm xmlns:a="http://schemas.openxmlformats.org/drawingml/2006/main">
            <a:off x="5638800" y="3514725"/>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571"/>
          </a:bodyPr>
          <a:lstStyle xmlns:a="http://schemas.openxmlformats.org/drawingml/2006/main"/>
          <a:p xmlns:a="http://schemas.openxmlformats.org/drawingml/2006/main">
            <a:pPr algn="ctr">
              <a:defRPr sz="2100" b="1">
                <a:solidFill>
                  <a:srgbClr val="52606D"/>
                </a:solidFill>
                <a:latin typeface="Arial"/>
                <a:ea typeface="Arial"/>
                <a:cs typeface="Arial"/>
              </a:defRPr>
            </a:pPr>
            <a:r>
              <a:rPr sz="2100" b="1">
                <a:solidFill>
                  <a:srgbClr val="52606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1005648D-1A1E-4126-BF9C-D2A45E7F9236}"/>
              </a:ext>
            </a:extLst>
          </p:cNvPr>
          <p:cNvSpPr>
            <a:spLocks xmlns:a="http://schemas.openxmlformats.org/drawingml/2006/main" noGrp="1"/>
          </p:cNvSpPr>
          <p:nvPr/>
        </p:nvSpPr>
        <p:spPr>
          <a:xfrm xmlns:a="http://schemas.openxmlformats.org/drawingml/2006/main">
            <a:off x="457200" y="1733550"/>
            <a:ext cx="1866900" cy="552450"/>
          </a:xfrm>
          <a:prstGeom xmlns:a="http://schemas.openxmlformats.org/drawingml/2006/main" prst="roundRect">
            <a:avLst>
              <a:gd name="adj" fmla="val 20690"/>
            </a:avLst>
          </a:prstGeom>
          <a:solidFill xmlns:a="http://schemas.openxmlformats.org/drawingml/2006/main">
            <a:srgbClr val="EAF5FB"/>
          </a:solidFill>
          <a:ln xmlns:a="http://schemas.openxmlformats.org/drawingml/2006/main" w="9525">
            <a:solidFill>
              <a:srgbClr val="3D8DFF"/>
            </a:solidFill>
            <a:prstDash val="solid"/>
          </a:ln>
        </p:spPr>
      </p:sp>
      <p:sp>
        <p:nvSpPr>
          <p:cNvPr id="10" name="">
            <a:extLst xmlns:a="http://schemas.openxmlformats.org/drawingml/2006/main">
              <a:ext uri="{FF2B5EF4-FFF2-40B4-BE49-F238E27FC236}">
                <a16:creationId xmlns:a16="http://schemas.microsoft.com/office/drawing/2014/main" id="{AAB53D9A-0662-44B9-ADB1-0635894D7620}"/>
              </a:ext>
            </a:extLst>
          </p:cNvPr>
          <p:cNvSpPr>
            <a:spLocks xmlns:a="http://schemas.openxmlformats.org/drawingml/2006/main" noGrp="1"/>
          </p:cNvSpPr>
          <p:nvPr/>
        </p:nvSpPr>
        <p:spPr>
          <a:xfrm xmlns:a="http://schemas.openxmlformats.org/drawingml/2006/main">
            <a:off x="552450" y="1895475"/>
            <a:ext cx="1676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ctr">
              <a:defRPr sz="1200" b="1">
                <a:solidFill>
                  <a:srgbClr val="102A43"/>
                </a:solidFill>
                <a:latin typeface="Arial"/>
                <a:ea typeface="Arial"/>
                <a:cs typeface="Arial"/>
              </a:defRPr>
            </a:pPr>
            <a:r>
              <a:rPr sz="1200" b="1">
                <a:solidFill>
                  <a:srgbClr val="102A43"/>
                </a:solidFill>
                <a:latin typeface="Arial"/>
                <a:ea typeface="Arial"/>
                <a:cs typeface="Arial"/>
              </a:rPr>
              <a:t>RGB</a:t>
            </a:r>
          </a:p>
        </p:txBody>
      </p:sp>
      <p:sp>
        <p:nvSpPr>
          <p:cNvPr id="11" name="">
            <a:extLst xmlns:a="http://schemas.openxmlformats.org/drawingml/2006/main">
              <a:ext uri="{FF2B5EF4-FFF2-40B4-BE49-F238E27FC236}">
                <a16:creationId xmlns:a16="http://schemas.microsoft.com/office/drawing/2014/main" id="{0E984F71-E593-4724-BFA0-9E65DC87D152}"/>
              </a:ext>
            </a:extLst>
          </p:cNvPr>
          <p:cNvSpPr>
            <a:spLocks xmlns:a="http://schemas.openxmlformats.org/drawingml/2006/main" noGrp="1"/>
          </p:cNvSpPr>
          <p:nvPr/>
        </p:nvSpPr>
        <p:spPr>
          <a:xfrm xmlns:a="http://schemas.openxmlformats.org/drawingml/2006/main">
            <a:off x="2609850" y="1733550"/>
            <a:ext cx="1866900" cy="552450"/>
          </a:xfrm>
          <a:prstGeom xmlns:a="http://schemas.openxmlformats.org/drawingml/2006/main" prst="roundRect">
            <a:avLst>
              <a:gd name="adj" fmla="val 20690"/>
            </a:avLst>
          </a:prstGeom>
          <a:solidFill xmlns:a="http://schemas.openxmlformats.org/drawingml/2006/main">
            <a:srgbClr val="EAF5FB"/>
          </a:solidFill>
          <a:ln xmlns:a="http://schemas.openxmlformats.org/drawingml/2006/main" w="9525">
            <a:solidFill>
              <a:srgbClr val="3D8DFF"/>
            </a:solidFill>
            <a:prstDash val="solid"/>
          </a:ln>
        </p:spPr>
      </p:sp>
      <p:sp>
        <p:nvSpPr>
          <p:cNvPr id="12" name="">
            <a:extLst xmlns:a="http://schemas.openxmlformats.org/drawingml/2006/main">
              <a:ext uri="{FF2B5EF4-FFF2-40B4-BE49-F238E27FC236}">
                <a16:creationId xmlns:a16="http://schemas.microsoft.com/office/drawing/2014/main" id="{8F64E015-B2F5-48BB-A634-EDABE0EEB7E9}"/>
              </a:ext>
            </a:extLst>
          </p:cNvPr>
          <p:cNvSpPr>
            <a:spLocks xmlns:a="http://schemas.openxmlformats.org/drawingml/2006/main" noGrp="1"/>
          </p:cNvSpPr>
          <p:nvPr/>
        </p:nvSpPr>
        <p:spPr>
          <a:xfrm xmlns:a="http://schemas.openxmlformats.org/drawingml/2006/main">
            <a:off x="2705100" y="1895475"/>
            <a:ext cx="1676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ctr">
              <a:defRPr sz="1200" b="1">
                <a:solidFill>
                  <a:srgbClr val="102A43"/>
                </a:solidFill>
                <a:latin typeface="Arial"/>
                <a:ea typeface="Arial"/>
                <a:cs typeface="Arial"/>
              </a:defRPr>
            </a:pPr>
            <a:r>
              <a:rPr sz="1200" b="1">
                <a:solidFill>
                  <a:srgbClr val="102A43"/>
                </a:solidFill>
                <a:latin typeface="Arial"/>
                <a:ea typeface="Arial"/>
                <a:cs typeface="Arial"/>
              </a:rPr>
              <a:t>depth</a:t>
            </a:r>
          </a:p>
        </p:txBody>
      </p:sp>
      <p:sp>
        <p:nvSpPr>
          <p:cNvPr id="13" name="">
            <a:extLst xmlns:a="http://schemas.openxmlformats.org/drawingml/2006/main">
              <a:ext uri="{FF2B5EF4-FFF2-40B4-BE49-F238E27FC236}">
                <a16:creationId xmlns:a16="http://schemas.microsoft.com/office/drawing/2014/main" id="{AB417240-F394-4EAC-8479-9AEAEF59CFC9}"/>
              </a:ext>
            </a:extLst>
          </p:cNvPr>
          <p:cNvSpPr>
            <a:spLocks xmlns:a="http://schemas.openxmlformats.org/drawingml/2006/main" noGrp="1"/>
          </p:cNvSpPr>
          <p:nvPr/>
        </p:nvSpPr>
        <p:spPr>
          <a:xfrm xmlns:a="http://schemas.openxmlformats.org/drawingml/2006/main">
            <a:off x="4762500" y="1733550"/>
            <a:ext cx="1866900" cy="552450"/>
          </a:xfrm>
          <a:prstGeom xmlns:a="http://schemas.openxmlformats.org/drawingml/2006/main" prst="roundRect">
            <a:avLst>
              <a:gd name="adj" fmla="val 20690"/>
            </a:avLst>
          </a:prstGeom>
          <a:solidFill xmlns:a="http://schemas.openxmlformats.org/drawingml/2006/main">
            <a:srgbClr val="EAF5FB"/>
          </a:solidFill>
          <a:ln xmlns:a="http://schemas.openxmlformats.org/drawingml/2006/main" w="9525">
            <a:solidFill>
              <a:srgbClr val="3D8DFF"/>
            </a:solidFill>
            <a:prstDash val="solid"/>
          </a:ln>
        </p:spPr>
      </p:sp>
      <p:sp>
        <p:nvSpPr>
          <p:cNvPr id="14" name="">
            <a:extLst xmlns:a="http://schemas.openxmlformats.org/drawingml/2006/main">
              <a:ext uri="{FF2B5EF4-FFF2-40B4-BE49-F238E27FC236}">
                <a16:creationId xmlns:a16="http://schemas.microsoft.com/office/drawing/2014/main" id="{1FC2AFE0-0117-44E8-9121-274441F4FA0C}"/>
              </a:ext>
            </a:extLst>
          </p:cNvPr>
          <p:cNvSpPr>
            <a:spLocks xmlns:a="http://schemas.openxmlformats.org/drawingml/2006/main" noGrp="1"/>
          </p:cNvSpPr>
          <p:nvPr/>
        </p:nvSpPr>
        <p:spPr>
          <a:xfrm xmlns:a="http://schemas.openxmlformats.org/drawingml/2006/main">
            <a:off x="4857750" y="1895475"/>
            <a:ext cx="1676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ctr">
              <a:defRPr sz="1200" b="1">
                <a:solidFill>
                  <a:srgbClr val="102A43"/>
                </a:solidFill>
                <a:latin typeface="Arial"/>
                <a:ea typeface="Arial"/>
                <a:cs typeface="Arial"/>
              </a:defRPr>
            </a:pPr>
            <a:r>
              <a:rPr sz="1200" b="1">
                <a:solidFill>
                  <a:srgbClr val="102A43"/>
                </a:solidFill>
                <a:latin typeface="Arial"/>
                <a:ea typeface="Arial"/>
                <a:cs typeface="Arial"/>
              </a:rPr>
              <a:t>segmentation</a:t>
            </a:r>
          </a:p>
        </p:txBody>
      </p:sp>
      <p:sp>
        <p:nvSpPr>
          <p:cNvPr id="15" name="">
            <a:extLst xmlns:a="http://schemas.openxmlformats.org/drawingml/2006/main">
              <a:ext uri="{FF2B5EF4-FFF2-40B4-BE49-F238E27FC236}">
                <a16:creationId xmlns:a16="http://schemas.microsoft.com/office/drawing/2014/main" id="{75796EE1-19E5-43C8-BF98-8B1D348CA41F}"/>
              </a:ext>
            </a:extLst>
          </p:cNvPr>
          <p:cNvSpPr>
            <a:spLocks xmlns:a="http://schemas.openxmlformats.org/drawingml/2006/main" noGrp="1"/>
          </p:cNvSpPr>
          <p:nvPr/>
        </p:nvSpPr>
        <p:spPr>
          <a:xfrm xmlns:a="http://schemas.openxmlformats.org/drawingml/2006/main">
            <a:off x="6915150" y="1733550"/>
            <a:ext cx="1866900" cy="552450"/>
          </a:xfrm>
          <a:prstGeom xmlns:a="http://schemas.openxmlformats.org/drawingml/2006/main" prst="roundRect">
            <a:avLst>
              <a:gd name="adj" fmla="val 20690"/>
            </a:avLst>
          </a:prstGeom>
          <a:solidFill xmlns:a="http://schemas.openxmlformats.org/drawingml/2006/main">
            <a:srgbClr val="EAF5FB"/>
          </a:solidFill>
          <a:ln xmlns:a="http://schemas.openxmlformats.org/drawingml/2006/main" w="9525">
            <a:solidFill>
              <a:srgbClr val="3D8DFF"/>
            </a:solidFill>
            <a:prstDash val="solid"/>
          </a:ln>
        </p:spPr>
      </p:sp>
      <p:sp>
        <p:nvSpPr>
          <p:cNvPr id="16" name="">
            <a:extLst xmlns:a="http://schemas.openxmlformats.org/drawingml/2006/main">
              <a:ext uri="{FF2B5EF4-FFF2-40B4-BE49-F238E27FC236}">
                <a16:creationId xmlns:a16="http://schemas.microsoft.com/office/drawing/2014/main" id="{EECB2232-C1F9-4B02-AE22-05F05D36088A}"/>
              </a:ext>
            </a:extLst>
          </p:cNvPr>
          <p:cNvSpPr>
            <a:spLocks xmlns:a="http://schemas.openxmlformats.org/drawingml/2006/main" noGrp="1"/>
          </p:cNvSpPr>
          <p:nvPr/>
        </p:nvSpPr>
        <p:spPr>
          <a:xfrm xmlns:a="http://schemas.openxmlformats.org/drawingml/2006/main">
            <a:off x="7010400" y="1895475"/>
            <a:ext cx="1676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ctr">
              <a:defRPr sz="1200" b="1">
                <a:solidFill>
                  <a:srgbClr val="102A43"/>
                </a:solidFill>
                <a:latin typeface="Arial"/>
                <a:ea typeface="Arial"/>
                <a:cs typeface="Arial"/>
              </a:defRPr>
            </a:pPr>
            <a:r>
              <a:rPr sz="1200" b="1">
                <a:solidFill>
                  <a:srgbClr val="102A43"/>
                </a:solidFill>
                <a:latin typeface="Arial"/>
                <a:ea typeface="Arial"/>
                <a:cs typeface="Arial"/>
              </a:rPr>
              <a:t>monocular motion</a:t>
            </a:r>
          </a:p>
        </p:txBody>
      </p:sp>
      <p:sp>
        <p:nvSpPr>
          <p:cNvPr id="17" name="">
            <a:extLst xmlns:a="http://schemas.openxmlformats.org/drawingml/2006/main">
              <a:ext uri="{FF2B5EF4-FFF2-40B4-BE49-F238E27FC236}">
                <a16:creationId xmlns:a16="http://schemas.microsoft.com/office/drawing/2014/main" id="{6EB9C811-7058-455F-9B84-DEDCD6E70441}"/>
              </a:ext>
            </a:extLst>
          </p:cNvPr>
          <p:cNvSpPr>
            <a:spLocks xmlns:a="http://schemas.openxmlformats.org/drawingml/2006/main" noGrp="1"/>
          </p:cNvSpPr>
          <p:nvPr/>
        </p:nvSpPr>
        <p:spPr>
          <a:xfrm xmlns:a="http://schemas.openxmlformats.org/drawingml/2006/main">
            <a:off x="9067800" y="1733550"/>
            <a:ext cx="1866900" cy="552450"/>
          </a:xfrm>
          <a:prstGeom xmlns:a="http://schemas.openxmlformats.org/drawingml/2006/main" prst="roundRect">
            <a:avLst>
              <a:gd name="adj" fmla="val 20690"/>
            </a:avLst>
          </a:prstGeom>
          <a:solidFill xmlns:a="http://schemas.openxmlformats.org/drawingml/2006/main">
            <a:srgbClr val="EAF5FB"/>
          </a:solidFill>
          <a:ln xmlns:a="http://schemas.openxmlformats.org/drawingml/2006/main" w="9525">
            <a:solidFill>
              <a:srgbClr val="3D8DFF"/>
            </a:solidFill>
            <a:prstDash val="solid"/>
          </a:ln>
        </p:spPr>
      </p:sp>
      <p:sp>
        <p:nvSpPr>
          <p:cNvPr id="18" name="">
            <a:extLst xmlns:a="http://schemas.openxmlformats.org/drawingml/2006/main">
              <a:ext uri="{FF2B5EF4-FFF2-40B4-BE49-F238E27FC236}">
                <a16:creationId xmlns:a16="http://schemas.microsoft.com/office/drawing/2014/main" id="{79EDCA5E-B061-44A3-97CB-54510C3F4AA4}"/>
              </a:ext>
            </a:extLst>
          </p:cNvPr>
          <p:cNvSpPr>
            <a:spLocks xmlns:a="http://schemas.openxmlformats.org/drawingml/2006/main" noGrp="1"/>
          </p:cNvSpPr>
          <p:nvPr/>
        </p:nvSpPr>
        <p:spPr>
          <a:xfrm xmlns:a="http://schemas.openxmlformats.org/drawingml/2006/main">
            <a:off x="9163050" y="1895475"/>
            <a:ext cx="1676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ctr">
              <a:defRPr sz="1200" b="1">
                <a:solidFill>
                  <a:srgbClr val="102A43"/>
                </a:solidFill>
                <a:latin typeface="Arial"/>
                <a:ea typeface="Arial"/>
                <a:cs typeface="Arial"/>
              </a:defRPr>
            </a:pPr>
            <a:r>
              <a:rPr sz="1200" b="1">
                <a:solidFill>
                  <a:srgbClr val="102A43"/>
                </a:solidFill>
                <a:latin typeface="Arial"/>
                <a:ea typeface="Arial"/>
                <a:cs typeface="Arial"/>
              </a:rPr>
              <a:t>wearables</a:t>
            </a:r>
          </a:p>
        </p:txBody>
      </p:sp>
      <p:sp>
        <p:nvSpPr>
          <p:cNvPr id="19" name="">
            <a:extLst xmlns:a="http://schemas.openxmlformats.org/drawingml/2006/main">
              <a:ext uri="{FF2B5EF4-FFF2-40B4-BE49-F238E27FC236}">
                <a16:creationId xmlns:a16="http://schemas.microsoft.com/office/drawing/2014/main" id="{7D18F226-046A-479B-8298-CB35FF355270}"/>
              </a:ext>
            </a:extLst>
          </p:cNvPr>
          <p:cNvSpPr>
            <a:spLocks xmlns:a="http://schemas.openxmlformats.org/drawingml/2006/main" noGrp="1"/>
          </p:cNvSpPr>
          <p:nvPr/>
        </p:nvSpPr>
        <p:spPr>
          <a:xfrm xmlns:a="http://schemas.openxmlformats.org/drawingml/2006/main">
            <a:off x="1524000" y="2505075"/>
            <a:ext cx="9144000" cy="1009650"/>
          </a:xfrm>
          <a:prstGeom xmlns:a="http://schemas.openxmlformats.org/drawingml/2006/main" prst="roundRect">
            <a:avLst>
              <a:gd name="adj" fmla="val 11321"/>
            </a:avLst>
          </a:prstGeom>
          <a:solidFill xmlns:a="http://schemas.openxmlformats.org/drawingml/2006/main">
            <a:srgbClr val="E8F5F2"/>
          </a:solidFill>
          <a:ln xmlns:a="http://schemas.openxmlformats.org/drawingml/2006/main" w="9525">
            <a:solidFill>
              <a:srgbClr val="2A9D8F"/>
            </a:solidFill>
            <a:prstDash val="solid"/>
          </a:ln>
        </p:spPr>
      </p:sp>
      <p:sp>
        <p:nvSpPr>
          <p:cNvPr id="20" name="">
            <a:extLst xmlns:a="http://schemas.openxmlformats.org/drawingml/2006/main">
              <a:ext uri="{FF2B5EF4-FFF2-40B4-BE49-F238E27FC236}">
                <a16:creationId xmlns:a16="http://schemas.microsoft.com/office/drawing/2014/main" id="{D5381FAD-6302-4663-9D09-1C3F81A7A29E}"/>
              </a:ext>
            </a:extLst>
          </p:cNvPr>
          <p:cNvSpPr>
            <a:spLocks xmlns:a="http://schemas.openxmlformats.org/drawingml/2006/main" noGrp="1"/>
          </p:cNvSpPr>
          <p:nvPr/>
        </p:nvSpPr>
        <p:spPr>
          <a:xfrm xmlns:a="http://schemas.openxmlformats.org/drawingml/2006/main">
            <a:off x="1809750" y="26765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ctr">
              <a:defRPr sz="975" b="1">
                <a:solidFill>
                  <a:srgbClr val="2A9D8F"/>
                </a:solidFill>
                <a:latin typeface="Arial"/>
                <a:ea typeface="Arial"/>
                <a:cs typeface="Arial"/>
              </a:defRPr>
            </a:pPr>
            <a:r>
              <a:rPr sz="975" b="1">
                <a:solidFill>
                  <a:srgbClr val="2A9D8F"/>
                </a:solidFill>
                <a:latin typeface="Arial"/>
                <a:ea typeface="Arial"/>
                <a:cs typeface="Arial"/>
              </a:rPr>
              <a:t>TYPED WORLD STATE</a:t>
            </a:r>
          </a:p>
        </p:txBody>
      </p:sp>
      <p:sp>
        <p:nvSpPr>
          <p:cNvPr id="21" name="">
            <a:extLst xmlns:a="http://schemas.openxmlformats.org/drawingml/2006/main">
              <a:ext uri="{FF2B5EF4-FFF2-40B4-BE49-F238E27FC236}">
                <a16:creationId xmlns:a16="http://schemas.microsoft.com/office/drawing/2014/main" id="{DD4B9691-E715-4FDF-8DC7-DFFB09B56329}"/>
              </a:ext>
            </a:extLst>
          </p:cNvPr>
          <p:cNvSpPr>
            <a:spLocks xmlns:a="http://schemas.openxmlformats.org/drawingml/2006/main" noGrp="1"/>
          </p:cNvSpPr>
          <p:nvPr/>
        </p:nvSpPr>
        <p:spPr>
          <a:xfrm xmlns:a="http://schemas.openxmlformats.org/drawingml/2006/main">
            <a:off x="1809750" y="3038475"/>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722"/>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body · scene · object keypoints · contact · dynamics · uncertainty</a:t>
            </a:r>
          </a:p>
        </p:txBody>
      </p:sp>
      <p:sp>
        <p:nvSpPr>
          <p:cNvPr id="22" name="">
            <a:extLst xmlns:a="http://schemas.openxmlformats.org/drawingml/2006/main">
              <a:ext uri="{FF2B5EF4-FFF2-40B4-BE49-F238E27FC236}">
                <a16:creationId xmlns:a16="http://schemas.microsoft.com/office/drawing/2014/main" id="{0FF199D6-E9FE-4757-AF9E-EE01C39F6117}"/>
              </a:ext>
            </a:extLst>
          </p:cNvPr>
          <p:cNvSpPr>
            <a:spLocks xmlns:a="http://schemas.openxmlformats.org/drawingml/2006/main" noGrp="1"/>
          </p:cNvSpPr>
          <p:nvPr/>
        </p:nvSpPr>
        <p:spPr>
          <a:xfrm xmlns:a="http://schemas.openxmlformats.org/drawingml/2006/main">
            <a:off x="1524000" y="3810000"/>
            <a:ext cx="9144000" cy="742950"/>
          </a:xfrm>
          <a:prstGeom xmlns:a="http://schemas.openxmlformats.org/drawingml/2006/main" prst="roundRect">
            <a:avLst>
              <a:gd name="adj" fmla="val 15385"/>
            </a:avLst>
          </a:prstGeom>
          <a:solidFill xmlns:a="http://schemas.openxmlformats.org/drawingml/2006/main">
            <a:srgbClr val="EEF2FF"/>
          </a:solidFill>
          <a:ln xmlns:a="http://schemas.openxmlformats.org/drawingml/2006/main" w="9525">
            <a:solidFill>
              <a:srgbClr val="6D5BD0"/>
            </a:solidFill>
            <a:prstDash val="solid"/>
          </a:ln>
        </p:spPr>
      </p:sp>
      <p:sp>
        <p:nvSpPr>
          <p:cNvPr id="23" name="">
            <a:extLst xmlns:a="http://schemas.openxmlformats.org/drawingml/2006/main">
              <a:ext uri="{FF2B5EF4-FFF2-40B4-BE49-F238E27FC236}">
                <a16:creationId xmlns:a16="http://schemas.microsoft.com/office/drawing/2014/main" id="{6FBE9F1A-4F1F-42DF-BF86-B010D83EE516}"/>
              </a:ext>
            </a:extLst>
          </p:cNvPr>
          <p:cNvSpPr>
            <a:spLocks xmlns:a="http://schemas.openxmlformats.org/drawingml/2006/main" noGrp="1"/>
          </p:cNvSpPr>
          <p:nvPr/>
        </p:nvSpPr>
        <p:spPr>
          <a:xfrm xmlns:a="http://schemas.openxmlformats.org/drawingml/2006/main">
            <a:off x="1809750" y="4029075"/>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889"/>
          </a:bodyPr>
          <a:lstStyle xmlns:a="http://schemas.openxmlformats.org/drawingml/2006/main"/>
          <a:p xmlns:a="http://schemas.openxmlformats.org/drawingml/2006/main">
            <a:pPr algn="ctr">
              <a:defRPr sz="1575" b="1">
                <a:solidFill>
                  <a:srgbClr val="102A43"/>
                </a:solidFill>
                <a:latin typeface="Arial"/>
                <a:ea typeface="Arial"/>
                <a:cs typeface="Arial"/>
              </a:defRPr>
            </a:pPr>
            <a:r>
              <a:rPr sz="1575" b="1">
                <a:solidFill>
                  <a:srgbClr val="102A43"/>
                </a:solidFill>
                <a:latin typeface="Arial"/>
                <a:ea typeface="Arial"/>
                <a:cs typeface="Arial"/>
              </a:rPr>
              <a:t>BIOMECH-JEPA predicts masked state, future state, and counterfactual state</a:t>
            </a:r>
          </a:p>
        </p:txBody>
      </p:sp>
      <p:sp>
        <p:nvSpPr>
          <p:cNvPr id="24" name="">
            <a:extLst xmlns:a="http://schemas.openxmlformats.org/drawingml/2006/main">
              <a:ext uri="{FF2B5EF4-FFF2-40B4-BE49-F238E27FC236}">
                <a16:creationId xmlns:a16="http://schemas.microsoft.com/office/drawing/2014/main" id="{BE01CE7E-DA20-4CFA-A128-9DE81C22016B}"/>
              </a:ext>
            </a:extLst>
          </p:cNvPr>
          <p:cNvSpPr>
            <a:spLocks xmlns:a="http://schemas.openxmlformats.org/drawingml/2006/main" noGrp="1"/>
          </p:cNvSpPr>
          <p:nvPr/>
        </p:nvSpPr>
        <p:spPr>
          <a:xfrm xmlns:a="http://schemas.openxmlformats.org/drawingml/2006/main">
            <a:off x="457200" y="4876800"/>
            <a:ext cx="3390900" cy="1066800"/>
          </a:xfrm>
          <a:prstGeom xmlns:a="http://schemas.openxmlformats.org/drawingml/2006/main" prst="roundRect">
            <a:avLst>
              <a:gd name="adj" fmla="val 10714"/>
            </a:avLst>
          </a:prstGeom>
          <a:solidFill xmlns:a="http://schemas.openxmlformats.org/drawingml/2006/main">
            <a:srgbClr val="E8F5F2"/>
          </a:solidFill>
          <a:ln xmlns:a="http://schemas.openxmlformats.org/drawingml/2006/main" w="9525">
            <a:solidFill>
              <a:srgbClr val="2A9D8F"/>
            </a:solidFill>
            <a:prstDash val="solid"/>
          </a:ln>
        </p:spPr>
      </p:sp>
      <p:sp>
        <p:nvSpPr>
          <p:cNvPr id="25" name="">
            <a:extLst xmlns:a="http://schemas.openxmlformats.org/drawingml/2006/main">
              <a:ext uri="{FF2B5EF4-FFF2-40B4-BE49-F238E27FC236}">
                <a16:creationId xmlns:a16="http://schemas.microsoft.com/office/drawing/2014/main" id="{D9D4650B-E442-4A01-AEF9-1B8CD456F460}"/>
              </a:ext>
            </a:extLst>
          </p:cNvPr>
          <p:cNvSpPr>
            <a:spLocks xmlns:a="http://schemas.openxmlformats.org/drawingml/2006/main" noGrp="1"/>
          </p:cNvSpPr>
          <p:nvPr/>
        </p:nvSpPr>
        <p:spPr>
          <a:xfrm xmlns:a="http://schemas.openxmlformats.org/drawingml/2006/main">
            <a:off x="628650" y="50482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ctr">
              <a:defRPr sz="900" b="1">
                <a:solidFill>
                  <a:srgbClr val="2A9D8F"/>
                </a:solidFill>
                <a:latin typeface="Arial"/>
                <a:ea typeface="Arial"/>
                <a:cs typeface="Arial"/>
              </a:defRPr>
            </a:pPr>
            <a:r>
              <a:rPr sz="900" b="1">
                <a:solidFill>
                  <a:srgbClr val="2A9D8F"/>
                </a:solidFill>
                <a:latin typeface="Arial"/>
                <a:ea typeface="Arial"/>
                <a:cs typeface="Arial"/>
              </a:rPr>
              <a:t>DISCRIMINATIVE</a:t>
            </a:r>
          </a:p>
        </p:txBody>
      </p:sp>
      <p:sp>
        <p:nvSpPr>
          <p:cNvPr id="26" name="">
            <a:extLst xmlns:a="http://schemas.openxmlformats.org/drawingml/2006/main">
              <a:ext uri="{FF2B5EF4-FFF2-40B4-BE49-F238E27FC236}">
                <a16:creationId xmlns:a16="http://schemas.microsoft.com/office/drawing/2014/main" id="{8D318BEE-29C7-42DD-AC2C-A8C3178744AD}"/>
              </a:ext>
            </a:extLst>
          </p:cNvPr>
          <p:cNvSpPr>
            <a:spLocks xmlns:a="http://schemas.openxmlformats.org/drawingml/2006/main" noGrp="1"/>
          </p:cNvSpPr>
          <p:nvPr/>
        </p:nvSpPr>
        <p:spPr>
          <a:xfrm xmlns:a="http://schemas.openxmlformats.org/drawingml/2006/main">
            <a:off x="628650" y="534352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118"/>
          </a:bodyPr>
          <a:lstStyle xmlns:a="http://schemas.openxmlformats.org/drawingml/2006/main"/>
          <a:p xmlns:a="http://schemas.openxmlformats.org/drawingml/2006/main">
            <a:pPr algn="ctr">
              <a:defRPr sz="1275" b="1">
                <a:solidFill>
                  <a:srgbClr val="102A43"/>
                </a:solidFill>
                <a:latin typeface="Arial"/>
                <a:ea typeface="Arial"/>
                <a:cs typeface="Arial"/>
              </a:defRPr>
            </a:pPr>
            <a:r>
              <a:rPr sz="1275" b="1">
                <a:solidFill>
                  <a:srgbClr val="102A43"/>
                </a:solidFill>
                <a:latin typeface="Arial"/>
                <a:ea typeface="Arial"/>
                <a:cs typeface="Arial"/>
              </a:rPr>
              <a:t>forces · asymmetry</a:t>
            </a:r>
          </a:p>
          <a:p xmlns:a="http://schemas.openxmlformats.org/drawingml/2006/main">
            <a:pPr algn="ctr">
              <a:defRPr sz="1275" b="1">
                <a:solidFill>
                  <a:srgbClr val="102A43"/>
                </a:solidFill>
                <a:latin typeface="Arial"/>
                <a:ea typeface="Arial"/>
                <a:cs typeface="Arial"/>
              </a:defRPr>
            </a:pPr>
            <a:r>
              <a:rPr sz="1275" b="1">
                <a:solidFill>
                  <a:srgbClr val="102A43"/>
                </a:solidFill>
                <a:latin typeface="Arial"/>
                <a:ea typeface="Arial"/>
                <a:cs typeface="Arial"/>
              </a:rPr>
              <a:t>groundedness · confidence</a:t>
            </a:r>
          </a:p>
        </p:txBody>
      </p:sp>
      <p:sp>
        <p:nvSpPr>
          <p:cNvPr id="27" name="">
            <a:extLst xmlns:a="http://schemas.openxmlformats.org/drawingml/2006/main">
              <a:ext uri="{FF2B5EF4-FFF2-40B4-BE49-F238E27FC236}">
                <a16:creationId xmlns:a16="http://schemas.microsoft.com/office/drawing/2014/main" id="{7C646797-4D4B-40C4-AD86-B0295A8AB2FB}"/>
              </a:ext>
            </a:extLst>
          </p:cNvPr>
          <p:cNvSpPr>
            <a:spLocks xmlns:a="http://schemas.openxmlformats.org/drawingml/2006/main" noGrp="1"/>
          </p:cNvSpPr>
          <p:nvPr/>
        </p:nvSpPr>
        <p:spPr>
          <a:xfrm xmlns:a="http://schemas.openxmlformats.org/drawingml/2006/main">
            <a:off x="4095750" y="4876800"/>
            <a:ext cx="3390900" cy="1066800"/>
          </a:xfrm>
          <a:prstGeom xmlns:a="http://schemas.openxmlformats.org/drawingml/2006/main" prst="roundRect">
            <a:avLst>
              <a:gd name="adj" fmla="val 10714"/>
            </a:avLst>
          </a:prstGeom>
          <a:solidFill xmlns:a="http://schemas.openxmlformats.org/drawingml/2006/main">
            <a:srgbClr val="EAF5FB"/>
          </a:solidFill>
          <a:ln xmlns:a="http://schemas.openxmlformats.org/drawingml/2006/main" w="9525">
            <a:solidFill>
              <a:srgbClr val="3D8DFF"/>
            </a:solidFill>
            <a:prstDash val="solid"/>
          </a:ln>
        </p:spPr>
      </p:sp>
      <p:sp>
        <p:nvSpPr>
          <p:cNvPr id="28" name="">
            <a:extLst xmlns:a="http://schemas.openxmlformats.org/drawingml/2006/main">
              <a:ext uri="{FF2B5EF4-FFF2-40B4-BE49-F238E27FC236}">
                <a16:creationId xmlns:a16="http://schemas.microsoft.com/office/drawing/2014/main" id="{80E1F4E1-9717-4B73-9C4E-20DDB993514E}"/>
              </a:ext>
            </a:extLst>
          </p:cNvPr>
          <p:cNvSpPr>
            <a:spLocks xmlns:a="http://schemas.openxmlformats.org/drawingml/2006/main" noGrp="1"/>
          </p:cNvSpPr>
          <p:nvPr/>
        </p:nvSpPr>
        <p:spPr>
          <a:xfrm xmlns:a="http://schemas.openxmlformats.org/drawingml/2006/main">
            <a:off x="4267200" y="50482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ctr">
              <a:defRPr sz="900" b="1">
                <a:solidFill>
                  <a:srgbClr val="3D8DFF"/>
                </a:solidFill>
                <a:latin typeface="Arial"/>
                <a:ea typeface="Arial"/>
                <a:cs typeface="Arial"/>
              </a:defRPr>
            </a:pPr>
            <a:r>
              <a:rPr sz="900" b="1">
                <a:solidFill>
                  <a:srgbClr val="3D8DFF"/>
                </a:solidFill>
                <a:latin typeface="Arial"/>
                <a:ea typeface="Arial"/>
                <a:cs typeface="Arial"/>
              </a:rPr>
              <a:t>GENERATIVE</a:t>
            </a:r>
          </a:p>
        </p:txBody>
      </p:sp>
      <p:sp>
        <p:nvSpPr>
          <p:cNvPr id="29" name="">
            <a:extLst xmlns:a="http://schemas.openxmlformats.org/drawingml/2006/main">
              <a:ext uri="{FF2B5EF4-FFF2-40B4-BE49-F238E27FC236}">
                <a16:creationId xmlns:a16="http://schemas.microsoft.com/office/drawing/2014/main" id="{EDC1F540-AF9D-4D86-877C-F17528F9E960}"/>
              </a:ext>
            </a:extLst>
          </p:cNvPr>
          <p:cNvSpPr>
            <a:spLocks xmlns:a="http://schemas.openxmlformats.org/drawingml/2006/main" noGrp="1"/>
          </p:cNvSpPr>
          <p:nvPr/>
        </p:nvSpPr>
        <p:spPr>
          <a:xfrm xmlns:a="http://schemas.openxmlformats.org/drawingml/2006/main">
            <a:off x="4267200" y="534352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118"/>
          </a:bodyPr>
          <a:lstStyle xmlns:a="http://schemas.openxmlformats.org/drawingml/2006/main"/>
          <a:p xmlns:a="http://schemas.openxmlformats.org/drawingml/2006/main">
            <a:pPr algn="ctr">
              <a:defRPr sz="1275" b="1">
                <a:solidFill>
                  <a:srgbClr val="102A43"/>
                </a:solidFill>
                <a:latin typeface="Arial"/>
                <a:ea typeface="Arial"/>
                <a:cs typeface="Arial"/>
              </a:defRPr>
            </a:pPr>
            <a:r>
              <a:rPr sz="1275" b="1">
                <a:solidFill>
                  <a:srgbClr val="102A43"/>
                </a:solidFill>
                <a:latin typeface="Arial"/>
                <a:ea typeface="Arial"/>
                <a:cs typeface="Arial"/>
              </a:rPr>
              <a:t>SMPL / body keypoints</a:t>
            </a:r>
          </a:p>
          <a:p xmlns:a="http://schemas.openxmlformats.org/drawingml/2006/main">
            <a:pPr algn="ctr">
              <a:defRPr sz="1275" b="1">
                <a:solidFill>
                  <a:srgbClr val="102A43"/>
                </a:solidFill>
                <a:latin typeface="Arial"/>
                <a:ea typeface="Arial"/>
                <a:cs typeface="Arial"/>
              </a:defRPr>
            </a:pPr>
            <a:r>
              <a:rPr sz="1275" b="1">
                <a:solidFill>
                  <a:srgbClr val="102A43"/>
                </a:solidFill>
                <a:latin typeface="Arial"/>
                <a:ea typeface="Arial"/>
                <a:cs typeface="Arial"/>
              </a:rPr>
              <a:t>object trajectories</a:t>
            </a:r>
          </a:p>
        </p:txBody>
      </p:sp>
      <p:sp>
        <p:nvSpPr>
          <p:cNvPr id="30" name="">
            <a:extLst xmlns:a="http://schemas.openxmlformats.org/drawingml/2006/main">
              <a:ext uri="{FF2B5EF4-FFF2-40B4-BE49-F238E27FC236}">
                <a16:creationId xmlns:a16="http://schemas.microsoft.com/office/drawing/2014/main" id="{B20B97D4-B86F-4571-AF4B-F43B412AC03A}"/>
              </a:ext>
            </a:extLst>
          </p:cNvPr>
          <p:cNvSpPr>
            <a:spLocks xmlns:a="http://schemas.openxmlformats.org/drawingml/2006/main" noGrp="1"/>
          </p:cNvSpPr>
          <p:nvPr/>
        </p:nvSpPr>
        <p:spPr>
          <a:xfrm xmlns:a="http://schemas.openxmlformats.org/drawingml/2006/main">
            <a:off x="7734300" y="4876800"/>
            <a:ext cx="3390900" cy="1066800"/>
          </a:xfrm>
          <a:prstGeom xmlns:a="http://schemas.openxmlformats.org/drawingml/2006/main" prst="roundRect">
            <a:avLst>
              <a:gd name="adj" fmla="val 10714"/>
            </a:avLst>
          </a:prstGeom>
          <a:solidFill xmlns:a="http://schemas.openxmlformats.org/drawingml/2006/main">
            <a:srgbClr val="FFF3E8"/>
          </a:solidFill>
          <a:ln xmlns:a="http://schemas.openxmlformats.org/drawingml/2006/main" w="9525">
            <a:solidFill>
              <a:srgbClr val="F4A261"/>
            </a:solidFill>
            <a:prstDash val="solid"/>
          </a:ln>
        </p:spPr>
      </p:sp>
      <p:sp>
        <p:nvSpPr>
          <p:cNvPr id="31" name="">
            <a:extLst xmlns:a="http://schemas.openxmlformats.org/drawingml/2006/main">
              <a:ext uri="{FF2B5EF4-FFF2-40B4-BE49-F238E27FC236}">
                <a16:creationId xmlns:a16="http://schemas.microsoft.com/office/drawing/2014/main" id="{627915C9-9CBB-4B20-928B-3F39FEA5B4C4}"/>
              </a:ext>
            </a:extLst>
          </p:cNvPr>
          <p:cNvSpPr>
            <a:spLocks xmlns:a="http://schemas.openxmlformats.org/drawingml/2006/main" noGrp="1"/>
          </p:cNvSpPr>
          <p:nvPr/>
        </p:nvSpPr>
        <p:spPr>
          <a:xfrm xmlns:a="http://schemas.openxmlformats.org/drawingml/2006/main">
            <a:off x="7905750" y="50482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ctr">
              <a:defRPr sz="900" b="1">
                <a:solidFill>
                  <a:srgbClr val="F4A261"/>
                </a:solidFill>
                <a:latin typeface="Arial"/>
                <a:ea typeface="Arial"/>
                <a:cs typeface="Arial"/>
              </a:defRPr>
            </a:pPr>
            <a:r>
              <a:rPr sz="900" b="1">
                <a:solidFill>
                  <a:srgbClr val="F4A261"/>
                </a:solidFill>
                <a:latin typeface="Arial"/>
                <a:ea typeface="Arial"/>
                <a:cs typeface="Arial"/>
              </a:rPr>
              <a:t>PHYSICS + AGENT</a:t>
            </a:r>
          </a:p>
        </p:txBody>
      </p:sp>
      <p:sp>
        <p:nvSpPr>
          <p:cNvPr id="32" name="">
            <a:extLst xmlns:a="http://schemas.openxmlformats.org/drawingml/2006/main">
              <a:ext uri="{FF2B5EF4-FFF2-40B4-BE49-F238E27FC236}">
                <a16:creationId xmlns:a16="http://schemas.microsoft.com/office/drawing/2014/main" id="{16B69E3E-9F10-4198-B39C-47EC65C47913}"/>
              </a:ext>
            </a:extLst>
          </p:cNvPr>
          <p:cNvSpPr>
            <a:spLocks xmlns:a="http://schemas.openxmlformats.org/drawingml/2006/main" noGrp="1"/>
          </p:cNvSpPr>
          <p:nvPr/>
        </p:nvSpPr>
        <p:spPr>
          <a:xfrm xmlns:a="http://schemas.openxmlformats.org/drawingml/2006/main">
            <a:off x="7905750" y="534352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118"/>
          </a:bodyPr>
          <a:lstStyle xmlns:a="http://schemas.openxmlformats.org/drawingml/2006/main"/>
          <a:p xmlns:a="http://schemas.openxmlformats.org/drawingml/2006/main">
            <a:pPr algn="ctr">
              <a:defRPr sz="1275" b="1">
                <a:solidFill>
                  <a:srgbClr val="102A43"/>
                </a:solidFill>
                <a:latin typeface="Arial"/>
                <a:ea typeface="Arial"/>
                <a:cs typeface="Arial"/>
              </a:defRPr>
            </a:pPr>
            <a:r>
              <a:rPr sz="1275" b="1">
                <a:solidFill>
                  <a:srgbClr val="102A43"/>
                </a:solidFill>
                <a:latin typeface="Arial"/>
                <a:ea typeface="Arial"/>
                <a:cs typeface="Arial"/>
              </a:rPr>
              <a:t>OpenSim / robot simulation</a:t>
            </a:r>
          </a:p>
          <a:p xmlns:a="http://schemas.openxmlformats.org/drawingml/2006/main">
            <a:pPr algn="ctr">
              <a:defRPr sz="1275" b="1">
                <a:solidFill>
                  <a:srgbClr val="102A43"/>
                </a:solidFill>
                <a:latin typeface="Arial"/>
                <a:ea typeface="Arial"/>
                <a:cs typeface="Arial"/>
              </a:defRPr>
            </a:pPr>
            <a:r>
              <a:rPr sz="1275" b="1">
                <a:solidFill>
                  <a:srgbClr val="102A43"/>
                </a:solidFill>
                <a:latin typeface="Arial"/>
                <a:ea typeface="Arial"/>
                <a:cs typeface="Arial"/>
              </a:rPr>
              <a:t>Qwen tool policy with RL</a:t>
            </a:r>
          </a:p>
        </p:txBody>
      </p:sp>
    </p:spTree>
    <p:extLst>
      <p:ext uri="{BB962C8B-B14F-4D97-AF65-F5344CB8AC3E}">
        <p14:creationId xmlns:p14="http://schemas.microsoft.com/office/powerpoint/2010/main" val="147431519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95F59EE-2439-4965-91F0-01A974181DD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A5620416-2E1A-4E59-B07F-1217A6E9D616}"/>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RESEARCH PROGRAM</a:t>
            </a:r>
          </a:p>
        </p:txBody>
      </p:sp>
      <p:sp>
        <p:nvSpPr>
          <p:cNvPr id="3" name="">
            <a:extLst xmlns:a="http://schemas.openxmlformats.org/drawingml/2006/main">
              <a:ext uri="{FF2B5EF4-FFF2-40B4-BE49-F238E27FC236}">
                <a16:creationId xmlns:a16="http://schemas.microsoft.com/office/drawing/2014/main" id="{053618CB-B218-463D-9463-22B00E53C517}"/>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678"/>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collaboration aligns measurement, environment, and world models</a:t>
            </a:r>
          </a:p>
        </p:txBody>
      </p:sp>
      <p:sp>
        <p:nvSpPr>
          <p:cNvPr id="4" name="">
            <a:extLst xmlns:a="http://schemas.openxmlformats.org/drawingml/2006/main">
              <a:ext uri="{FF2B5EF4-FFF2-40B4-BE49-F238E27FC236}">
                <a16:creationId xmlns:a16="http://schemas.microsoft.com/office/drawing/2014/main" id="{0694E53F-3E96-4780-8D8E-9EE4FDD23CB6}"/>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2FF81393-A715-4BAD-8409-103641320A7C}"/>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796386B1-D698-4387-BE5A-9EA93A97C537}"/>
              </a:ext>
            </a:extLst>
          </p:cNvPr>
          <p:cNvSpPr>
            <a:spLocks xmlns:a="http://schemas.openxmlformats.org/drawingml/2006/main" noGrp="1"/>
          </p:cNvSpPr>
          <p:nvPr/>
        </p:nvSpPr>
        <p:spPr>
          <a:xfrm xmlns:a="http://schemas.openxmlformats.org/drawingml/2006/main">
            <a:off x="457200" y="1123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The project becomes strongest when biomechanics defines the physical target, ambient intelligence defines real observation conditions, and ML connects them with auditable state.</a:t>
            </a:r>
          </a:p>
        </p:txBody>
      </p:sp>
      <p:sp>
        <p:nvSpPr>
          <p:cNvPr id="7" name="">
            <a:extLst xmlns:a="http://schemas.openxmlformats.org/drawingml/2006/main">
              <a:ext uri="{FF2B5EF4-FFF2-40B4-BE49-F238E27FC236}">
                <a16:creationId xmlns:a16="http://schemas.microsoft.com/office/drawing/2014/main" id="{4AA649E4-8452-4887-8FC2-B9DAC20883AE}"/>
              </a:ext>
            </a:extLst>
          </p:cNvPr>
          <p:cNvSpPr>
            <a:spLocks xmlns:a="http://schemas.openxmlformats.org/drawingml/2006/main" noGrp="1"/>
          </p:cNvSpPr>
          <p:nvPr/>
        </p:nvSpPr>
        <p:spPr>
          <a:xfrm xmlns:a="http://schemas.openxmlformats.org/drawingml/2006/main">
            <a:off x="457200" y="1847850"/>
            <a:ext cx="3333750" cy="3048000"/>
          </a:xfrm>
          <a:prstGeom xmlns:a="http://schemas.openxmlformats.org/drawingml/2006/main" prst="roundRect">
            <a:avLst>
              <a:gd name="adj" fmla="val 3750"/>
            </a:avLst>
          </a:prstGeom>
          <a:solidFill xmlns:a="http://schemas.openxmlformats.org/drawingml/2006/main">
            <a:srgbClr val="E8F5F2"/>
          </a:solidFill>
          <a:ln xmlns:a="http://schemas.openxmlformats.org/drawingml/2006/main" w="9525">
            <a:solidFill>
              <a:srgbClr val="2A9D8F"/>
            </a:solidFill>
            <a:prstDash val="solid"/>
          </a:ln>
        </p:spPr>
      </p:sp>
      <p:sp>
        <p:nvSpPr>
          <p:cNvPr id="8" name="">
            <a:extLst xmlns:a="http://schemas.openxmlformats.org/drawingml/2006/main">
              <a:ext uri="{FF2B5EF4-FFF2-40B4-BE49-F238E27FC236}">
                <a16:creationId xmlns:a16="http://schemas.microsoft.com/office/drawing/2014/main" id="{356F6BEF-E2DA-4573-A1ED-6BC7C5621DC3}"/>
              </a:ext>
            </a:extLst>
          </p:cNvPr>
          <p:cNvSpPr>
            <a:spLocks xmlns:a="http://schemas.openxmlformats.org/drawingml/2006/main" noGrp="1"/>
          </p:cNvSpPr>
          <p:nvPr/>
        </p:nvSpPr>
        <p:spPr>
          <a:xfrm xmlns:a="http://schemas.openxmlformats.org/drawingml/2006/main">
            <a:off x="685800" y="209550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ctr">
              <a:defRPr sz="975" b="1">
                <a:solidFill>
                  <a:srgbClr val="2A9D8F"/>
                </a:solidFill>
                <a:latin typeface="Arial"/>
                <a:ea typeface="Arial"/>
                <a:cs typeface="Arial"/>
              </a:defRPr>
            </a:pPr>
            <a:r>
              <a:rPr sz="975" b="1">
                <a:solidFill>
                  <a:srgbClr val="2A9D8F"/>
                </a:solidFill>
                <a:latin typeface="Arial"/>
                <a:ea typeface="Arial"/>
                <a:cs typeface="Arial"/>
              </a:rPr>
              <a:t>BIOMECHANICS</a:t>
            </a:r>
          </a:p>
        </p:txBody>
      </p:sp>
      <p:sp>
        <p:nvSpPr>
          <p:cNvPr id="9" name="">
            <a:extLst xmlns:a="http://schemas.openxmlformats.org/drawingml/2006/main">
              <a:ext uri="{FF2B5EF4-FFF2-40B4-BE49-F238E27FC236}">
                <a16:creationId xmlns:a16="http://schemas.microsoft.com/office/drawing/2014/main" id="{20F8BE70-7B6A-46D1-8E5B-08724F2B2010}"/>
              </a:ext>
            </a:extLst>
          </p:cNvPr>
          <p:cNvSpPr>
            <a:spLocks xmlns:a="http://schemas.openxmlformats.org/drawingml/2006/main" noGrp="1"/>
          </p:cNvSpPr>
          <p:nvPr/>
        </p:nvSpPr>
        <p:spPr>
          <a:xfrm xmlns:a="http://schemas.openxmlformats.org/drawingml/2006/main">
            <a:off x="685800" y="2495550"/>
            <a:ext cx="2876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Delp lab collaboration</a:t>
            </a:r>
          </a:p>
        </p:txBody>
      </p:sp>
      <p:sp>
        <p:nvSpPr>
          <p:cNvPr id="10" name="">
            <a:extLst xmlns:a="http://schemas.openxmlformats.org/drawingml/2006/main">
              <a:ext uri="{FF2B5EF4-FFF2-40B4-BE49-F238E27FC236}">
                <a16:creationId xmlns:a16="http://schemas.microsoft.com/office/drawing/2014/main" id="{85DC7A83-1317-4CEC-A940-BFBA0B058DFE}"/>
              </a:ext>
            </a:extLst>
          </p:cNvPr>
          <p:cNvSpPr>
            <a:spLocks xmlns:a="http://schemas.openxmlformats.org/drawingml/2006/main" noGrp="1"/>
          </p:cNvSpPr>
          <p:nvPr/>
        </p:nvSpPr>
        <p:spPr>
          <a:xfrm xmlns:a="http://schemas.openxmlformats.org/drawingml/2006/main">
            <a:off x="800100" y="3286125"/>
            <a:ext cx="26479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Force-plate endpoint</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Contact and ground reaction</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OpenSim teacher / adjudicator</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Participant protocol</a:t>
            </a:r>
          </a:p>
        </p:txBody>
      </p:sp>
      <p:sp>
        <p:nvSpPr>
          <p:cNvPr id="11" name="">
            <a:extLst xmlns:a="http://schemas.openxmlformats.org/drawingml/2006/main">
              <a:ext uri="{FF2B5EF4-FFF2-40B4-BE49-F238E27FC236}">
                <a16:creationId xmlns:a16="http://schemas.microsoft.com/office/drawing/2014/main" id="{D0BB7BF2-C18F-4B15-8550-A818DCA72AD7}"/>
              </a:ext>
            </a:extLst>
          </p:cNvPr>
          <p:cNvSpPr>
            <a:spLocks xmlns:a="http://schemas.openxmlformats.org/drawingml/2006/main" noGrp="1"/>
          </p:cNvSpPr>
          <p:nvPr/>
        </p:nvSpPr>
        <p:spPr>
          <a:xfrm xmlns:a="http://schemas.openxmlformats.org/drawingml/2006/main">
            <a:off x="4124325" y="1847850"/>
            <a:ext cx="3333750" cy="3048000"/>
          </a:xfrm>
          <a:prstGeom xmlns:a="http://schemas.openxmlformats.org/drawingml/2006/main" prst="roundRect">
            <a:avLst>
              <a:gd name="adj" fmla="val 3750"/>
            </a:avLst>
          </a:prstGeom>
          <a:solidFill xmlns:a="http://schemas.openxmlformats.org/drawingml/2006/main">
            <a:srgbClr val="EAF5FB"/>
          </a:solidFill>
          <a:ln xmlns:a="http://schemas.openxmlformats.org/drawingml/2006/main" w="9525">
            <a:solidFill>
              <a:srgbClr val="3D8DFF"/>
            </a:solidFill>
            <a:prstDash val="solid"/>
          </a:ln>
        </p:spPr>
      </p:sp>
      <p:sp>
        <p:nvSpPr>
          <p:cNvPr id="12" name="">
            <a:extLst xmlns:a="http://schemas.openxmlformats.org/drawingml/2006/main">
              <a:ext uri="{FF2B5EF4-FFF2-40B4-BE49-F238E27FC236}">
                <a16:creationId xmlns:a16="http://schemas.microsoft.com/office/drawing/2014/main" id="{B54FC881-4144-472B-87CD-ECAD24BE527D}"/>
              </a:ext>
            </a:extLst>
          </p:cNvPr>
          <p:cNvSpPr>
            <a:spLocks xmlns:a="http://schemas.openxmlformats.org/drawingml/2006/main" noGrp="1"/>
          </p:cNvSpPr>
          <p:nvPr/>
        </p:nvSpPr>
        <p:spPr>
          <a:xfrm xmlns:a="http://schemas.openxmlformats.org/drawingml/2006/main">
            <a:off x="4352925" y="209550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ctr">
              <a:defRPr sz="975" b="1">
                <a:solidFill>
                  <a:srgbClr val="3D8DFF"/>
                </a:solidFill>
                <a:latin typeface="Arial"/>
                <a:ea typeface="Arial"/>
                <a:cs typeface="Arial"/>
              </a:defRPr>
            </a:pPr>
            <a:r>
              <a:rPr sz="975" b="1">
                <a:solidFill>
                  <a:srgbClr val="3D8DFF"/>
                </a:solidFill>
                <a:latin typeface="Arial"/>
                <a:ea typeface="Arial"/>
                <a:cs typeface="Arial"/>
              </a:rPr>
              <a:t>AMBIENT INTELLIGENCE</a:t>
            </a:r>
          </a:p>
        </p:txBody>
      </p:sp>
      <p:sp>
        <p:nvSpPr>
          <p:cNvPr id="13" name="">
            <a:extLst xmlns:a="http://schemas.openxmlformats.org/drawingml/2006/main">
              <a:ext uri="{FF2B5EF4-FFF2-40B4-BE49-F238E27FC236}">
                <a16:creationId xmlns:a16="http://schemas.microsoft.com/office/drawing/2014/main" id="{8582AB12-2407-4D88-AED9-10D6F574CBCC}"/>
              </a:ext>
            </a:extLst>
          </p:cNvPr>
          <p:cNvSpPr>
            <a:spLocks xmlns:a="http://schemas.openxmlformats.org/drawingml/2006/main" noGrp="1"/>
          </p:cNvSpPr>
          <p:nvPr/>
        </p:nvSpPr>
        <p:spPr>
          <a:xfrm xmlns:a="http://schemas.openxmlformats.org/drawingml/2006/main">
            <a:off x="4352925" y="2495550"/>
            <a:ext cx="2876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994"/>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Stanford HAI collaboration</a:t>
            </a:r>
          </a:p>
        </p:txBody>
      </p:sp>
      <p:sp>
        <p:nvSpPr>
          <p:cNvPr id="14" name="">
            <a:extLst xmlns:a="http://schemas.openxmlformats.org/drawingml/2006/main">
              <a:ext uri="{FF2B5EF4-FFF2-40B4-BE49-F238E27FC236}">
                <a16:creationId xmlns:a16="http://schemas.microsoft.com/office/drawing/2014/main" id="{BDCA3741-1789-46D8-B7B8-8C15CAF31D08}"/>
              </a:ext>
            </a:extLst>
          </p:cNvPr>
          <p:cNvSpPr>
            <a:spLocks xmlns:a="http://schemas.openxmlformats.org/drawingml/2006/main" noGrp="1"/>
          </p:cNvSpPr>
          <p:nvPr/>
        </p:nvSpPr>
        <p:spPr>
          <a:xfrm xmlns:a="http://schemas.openxmlformats.org/drawingml/2006/main">
            <a:off x="4467225" y="3286125"/>
            <a:ext cx="26479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Real camera variation</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Depth and segmentation</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Scene and object context</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Uncertainty-aware sensing</a:t>
            </a:r>
          </a:p>
        </p:txBody>
      </p:sp>
      <p:sp>
        <p:nvSpPr>
          <p:cNvPr id="15" name="">
            <a:extLst xmlns:a="http://schemas.openxmlformats.org/drawingml/2006/main">
              <a:ext uri="{FF2B5EF4-FFF2-40B4-BE49-F238E27FC236}">
                <a16:creationId xmlns:a16="http://schemas.microsoft.com/office/drawing/2014/main" id="{0523E1B1-3D70-40BF-9D2B-855A7A7F690E}"/>
              </a:ext>
            </a:extLst>
          </p:cNvPr>
          <p:cNvSpPr>
            <a:spLocks xmlns:a="http://schemas.openxmlformats.org/drawingml/2006/main" noGrp="1"/>
          </p:cNvSpPr>
          <p:nvPr/>
        </p:nvSpPr>
        <p:spPr>
          <a:xfrm xmlns:a="http://schemas.openxmlformats.org/drawingml/2006/main">
            <a:off x="7791450" y="1847850"/>
            <a:ext cx="3333750" cy="3048000"/>
          </a:xfrm>
          <a:prstGeom xmlns:a="http://schemas.openxmlformats.org/drawingml/2006/main" prst="roundRect">
            <a:avLst>
              <a:gd name="adj" fmla="val 3750"/>
            </a:avLst>
          </a:prstGeom>
          <a:solidFill xmlns:a="http://schemas.openxmlformats.org/drawingml/2006/main">
            <a:srgbClr val="EEF2FF"/>
          </a:solidFill>
          <a:ln xmlns:a="http://schemas.openxmlformats.org/drawingml/2006/main" w="9525">
            <a:solidFill>
              <a:srgbClr val="6D5BD0"/>
            </a:solidFill>
            <a:prstDash val="solid"/>
          </a:ln>
        </p:spPr>
      </p:sp>
      <p:sp>
        <p:nvSpPr>
          <p:cNvPr id="16" name="">
            <a:extLst xmlns:a="http://schemas.openxmlformats.org/drawingml/2006/main">
              <a:ext uri="{FF2B5EF4-FFF2-40B4-BE49-F238E27FC236}">
                <a16:creationId xmlns:a16="http://schemas.microsoft.com/office/drawing/2014/main" id="{05A9AED8-7AA5-4AA0-8888-6A10C7AD4427}"/>
              </a:ext>
            </a:extLst>
          </p:cNvPr>
          <p:cNvSpPr>
            <a:spLocks xmlns:a="http://schemas.openxmlformats.org/drawingml/2006/main" noGrp="1"/>
          </p:cNvSpPr>
          <p:nvPr/>
        </p:nvSpPr>
        <p:spPr>
          <a:xfrm xmlns:a="http://schemas.openxmlformats.org/drawingml/2006/main">
            <a:off x="8020050" y="209550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ctr">
              <a:defRPr sz="975" b="1">
                <a:solidFill>
                  <a:srgbClr val="6D5BD0"/>
                </a:solidFill>
                <a:latin typeface="Arial"/>
                <a:ea typeface="Arial"/>
                <a:cs typeface="Arial"/>
              </a:defRPr>
            </a:pPr>
            <a:r>
              <a:rPr sz="975" b="1">
                <a:solidFill>
                  <a:srgbClr val="6D5BD0"/>
                </a:solidFill>
                <a:latin typeface="Arial"/>
                <a:ea typeface="Arial"/>
                <a:cs typeface="Arial"/>
              </a:rPr>
              <a:t>WORLD-MODEL CORE</a:t>
            </a:r>
          </a:p>
        </p:txBody>
      </p:sp>
      <p:sp>
        <p:nvSpPr>
          <p:cNvPr id="17" name="">
            <a:extLst xmlns:a="http://schemas.openxmlformats.org/drawingml/2006/main">
              <a:ext uri="{FF2B5EF4-FFF2-40B4-BE49-F238E27FC236}">
                <a16:creationId xmlns:a16="http://schemas.microsoft.com/office/drawing/2014/main" id="{D34A98CF-92C9-4F7E-BC94-910B204B8456}"/>
              </a:ext>
            </a:extLst>
          </p:cNvPr>
          <p:cNvSpPr>
            <a:spLocks xmlns:a="http://schemas.openxmlformats.org/drawingml/2006/main" noGrp="1"/>
          </p:cNvSpPr>
          <p:nvPr/>
        </p:nvSpPr>
        <p:spPr>
          <a:xfrm xmlns:a="http://schemas.openxmlformats.org/drawingml/2006/main">
            <a:off x="8020050" y="2495550"/>
            <a:ext cx="2876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777"/>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Shared research program</a:t>
            </a:r>
          </a:p>
        </p:txBody>
      </p:sp>
      <p:sp>
        <p:nvSpPr>
          <p:cNvPr id="18" name="">
            <a:extLst xmlns:a="http://schemas.openxmlformats.org/drawingml/2006/main">
              <a:ext uri="{FF2B5EF4-FFF2-40B4-BE49-F238E27FC236}">
                <a16:creationId xmlns:a16="http://schemas.microsoft.com/office/drawing/2014/main" id="{167E3F27-24CF-4E61-9860-07F623542768}"/>
              </a:ext>
            </a:extLst>
          </p:cNvPr>
          <p:cNvSpPr>
            <a:spLocks xmlns:a="http://schemas.openxmlformats.org/drawingml/2006/main" noGrp="1"/>
          </p:cNvSpPr>
          <p:nvPr/>
        </p:nvSpPr>
        <p:spPr>
          <a:xfrm xmlns:a="http://schemas.openxmlformats.org/drawingml/2006/main">
            <a:off x="8134350" y="3286125"/>
            <a:ext cx="26479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Typed latent state</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JEPA objectives and generation</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Physics residual learning</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Active tool routing with RL</a:t>
            </a:r>
          </a:p>
        </p:txBody>
      </p:sp>
      <p:sp>
        <p:nvSpPr>
          <p:cNvPr id="19" name="">
            <a:extLst xmlns:a="http://schemas.openxmlformats.org/drawingml/2006/main">
              <a:ext uri="{FF2B5EF4-FFF2-40B4-BE49-F238E27FC236}">
                <a16:creationId xmlns:a16="http://schemas.microsoft.com/office/drawing/2014/main" id="{378E29D6-4426-4605-91D9-01D750C7A803}"/>
              </a:ext>
            </a:extLst>
          </p:cNvPr>
          <p:cNvSpPr>
            <a:spLocks xmlns:a="http://schemas.openxmlformats.org/drawingml/2006/main" noGrp="1"/>
          </p:cNvSpPr>
          <p:nvPr/>
        </p:nvSpPr>
        <p:spPr>
          <a:xfrm xmlns:a="http://schemas.openxmlformats.org/drawingml/2006/main">
            <a:off x="742950" y="5257800"/>
            <a:ext cx="10096500" cy="685800"/>
          </a:xfrm>
          <a:prstGeom xmlns:a="http://schemas.openxmlformats.org/drawingml/2006/main" prst="roundRect">
            <a:avLst>
              <a:gd name="adj" fmla="val 16667"/>
            </a:avLst>
          </a:prstGeom>
          <a:solidFill xmlns:a="http://schemas.openxmlformats.org/drawingml/2006/main">
            <a:srgbClr val="102A43"/>
          </a:solidFill>
          <a:ln xmlns:a="http://schemas.openxmlformats.org/drawingml/2006/main" w="9525">
            <a:solidFill>
              <a:srgbClr val="102A43"/>
            </a:solidFill>
            <a:prstDash val="solid"/>
          </a:ln>
        </p:spPr>
      </p:sp>
      <p:sp>
        <p:nvSpPr>
          <p:cNvPr id="20" name="">
            <a:extLst xmlns:a="http://schemas.openxmlformats.org/drawingml/2006/main">
              <a:ext uri="{FF2B5EF4-FFF2-40B4-BE49-F238E27FC236}">
                <a16:creationId xmlns:a16="http://schemas.microsoft.com/office/drawing/2014/main" id="{206F245A-71BE-4BB4-8EE9-78FCF98A6363}"/>
              </a:ext>
            </a:extLst>
          </p:cNvPr>
          <p:cNvSpPr>
            <a:spLocks xmlns:a="http://schemas.openxmlformats.org/drawingml/2006/main" noGrp="1"/>
          </p:cNvSpPr>
          <p:nvPr/>
        </p:nvSpPr>
        <p:spPr>
          <a:xfrm xmlns:a="http://schemas.openxmlformats.org/drawingml/2006/main">
            <a:off x="1047750" y="5457825"/>
            <a:ext cx="9486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9826"/>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Research order: finish force GaitParity → build PhysMoveBench → learn clean state → bridge to ambient video → train active tool use.</a:t>
            </a:r>
          </a:p>
        </p:txBody>
      </p:sp>
    </p:spTree>
    <p:extLst>
      <p:ext uri="{BB962C8B-B14F-4D97-AF65-F5344CB8AC3E}">
        <p14:creationId xmlns:p14="http://schemas.microsoft.com/office/powerpoint/2010/main" val="14239651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CE30A10-AA3F-42AB-B0B2-AFB7FB8ED5A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2034C1EC-A011-4CFC-9639-2C297C54F1CC}"/>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CONCLUSION</a:t>
            </a:r>
          </a:p>
        </p:txBody>
      </p:sp>
      <p:sp>
        <p:nvSpPr>
          <p:cNvPr id="3" name="">
            <a:extLst xmlns:a="http://schemas.openxmlformats.org/drawingml/2006/main">
              <a:ext uri="{FF2B5EF4-FFF2-40B4-BE49-F238E27FC236}">
                <a16:creationId xmlns:a16="http://schemas.microsoft.com/office/drawing/2014/main" id="{47CC69B6-2F43-44A6-891F-34359E5AB63F}"/>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GaitParity is the first gate—not the final system</a:t>
            </a:r>
          </a:p>
        </p:txBody>
      </p:sp>
      <p:sp>
        <p:nvSpPr>
          <p:cNvPr id="4" name="">
            <a:extLst xmlns:a="http://schemas.openxmlformats.org/drawingml/2006/main">
              <a:ext uri="{FF2B5EF4-FFF2-40B4-BE49-F238E27FC236}">
                <a16:creationId xmlns:a16="http://schemas.microsoft.com/office/drawing/2014/main" id="{23DDF3DF-CDED-4896-B495-9837B519849B}"/>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8C9028DA-0369-4B55-A247-40486A101840}"/>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AB3E25FA-B944-4DA5-A367-B121C1B974C3}"/>
              </a:ext>
            </a:extLst>
          </p:cNvPr>
          <p:cNvSpPr>
            <a:spLocks xmlns:a="http://schemas.openxmlformats.org/drawingml/2006/main" noGrp="1"/>
          </p:cNvSpPr>
          <p:nvPr/>
        </p:nvSpPr>
        <p:spPr>
          <a:xfrm xmlns:a="http://schemas.openxmlformats.org/drawingml/2006/main">
            <a:off x="876300" y="1381125"/>
            <a:ext cx="104394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562"/>
          </a:bodyPr>
          <a:lstStyle xmlns:a="http://schemas.openxmlformats.org/drawingml/2006/main"/>
          <a:p xmlns:a="http://schemas.openxmlformats.org/drawingml/2006/main">
            <a:pPr algn="ctr">
              <a:defRPr sz="2550" b="1">
                <a:solidFill>
                  <a:srgbClr val="102A43"/>
                </a:solidFill>
                <a:latin typeface="Arial"/>
                <a:ea typeface="Arial"/>
                <a:cs typeface="Arial"/>
              </a:defRPr>
            </a:pPr>
            <a:r>
              <a:rPr sz="2550" b="1">
                <a:solidFill>
                  <a:srgbClr val="102A43"/>
                </a:solidFill>
                <a:latin typeface="Arial"/>
                <a:ea typeface="Arial"/>
                <a:cs typeface="Arial"/>
              </a:rPr>
              <a:t>The project now has a precise anatomical rule, an exact implementation, a control that fails for the right reason, and a force study that can determine whether structure becomes useful.</a:t>
            </a:r>
          </a:p>
        </p:txBody>
      </p:sp>
      <p:sp>
        <p:nvSpPr>
          <p:cNvPr id="7" name="">
            <a:extLst xmlns:a="http://schemas.openxmlformats.org/drawingml/2006/main">
              <a:ext uri="{FF2B5EF4-FFF2-40B4-BE49-F238E27FC236}">
                <a16:creationId xmlns:a16="http://schemas.microsoft.com/office/drawing/2014/main" id="{A3AF0BCC-B06E-4509-BFF6-6D7709C504EF}"/>
              </a:ext>
            </a:extLst>
          </p:cNvPr>
          <p:cNvSpPr>
            <a:spLocks xmlns:a="http://schemas.openxmlformats.org/drawingml/2006/main" noGrp="1"/>
          </p:cNvSpPr>
          <p:nvPr/>
        </p:nvSpPr>
        <p:spPr>
          <a:xfrm xmlns:a="http://schemas.openxmlformats.org/drawingml/2006/main">
            <a:off x="857250" y="3028950"/>
            <a:ext cx="3143250" cy="2095500"/>
          </a:xfrm>
          <a:prstGeom xmlns:a="http://schemas.openxmlformats.org/drawingml/2006/main" prst="roundRect">
            <a:avLst>
              <a:gd name="adj" fmla="val 5455"/>
            </a:avLst>
          </a:prstGeom>
          <a:solidFill xmlns:a="http://schemas.openxmlformats.org/drawingml/2006/main">
            <a:srgbClr val="FFF3E8"/>
          </a:solidFill>
          <a:ln xmlns:a="http://schemas.openxmlformats.org/drawingml/2006/main" w="9525">
            <a:solidFill>
              <a:srgbClr val="C9D2DC"/>
            </a:solidFill>
            <a:prstDash val="solid"/>
          </a:ln>
        </p:spPr>
      </p:sp>
      <p:sp>
        <p:nvSpPr>
          <p:cNvPr id="8" name="">
            <a:extLst xmlns:a="http://schemas.openxmlformats.org/drawingml/2006/main">
              <a:ext uri="{FF2B5EF4-FFF2-40B4-BE49-F238E27FC236}">
                <a16:creationId xmlns:a16="http://schemas.microsoft.com/office/drawing/2014/main" id="{52022791-8FA6-4DA4-86F0-6D359E00792A}"/>
              </a:ext>
            </a:extLst>
          </p:cNvPr>
          <p:cNvSpPr>
            <a:spLocks xmlns:a="http://schemas.openxmlformats.org/drawingml/2006/main" noGrp="1"/>
          </p:cNvSpPr>
          <p:nvPr/>
        </p:nvSpPr>
        <p:spPr>
          <a:xfrm xmlns:a="http://schemas.openxmlformats.org/drawingml/2006/main">
            <a:off x="857250" y="3028950"/>
            <a:ext cx="3143250" cy="571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521AEF3A-AECF-4B5A-AF47-16ABC9980E61}"/>
              </a:ext>
            </a:extLst>
          </p:cNvPr>
          <p:cNvSpPr>
            <a:spLocks xmlns:a="http://schemas.openxmlformats.org/drawingml/2006/main" noGrp="1"/>
          </p:cNvSpPr>
          <p:nvPr/>
        </p:nvSpPr>
        <p:spPr>
          <a:xfrm xmlns:a="http://schemas.openxmlformats.org/drawingml/2006/main">
            <a:off x="1066800" y="3238500"/>
            <a:ext cx="2724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WHY</a:t>
            </a:r>
          </a:p>
        </p:txBody>
      </p:sp>
      <p:sp>
        <p:nvSpPr>
          <p:cNvPr id="10" name="">
            <a:extLst xmlns:a="http://schemas.openxmlformats.org/drawingml/2006/main">
              <a:ext uri="{FF2B5EF4-FFF2-40B4-BE49-F238E27FC236}">
                <a16:creationId xmlns:a16="http://schemas.microsoft.com/office/drawing/2014/main" id="{3C7F17D0-C2FF-40AB-9BF2-421C4E9D57F8}"/>
              </a:ext>
            </a:extLst>
          </p:cNvPr>
          <p:cNvSpPr>
            <a:spLocks xmlns:a="http://schemas.openxmlformats.org/drawingml/2006/main" noGrp="1"/>
          </p:cNvSpPr>
          <p:nvPr/>
        </p:nvSpPr>
        <p:spPr>
          <a:xfrm xmlns:a="http://schemas.openxmlformats.org/drawingml/2006/main">
            <a:off x="1066800" y="3543300"/>
            <a:ext cx="2724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Physics is latent</a:t>
            </a:r>
          </a:p>
        </p:txBody>
      </p:sp>
      <p:sp>
        <p:nvSpPr>
          <p:cNvPr id="11" name="">
            <a:extLst xmlns:a="http://schemas.openxmlformats.org/drawingml/2006/main">
              <a:ext uri="{FF2B5EF4-FFF2-40B4-BE49-F238E27FC236}">
                <a16:creationId xmlns:a16="http://schemas.microsoft.com/office/drawing/2014/main" id="{CF089BE2-C4F0-4274-B62D-2CE03EFF6A22}"/>
              </a:ext>
            </a:extLst>
          </p:cNvPr>
          <p:cNvSpPr>
            <a:spLocks xmlns:a="http://schemas.openxmlformats.org/drawingml/2006/main" noGrp="1"/>
          </p:cNvSpPr>
          <p:nvPr/>
        </p:nvSpPr>
        <p:spPr>
          <a:xfrm xmlns:a="http://schemas.openxmlformats.org/drawingml/2006/main">
            <a:off x="1066800" y="4171950"/>
            <a:ext cx="2724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Pixels and pose do not uniquely reveal contact, force, control, or balance.</a:t>
            </a:r>
          </a:p>
        </p:txBody>
      </p:sp>
      <p:sp>
        <p:nvSpPr>
          <p:cNvPr id="12" name="">
            <a:extLst xmlns:a="http://schemas.openxmlformats.org/drawingml/2006/main">
              <a:ext uri="{FF2B5EF4-FFF2-40B4-BE49-F238E27FC236}">
                <a16:creationId xmlns:a16="http://schemas.microsoft.com/office/drawing/2014/main" id="{87655C29-7FB2-40B7-9F2C-1D55C1638B51}"/>
              </a:ext>
            </a:extLst>
          </p:cNvPr>
          <p:cNvSpPr>
            <a:spLocks xmlns:a="http://schemas.openxmlformats.org/drawingml/2006/main" noGrp="1"/>
          </p:cNvSpPr>
          <p:nvPr/>
        </p:nvSpPr>
        <p:spPr>
          <a:xfrm xmlns:a="http://schemas.openxmlformats.org/drawingml/2006/main">
            <a:off x="4333875" y="3028950"/>
            <a:ext cx="3143250" cy="2095500"/>
          </a:xfrm>
          <a:prstGeom xmlns:a="http://schemas.openxmlformats.org/drawingml/2006/main" prst="roundRect">
            <a:avLst>
              <a:gd name="adj" fmla="val 5455"/>
            </a:avLst>
          </a:prstGeom>
          <a:solidFill xmlns:a="http://schemas.openxmlformats.org/drawingml/2006/main">
            <a:srgbClr val="E8F5F2"/>
          </a:solidFill>
          <a:ln xmlns:a="http://schemas.openxmlformats.org/drawingml/2006/main" w="9525">
            <a:solidFill>
              <a:srgbClr val="C9D2DC"/>
            </a:solidFill>
            <a:prstDash val="solid"/>
          </a:ln>
        </p:spPr>
      </p:sp>
      <p:sp>
        <p:nvSpPr>
          <p:cNvPr id="13" name="">
            <a:extLst xmlns:a="http://schemas.openxmlformats.org/drawingml/2006/main">
              <a:ext uri="{FF2B5EF4-FFF2-40B4-BE49-F238E27FC236}">
                <a16:creationId xmlns:a16="http://schemas.microsoft.com/office/drawing/2014/main" id="{2E648849-C40C-4630-9B1E-1BA9EC87CC5C}"/>
              </a:ext>
            </a:extLst>
          </p:cNvPr>
          <p:cNvSpPr>
            <a:spLocks xmlns:a="http://schemas.openxmlformats.org/drawingml/2006/main" noGrp="1"/>
          </p:cNvSpPr>
          <p:nvPr/>
        </p:nvSpPr>
        <p:spPr>
          <a:xfrm xmlns:a="http://schemas.openxmlformats.org/drawingml/2006/main">
            <a:off x="4333875" y="3028950"/>
            <a:ext cx="3143250" cy="57150"/>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14" name="">
            <a:extLst xmlns:a="http://schemas.openxmlformats.org/drawingml/2006/main">
              <a:ext uri="{FF2B5EF4-FFF2-40B4-BE49-F238E27FC236}">
                <a16:creationId xmlns:a16="http://schemas.microsoft.com/office/drawing/2014/main" id="{294E2917-DD9B-41C3-9F62-4BDFABC405DD}"/>
              </a:ext>
            </a:extLst>
          </p:cNvPr>
          <p:cNvSpPr>
            <a:spLocks xmlns:a="http://schemas.openxmlformats.org/drawingml/2006/main" noGrp="1"/>
          </p:cNvSpPr>
          <p:nvPr/>
        </p:nvSpPr>
        <p:spPr>
          <a:xfrm xmlns:a="http://schemas.openxmlformats.org/drawingml/2006/main">
            <a:off x="4543425" y="3238500"/>
            <a:ext cx="2724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2A9D8F"/>
                </a:solidFill>
                <a:latin typeface="Arial"/>
                <a:ea typeface="Arial"/>
                <a:cs typeface="Arial"/>
              </a:defRPr>
            </a:pPr>
            <a:r>
              <a:rPr sz="900" b="1">
                <a:solidFill>
                  <a:srgbClr val="2A9D8F"/>
                </a:solidFill>
                <a:latin typeface="Arial"/>
                <a:ea typeface="Arial"/>
                <a:cs typeface="Arial"/>
              </a:rPr>
              <a:t>NOW</a:t>
            </a:r>
          </a:p>
        </p:txBody>
      </p:sp>
      <p:sp>
        <p:nvSpPr>
          <p:cNvPr id="15" name="">
            <a:extLst xmlns:a="http://schemas.openxmlformats.org/drawingml/2006/main">
              <a:ext uri="{FF2B5EF4-FFF2-40B4-BE49-F238E27FC236}">
                <a16:creationId xmlns:a16="http://schemas.microsoft.com/office/drawing/2014/main" id="{C93AB7EF-3B6E-4F5C-8E51-A9D6F9053387}"/>
              </a:ext>
            </a:extLst>
          </p:cNvPr>
          <p:cNvSpPr>
            <a:spLocks xmlns:a="http://schemas.openxmlformats.org/drawingml/2006/main" noGrp="1"/>
          </p:cNvSpPr>
          <p:nvPr/>
        </p:nvSpPr>
        <p:spPr>
          <a:xfrm xmlns:a="http://schemas.openxmlformats.org/drawingml/2006/main">
            <a:off x="4543425" y="3543300"/>
            <a:ext cx="2724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Geometry is exact</a:t>
            </a:r>
          </a:p>
        </p:txBody>
      </p:sp>
      <p:sp>
        <p:nvSpPr>
          <p:cNvPr id="16" name="">
            <a:extLst xmlns:a="http://schemas.openxmlformats.org/drawingml/2006/main">
              <a:ext uri="{FF2B5EF4-FFF2-40B4-BE49-F238E27FC236}">
                <a16:creationId xmlns:a16="http://schemas.microsoft.com/office/drawing/2014/main" id="{0F9543B9-BF16-4288-A820-F21F87DFE252}"/>
              </a:ext>
            </a:extLst>
          </p:cNvPr>
          <p:cNvSpPr>
            <a:spLocks xmlns:a="http://schemas.openxmlformats.org/drawingml/2006/main" noGrp="1"/>
          </p:cNvSpPr>
          <p:nvPr/>
        </p:nvSpPr>
        <p:spPr>
          <a:xfrm xmlns:a="http://schemas.openxmlformats.org/drawingml/2006/main">
            <a:off x="4543425" y="4171950"/>
            <a:ext cx="2724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The reflection-equivariant encoder passes matched local audits without empty channels.</a:t>
            </a:r>
          </a:p>
        </p:txBody>
      </p:sp>
      <p:sp>
        <p:nvSpPr>
          <p:cNvPr id="17" name="">
            <a:extLst xmlns:a="http://schemas.openxmlformats.org/drawingml/2006/main">
              <a:ext uri="{FF2B5EF4-FFF2-40B4-BE49-F238E27FC236}">
                <a16:creationId xmlns:a16="http://schemas.microsoft.com/office/drawing/2014/main" id="{EF730ACC-22C7-4BEB-9E43-2842EB2046BF}"/>
              </a:ext>
            </a:extLst>
          </p:cNvPr>
          <p:cNvSpPr>
            <a:spLocks xmlns:a="http://schemas.openxmlformats.org/drawingml/2006/main" noGrp="1"/>
          </p:cNvSpPr>
          <p:nvPr/>
        </p:nvSpPr>
        <p:spPr>
          <a:xfrm xmlns:a="http://schemas.openxmlformats.org/drawingml/2006/main">
            <a:off x="7810500" y="3028950"/>
            <a:ext cx="3143250" cy="2095500"/>
          </a:xfrm>
          <a:prstGeom xmlns:a="http://schemas.openxmlformats.org/drawingml/2006/main" prst="roundRect">
            <a:avLst>
              <a:gd name="adj" fmla="val 5455"/>
            </a:avLst>
          </a:prstGeom>
          <a:solidFill xmlns:a="http://schemas.openxmlformats.org/drawingml/2006/main">
            <a:srgbClr val="EAF5FB"/>
          </a:solidFill>
          <a:ln xmlns:a="http://schemas.openxmlformats.org/drawingml/2006/main" w="9525">
            <a:solidFill>
              <a:srgbClr val="C9D2DC"/>
            </a:solidFill>
            <a:prstDash val="solid"/>
          </a:ln>
        </p:spPr>
      </p:sp>
      <p:sp>
        <p:nvSpPr>
          <p:cNvPr id="18" name="">
            <a:extLst xmlns:a="http://schemas.openxmlformats.org/drawingml/2006/main">
              <a:ext uri="{FF2B5EF4-FFF2-40B4-BE49-F238E27FC236}">
                <a16:creationId xmlns:a16="http://schemas.microsoft.com/office/drawing/2014/main" id="{FFA09B92-4286-4D21-9C29-4B57712621D9}"/>
              </a:ext>
            </a:extLst>
          </p:cNvPr>
          <p:cNvSpPr>
            <a:spLocks xmlns:a="http://schemas.openxmlformats.org/drawingml/2006/main" noGrp="1"/>
          </p:cNvSpPr>
          <p:nvPr/>
        </p:nvSpPr>
        <p:spPr>
          <a:xfrm xmlns:a="http://schemas.openxmlformats.org/drawingml/2006/main">
            <a:off x="7810500" y="3028950"/>
            <a:ext cx="31432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9" name="">
            <a:extLst xmlns:a="http://schemas.openxmlformats.org/drawingml/2006/main">
              <a:ext uri="{FF2B5EF4-FFF2-40B4-BE49-F238E27FC236}">
                <a16:creationId xmlns:a16="http://schemas.microsoft.com/office/drawing/2014/main" id="{8CF2A6AD-DB02-4D6B-A767-59E364D9C1F2}"/>
              </a:ext>
            </a:extLst>
          </p:cNvPr>
          <p:cNvSpPr>
            <a:spLocks xmlns:a="http://schemas.openxmlformats.org/drawingml/2006/main" noGrp="1"/>
          </p:cNvSpPr>
          <p:nvPr/>
        </p:nvSpPr>
        <p:spPr>
          <a:xfrm xmlns:a="http://schemas.openxmlformats.org/drawingml/2006/main">
            <a:off x="8020050" y="3238500"/>
            <a:ext cx="2724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111"/>
          </a:bodyPr>
          <a:lstStyle xmlns:a="http://schemas.openxmlformats.org/drawingml/2006/main"/>
          <a:p xmlns:a="http://schemas.openxmlformats.org/drawingml/2006/main">
            <a:pPr algn="l">
              <a:defRPr sz="900" b="1">
                <a:solidFill>
                  <a:srgbClr val="3D8DFF"/>
                </a:solidFill>
                <a:latin typeface="Arial"/>
                <a:ea typeface="Arial"/>
                <a:cs typeface="Arial"/>
              </a:defRPr>
            </a:pPr>
            <a:r>
              <a:rPr sz="900" b="1">
                <a:solidFill>
                  <a:srgbClr val="3D8DFF"/>
                </a:solidFill>
                <a:latin typeface="Arial"/>
                <a:ea typeface="Arial"/>
                <a:cs typeface="Arial"/>
              </a:rPr>
              <a:t>NEXT</a:t>
            </a:r>
          </a:p>
        </p:txBody>
      </p:sp>
      <p:sp>
        <p:nvSpPr>
          <p:cNvPr id="20" name="">
            <a:extLst xmlns:a="http://schemas.openxmlformats.org/drawingml/2006/main">
              <a:ext uri="{FF2B5EF4-FFF2-40B4-BE49-F238E27FC236}">
                <a16:creationId xmlns:a16="http://schemas.microsoft.com/office/drawing/2014/main" id="{23800479-27F9-4941-8F2E-7298F96CC68B}"/>
              </a:ext>
            </a:extLst>
          </p:cNvPr>
          <p:cNvSpPr>
            <a:spLocks xmlns:a="http://schemas.openxmlformats.org/drawingml/2006/main" noGrp="1"/>
          </p:cNvSpPr>
          <p:nvPr/>
        </p:nvSpPr>
        <p:spPr>
          <a:xfrm xmlns:a="http://schemas.openxmlformats.org/drawingml/2006/main">
            <a:off x="8020050" y="3543300"/>
            <a:ext cx="2724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Utility must be earned</a:t>
            </a:r>
          </a:p>
        </p:txBody>
      </p:sp>
      <p:sp>
        <p:nvSpPr>
          <p:cNvPr id="21" name="">
            <a:extLst xmlns:a="http://schemas.openxmlformats.org/drawingml/2006/main">
              <a:ext uri="{FF2B5EF4-FFF2-40B4-BE49-F238E27FC236}">
                <a16:creationId xmlns:a16="http://schemas.microsoft.com/office/drawing/2014/main" id="{F979EB16-8E44-4534-B401-97355635A894}"/>
              </a:ext>
            </a:extLst>
          </p:cNvPr>
          <p:cNvSpPr>
            <a:spLocks xmlns:a="http://schemas.openxmlformats.org/drawingml/2006/main" noGrp="1"/>
          </p:cNvSpPr>
          <p:nvPr/>
        </p:nvSpPr>
        <p:spPr>
          <a:xfrm xmlns:a="http://schemas.openxmlformats.org/drawingml/2006/main">
            <a:off x="8020050" y="4171950"/>
            <a:ext cx="2724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Held-out people, force plates, real views, and replication define the next claims.</a:t>
            </a:r>
          </a:p>
        </p:txBody>
      </p:sp>
      <p:sp>
        <p:nvSpPr>
          <p:cNvPr id="22" name="">
            <a:extLst xmlns:a="http://schemas.openxmlformats.org/drawingml/2006/main">
              <a:ext uri="{FF2B5EF4-FFF2-40B4-BE49-F238E27FC236}">
                <a16:creationId xmlns:a16="http://schemas.microsoft.com/office/drawing/2014/main" id="{DE2BBD74-7B35-4E26-BEB2-DEEF5F45CD26}"/>
              </a:ext>
            </a:extLst>
          </p:cNvPr>
          <p:cNvSpPr>
            <a:spLocks xmlns:a="http://schemas.openxmlformats.org/drawingml/2006/main" noGrp="1"/>
          </p:cNvSpPr>
          <p:nvPr/>
        </p:nvSpPr>
        <p:spPr>
          <a:xfrm xmlns:a="http://schemas.openxmlformats.org/drawingml/2006/main">
            <a:off x="1219200" y="5505450"/>
            <a:ext cx="9753600" cy="571500"/>
          </a:xfrm>
          <a:prstGeom xmlns:a="http://schemas.openxmlformats.org/drawingml/2006/main" prst="roundRect">
            <a:avLst>
              <a:gd name="adj" fmla="val 20000"/>
            </a:avLst>
          </a:prstGeom>
          <a:solidFill xmlns:a="http://schemas.openxmlformats.org/drawingml/2006/main">
            <a:srgbClr val="102A43"/>
          </a:solidFill>
          <a:ln xmlns:a="http://schemas.openxmlformats.org/drawingml/2006/main" w="9525">
            <a:solidFill>
              <a:srgbClr val="102A43"/>
            </a:solidFill>
            <a:prstDash val="solid"/>
          </a:ln>
        </p:spPr>
      </p:sp>
      <p:sp>
        <p:nvSpPr>
          <p:cNvPr id="23" name="">
            <a:extLst xmlns:a="http://schemas.openxmlformats.org/drawingml/2006/main">
              <a:ext uri="{FF2B5EF4-FFF2-40B4-BE49-F238E27FC236}">
                <a16:creationId xmlns:a16="http://schemas.microsoft.com/office/drawing/2014/main" id="{1A131D3F-B4DD-452F-BFA5-6C5230D7E5FA}"/>
              </a:ext>
            </a:extLst>
          </p:cNvPr>
          <p:cNvSpPr>
            <a:spLocks xmlns:a="http://schemas.openxmlformats.org/drawingml/2006/main" noGrp="1"/>
          </p:cNvSpPr>
          <p:nvPr/>
        </p:nvSpPr>
        <p:spPr>
          <a:xfrm xmlns:a="http://schemas.openxmlformats.org/drawingml/2006/main">
            <a:off x="1524000" y="5667375"/>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44"/>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If GaitParity clears that gate, Biomech-JEPA becomes a credible path beyond OpenCap/OpenSim-style pipelines.</a:t>
            </a:r>
          </a:p>
        </p:txBody>
      </p:sp>
    </p:spTree>
    <p:extLst>
      <p:ext uri="{BB962C8B-B14F-4D97-AF65-F5344CB8AC3E}">
        <p14:creationId xmlns:p14="http://schemas.microsoft.com/office/powerpoint/2010/main" val="16796057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2026-08-24T00:38:09.7210000Z</dcterms:created>
  <dcterms:modified xsi:type="dcterms:W3CDTF">2026-08-24T00:38:09.7210000Z</dcterms:modified>
</coreProperties>
</file>