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f4f7085e06464b" /><Relationship Type="http://schemas.openxmlformats.org/officeDocument/2006/relationships/extended-properties" Target="/docProps/app.xml" Id="R1ff45fd29fc8478d" /><Relationship Type="http://schemas.openxmlformats.org/officeDocument/2006/relationships/officeDocument" Target="/ppt/presentation.xml" Id="Rb4c3d4947eeb43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043c5f8dcd43fe"/>
  </p:sldMasterIdLst>
  <p:notesMasterIdLst>
    <p:notesMasterId xmlns:r="http://schemas.openxmlformats.org/officeDocument/2006/relationships" r:id="R599b589c9aea413e"/>
  </p:notesMasterIdLst>
  <p:sldIdLst>
    <p:sldId xmlns:r="http://schemas.openxmlformats.org/officeDocument/2006/relationships" id="256" r:id="R63e2187a9b6947fe"/>
    <p:sldId xmlns:r="http://schemas.openxmlformats.org/officeDocument/2006/relationships" id="257" r:id="R7417f7dda73e4a0f"/>
    <p:sldId xmlns:r="http://schemas.openxmlformats.org/officeDocument/2006/relationships" id="258" r:id="Re6b40b9c27534116"/>
    <p:sldId xmlns:r="http://schemas.openxmlformats.org/officeDocument/2006/relationships" id="259" r:id="R9ae0ae4b31ca40a1"/>
    <p:sldId xmlns:r="http://schemas.openxmlformats.org/officeDocument/2006/relationships" id="260" r:id="R4c5c6523ce0f417c"/>
    <p:sldId xmlns:r="http://schemas.openxmlformats.org/officeDocument/2006/relationships" id="261" r:id="Rfba49d92f0304e5f"/>
    <p:sldId xmlns:r="http://schemas.openxmlformats.org/officeDocument/2006/relationships" id="262" r:id="Rd86eae286b074201"/>
    <p:sldId xmlns:r="http://schemas.openxmlformats.org/officeDocument/2006/relationships" id="263" r:id="R2174ed09d5dc4fc3"/>
    <p:sldId xmlns:r="http://schemas.openxmlformats.org/officeDocument/2006/relationships" id="264" r:id="R0f010f31f70b4580"/>
    <p:sldId xmlns:r="http://schemas.openxmlformats.org/officeDocument/2006/relationships" id="265" r:id="R56edbca219f843ce"/>
    <p:sldId xmlns:r="http://schemas.openxmlformats.org/officeDocument/2006/relationships" id="266" r:id="Rfc7e107446b8477c"/>
    <p:sldId xmlns:r="http://schemas.openxmlformats.org/officeDocument/2006/relationships" id="267" r:id="Rcce00381f96443c7"/>
    <p:sldId xmlns:r="http://schemas.openxmlformats.org/officeDocument/2006/relationships" id="268" r:id="R4b06f5dd9e3b47b3"/>
    <p:sldId xmlns:r="http://schemas.openxmlformats.org/officeDocument/2006/relationships" id="269" r:id="R4e08c2428eb44023"/>
    <p:sldId xmlns:r="http://schemas.openxmlformats.org/officeDocument/2006/relationships" id="270" r:id="R1d724c30f59b4771"/>
    <p:sldId xmlns:r="http://schemas.openxmlformats.org/officeDocument/2006/relationships" id="271" r:id="R3370701b9a4140ed"/>
    <p:sldId xmlns:r="http://schemas.openxmlformats.org/officeDocument/2006/relationships" id="272" r:id="R44fcdd3cc204431c"/>
    <p:sldId xmlns:r="http://schemas.openxmlformats.org/officeDocument/2006/relationships" id="273" r:id="R0f966b14b6ee4d8d"/>
    <p:sldId xmlns:r="http://schemas.openxmlformats.org/officeDocument/2006/relationships" id="274" r:id="Rdaf3922e15ed44c7"/>
    <p:sldId xmlns:r="http://schemas.openxmlformats.org/officeDocument/2006/relationships" id="275" r:id="Rcd239b4fd66248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c9163006a0416f" /><Relationship Type="http://schemas.openxmlformats.org/officeDocument/2006/relationships/slideMaster" Target="/ppt/slideMasters/slideMaster1.xml" Id="R97043c5f8dcd43fe" /><Relationship Type="http://schemas.openxmlformats.org/officeDocument/2006/relationships/notesMaster" Target="/ppt/notesMasters/notesMaster1.xml" Id="R599b589c9aea413e" /><Relationship Type="http://schemas.openxmlformats.org/officeDocument/2006/relationships/presProps" Target="/ppt/presProps.xml" Id="R18c484776c474183" /><Relationship Type="http://schemas.openxmlformats.org/officeDocument/2006/relationships/tableStyles" Target="/ppt/tableStyles.xml" Id="Re4ec6a5eeb3442d3" /><Relationship Type="http://schemas.openxmlformats.org/officeDocument/2006/relationships/slide" Target="/ppt/slides/slide1.xml" Id="R63e2187a9b6947fe" /><Relationship Type="http://schemas.openxmlformats.org/officeDocument/2006/relationships/slide" Target="/ppt/slides/slide2.xml" Id="R7417f7dda73e4a0f" /><Relationship Type="http://schemas.openxmlformats.org/officeDocument/2006/relationships/slide" Target="/ppt/slides/slide3.xml" Id="Re6b40b9c27534116" /><Relationship Type="http://schemas.openxmlformats.org/officeDocument/2006/relationships/slide" Target="/ppt/slides/slide4.xml" Id="R9ae0ae4b31ca40a1" /><Relationship Type="http://schemas.openxmlformats.org/officeDocument/2006/relationships/slide" Target="/ppt/slides/slide5.xml" Id="R4c5c6523ce0f417c" /><Relationship Type="http://schemas.openxmlformats.org/officeDocument/2006/relationships/slide" Target="/ppt/slides/slide6.xml" Id="Rfba49d92f0304e5f" /><Relationship Type="http://schemas.openxmlformats.org/officeDocument/2006/relationships/slide" Target="/ppt/slides/slide7.xml" Id="Rd86eae286b074201" /><Relationship Type="http://schemas.openxmlformats.org/officeDocument/2006/relationships/slide" Target="/ppt/slides/slide8.xml" Id="R2174ed09d5dc4fc3" /><Relationship Type="http://schemas.openxmlformats.org/officeDocument/2006/relationships/slide" Target="/ppt/slides/slide9.xml" Id="R0f010f31f70b4580" /><Relationship Type="http://schemas.openxmlformats.org/officeDocument/2006/relationships/slide" Target="/ppt/slides/slide10.xml" Id="R56edbca219f843ce" /><Relationship Type="http://schemas.openxmlformats.org/officeDocument/2006/relationships/slide" Target="/ppt/slides/slide11.xml" Id="Rfc7e107446b8477c" /><Relationship Type="http://schemas.openxmlformats.org/officeDocument/2006/relationships/slide" Target="/ppt/slides/slide12.xml" Id="Rcce00381f96443c7" /><Relationship Type="http://schemas.openxmlformats.org/officeDocument/2006/relationships/slide" Target="/ppt/slides/slide13.xml" Id="R4b06f5dd9e3b47b3" /><Relationship Type="http://schemas.openxmlformats.org/officeDocument/2006/relationships/slide" Target="/ppt/slides/slide14.xml" Id="R4e08c2428eb44023" /><Relationship Type="http://schemas.openxmlformats.org/officeDocument/2006/relationships/slide" Target="/ppt/slides/slide15.xml" Id="R1d724c30f59b4771" /><Relationship Type="http://schemas.openxmlformats.org/officeDocument/2006/relationships/slide" Target="/ppt/slides/slide16.xml" Id="R3370701b9a4140ed" /><Relationship Type="http://schemas.openxmlformats.org/officeDocument/2006/relationships/slide" Target="/ppt/slides/slide17.xml" Id="R44fcdd3cc204431c" /><Relationship Type="http://schemas.openxmlformats.org/officeDocument/2006/relationships/slide" Target="/ppt/slides/slide18.xml" Id="R0f966b14b6ee4d8d" /><Relationship Type="http://schemas.openxmlformats.org/officeDocument/2006/relationships/slide" Target="/ppt/slides/slide19.xml" Id="Rdaf3922e15ed44c7" /><Relationship Type="http://schemas.openxmlformats.org/officeDocument/2006/relationships/slide" Target="/ppt/slides/slide20.xml" Id="Rcd239b4fd66248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3b81143f174d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2f18759b3e4cc8" /><Relationship Type="http://schemas.openxmlformats.org/officeDocument/2006/relationships/notesMaster" Target="/ppt/notesMasters/notesMaster1.xml" Id="Rec499397974940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9ce910c0ae4625" /><Relationship Type="http://schemas.openxmlformats.org/officeDocument/2006/relationships/notesMaster" Target="/ppt/notesMasters/notesMaster1.xml" Id="Rf20beb29830143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9f5f03144f490a" /><Relationship Type="http://schemas.openxmlformats.org/officeDocument/2006/relationships/notesMaster" Target="/ppt/notesMasters/notesMaster1.xml" Id="R19aa137b6a234d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86ca0b382e4e03" /><Relationship Type="http://schemas.openxmlformats.org/officeDocument/2006/relationships/notesMaster" Target="/ppt/notesMasters/notesMaster1.xml" Id="R078bcd20c2f44a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2c614e738c488c" /><Relationship Type="http://schemas.openxmlformats.org/officeDocument/2006/relationships/notesMaster" Target="/ppt/notesMasters/notesMaster1.xml" Id="R19d638967bdf43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1737f7536144b7" /><Relationship Type="http://schemas.openxmlformats.org/officeDocument/2006/relationships/notesMaster" Target="/ppt/notesMasters/notesMaster1.xml" Id="R03fb18b1b9534c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6e9f950cd7475b" /><Relationship Type="http://schemas.openxmlformats.org/officeDocument/2006/relationships/notesMaster" Target="/ppt/notesMasters/notesMaster1.xml" Id="R511ba466bacd43d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6b9f7e6c0248a7" /><Relationship Type="http://schemas.openxmlformats.org/officeDocument/2006/relationships/notesMaster" Target="/ppt/notesMasters/notesMaster1.xml" Id="R0059e49d169d4b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1757771f324d6f" /><Relationship Type="http://schemas.openxmlformats.org/officeDocument/2006/relationships/notesMaster" Target="/ppt/notesMasters/notesMaster1.xml" Id="R86753702502c41f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d0dbfd4bdb6426f" /><Relationship Type="http://schemas.openxmlformats.org/officeDocument/2006/relationships/notesMaster" Target="/ppt/notesMasters/notesMaster1.xml" Id="R96dc9790d09d4c2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05e4a09ee66474b" /><Relationship Type="http://schemas.openxmlformats.org/officeDocument/2006/relationships/notesMaster" Target="/ppt/notesMasters/notesMaster1.xml" Id="Rc8737c2f86d248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28abc8024ec4ee6" /><Relationship Type="http://schemas.openxmlformats.org/officeDocument/2006/relationships/notesMaster" Target="/ppt/notesMasters/notesMaster1.xml" Id="Rb4d6f529ea3e42d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456745862a9480d" /><Relationship Type="http://schemas.openxmlformats.org/officeDocument/2006/relationships/notesMaster" Target="/ppt/notesMasters/notesMaster1.xml" Id="Rd7ee1c484bec498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5bda2a788d243e7" /><Relationship Type="http://schemas.openxmlformats.org/officeDocument/2006/relationships/notesMaster" Target="/ppt/notesMasters/notesMaster1.xml" Id="R210f27bf0aa149f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29f144f445d4614" /><Relationship Type="http://schemas.openxmlformats.org/officeDocument/2006/relationships/notesMaster" Target="/ppt/notesMasters/notesMaster1.xml" Id="Rbae05fc738ad480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e2651c3075648bb" /><Relationship Type="http://schemas.openxmlformats.org/officeDocument/2006/relationships/notesMaster" Target="/ppt/notesMasters/notesMaster1.xml" Id="Rd4f3366c52cb4b9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8680e8d94624b8f" /><Relationship Type="http://schemas.openxmlformats.org/officeDocument/2006/relationships/notesMaster" Target="/ppt/notesMasters/notesMaster1.xml" Id="R3865e819d7d84f2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c287b897a1f4ce3" /><Relationship Type="http://schemas.openxmlformats.org/officeDocument/2006/relationships/notesMaster" Target="/ppt/notesMasters/notesMaster1.xml" Id="Rbac108c6c9ba40b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9e915696a0448d1" /><Relationship Type="http://schemas.openxmlformats.org/officeDocument/2006/relationships/notesMaster" Target="/ppt/notesMasters/notesMaster1.xml" Id="R640dfa690f3f4da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6e81f0f43244f74" /><Relationship Type="http://schemas.openxmlformats.org/officeDocument/2006/relationships/notesMaster" Target="/ppt/notesMasters/notesMaster1.xml" Id="R3549c83b7e284a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measurement problem: the goal is not symmetry for its own sake, but a representation that preserves the mechanics needed for credible balance assessment.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/Users/theodoremui/dev/alexpose/experiments/sjepa/gavd6/notes/research/programs/gait_parity/README.md</a:t>
            </a:r>
          </a:p>
          <a:p xmlns:a="http://schemas.openxmlformats.org/drawingml/2006/main">
            <a:r>
              <a:t>- /Users/theodoremui/dev/alexpose/experiments/sjepa/gavd6/notes/research/programs/gait_parity/README_LONG_TERM.md</a:t>
            </a:r>
          </a:p>
          <a:p xmlns:a="http://schemas.openxmlformats.org/drawingml/2006/main">
            <a:r>
              <a:t>- /Users/theodoremui/dev/alexpose/experiments/sjepa/gavd6/notes/research/programs/gait_parity/METHODOLOGY_LONG_TERM.md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Walking is not static posture repeated. It is continuous regulation of a moving center of mass, so a useful gait representation should preserve the mechanics that distinguish how each side contributes to that regulation.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https://doi.org/10.1016/0966-6362(96)82849-9</a:t>
            </a:r>
          </a:p>
          <a:p xmlns:a="http://schemas.openxmlformats.org/drawingml/2006/main">
            <a:r>
              <a:t>- https://pmc.ncbi.nlm.nih.gov/articles/PMC6030625/</a:t>
            </a:r>
          </a:p>
          <a:p xmlns:a="http://schemas.openxmlformats.org/drawingml/2006/main">
            <a:r>
              <a:t>- https://pmc.ncbi.nlm.nih.gov/articles/PMC10883149/</a:t>
            </a:r>
          </a:p>
          <a:p xmlns:a="http://schemas.openxmlformats.org/drawingml/2006/main">
            <a:r>
              <a:t>- https://cdn.ncbi.nlm.nih.gov/pmc/blobs/5ea6/10883149/3bfb8ca47aff/peerj-12-16919-g003.jpg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motivation is not that one gait metric can diagnose falls. It is that prospectively observed gait variability and rhythm contain risk-relevant information, motivating scalable measurement of richer gait mechanics.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https://www.cdc.gov/falls/data-research/index.html</a:t>
            </a:r>
          </a:p>
          <a:p xmlns:a="http://schemas.openxmlformats.org/drawingml/2006/main">
            <a:r>
              <a:t>- https://pubmed.ncbi.nlm.nih.gov/9063277/</a:t>
            </a:r>
          </a:p>
          <a:p xmlns:a="http://schemas.openxmlformats.org/drawingml/2006/main">
            <a:r>
              <a:t>- https://pmc.ncbi.nlm.nih.gov/articles/PMC2709543/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Signed propulsion is used because it is a side-specific mechanical measurement from an independent instrument. The talk deliberately stops short of claiming that propulsion asymmetry alone predicts falls.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https://pubmed.ncbi.nlm.nih.gov/26721869/</a:t>
            </a:r>
          </a:p>
          <a:p xmlns:a="http://schemas.openxmlformats.org/drawingml/2006/main">
            <a:r>
              <a:t>- https://www.ahajournals.org/doi/pdf/10.1161/str.37.2.619</a:t>
            </a:r>
          </a:p>
          <a:p xmlns:a="http://schemas.openxmlformats.org/drawingml/2006/main">
            <a:r>
              <a:t>- https://pubmed.ncbi.nlm.nih.gov/40250067/</a:t>
            </a:r>
          </a:p>
          <a:p xmlns:a="http://schemas.openxmlformats.org/drawingml/2006/main">
            <a:r>
              <a:t>- /Users/theodoremui/dev/alexpose/experiments/sjepa/gavd6/notes/research/programs/gait_parity/METHODOLOGY.md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the hypothesis as a chain. Exact geometry is necessary but does not establish usefulness; independent force prediction is the key utility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/Users/theodoremui/dev/alexpose/experiments/sjepa/gavd6/notes/research/programs/gait_parity/README_LONG_TERM.md</a:t>
            </a:r>
          </a:p>
          <a:p xmlns:a="http://schemas.openxmlformats.org/drawingml/2006/main">
            <a:r>
              <a:t>- /Users/theodoremui/dev/alexpose/experiments/sjepa/gavd6/notes/research/programs/gait_parity/METHODOLOGY_LONG_TERM.md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decisive measurement design. Coordinate-derived asymmetry is acceptable for audits, but the primary study uses force so the input and target are not the same signal in different notation.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/Users/theodoremui/dev/alexpose/experiments/sjepa/gavd6/notes/research/programs/gait_parity/METHODOLOGY.md</a:t>
            </a:r>
          </a:p>
          <a:p xmlns:a="http://schemas.openxmlformats.org/drawingml/2006/main">
            <a:r>
              <a:t>- /Users/theodoremui/dev/alexpose/experiments/sjepa/gavd6/notes/research/programs/gait_parity/images/what-we-predict-propulsion.svg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the visibility-mask swap. Reflecting coordinates without masks creates impossible bodies and lets the model detect the synthetic operation instead of anatomy.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/Users/theodoremui/dev/alexpose/experiments/sjepa/gavd6/notes/research/programs/gait_parity/METHODOLOGY.md</a:t>
            </a:r>
          </a:p>
          <a:p xmlns:a="http://schemas.openxmlformats.org/drawingml/2006/main">
            <a:r>
              <a:t>- /Users/theodoremui/dev/alexpose/experiments/sjepa/gavd6/notes/research/programs/gait_parity/images/reflection-operator-steps.svg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objective is self-supervised: the model predicts a teacher representation of hidden motion, not the missing coordinates and not a clinical label.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/Users/theodoremui/dev/alexpose/experiments/sjepa/gavd6/notes/research/programs/gait_parity/METHODOLOGY_LONG_TERM.md</a:t>
            </a:r>
          </a:p>
          <a:p xmlns:a="http://schemas.openxmlformats.org/drawingml/2006/main">
            <a:r>
              <a:t>- /Users/theodoremui/dev/alexpose/experiments/sjepa/gavd6/notes/research/programs/gait_parity/tutorials/05-two-stage-amass-training-overview.md</a:t>
            </a:r>
          </a:p>
          <a:p xmlns:a="http://schemas.openxmlformats.org/drawingml/2006/main">
            <a:r>
              <a:t>- /Users/theodoremui/dev/alexpose/experiments/sjepa/gavd6/notes/research/programs/gait_parity/images/what-a-jepa-predicts.svg</a:t>
            </a:r>
          </a:p>
          <a:p xmlns:a="http://schemas.openxmlformats.org/drawingml/2006/main">
            <a:r>
              <a:t>- https://doi.org/10.1007/978-3-031-73411-3_21</a:t>
            </a:r>
          </a:p>
          <a:p xmlns:a="http://schemas.openxmlformats.org/drawingml/2006/main">
            <a:r>
              <a:t>- https://arxiv.org/abs/2301.08243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two-element group C2 makes the construction tractable. The scientific claim rests on layerwise numerical commutation tests, not on the architecture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/Users/theodoremui/dev/alexpose/experiments/sjepa/gavd6/notes/research/programs/gait_parity/README_LONG_TERM.md</a:t>
            </a:r>
          </a:p>
          <a:p xmlns:a="http://schemas.openxmlformats.org/drawingml/2006/main">
            <a:r>
              <a:t>- /Users/theodoremui/dev/alexpose/experiments/sjepa/gavd6/notes/research/programs/gait_parity/METHODOLOGY_LONG_TERM.md</a:t>
            </a:r>
          </a:p>
          <a:p xmlns:a="http://schemas.openxmlformats.org/drawingml/2006/main">
            <a:r>
              <a:t>- /Users/theodoremui/dev/alexpose/experiments/sjepa/gavd6/notes/research/programs/gait_parity/images/long-term/commutation-square.svg</a:t>
            </a:r>
          </a:p>
          <a:p xmlns:a="http://schemas.openxmlformats.org/drawingml/2006/main">
            <a:r>
              <a:t>- https://proceedings.mlr.press/v48/cohenc16.html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co-primary comparisons are intentionally difficult. The equivariant encoder must beat both cheap output repair and an equally capable paired model without equivariant tying.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/Users/theodoremui/dev/alexpose/experiments/sjepa/gavd6/notes/research/programs/gait_parity/README_LONG_TERM.md</a:t>
            </a:r>
          </a:p>
          <a:p xmlns:a="http://schemas.openxmlformats.org/drawingml/2006/main">
            <a:r>
              <a:t>- /Users/theodoremui/dev/alexpose/experiments/sjepa/gavd6/notes/research/programs/gait_parity/METHODOLOGY_LONG_TERM.md</a:t>
            </a:r>
          </a:p>
          <a:p xmlns:a="http://schemas.openxmlformats.org/drawingml/2006/main">
            <a:r>
              <a:t>- /Users/theodoremui/dev/alexpose/experiments/sjepa/gavd6/notes/research/programs/gait_parity/images/long-term/output-vs-encoder.svg</a:t>
            </a:r>
          </a:p>
          <a:p xmlns:a="http://schemas.openxmlformats.org/drawingml/2006/main">
            <a:r>
              <a:t>- /Users/theodoremui/dev/alexpose/experiments/sjepa/gavd6/notes/research/programs/gait_parity/images/long-term/collapse-trap.svg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Treat the numeric configuration as a proposed starting point frozen through nonclinical development, not as validated hyperparameters. Preserve the implementation-status boundary visibly.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/Users/theodoremui/dev/alexpose/experiments/sjepa/gavd6/notes/research/programs/gait_parity/tutorials/05-two-stage-amass-training-overview.md</a:t>
            </a:r>
          </a:p>
          <a:p xmlns:a="http://schemas.openxmlformats.org/drawingml/2006/main">
            <a:r>
              <a:t>- /Users/theodoremui/dev/alexpose/experiments/sjepa/gavd6/notes/research/programs/gait_parity/tutorials/06-stage-1-broad-amass-pretraining.md</a:t>
            </a:r>
          </a:p>
          <a:p xmlns:a="http://schemas.openxmlformats.org/drawingml/2006/main">
            <a:r>
              <a:t>- /Users/theodoremui/dev/alexpose/experiments/sjepa/gavd6/notes/research/programs/gait_parity/tutorials/07-stage-2-walking-focused-continuation.md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comparison cannot match data exposure and GPU cost simultaneously. The deck therefore names both regimes and never implies a match that was not achieved.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/Users/theodoremui/dev/alexpose/experiments/sjepa/gavd6/notes/research/programs/gait_parity/METHODOLOGY_LONG_TERM.md</a:t>
            </a:r>
          </a:p>
          <a:p xmlns:a="http://schemas.openxmlformats.org/drawingml/2006/main">
            <a:r>
              <a:t>- /Users/theodoremui/dev/alexpose/experiments/sjepa/gavd6/notes/research/programs/gait_parity/tutorials/05-two-stage-amass-training-overview.md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ladder prevents a common narrative error: using exact geometry or a transductive audit to imply clinical utility.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/Users/theodoremui/dev/alexpose/experiments/sjepa/gavd6/notes/research/programs/gait_parity/METHODOLOGY.md</a:t>
            </a:r>
          </a:p>
          <a:p xmlns:a="http://schemas.openxmlformats.org/drawingml/2006/main">
            <a:r>
              <a:t>- /Users/theodoremui/dev/alexpose/experiments/sjepa/gavd6/notes/research/programs/gait_parity/METHODOLOGY_LONG_TERM.md</a:t>
            </a:r>
          </a:p>
          <a:p xmlns:a="http://schemas.openxmlformats.org/drawingml/2006/main">
            <a:r>
              <a:t>- /Users/theodoremui/dev/alexpose/experiments/sjepa/gavd6/notes/research/programs/gait_parity/images/research-ladder.svg</a:t>
            </a:r>
          </a:p>
          <a:p xmlns:a="http://schemas.openxmlformats.org/drawingml/2006/main">
            <a:r>
              <a:t>- https://doi.org/10.1038/s41597-023-02767-y</a:t>
            </a:r>
          </a:p>
          <a:p xmlns:a="http://schemas.openxmlformats.org/drawingml/2006/main">
            <a:r>
              <a:t>- https://doi.org/10.1109/ICCV.2019.00553</a:t>
            </a:r>
          </a:p>
          <a:p xmlns:a="http://schemas.openxmlformats.org/drawingml/2006/main">
            <a:r>
              <a:t>- https://doi.org/10.1371/journal.pone.0253157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Random clip splits are unacceptable because clips from the same person and capture setting can leak across evaluation. The inferential unit is the participant.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/Users/theodoremui/dev/alexpose/experiments/sjepa/gavd6/notes/research/programs/gait_parity/METHODOLOGY.md</a:t>
            </a:r>
          </a:p>
          <a:p xmlns:a="http://schemas.openxmlformats.org/drawingml/2006/main">
            <a:r>
              <a:t>- /Users/theodoremui/dev/alexpose/experiments/sjepa/gavd6/notes/research/programs/gait_parity/METHODOLOGY_LONG_TERM.md</a:t>
            </a:r>
          </a:p>
          <a:p xmlns:a="http://schemas.openxmlformats.org/drawingml/2006/main">
            <a:r>
              <a:t>- /Users/theodoremui/dev/alexpose/experiments/sjepa/gavd6/notes/research/programs/gait_parity/images/participant-safe-split.svg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compress the result to one conjunctive pass/fail. Report the highest supported tier and the specific gate that failed.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/Users/theodoremui/dev/alexpose/experiments/sjepa/gavd6/notes/research/programs/gait_parity/METHODOLOGY_LONG_TERM.md</a:t>
            </a:r>
          </a:p>
          <a:p xmlns:a="http://schemas.openxmlformats.org/drawingml/2006/main">
            <a:r>
              <a:t>- /Users/theodoremui/dev/alexpose/experiments/sjepa/gavd6/notes/research/programs/gait_parity/README_LONG_TERM.md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first result is optimization competence, not disease understanding. State that boundary before discussing the classifier visualization.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/Users/theodoremui/dev/alexpose/experiments/sjepa/gavd6/notebooks/foundations/04_pretrain_sjepa_on_normal.ipynb</a:t>
            </a:r>
          </a:p>
          <a:p xmlns:a="http://schemas.openxmlformats.org/drawingml/2006/main">
            <a:r>
              <a:t>- /Users/theodoremui/dev/alexpose/experiments/sjepa/gavd6/notebooks/foundations/06_capstone_health_condition_classifiers.ipynb</a:t>
            </a:r>
          </a:p>
          <a:p xmlns:a="http://schemas.openxmlformats.org/drawingml/2006/main">
            <a:r>
              <a:t>- /Users/theodoremui/dev/alexpose/experiments/sjepa/gavd6/notes/research/programs/gait_parity/tutorials/01-foundations-notebooks-00-06.md</a:t>
            </a:r>
          </a:p>
          <a:p xmlns:a="http://schemas.openxmlformats.org/drawingml/2006/main">
            <a:r>
              <a:t>- /Users/theodoremui/dev/alexpose/experiments/sjepa/gavd6/notes/research/programs/gait_parity/tutorials/04-notebook-graph-guide.md</a:t>
            </a:r>
          </a:p>
          <a:p xmlns:a="http://schemas.openxmlformats.org/drawingml/2006/main">
            <a:r>
              <a:t>- /Users/theodoremui/dev/alexpose/experiments/sjepa/gavd6/notes/research/programs/gait_parity/tutorials/images/notebook-04-curriculum-diagnostics.png</a:t>
            </a:r>
          </a:p>
          <a:p xmlns:a="http://schemas.openxmlformats.org/drawingml/2006/main">
            <a:r>
              <a:t>- /Users/theodoremui/dev/alexpose/experiments/sjepa/gavd6/notes/research/programs/gait_parity/tutorials/images/notebook-06-all-sequence-confusion.png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Treat the null as a scientific result: it rules out the easiest story that the old representation already contained a clean signed gait direction.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/Users/theodoremui/dev/alexpose/experiments/sjepa/gavd6/notebooks/experiments/idea05_signed_laterality/01_probe.ipynb</a:t>
            </a:r>
          </a:p>
          <a:p xmlns:a="http://schemas.openxmlformats.org/drawingml/2006/main">
            <a:r>
              <a:t>- /Users/theodoremui/dev/alexpose/experiments/sjepa/gavd6/notes/research/programs/gait_parity/tutorials/02-current-direction-and-results.md</a:t>
            </a:r>
          </a:p>
          <a:p xmlns:a="http://schemas.openxmlformats.org/drawingml/2006/main">
            <a:r>
              <a:t>- /Users/theodoremui/dev/alexpose/experiments/sjepa/gavd6/notes/research/programs/gait_parity/tutorials/04-notebook-graph-guide.md</a:t>
            </a:r>
          </a:p>
          <a:p xmlns:a="http://schemas.openxmlformats.org/drawingml/2006/main">
            <a:r>
              <a:t>- /Users/theodoremui/dev/alexpose/experiments/sjepa/gavd6/notes/research/programs/gait_parity/tutorials/images/notebook-05a-signed-laterality-probe.png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unrestricted control is crucial: it proves that the audit can fail when the geometry is actually broken. This is feasibility, not utility.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/Users/theodoremui/dev/alexpose/experiments/sjepa/gavd6/notebooks/experiments/idea09_reflection_equivariance/05_gavd_audit.ipynb</a:t>
            </a:r>
          </a:p>
          <a:p xmlns:a="http://schemas.openxmlformats.org/drawingml/2006/main">
            <a:r>
              <a:t>- /Users/theodoremui/dev/alexpose/experiments/sjepa/gavd6/notebooks/experiments/idea09_reflection_equivariance/06_cpu_replication.ipynb</a:t>
            </a:r>
          </a:p>
          <a:p xmlns:a="http://schemas.openxmlformats.org/drawingml/2006/main">
            <a:r>
              <a:t>- /Users/theodoremui/dev/alexpose/experiments/sjepa/gavd6/work/artifacts/gait_parity/real/gavd96-cpu-strong-v1/exposure/checkpoint_audit.json</a:t>
            </a:r>
          </a:p>
          <a:p xmlns:a="http://schemas.openxmlformats.org/drawingml/2006/main">
            <a:r>
              <a:t>- /Users/theodoremui/dev/alexpose/experiments/sjepa/gavd6/work/artifacts/gait_parity/real/gavd96-cpu-strong-v1/exposure/checkpoint_geometry.csv</a:t>
            </a:r>
          </a:p>
          <a:p xmlns:a="http://schemas.openxmlformats.org/drawingml/2006/main">
            <a:r>
              <a:t>- /Users/theodoremui/dev/alexpose/experiments/sjepa/gavd6/notes/research/programs/gait_parity/tutorials/02-current-direction-and-results.md</a:t>
            </a:r>
          </a:p>
          <a:p xmlns:a="http://schemas.openxmlformats.org/drawingml/2006/main">
            <a:r>
              <a:t>- /Users/theodoremui/dev/alexpose/experiments/sjepa/gavd6/notes/research/programs/gait_parity/tutorials/04-notebook-graph-guide.md</a:t>
            </a:r>
          </a:p>
          <a:p xmlns:a="http://schemas.openxmlformats.org/drawingml/2006/main">
            <a:r>
              <a:t>- /Users/theodoremui/dev/alexpose/experiments/sjepa/gavd6/notes/research/programs/gait_parity/tutorials/images/notebook-09f-full-gavd-audit.png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Future fall validation should ask whether force-informed, side-aware gait signatures add prospective information beyond established gait and balance measures—not assume that they will.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/Users/theodoremui/dev/alexpose/experiments/sjepa/gavd6/notes/research/programs/gait_parity/README_LONG_TERM.md</a:t>
            </a:r>
          </a:p>
          <a:p xmlns:a="http://schemas.openxmlformats.org/drawingml/2006/main">
            <a:r>
              <a:t>- /Users/theodoremui/dev/alexpose/experiments/sjepa/gavd6/notes/research/programs/gait_parity/METHODOLOGY_LONG_TERM.md</a:t>
            </a:r>
          </a:p>
          <a:p xmlns:a="http://schemas.openxmlformats.org/drawingml/2006/main">
            <a:r>
              <a:t>- /Users/theodoremui/dev/alexpose/experiments/sjepa/gavd6/notes/research/programs/gait_parity/images/label-efficiency.svg</a:t>
            </a:r>
          </a:p>
          <a:p xmlns:a="http://schemas.openxmlformats.org/drawingml/2006/main">
            <a:r>
              <a:t>- https://pubmed.ncbi.nlm.nih.gov/9063277/</a:t>
            </a:r>
          </a:p>
          <a:p xmlns:a="http://schemas.openxmlformats.org/drawingml/2006/main">
            <a:r>
              <a:t>- https://pmc.ncbi.nlm.nih.gov/articles/PMC2709543/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on the scientific sequence. The contribution is credible only if the talk preserves the distinction between a geometrically correct representation, a useful biomechanical estimator, and a clinically validated fall-risk tool.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/Users/theodoremui/dev/alexpose/experiments/sjepa/gavd6/notes/research/programs/gait_parity/README_LONG_TERM.md</a:t>
            </a:r>
          </a:p>
          <a:p xmlns:a="http://schemas.openxmlformats.org/drawingml/2006/main">
            <a:r>
              <a:t>- /Users/theodoremui/dev/alexpose/experiments/sjepa/gavd6/notes/research/programs/gait_parity/METHODOLOGY_LONG_TERM.md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bafaf53c894f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1141f0a3b04857" /><Relationship Type="http://schemas.openxmlformats.org/officeDocument/2006/relationships/slideLayout" Target="/ppt/slideLayouts/slideLayout1.xml" Id="Rae6c44f228684a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6c44f228684a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75b57ebf46483d" /><Relationship Type="http://schemas.openxmlformats.org/officeDocument/2006/relationships/notesSlide" Target="/ppt/notesSlides/notesSlide1.xml" Id="Ra18b9fd16ac249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a0e7c77f7744ac" /><Relationship Type="http://schemas.openxmlformats.org/officeDocument/2006/relationships/image" Target="/ppt/media/image.jpeg" Id="Rc93bc107d42b4f61" /><Relationship Type="http://schemas.openxmlformats.org/officeDocument/2006/relationships/notesSlide" Target="/ppt/notesSlides/notesSlide2.xml" Id="Re79615ad9cd44c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8041d556d42fc" /><Relationship Type="http://schemas.openxmlformats.org/officeDocument/2006/relationships/notesSlide" Target="/ppt/notesSlides/notesSlide3.xml" Id="R7e0a8337b32c41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e6fb4054e4a17" /><Relationship Type="http://schemas.openxmlformats.org/officeDocument/2006/relationships/notesSlide" Target="/ppt/notesSlides/notesSlide4.xml" Id="Re78c9c92d11041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7019fb12cf498b" /><Relationship Type="http://schemas.openxmlformats.org/officeDocument/2006/relationships/notesSlide" Target="/ppt/notesSlides/notesSlide5.xml" Id="Rf87cf61ad0a84a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f72c47a2b41ef" /><Relationship Type="http://schemas.openxmlformats.org/officeDocument/2006/relationships/image" Target="/ppt/media/image.png" Id="Rcd417077879e49bc" /><Relationship Type="http://schemas.openxmlformats.org/officeDocument/2006/relationships/notesSlide" Target="/ppt/notesSlides/notesSlide6.xml" Id="Racfcd350f8d247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394627e894bc1" /><Relationship Type="http://schemas.openxmlformats.org/officeDocument/2006/relationships/image" Target="/ppt/media/image2.png" Id="Re03480a91c674609" /><Relationship Type="http://schemas.openxmlformats.org/officeDocument/2006/relationships/notesSlide" Target="/ppt/notesSlides/notesSlide7.xml" Id="R43d06aa8f06a48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1f5a2f90154813" /><Relationship Type="http://schemas.openxmlformats.org/officeDocument/2006/relationships/image" Target="/ppt/media/image3.png" Id="Rd443434f4bbe404f" /><Relationship Type="http://schemas.openxmlformats.org/officeDocument/2006/relationships/notesSlide" Target="/ppt/notesSlides/notesSlide8.xml" Id="R8567be531e3047b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f308635e23489f" /><Relationship Type="http://schemas.openxmlformats.org/officeDocument/2006/relationships/image" Target="/ppt/media/image4.png" Id="Rb54c0455378845ec" /><Relationship Type="http://schemas.openxmlformats.org/officeDocument/2006/relationships/notesSlide" Target="/ppt/notesSlides/notesSlide9.xml" Id="Rc124fe26dbc04df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ce63c884fd4ca2" /><Relationship Type="http://schemas.openxmlformats.org/officeDocument/2006/relationships/image" Target="/ppt/media/image5.png" Id="R1d18b1955c4b4021" /><Relationship Type="http://schemas.openxmlformats.org/officeDocument/2006/relationships/image" Target="/ppt/media/image6.png" Id="Rb7210e0266d44330" /><Relationship Type="http://schemas.openxmlformats.org/officeDocument/2006/relationships/notesSlide" Target="/ppt/notesSlides/notesSlide10.xml" Id="R505f3782a08c4b3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8c837f1654422b" /><Relationship Type="http://schemas.openxmlformats.org/officeDocument/2006/relationships/notesSlide" Target="/ppt/notesSlides/notesSlide11.xml" Id="R535f6ef0bab5440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692b70e7a84c6d" /><Relationship Type="http://schemas.openxmlformats.org/officeDocument/2006/relationships/notesSlide" Target="/ppt/notesSlides/notesSlide12.xml" Id="Ra67211139e3a4ad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555a8b9dfb4db8" /><Relationship Type="http://schemas.openxmlformats.org/officeDocument/2006/relationships/image" Target="/ppt/media/image7.png" Id="R503ccbcd8dbd4c38" /><Relationship Type="http://schemas.openxmlformats.org/officeDocument/2006/relationships/notesSlide" Target="/ppt/notesSlides/notesSlide13.xml" Id="Re9aa44e80f954f3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8821f8bdc40f9" /><Relationship Type="http://schemas.openxmlformats.org/officeDocument/2006/relationships/image" Target="/ppt/media/image8.png" Id="R20ba9ea0ded3449f" /><Relationship Type="http://schemas.openxmlformats.org/officeDocument/2006/relationships/notesSlide" Target="/ppt/notesSlides/notesSlide14.xml" Id="Re6a5e72f46234df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3580b2fa924ceb" /><Relationship Type="http://schemas.openxmlformats.org/officeDocument/2006/relationships/notesSlide" Target="/ppt/notesSlides/notesSlide15.xml" Id="Re1552ba8fc17486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9cb195985c445e" /><Relationship Type="http://schemas.openxmlformats.org/officeDocument/2006/relationships/image" Target="/ppt/media/image9.png" Id="R87e6a529d9f14e54" /><Relationship Type="http://schemas.openxmlformats.org/officeDocument/2006/relationships/image" Target="/ppt/media/image10.png" Id="R87a2497531cd43d9" /><Relationship Type="http://schemas.openxmlformats.org/officeDocument/2006/relationships/notesSlide" Target="/ppt/notesSlides/notesSlide16.xml" Id="Rea989e966228428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daf37d4d414b47" /><Relationship Type="http://schemas.openxmlformats.org/officeDocument/2006/relationships/image" Target="/ppt/media/image11.png" Id="Re0ea30dd45654d13" /><Relationship Type="http://schemas.openxmlformats.org/officeDocument/2006/relationships/notesSlide" Target="/ppt/notesSlides/notesSlide17.xml" Id="Ra84d2ff6b91c46d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9b75cd64494229" /><Relationship Type="http://schemas.openxmlformats.org/officeDocument/2006/relationships/image" Target="/ppt/media/image12.png" Id="R181b51d6e2014e76" /><Relationship Type="http://schemas.openxmlformats.org/officeDocument/2006/relationships/notesSlide" Target="/ppt/notesSlides/notesSlide18.xml" Id="R24336dc7fbca4df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35e0d55985493e" /><Relationship Type="http://schemas.openxmlformats.org/officeDocument/2006/relationships/image" Target="/ppt/media/image13.png" Id="Rc116e5f0e0254908" /><Relationship Type="http://schemas.openxmlformats.org/officeDocument/2006/relationships/notesSlide" Target="/ppt/notesSlides/notesSlide19.xml" Id="R53ce97bd1f7c4c5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301d510944e4a" /><Relationship Type="http://schemas.openxmlformats.org/officeDocument/2006/relationships/notesSlide" Target="/ppt/notesSlides/notesSlide20.xml" Id="R3e32144b3d7942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AA5FA6-44BC-4B29-9F6C-29C95B00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CE6C9-55D6-4CF7-85BB-128209CB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GAITPARITY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661EA7-901C-40C1-AA81-9B265452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9810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75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75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Side-aware representations</a:t>
            </a:r>
          </a:p>
          <a:p xmlns:a="http://schemas.openxmlformats.org/drawingml/2006/main">
            <a:pPr algn="l">
              <a:defRPr sz="4275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75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for balance-relevant gait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10CE0F-F5FA-47F9-9431-8955F7F0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A scientific story from dynamic stability to parity-aware JEPA and independent-force validation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A6620B-749B-41B6-B147-07F486EC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05375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73318-D6F1-4100-913D-31992751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62550"/>
            <a:ext cx="914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Motivation • measurement • architecture • training • experiments • current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C214F4-D003-4F9C-AC01-C892607D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Scientific research presentation • 2026</a:t>
            </a:r>
          </a:p>
        </p:txBody>
      </p:sp>
    </p:spTree>
    <p:extLst>
      <p:ext uri="{BB962C8B-B14F-4D97-AF65-F5344CB8AC3E}">
        <p14:creationId xmlns:p14="http://schemas.microsoft.com/office/powerpoint/2010/main" val="12183218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8B4209-4197-4E9C-83C4-6E35DCF7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MOTIVATION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55BF21-3017-4D0A-B753-01455CE9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Walking is controlled instability, step after step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CA0AFF-ADE1-4E96-B620-65E69687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83E469-2A0A-4F5C-9084-67E277FF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GaitParity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DD27DC-F39F-4D9E-B5E9-D84F1218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3AE01D-BD3B-4334-9C92-7529C09F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476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During gait, the body’s center of mass is outside the base of support for much of the cycle.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2A0E3C-4B47-4935-BDA5-282B45D2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8BCDB0-BCB7-44D9-A40B-45953926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46386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Each step relocates the base of support to redirect the moving body.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8DD8CD-BD67-4853-877C-04404DA5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1FE114-07CE-4C04-BAD4-3A0F54AA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46386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Foot placement, ankle moments, and push-off regulate forward and mediolateral stability.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8FCF31-90EF-42FE-8962-2BB46F5F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767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C3EFC5-F6E6-4E1F-B213-E0968F86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46386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Balance failure can emerge dynamically even when quiet standing looks adequate.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485A93-B620-44E7-880C-AF1F93BC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466850"/>
            <a:ext cx="5715000" cy="4267200"/>
          </a:xfrm>
          <a:prstGeom xmlns:a="http://schemas.openxmlformats.org/drawingml/2006/main" prst="roundRect">
            <a:avLst>
              <a:gd name="adj" fmla="val 2232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3bc107d42b4f61"/>
          <a:stretch xmlns:a="http://schemas.openxmlformats.org/drawingml/2006/main"/>
        </p:blipFill>
        <p:spPr>
          <a:xfrm xmlns:a="http://schemas.openxmlformats.org/drawingml/2006/main">
            <a:off x="6077701" y="1676400"/>
            <a:ext cx="5218199" cy="347662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259174-AA4B-4C93-8EE4-170FE13A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86375"/>
            <a:ext cx="5191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1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Dynamic balance is the relation between body state, foot placement, and the forces that redirect motion.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F4C7AD-A5CA-4F24-B908-389431ED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72125"/>
            <a:ext cx="3048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EAF5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EAF5FB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51FEF9-D275-4840-B722-AFE5EDA1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292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STATE → ACTION → STABILITY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CEE82E-A8D2-4173-BB76-3031D5DB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1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1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Winter, 1995 • Bruijn &amp; van Dieën, 2018 • Ribeiro et al., 2024 figure (CC BY)</a:t>
            </a:r>
          </a:p>
        </p:txBody>
      </p:sp>
    </p:spTree>
    <p:extLst>
      <p:ext uri="{BB962C8B-B14F-4D97-AF65-F5344CB8AC3E}">
        <p14:creationId xmlns:p14="http://schemas.microsoft.com/office/powerpoint/2010/main" val="8170781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99C030-671A-442A-8940-90AD2567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MOTIVATION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789F06-A682-4F5D-A0F6-3B3DF8FE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Falls make gait a clinically consequential signal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68515C-440F-4022-8A66-824DC2B4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690CB8-E547-476A-912D-5AFF98E4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GaitParity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178798-56F3-440F-BA89-9572A5F7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90C28D-DF1B-4364-8E30-A4B2292B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3048000" cy="2333625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40397-405E-4C4B-89EC-6C4BCAE1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 in 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67601A-3B37-4CA0-A285-207B09AF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032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U.S. adults ≥65 report falling each year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52FC2F-893B-4F39-9AD5-84FFA613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67075"/>
            <a:ext cx="2305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3819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D634CF-7588-44E8-95F3-28338584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04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E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D7DEE8"/>
                </a:solidFill>
                <a:latin typeface="Helvetica Neue"/>
                <a:ea typeface="Helvetica Neue"/>
                <a:cs typeface="Helvetica Neue"/>
              </a:rPr>
              <a:t>Falls are the leading cause of injury in this age group.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B02190-9768-480A-89F4-36F103B6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504950"/>
            <a:ext cx="3714750" cy="2333625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E45A46-9252-4CC9-8D3A-5AB11186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504950"/>
            <a:ext cx="857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A0686B-2489-4E77-8C7F-CFED81D5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676400"/>
            <a:ext cx="325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Prospective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A6B4A7-E9EB-4FA5-AEDC-804E507A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105025"/>
            <a:ext cx="321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F1E940-4A33-41F7-ADDC-1753408F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257425"/>
            <a:ext cx="32575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Maki followed 75 older adults for one year: stride-to-stride variability—especially speed variability—predicted future falls more clearly than several slower, more cautious gait adaptations.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508929-CCD0-4A4F-8160-6C746CFE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504950"/>
            <a:ext cx="3819525" cy="2333625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92472A-77B8-446C-8033-E089E006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504950"/>
            <a:ext cx="857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FC55CB-4746-4575-AB18-268CF2C2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676400"/>
            <a:ext cx="3362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Independent signal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C20005-2414-413F-A5B7-DDF11670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105025"/>
            <a:ext cx="3324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455B4B-C384-4D55-8171-9F938EBC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257425"/>
            <a:ext cx="33623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In 597 community-dwelling elders, quantitative gait domains predicted incident falls over a mean 20-month follow-up, beyond several clinical risk factors and gait/balance tests.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F7203C-FFA5-430C-AA74-CB8E1511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11125200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37ADE5-1CBC-496D-BEA5-59F89ED8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The assessment gap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2185D5-5FC7-4A63-AC0D-D3CB15CB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647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Instrumented walkways and force plates reveal mechanics, but they are episodic and scarce. Video skeletons are scalable, but ordinary representations may discard laterality or learn camera shortcuts.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2E9C08-F98A-4BB2-B517-ABBEF1D3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24350"/>
            <a:ext cx="37147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2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FF2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FFF2EA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36AE75-94C8-46FC-912D-19D74813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2437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E07A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E07A4B"/>
                </a:solidFill>
                <a:latin typeface="Helvetica Neue"/>
                <a:ea typeface="Helvetica Neue"/>
                <a:cs typeface="Helvetica Neue"/>
              </a:rPr>
              <a:t>Scientific boundary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ED823A-EA84-49CA-BD70-46B79081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0537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Gait markers can inform risk assessment; they are not themselves a diagnosis or a causal proof of falling.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CAAF9B-D304-46C2-9907-FAAED210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1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1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CDC, 2026 • Maki, 1997 • Verghese et al., 2009</a:t>
            </a:r>
          </a:p>
        </p:txBody>
      </p:sp>
    </p:spTree>
    <p:extLst>
      <p:ext uri="{BB962C8B-B14F-4D97-AF65-F5344CB8AC3E}">
        <p14:creationId xmlns:p14="http://schemas.microsoft.com/office/powerpoint/2010/main" val="16346972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37AFF3-355D-43A9-804C-31825D94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MOTIVATION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7E9FD7-B50C-475D-944C-1FEA4D87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The missing link is side-specific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2F2ECC-65A6-402A-AB75-F583F2EA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D32E2C-B13D-4949-AD08-953CB620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GaitParity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E018C4-2F9C-4542-9268-FA4E6E24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BAFE7B-0515-479E-A94D-D3227467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2571750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C32776-0C4D-4BE5-BED1-E6B0C328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857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E2E375-95E0-49DD-9304-26E7FA4A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43075"/>
            <a:ext cx="211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Neurologic injury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C62DAB-C2AC-429C-B356-D609BD66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2076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211ECF-DEE0-4212-A34D-CFD0700C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2114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Unequal motor capacity and timing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414413-2A30-4A85-9F7C-127B9914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1336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B8BC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B8BCC4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E0963C-1C56-451C-B2E3-49F0A44B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71625"/>
            <a:ext cx="2571750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F74DF3-F7D7-4D2E-BA34-F53E23F2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71625"/>
            <a:ext cx="857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4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E07A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E07A4B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42185F-4C50-4E9E-A486-306C7820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743075"/>
            <a:ext cx="211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Side-specific force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0E8E37-205B-4078-BD64-0F21FE5F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71700"/>
            <a:ext cx="2076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815B53-36CC-4173-87E8-C627ECB3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24100"/>
            <a:ext cx="2114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Paretic vs nonparetic propulsion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C6554E-7F3F-4707-84E1-B745E1DF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1336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B8BC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B8BCC4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EFEED0-A315-4DC8-A1E5-8E184C5A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71625"/>
            <a:ext cx="2571750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8E1769-AD5B-496B-BCB8-D533A5FE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71625"/>
            <a:ext cx="857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7A5C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7A5CE6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84CAAF-CE6E-494B-8E73-B164535B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43075"/>
            <a:ext cx="211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Compensation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75DF36-32C9-434E-8983-0B2FC031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71700"/>
            <a:ext cx="2076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FD2273-7426-4BB3-BDD7-55727689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24100"/>
            <a:ext cx="2114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Speed may improve without paretic recovery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5482EF-FEAE-432F-BFF6-605091C6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1336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B8BC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B8BCC4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DD724E-4C53-494C-B1AF-BB5B26E4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571625"/>
            <a:ext cx="2571750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922B63-78F9-40D9-8CC4-4921D62F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571625"/>
            <a:ext cx="857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4B91AD-9611-49B0-AFAE-F267CF4C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43075"/>
            <a:ext cx="211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Balance reserve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2808D0-50FB-4E21-BEE7-7285CA9A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71700"/>
            <a:ext cx="2076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DEC1A1-024D-4C0C-BD60-AABDDA28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24100"/>
            <a:ext cx="2114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Adaptability may fail under challenge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CF3F71-0536-4CE2-9507-7B947511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6953250" cy="20955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674CBB-8FFB-4E0B-B282-4BE90DA2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Why propulsion is the bridge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BA3F31-D70A-4526-8397-14A01FE7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007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E1BC0A-98A7-4153-BA1B-7623FA21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10075"/>
            <a:ext cx="601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Fore–aft ground-reaction force measures how each limb contributes to forward progression.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0CFDBA-B83B-4725-A35B-6AC5779F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4347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C94CD2-822F-4490-B468-4329B101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43475"/>
            <a:ext cx="601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Post-stroke training can shift the contribution of paretic and nonparetic propulsion—even when walking speed alone hides the mechanism.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2485C1-4174-41A7-BB72-1C6FED35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38550"/>
            <a:ext cx="3867150" cy="20955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2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FF2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FFF2EA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54596C-E6A4-4939-859B-6934EB6F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86200"/>
            <a:ext cx="3371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E07A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E07A4B"/>
                </a:solidFill>
                <a:latin typeface="Helvetica Neue"/>
                <a:ea typeface="Helvetica Neue"/>
                <a:cs typeface="Helvetica Neue"/>
              </a:rPr>
              <a:t>What GaitParity will test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3AD4CF-4792-4854-965A-56E3DE68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10075"/>
            <a:ext cx="3371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Can video-derived skeleton motion preserve enough signed information to estimate an independent right-versus-left force target for a person the model has never seen?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0AC29A-7CA2-4B50-9C22-45654D04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410200"/>
            <a:ext cx="3371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958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C95858"/>
                </a:solidFill>
                <a:latin typeface="Helvetica Neue"/>
                <a:ea typeface="Helvetica Neue"/>
                <a:cs typeface="Helvetica Neue"/>
              </a:rPr>
              <a:t>Not yet: prospective fall prediction.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D74E53-8A10-420F-871D-DBA978BD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1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1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Hsiao et al., 2016 • Bowden/Kautz propulsion framework • Lodha et al., 2025</a:t>
            </a:r>
          </a:p>
        </p:txBody>
      </p:sp>
    </p:spTree>
    <p:extLst>
      <p:ext uri="{BB962C8B-B14F-4D97-AF65-F5344CB8AC3E}">
        <p14:creationId xmlns:p14="http://schemas.microsoft.com/office/powerpoint/2010/main" val="8170781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E8A430-FF37-4CF7-8192-47880418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596F58-8CDE-4FE0-BD09-6314C54D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Scientific hypothesis: geometry can reduce the label burden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9A0727-15AF-43D4-B7A5-164F4254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A1474D-56F0-4438-AC1F-7F9ED11D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GaitParity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DF0C23-0051-4FAC-8F72-BDCCFE67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D20563-C613-48C8-8D57-E00CE5FC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112520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BBBF8F-BB2C-4BDD-A751-A46F22A7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85925"/>
            <a:ext cx="10515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parity-aware encoder should make signed propulsion easier to recover from few labelled participants than output repair or an equally capable unconstrained paired model.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C24A32-0665-4173-8A07-B1DC9895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14625"/>
            <a:ext cx="523875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A53C8F-E3BE-4FBA-BF0C-B2B00EFE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14625"/>
            <a:ext cx="857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71B882-D5D6-46D4-AD53-C74FDB82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86075"/>
            <a:ext cx="478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P1 • Exact geometry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D55665-55C0-4EDD-B49C-2AF8484B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67075"/>
            <a:ext cx="47815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Every claimed encoder layer commutes with the left–right branch swap.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027EC1-97F8-4F21-9B78-2585526E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14625"/>
            <a:ext cx="565785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58BCF3-25EA-447C-A69B-0F90465F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14625"/>
            <a:ext cx="857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A6D4BF-928A-45C4-ABC0-D0A1B7FD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86075"/>
            <a:ext cx="520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P2 • Informative laterality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96DB19-AEB8-4944-8517-75411B46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67075"/>
            <a:ext cx="5200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The odd channel varies across people and retains healthy effective rank.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378F94-B176-4F26-8DFA-D29241EE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33875"/>
            <a:ext cx="523875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E94B9E-DA09-4842-8055-DAB1291B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33875"/>
            <a:ext cx="857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4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E07A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E07A4B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AC3749-1A92-4E94-83C0-9B55D894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05325"/>
            <a:ext cx="478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P3 • Useful mechanics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4697F8-EF7B-4DFD-A06C-B3D4E766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86325"/>
            <a:ext cx="47815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Held-out participant force MAE improves versus both decisive controls.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A387EA-4D37-4703-BBDE-C27BB521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33875"/>
            <a:ext cx="565785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4FED79-90FB-4108-A2ED-313D4BB2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33875"/>
            <a:ext cx="857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7A5C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7A5CE6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B91414-B303-4B3F-8ABE-59524FA3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05325"/>
            <a:ext cx="520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P4 • Robust measurement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DFA1B0-1FC7-45EB-AE9F-4EEE5986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86325"/>
            <a:ext cx="5200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Benefit persists across label budgets, views, and realistic corruption.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240E89-B8E7-4E92-88A9-2AFF07AC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1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1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Claims are cumulative: geometry → information → prediction → balance-relevant validation.</a:t>
            </a:r>
          </a:p>
        </p:txBody>
      </p:sp>
    </p:spTree>
    <p:extLst>
      <p:ext uri="{BB962C8B-B14F-4D97-AF65-F5344CB8AC3E}">
        <p14:creationId xmlns:p14="http://schemas.microsoft.com/office/powerpoint/2010/main" val="16346972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3AFF0A-BD2C-4348-9EC9-AB89D32A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MEASUREMENT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5A4267-2CA1-4B3E-87D6-E2456CA5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One gait cycle, two instruments, one signed target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18515-676E-4130-9902-CDF7DA85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C15488-4D75-4A9E-8C3E-16C2E9D4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GaitParity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95CD0-15FF-45B7-8BBF-89CB750B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417077879e49bc"/>
          <a:stretch xmlns:a="http://schemas.openxmlformats.org/drawingml/2006/main"/>
        </p:blipFill>
        <p:spPr>
          <a:xfrm xmlns:a="http://schemas.openxmlformats.org/drawingml/2006/main">
            <a:off x="474209" y="1428750"/>
            <a:ext cx="6633482" cy="3714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A372A4-95CF-4359-82F5-956E6F1B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466850"/>
            <a:ext cx="4238625" cy="1676400"/>
          </a:xfrm>
          <a:prstGeom xmlns:a="http://schemas.openxmlformats.org/drawingml/2006/main" prst="roundRect">
            <a:avLst>
              <a:gd name="adj" fmla="val 5682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24864B-5051-4EFE-807A-D39E0C49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6954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Skeleton 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85B286-5F28-4EA5-9E17-D5933F01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09550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x ∈ ℝ⁶⁴×¹¹×³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5ED397-BD9C-43F8-8794-FD99F341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619375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2.13 s at 30 Hz • core-11 joints • forward/up/side axes • visibility mask carried through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7DE167-2E99-438A-976A-F45D059F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352800"/>
            <a:ext cx="4238625" cy="1790700"/>
          </a:xfrm>
          <a:prstGeom xmlns:a="http://schemas.openxmlformats.org/drawingml/2006/main" prst="roundRect">
            <a:avLst>
              <a:gd name="adj" fmla="val 5319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43B24C-E88C-47B7-A103-F4B70531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5814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Independent force target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D5F9FD-0AC1-49CD-8B1D-B912E554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9814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rPr>
              <a:t>y = ln(Jᴿ / Jᴸ)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9EE216-7CF0-4AD4-9795-9FAA6C5C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51485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J is the positive fore–aft ground-reaction impulse during stance. The log ratio is scale-free, centered at zero, and exactly sign-flipping under side exchange.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97377C-A41C-4787-AF8F-D3FA77C7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11125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22B4DD-FE06-425D-A430-B5570264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117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Critical separation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282EB0-7171-4931-A8C7-1AE7E4A2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5911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model sees motion; the target comes from sensors in the floor. Geometry cannot manufacture the answer.</a:t>
            </a:r>
          </a:p>
        </p:txBody>
      </p:sp>
    </p:spTree>
    <p:extLst>
      <p:ext uri="{BB962C8B-B14F-4D97-AF65-F5344CB8AC3E}">
        <p14:creationId xmlns:p14="http://schemas.microsoft.com/office/powerpoint/2010/main" val="8378530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384386-3FCA-46BE-9661-D529FB05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GEOMETRY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072CB-8D81-42EC-B216-B6BDBD10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Anatomical reflection is not a camera move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3E9194-5499-488A-B1F8-1446D185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8AB68-C299-4AD0-8AE1-0BA6669D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GaitParity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23EE56-4D0F-4DD5-8776-F426234E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3480a91c674609"/>
          <a:stretch xmlns:a="http://schemas.openxmlformats.org/drawingml/2006/main"/>
        </p:blipFill>
        <p:spPr>
          <a:xfrm xmlns:a="http://schemas.openxmlformats.org/drawingml/2006/main">
            <a:off x="405427" y="1428750"/>
            <a:ext cx="6990121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56370D-31C4-4E19-8D3E-F3EC868D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504950"/>
            <a:ext cx="3876675" cy="1695450"/>
          </a:xfrm>
          <a:prstGeom xmlns:a="http://schemas.openxmlformats.org/drawingml/2006/main" prst="roundRect">
            <a:avLst>
              <a:gd name="adj" fmla="val 5618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BB5234-1DA1-46EC-A6B6-057D18C1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504950"/>
            <a:ext cx="857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FE54FE-A111-4988-8A30-D512BC18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1676400"/>
            <a:ext cx="34194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Operator 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6255C5-4E0C-4E24-A8B9-8197225A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105025"/>
            <a:ext cx="3381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1CB94F-5BA2-48A6-8CFD-1F453EA1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257425"/>
            <a:ext cx="34194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Negate the mediolateral coordinate; swap all five bilateral core-11 pairs; swap visibility/confidence; keep time, forward, and vertical unchanged.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31704C-C269-4E5E-B80B-F6BDB7CD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29000"/>
            <a:ext cx="3876675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365B08-D9B5-4DA3-9F84-8B183A88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00450"/>
            <a:ext cx="338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rPr>
              <a:t>M(Mx) = 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635F6D-1BF7-4652-AA16-25004393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76700"/>
            <a:ext cx="338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Involution unit 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DD6AB8-8D98-4C58-8BAE-BC4CD603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619625"/>
            <a:ext cx="3876675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DE089D-D99A-49F7-9FF4-32ED97BA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91075"/>
            <a:ext cx="338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s(Mx) = −s(x)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D1DC43-50F2-40AB-9928-E220D815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67325"/>
            <a:ext cx="338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Odd signed target • camera view should stay ≈ invariant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3CDB6F-57AD-472C-BC94-B4ABCCAC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1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1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Mirror swaps anatomy; camera motion changes projection, visibility, and estimation error.</a:t>
            </a:r>
          </a:p>
        </p:txBody>
      </p:sp>
    </p:spTree>
    <p:extLst>
      <p:ext uri="{BB962C8B-B14F-4D97-AF65-F5344CB8AC3E}">
        <p14:creationId xmlns:p14="http://schemas.microsoft.com/office/powerpoint/2010/main" val="20799011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ED9C31-3E2E-4793-89A0-BF05E0D7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METHODOLOGY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913C03-4FCE-4575-858A-46B89C50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JEPA predicts missing motion in representation space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8F1BD4-BE89-4CE4-A9BE-A27C1805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549B28-D0AD-413F-970C-17D1415B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GaitParity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991E36-8131-4AC8-805D-4BC7162F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43434f4bbe404f"/>
          <a:stretch xmlns:a="http://schemas.openxmlformats.org/drawingml/2006/main"/>
        </p:blipFill>
        <p:spPr>
          <a:xfrm xmlns:a="http://schemas.openxmlformats.org/drawingml/2006/main">
            <a:off x="570940" y="1381125"/>
            <a:ext cx="6373346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FF41B4-3954-4F39-86A3-D2517092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428750"/>
            <a:ext cx="4953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D0ED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D0EDFA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4E556A-88A4-406B-8051-167482BB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524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145B5D-3915-46EE-8688-288EA51A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4573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Tokenize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11420E-BA84-43CD-A832-E6E9DB94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74307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64 frames → 16 four-frame patches × 11 joints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DF49FF-3890-4210-AB69-D04B5F2D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266950"/>
            <a:ext cx="4953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D0ED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D0EDFA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2657CA-61EE-4E20-8CEE-C41C218B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622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F7798B-7328-4C10-B570-C9EA095F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2955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Mask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058BF4-44FE-4F09-813E-49EC898B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58127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Hide valid spatiotemporal tokens; Stage 2 example uses 60%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5FB1A9-B61C-4302-95C7-D383CB38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105150"/>
            <a:ext cx="4953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D0ED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D0EDFA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068ADC-6D1B-41F6-AB9E-B6D78FBB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2004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B298F7-2428-43C2-A6E9-6A49A8CB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1337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Predict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193B61-FBB2-4BC9-91F0-9A343EA3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41947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Student context + predictor estimate hidden teacher latents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34849E-80C2-4C4D-8D34-797A576C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43350"/>
            <a:ext cx="4953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D0ED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D0EDFA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7E9C03-74A5-4C5F-BC21-6C0DD495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0386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B171D1-0537-4BC1-95B3-B834D194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9719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Update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9EF1F8-6253-47F9-A763-3E60347D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25767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Teacher encoder follows the student by exponential moving average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80E777-E9F1-4D21-8F3F-728A92DA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781550"/>
            <a:ext cx="4953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D0ED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D0EDFA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85AA0F-E447-4D41-911C-391C2D7B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8768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AD2EE3-B951-4DD3-90C5-30BA9AB3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8101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Audit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019B52-A95B-4711-A3EF-FBD0321E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509587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Variance, covariance rank, cosine similarity, and odd energy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ADFCDE-10D9-4EF8-81AB-6B00CC7B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57875"/>
            <a:ext cx="11125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FDA2BE-26A8-4A0A-BB5B-9F0D9446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26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 force labels, diagnosis labels, affected-side labels, or BABEL categories enter the pretraining batch.</a:t>
            </a:r>
          </a:p>
        </p:txBody>
      </p:sp>
    </p:spTree>
    <p:extLst>
      <p:ext uri="{BB962C8B-B14F-4D97-AF65-F5344CB8AC3E}">
        <p14:creationId xmlns:p14="http://schemas.microsoft.com/office/powerpoint/2010/main" val="8378530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ADD352-56DE-421F-83E6-29F09181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4937E-8D22-43DF-9C2B-06DCF947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GaitParity lifts each walk into a two-element reflection orbit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4CCA2A-6CEA-4894-887B-A4CFB950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A1F52-28FE-415A-9801-E360D0C9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GaitParity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2D29BF-F9A5-4037-803B-AB8DF6CA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4c0455378845ec"/>
          <a:stretch xmlns:a="http://schemas.openxmlformats.org/drawingml/2006/main"/>
        </p:blipFill>
        <p:spPr>
          <a:xfrm xmlns:a="http://schemas.openxmlformats.org/drawingml/2006/main">
            <a:off x="403123" y="1428750"/>
            <a:ext cx="6375605" cy="3952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9A6597-7AD6-4C29-92A9-C02203BE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466850"/>
            <a:ext cx="43815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3DC638-96DD-4EEB-A410-AB98911F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695450"/>
            <a:ext cx="3943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H⁰(x) = [φ(x), φ(Mx)]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9D9B60-EB84-4ECE-8356-08392CEA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90750"/>
            <a:ext cx="3943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Mirroring x swaps the two branches—nothing more.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1A88D6-181C-48D4-B3B9-4900D376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00350"/>
            <a:ext cx="43815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D61CD9-EA5B-4CD9-95A0-D774D1EF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028950"/>
            <a:ext cx="3943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rPr>
              <a:t>Fₗ(SH) = S Fₗ(H)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C9F284-1E5D-4E54-84A7-8864D231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524250"/>
            <a:ext cx="3943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Swap then process = process then swap, at every layer.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ABD939-76E5-4E7F-BF23-B3CFB5F9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2100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9C77E6-D5EA-4E7F-B03D-8C289AB9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210050"/>
            <a:ext cx="3971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Symmetric cross-branch interaction makes the paired interior meaningful.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6229E7-031B-459A-AD33-F74A1460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7625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4E5D87-87CE-4204-8E65-CBD4A795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762500"/>
            <a:ext cx="3971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Masks, dropout, normalization, positional encoding, and EMA teacher updates must preserve the swap action.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AB560B-DB82-4E2C-9EB2-87052109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111252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2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FF2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FFF2EA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AF10C4-B309-427F-88BB-AD35833C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816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E07A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E07A4B"/>
                </a:solidFill>
                <a:latin typeface="Helvetica Neue"/>
                <a:ea typeface="Helvetica Neue"/>
                <a:cs typeface="Helvetica Neue"/>
              </a:rPr>
              <a:t>Naming 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95F18E-C61D-4A6D-86C5-C6FDEC66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78167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If a claimed layer fails the commutation test, the system is parity-regularized—not equivariant.</a:t>
            </a:r>
          </a:p>
        </p:txBody>
      </p:sp>
    </p:spTree>
    <p:extLst>
      <p:ext uri="{BB962C8B-B14F-4D97-AF65-F5344CB8AC3E}">
        <p14:creationId xmlns:p14="http://schemas.microsoft.com/office/powerpoint/2010/main" val="9576521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088CE1-1D52-41F4-AAFF-8F1F312C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95968C-7C12-4CD0-8878-63CD0943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Exact oddness is easy; useful odd information is hard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3E154-A320-486F-A3BF-4B2EA835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194A18-3A78-433D-9B6A-4E944C6E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GaitParity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CD2892-20BA-4163-82EB-C211C98D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18b1955c4b4021"/>
          <a:stretch xmlns:a="http://schemas.openxmlformats.org/drawingml/2006/main"/>
        </p:blipFill>
        <p:spPr>
          <a:xfrm xmlns:a="http://schemas.openxmlformats.org/drawingml/2006/main">
            <a:off x="969246" y="1381125"/>
            <a:ext cx="4147984" cy="2571750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210e0266d44330"/>
          <a:stretch xmlns:a="http://schemas.openxmlformats.org/drawingml/2006/main"/>
        </p:blipFill>
        <p:spPr>
          <a:xfrm xmlns:a="http://schemas.openxmlformats.org/drawingml/2006/main">
            <a:off x="1353318" y="4048125"/>
            <a:ext cx="3379839" cy="2095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9BE9D3-DC7C-4B74-87E0-EBDFD454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28750"/>
            <a:ext cx="552450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1E0EC5-BECC-4069-B056-3719984E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57350"/>
            <a:ext cx="506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rPr>
              <a:t>h_even = (h_orig + h_mirr) /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31897D-9A03-4F5B-9DE4-4A4B9F2B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76450"/>
            <a:ext cx="506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h_odd  = (h_orig − h_mirr) /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0EA579-695B-4AD6-BFF0-005EF3E4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05125"/>
            <a:ext cx="2686050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7C4EDB-20FD-491B-8B2D-C85ECC91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05125"/>
            <a:ext cx="857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4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E07A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E07A4B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22E5E6-EF61-4A56-81C7-B5405800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76575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Control 1 • odd_output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627F56-0C69-4F59-80E4-3E43EC50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052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D06F14-BC33-498B-BFA1-2507C504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57600"/>
            <a:ext cx="22288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Wrap any scalar predictor as [f(x) − f(Mx)]/2. It guarantees the final sign rule with no equivariant encoder.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DB4CF6-BE62-454A-BC1B-2744C4A1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05125"/>
            <a:ext cx="2686050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062F29-3647-41BA-A538-ED5CF6DA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05125"/>
            <a:ext cx="857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7A5C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7A5CE6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94098C-F24B-4689-B49E-B6CF368F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76575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Control 2 • paired control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E4EF76-B0FF-4FD9-AB97-573BBBB5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052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0F0903-E2E0-4617-BCD9-6D722503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57600"/>
            <a:ext cx="22288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Same two branches, cross-branch interaction, masks, compute, seeds, and outer odd wrapper—without swap-consistent tying.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6EAD2B-E6AD-45F7-96D7-05483959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762500"/>
            <a:ext cx="552450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A09560-3730-4514-AA0D-7723C945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72050"/>
            <a:ext cx="499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Representation health gate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62F8DF-D414-4FBC-8E7B-E8478193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81625"/>
            <a:ext cx="4991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Odd-channel variance + covariance effective rank + energy by participant + masked prediction quality. Perfect mirror error with a zero channel is an invalid success.</a:t>
            </a:r>
          </a:p>
        </p:txBody>
      </p:sp>
    </p:spTree>
    <p:extLst>
      <p:ext uri="{BB962C8B-B14F-4D97-AF65-F5344CB8AC3E}">
        <p14:creationId xmlns:p14="http://schemas.microsoft.com/office/powerpoint/2010/main" val="9576521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F272B7-BB5B-4F29-BB4E-60B753E6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9D1276-7354-4F5D-9B18-457393D2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Training is a two-stage, label-free curriculum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DD0E02-5A09-4344-9000-6BA7958A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AEADCC-DE58-44E7-B17C-A3188B9F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GaitParity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D91AA-236F-49B2-862E-637AF8EB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A5A9C9-7F60-4885-8673-4B702AED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3286125" cy="2857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92E46B-53AF-4E66-8597-C622DDF0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857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04BC4E-3EEA-409F-8B74-E7459E7F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43075"/>
            <a:ext cx="2828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Stage 1 • broad AMASS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69C663-3952-4579-952A-7551AA65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2790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44BF5D-C76F-4161-A2D6-0FBF861F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2828925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Convert participant-disjoint motion to core-11, index 64-frame windows, and train the three matched JEPA variants. Current inventory: 10,941 sequences / 308 candidate subjects; production identity audit and trainer remain to complete.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7CB1C1-B400-49EF-95B7-F21523EB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71625"/>
            <a:ext cx="3286125" cy="2857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4F6901-7B9D-4BA3-BECE-2BC95E6B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71625"/>
            <a:ext cx="857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7A5C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7A5CE6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77B81F-5B98-4E37-9C70-B0CFADBD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743075"/>
            <a:ext cx="2828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Traceable handoff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452FFC-D4AC-43B0-8152-28542D4A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71700"/>
            <a:ext cx="2790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7EA1C2-EC5A-439F-8A23-64935AC3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324100"/>
            <a:ext cx="2828925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Load student, teacher, predictor, projector, centering state, and model buffers. Record the exact parent hash. Reset optimizer, learning-rate schedule, step counter, and early-stopping state.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94B161-EB68-4213-A2BC-4389625B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571625"/>
            <a:ext cx="3286125" cy="2857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6CD039-7A77-4A3D-9B6C-5A43C15B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571625"/>
            <a:ext cx="857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9E6651-CD1A-4EF9-922D-CDAF6CF6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743075"/>
            <a:ext cx="2828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Stage 2 • BABEL walking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F31D02-C051-4B2F-BC71-06EABEA3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171700"/>
            <a:ext cx="2790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5E1C6A-2C3D-4A6E-96BB-3F034A5B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324100"/>
            <a:ext cx="2828925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Continue the same masked objective on clean walking intervals cut from the same AMASS universe. BABEL changes which windows are sampled; categories never enter the batch. Freeze the encoder before clinical readouts.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A605E9-B553-4ECC-A87F-DA6489D0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619375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B8BC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B8BCC4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8E8761-DA25-4633-BC69-3E80F656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19375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B8BC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B8BCC4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82EC13-D0E0-4CE0-827F-1FF5C5F1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25717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6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F6F7F9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CF02E6-D1BC-4E7D-9210-69DEEF6E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3870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64 × 11 × 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DAB4C7-04C7-4B9C-9F31-BE3B3919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81600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Frozen window and skeleton contract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7F0DF6-54F1-41A6-83F0-73EF141F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62500"/>
            <a:ext cx="25717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6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F6F7F9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71BA44-801C-48CA-B90C-54F44882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3870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7A5C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7A5CE6"/>
                </a:solidFill>
                <a:latin typeface="Helvetica Neue"/>
                <a:ea typeface="Helvetica Neue"/>
                <a:cs typeface="Helvetica Neue"/>
              </a:rPr>
              <a:t>4 frames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8BFD00-1700-4523-8B53-CAD2046B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181600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Temporal patch size → 16 time patches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AB6CF0-8151-447F-ACE6-EF8462EC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62500"/>
            <a:ext cx="25717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6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F6F7F9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DA77D2-6E6D-4516-86B6-FE0F7C32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3870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rPr>
              <a:t>60%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42F8B4-0196-4E27-A919-782A4053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81600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Stage 2 example mask fraction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A92F16-442E-49EE-9BEB-40D1428B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62500"/>
            <a:ext cx="27241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6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F6F7F9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E409B7-0A25-4518-A878-67CC08B0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8387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E07A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E07A4B"/>
                </a:solidFill>
                <a:latin typeface="Helvetica Neue"/>
                <a:ea typeface="Helvetica Neue"/>
                <a:cs typeface="Helvetica Neue"/>
              </a:rPr>
              <a:t>5 × 10⁻⁵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F68AB7-1701-4829-8530-3400823B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1816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Stage 2 example AdamW learning rate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956041-504B-40A6-9AC4-2E3B5DEA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1125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2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FF2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FFF2EA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365ED9-F97D-4945-B19E-35AF31C0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15025"/>
            <a:ext cx="10629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C958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C95858"/>
                </a:solidFill>
                <a:latin typeface="Helvetica Neue"/>
                <a:ea typeface="Helvetica Neue"/>
                <a:cs typeface="Helvetica Neue"/>
              </a:rPr>
              <a:t>Protocol status: the production AMASS converter, BABEL manifest builder, and full trainer are planned interfaces—not completed experiments.</a:t>
            </a:r>
          </a:p>
        </p:txBody>
      </p:sp>
    </p:spTree>
    <p:extLst>
      <p:ext uri="{BB962C8B-B14F-4D97-AF65-F5344CB8AC3E}">
        <p14:creationId xmlns:p14="http://schemas.microsoft.com/office/powerpoint/2010/main" val="19062338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1786BB-35D7-4C45-AB5E-67627BF3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139CFC-3690-41E0-AD68-966D5577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Architecture comparisons must isolate the mechanism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3F8848-6076-4B74-AB40-77E2A44F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3238C5-42F6-4FB2-9D22-B879A4DC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GaitParity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30E943-7FD3-4741-AE99-9EE76CD5C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533400" y="1524000"/>
          <a:ext xmlns:a="http://schemas.openxmlformats.org/drawingml/2006/main" cx="7239000" cy="37338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143250"/>
                <a:gridCol w="4095750"/>
              </a:tblGrid>
              <a:tr h="5334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Held constant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Why it matters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Participants, source motions, window order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Prevents one variant from receiving easier movement 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Original/mirror exposure + token masks</a:t>
                      </a:r>
                    </a:p>
                  </a:txBody>
                  <a:tcPr marL="91440" marR="91440" marT="45720" marB="4572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Separates architecture from augmentation or masking luck</a:t>
                      </a:r>
                    </a:p>
                  </a:txBody>
                  <a:tcPr marL="91440" marR="91440" marT="45720" marB="45720">
                    <a:solidFill>
                      <a:srgbClr val="F5F6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Embedding width, effective depth, parameters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Prevents capacity from masquerading as parity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Optimizer, schedule, updates, stopping</a:t>
                      </a:r>
                    </a:p>
                  </a:txBody>
                  <a:tcPr marL="91440" marR="91440" marT="45720" marB="4572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Prevents extra training from becoming the result</a:t>
                      </a:r>
                    </a:p>
                  </a:txBody>
                  <a:tcPr marL="91440" marR="91440" marT="45720" marB="45720">
                    <a:solidFill>
                      <a:srgbClr val="F5F6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Teacher update, regularization, augmentation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Keeps the JEPA objective comparable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Paired seeds: 7 vs 7, 17 vs 17, 29 vs 29</a:t>
                      </a:r>
                    </a:p>
                  </a:txBody>
                  <a:tcPr marL="91440" marR="91440" marT="45720" marB="4572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Measures architecture rather than best-of-seed luck</a:t>
                      </a:r>
                    </a:p>
                  </a:txBody>
                  <a:tcPr marL="91440" marR="91440" marT="45720" marB="45720"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10D943-89FC-4255-84BD-649BB193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24000"/>
            <a:ext cx="3562350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ED50D7-28B4-4885-8B7C-11D56BCD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24000"/>
            <a:ext cx="857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4CE0BB-4D70-4BBA-B5C1-B2EE8FDB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95450"/>
            <a:ext cx="3105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Exposure-matched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C7D6D4-09D9-4A63-B654-5A0AC12B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24075"/>
            <a:ext cx="3067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C80671-A28A-4886-A609-03D7FBF4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76475"/>
            <a:ext cx="31051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Same original windows, mirrored windows, masked tokens, and update count. GPU cost may differ.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706A14-882D-4FF3-BD2E-7E25E6EE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3562350" cy="1924050"/>
          </a:xfrm>
          <a:prstGeom xmlns:a="http://schemas.openxmlformats.org/drawingml/2006/main" prst="roundRect">
            <a:avLst>
              <a:gd name="adj" fmla="val 4950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ABA2AF-E6CD-4F68-B753-83B822C1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857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4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E07A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E07A4B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753241-2E32-409C-BBA0-BAD65A05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05200"/>
            <a:ext cx="3105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Compute-matched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F7D13B-0442-4CFD-969F-E3CF4FE1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33825"/>
            <a:ext cx="3067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BD317E-5DC6-4B65-8BE4-701F9477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86225"/>
            <a:ext cx="3105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Same prespecified compute allowance. Windows or updates may differ. Report FLOPs, throughput, wall time, memory, and inference cost.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11C885-C0E5-450F-919D-9BB9D053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11125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17D31C-5E0E-4742-8A35-DE9DE410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95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Planned family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353479-18FF-44B6-88DE-1768D401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695950"/>
            <a:ext cx="795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 variants × 3 paired seeds × 2 stages × 2 matching regimes = 36 runs</a:t>
            </a:r>
          </a:p>
        </p:txBody>
      </p:sp>
    </p:spTree>
    <p:extLst>
      <p:ext uri="{BB962C8B-B14F-4D97-AF65-F5344CB8AC3E}">
        <p14:creationId xmlns:p14="http://schemas.microsoft.com/office/powerpoint/2010/main" val="17540602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D5683D-A572-47EC-9EEA-1D68566B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EXPERIMENTS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941B0F-6B13-498A-99C7-8FC8B445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Each dataset answers one question—and no more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7E341F-FB1F-4F7E-B662-DF605202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6E080-FB36-45A4-8D36-5BBE3916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GaitParity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9260E4-4443-4FC0-8142-9C81E433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3ccbcd8dbd4c38"/>
          <a:stretch xmlns:a="http://schemas.openxmlformats.org/drawingml/2006/main"/>
        </p:blipFill>
        <p:spPr>
          <a:xfrm xmlns:a="http://schemas.openxmlformats.org/drawingml/2006/main">
            <a:off x="400050" y="1768316"/>
            <a:ext cx="4810125" cy="3559493"/>
          </a:xfrm>
          <a:prstGeom xmlns:a="http://schemas.openxmlformats.org/drawingml/2006/main" prst="rect">
            <a:avLst/>
          </a:prstGeom>
        </p:spPr>
      </p:pic>
      <p:graphicFrame>
        <p:nvGraphicFramePr>
          <p:cNvPr id="16" name=""/>
          <p:cNvGraphicFramePr/>
          <p:nvPr/>
        </p:nvGraphicFramePr>
        <p:xfrm>
          <a:off xmlns:a="http://schemas.openxmlformats.org/drawingml/2006/main" x="5476875" y="1476375"/>
          <a:ext xmlns:a="http://schemas.openxmlformats.org/drawingml/2006/main" cx="6181725" cy="4000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190625"/>
                <a:gridCol w="2143125"/>
                <a:gridCol w="2847975"/>
              </a:tblGrid>
              <a:tr h="57150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Dataset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Scientific role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Hard claim limit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GAVD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Code + geometry audit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Transductive; no participant IDs; coordinate-derived target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AMASS</a:t>
                      </a:r>
                    </a:p>
                  </a:txBody>
                  <a:tcPr marL="91440" marR="91440" marT="45720" marB="4572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Nonclinical pretraining</a:t>
                      </a:r>
                    </a:p>
                  </a:txBody>
                  <a:tcPr marL="91440" marR="91440" marT="45720" marB="4572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clinical or fall-risk claim</a:t>
                      </a:r>
                    </a:p>
                  </a:txBody>
                  <a:tcPr marL="91440" marR="91440" marT="45720" marB="45720">
                    <a:solidFill>
                      <a:srgbClr val="F5F6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MoVi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Calibrated real-view sensitivity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Geometry/robustness only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Stroke cohort</a:t>
                      </a:r>
                    </a:p>
                  </a:txBody>
                  <a:tcPr marL="91440" marR="91440" marT="45720" marB="4572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Primary signed force test</a:t>
                      </a:r>
                    </a:p>
                  </a:txBody>
                  <a:tcPr marL="91440" marR="91440" marT="45720" marB="4572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Utility on held-out participants</a:t>
                      </a:r>
                    </a:p>
                  </a:txBody>
                  <a:tcPr marL="91440" marR="91440" marT="45720" marB="45720">
                    <a:solidFill>
                      <a:srgbClr val="F5F6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Parkinson cohort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Locked replication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Replication, not zero-shot transfer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Future falls cohort</a:t>
                      </a:r>
                    </a:p>
                  </a:txBody>
                  <a:tcPr marL="91440" marR="91440" marT="45720" marB="4572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Prospective outcome validation</a:t>
                      </a:r>
                    </a:p>
                  </a:txBody>
                  <a:tcPr marL="91440" marR="91440" marT="45720" marB="4572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Required before a fall-risk claim</a:t>
                      </a:r>
                    </a:p>
                  </a:txBody>
                  <a:tcPr marL="91440" marR="91440" marT="45720" marB="45720"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8A6BA8-2F13-4D57-9721-DA8F0FCF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715000"/>
            <a:ext cx="61817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FF2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FFF2EA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F0F987-0AC8-4B57-9F4D-90DA7FFC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838825"/>
            <a:ext cx="576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C958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C95858"/>
                </a:solidFill>
                <a:latin typeface="Helvetica Neue"/>
                <a:ea typeface="Helvetica Neue"/>
                <a:cs typeface="Helvetica Neue"/>
              </a:rPr>
              <a:t>Only independent, participant-held-out force can establish utility.</a:t>
            </a:r>
          </a:p>
        </p:txBody>
      </p:sp>
    </p:spTree>
    <p:extLst>
      <p:ext uri="{BB962C8B-B14F-4D97-AF65-F5344CB8AC3E}">
        <p14:creationId xmlns:p14="http://schemas.microsoft.com/office/powerpoint/2010/main" val="47154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A24889-2C23-4361-A188-9BF749FC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EXPERIMENTS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4ABC8E-3CF0-4DEA-8B1D-A8A7944D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Generalization is tested on people—not clips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530DEB-C932-408F-83E0-29CA9639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8503A5-FDFB-4D77-8208-DFD73039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GaitParity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1C4817-3289-48B5-B771-78918031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ba9ea0ded3449f"/>
          <a:stretch xmlns:a="http://schemas.openxmlformats.org/drawingml/2006/main"/>
        </p:blipFill>
        <p:spPr>
          <a:xfrm xmlns:a="http://schemas.openxmlformats.org/drawingml/2006/main">
            <a:off x="469446" y="1381125"/>
            <a:ext cx="6395357" cy="4476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A5157E-1957-4902-932F-C4E192D4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76375"/>
            <a:ext cx="4305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E0929C-B964-42ED-B2BF-AEC9E1B9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76375"/>
            <a:ext cx="857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9E61CD-1984-405B-A11D-362B2F19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647825"/>
            <a:ext cx="3848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Nested participant split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B5EC33-68AD-4062-BE22-0A5FD2EB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076450"/>
            <a:ext cx="381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1AF775-C82D-4CE3-B361-BF3FCCE39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228850"/>
            <a:ext cx="3848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Outer fold holds out one participant group. Inner grouped folds tune the readout. The outer person never influences preprocessing, representation selection, or hyperparameters.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C6EBED-FF09-4997-9932-11B8CA0A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19450"/>
            <a:ext cx="430530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82BAFF-0967-4C60-B626-3100D01C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19450"/>
            <a:ext cx="857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46CF0A-C614-4139-95C6-DF11AA4F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90900"/>
            <a:ext cx="3848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Label-efficiency ladder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59DA76-5384-421D-9DD1-0C744DEA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819525"/>
            <a:ext cx="381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096FCB-29B4-463D-99C3-64CC7981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971925"/>
            <a:ext cx="3848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Use nested 4, 8, 16, and all-participant training prefixes; repeat fixed side/severity-stratified orderings and average repeats within participant.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16B544-EF7A-49A5-A816-EA95DE72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72025"/>
            <a:ext cx="4305300" cy="1162050"/>
          </a:xfrm>
          <a:prstGeom xmlns:a="http://schemas.openxmlformats.org/drawingml/2006/main" prst="roundRect">
            <a:avLst>
              <a:gd name="adj" fmla="val 8197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C9E8AF-90E7-4C9E-82F9-318732EC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72025"/>
            <a:ext cx="857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4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E07A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E07A4B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959A17-5923-459C-8A3A-B0ECB78D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943475"/>
            <a:ext cx="3848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One independent unit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34D5CF-5BE5-4F59-BF59-B924FDCB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324475"/>
            <a:ext cx="3848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Score original and synthetic mirror equally, average to one participant-orbit loss, then resample whole participants for uncertainty.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811F8E-2E76-4241-8C3C-996D21AA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53125"/>
            <a:ext cx="11125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ADAC35-A919-44D6-9092-B7E26F03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38850"/>
            <a:ext cx="10706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Force gate: ≥30 eligible stroke participants after all screens, with ≥4 usable contacts per side for repeatability.</a:t>
            </a:r>
          </a:p>
        </p:txBody>
      </p:sp>
    </p:spTree>
    <p:extLst>
      <p:ext uri="{BB962C8B-B14F-4D97-AF65-F5344CB8AC3E}">
        <p14:creationId xmlns:p14="http://schemas.microsoft.com/office/powerpoint/2010/main" val="55095643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FE6223-3FE5-4992-B5B5-184D8CE3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EXPERIMENTS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E6B9E3-19A8-49CE-86DD-57FD70AD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Success is predeclared as a chain of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574252-067F-47E6-A082-C187FCD0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1B725E-8865-4E13-B9A5-6C366D92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GaitParity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183180-1766-4566-B9A1-6E4C9085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74A8CF-9A7C-472D-A963-F91213AE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52863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EE1BD9-2B8D-466A-9D4C-1149819A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857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A6924F-012F-489D-860B-F1A046F0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4829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G1 • Exact geometry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C9983B-BC2C-4717-9B55-57BD61FC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24075"/>
            <a:ext cx="4791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C89A83-E778-4CD6-B5B5-4B268C27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76475"/>
            <a:ext cx="48291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Layerwise swap residuals in train/eval mode; output oddness for every signed model.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9D6A5F-259E-4D17-9B6C-677B6A90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524000"/>
            <a:ext cx="561022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F09378-AF74-4104-A505-1C376E50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524000"/>
            <a:ext cx="857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459FF4-CDAD-4EFF-9D3C-47EB9659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695450"/>
            <a:ext cx="515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G2 • Alive representation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0FC942-0629-4A1A-BEFA-C9909DC8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124075"/>
            <a:ext cx="5114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CDF839-A4E5-4D09-8BDA-C98A7037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76475"/>
            <a:ext cx="51530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Variance, effective rank, cosine similarity, even/odd energy, JEPA prediction quality.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8C49DD-13AD-4097-B5D6-89AD12CF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0"/>
            <a:ext cx="52863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B2F159-3E9B-4130-8FB5-3136B257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0"/>
            <a:ext cx="857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4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E07A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E07A4B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44EF51-2161-428B-88D7-45806333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4829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G3 • Predictive signal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AFB07F-03DF-4E31-A8C3-EAEE26EE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29075"/>
            <a:ext cx="4791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FD946B-AD21-4556-A7D6-E2418AA4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81475"/>
            <a:ext cx="48291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Participant-orbit force MAE primary; NMAE, R², CCC, sign accuracy, calibration secondary.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58809F-E26B-4808-845D-7BBA654D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29000"/>
            <a:ext cx="561022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F5F6F8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594A5D-5826-4BD5-B9AB-3D90F7C1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29000"/>
            <a:ext cx="857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7A5C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7A5CE6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CB1F5F-2652-4874-BAB7-0A42DFE4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600450"/>
            <a:ext cx="515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G4 • Robust utility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773439-E4C9-43D3-ABCE-0BB6962A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029075"/>
            <a:ext cx="5114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C20514-8631-43BF-A530-AC2B7882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81475"/>
            <a:ext cx="51530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Label-budget AULC, real-view drift, coordinate/missingness/temporal corruption, schema reduction.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CAB391-8D83-406A-A080-6A8F35BE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111252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31ABA0-A807-459E-9891-60DEE0F5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007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Tier 5 decision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4E06B9-6DB2-49F5-88E2-8C0A4B1F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72125"/>
            <a:ext cx="866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At the full label budget, equivariant_encoder must lower participant-orbit force MAE versus both odd_output and paired_unconstrained, using simultaneous 97.5% intervals and a reliability-based δMAE threshold.</a:t>
            </a:r>
          </a:p>
        </p:txBody>
      </p:sp>
    </p:spTree>
    <p:extLst>
      <p:ext uri="{BB962C8B-B14F-4D97-AF65-F5344CB8AC3E}">
        <p14:creationId xmlns:p14="http://schemas.microsoft.com/office/powerpoint/2010/main" val="158658636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1874E6-48B7-4318-9DB6-F932131E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CURRENT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0C9526-6CCB-4F04-9428-26042BD8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First result: self-supervised training learns nontrivial motion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7BA730-7339-4338-A942-4D8ED266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12926A-A2A3-4300-B7BA-9BD52907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GaitParity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DF00C6-7AA3-40C2-BC9C-9C7F81A9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e6a529d9f14e54"/>
          <a:stretch xmlns:a="http://schemas.openxmlformats.org/drawingml/2006/main"/>
        </p:blipFill>
        <p:spPr>
          <a:xfrm xmlns:a="http://schemas.openxmlformats.org/drawingml/2006/main">
            <a:off x="457200" y="1387929"/>
            <a:ext cx="7286625" cy="4225018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a2497531cd43d9"/>
          <a:stretch xmlns:a="http://schemas.openxmlformats.org/drawingml/2006/main"/>
        </p:blipFill>
        <p:spPr>
          <a:xfrm xmlns:a="http://schemas.openxmlformats.org/drawingml/2006/main">
            <a:off x="8185850" y="1504950"/>
            <a:ext cx="2964051" cy="2571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64B285-B6A6-4B54-98D5-8A704703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52925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What this supports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CB63B8-4284-4CD2-A496-73027536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7625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E5ABD6-A48D-4C2C-8159-BD2500A2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62500"/>
            <a:ext cx="3162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Optimization loss moves in the expected direction.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7FDCA6-04A1-4D58-9746-3ACD6A8F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15302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C1C837-DCE5-4230-8E1E-881A979D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153025"/>
            <a:ext cx="3162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Feature variation persists; the encoder is not obviously constant.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7F4408-57B8-414A-8B13-7DCC709F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5435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D057C-F755-4D8B-9CB8-97130212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543550"/>
            <a:ext cx="3162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Folder-label separation remains confounded by source, camera, and exposure.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8B8389-6B0F-4896-AA33-FE67FAA4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57875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1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1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Exact notebook outputs • development collection • not unseen-person or force evidence</a:t>
            </a:r>
          </a:p>
        </p:txBody>
      </p:sp>
    </p:spTree>
    <p:extLst>
      <p:ext uri="{BB962C8B-B14F-4D97-AF65-F5344CB8AC3E}">
        <p14:creationId xmlns:p14="http://schemas.microsoft.com/office/powerpoint/2010/main" val="204182964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8D2671-928F-4C9C-AFFE-520410DC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CURRENT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95D8E-DB72-4D12-80C5-AAAC3D81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Second result: the historical representation lacks a signed axis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4E5A22-3508-4337-9031-B8505BF6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3D1D45-3264-40D5-A943-49F9B080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GaitParity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3691A7-F419-447F-B1FD-FE983719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ea30dd45654d13"/>
          <a:stretch xmlns:a="http://schemas.openxmlformats.org/drawingml/2006/main"/>
        </p:blipFill>
        <p:spPr>
          <a:xfrm xmlns:a="http://schemas.openxmlformats.org/drawingml/2006/main">
            <a:off x="419100" y="1747838"/>
            <a:ext cx="7810500" cy="31242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18" name=""/>
          <p:cNvGraphicFramePr/>
          <p:nvPr/>
        </p:nvGraphicFramePr>
        <p:xfrm>
          <a:off xmlns:a="http://schemas.openxmlformats.org/drawingml/2006/main" x="8572500" y="1524000"/>
          <a:ext xmlns:a="http://schemas.openxmlformats.org/drawingml/2006/main" cx="3048000" cy="26860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571625"/>
                <a:gridCol w="1476375"/>
              </a:tblGrid>
              <a:tr h="53721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Saved result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Held-out-source decoding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R² = −0.068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Mirror slope</a:t>
                      </a:r>
                    </a:p>
                  </a:txBody>
                  <a:tcPr marL="91440" marR="91440" marT="45720" marB="4572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−0.34; target ≈ −1</a:t>
                      </a:r>
                    </a:p>
                  </a:txBody>
                  <a:tcPr marL="91440" marR="91440" marT="45720" marB="45720">
                    <a:solidFill>
                      <a:srgbClr val="F5F6F8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Verdict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Informative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Claim ceiling</a:t>
                      </a:r>
                    </a:p>
                  </a:txBody>
                  <a:tcPr marL="91440" marR="91440" marT="45720" marB="4572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12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Transductive audit</a:t>
                      </a:r>
                    </a:p>
                  </a:txBody>
                  <a:tcPr marL="91440" marR="91440" marT="45720" marB="45720"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96C1C4-463A-492E-8D59-134D761A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3048000" cy="149542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FF2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FF2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FFF2EA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842D77-67B5-419E-9105-8E66B938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386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E07A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E07A4B"/>
                </a:solidFill>
                <a:latin typeface="Helvetica Neue"/>
                <a:ea typeface="Helvetica Neue"/>
                <a:cs typeface="Helvetica Neue"/>
              </a:rPr>
              <a:t>Why the null matters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A62CEF-7051-4593-9A8C-5575BBD2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048250"/>
            <a:ext cx="266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This checkpoint + simple readout did not recover a useful signed direction. The result justifies a representation whose parity is explicit and testable.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E62A5D-C3BE-487E-A13C-B1A4742C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76875"/>
            <a:ext cx="771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1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1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Exact output from idea05_signed_laterality/01_probe.ipynb</a:t>
            </a:r>
          </a:p>
        </p:txBody>
      </p:sp>
    </p:spTree>
    <p:extLst>
      <p:ext uri="{BB962C8B-B14F-4D97-AF65-F5344CB8AC3E}">
        <p14:creationId xmlns:p14="http://schemas.microsoft.com/office/powerpoint/2010/main" val="214542993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E508F6-CC0F-48B7-B963-1554E75A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CURRENT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DD1EDC-E78B-4079-927B-BB21E913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Third result: the controlled audit detects broken geometry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B82CCD-6BA9-475D-9318-70C7B973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9FD11-EDBB-4643-A092-058E12D5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GaitParity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A28E27-5ABA-4785-8603-9779FAFD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1b51d6e2014e76"/>
          <a:stretch xmlns:a="http://schemas.openxmlformats.org/drawingml/2006/main"/>
        </p:blipFill>
        <p:spPr>
          <a:xfrm xmlns:a="http://schemas.openxmlformats.org/drawingml/2006/main">
            <a:off x="2325370" y="1333500"/>
            <a:ext cx="7531735" cy="4143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28E714-9D57-42FA-98C9-AD91D9D8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00700"/>
            <a:ext cx="31432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6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F6F7F9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6FB4B0-BF36-4204-A19E-76450FD0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76900"/>
            <a:ext cx="280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rPr>
              <a:t>0.0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1D63EC-1DF4-4874-9B93-7BFE9263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1980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Equivariant residual • worst checked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599668-4F3A-4251-97C1-35018B32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600700"/>
            <a:ext cx="31432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6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F6F7F9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3072C3-F701-493D-882A-AC7505FD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676900"/>
            <a:ext cx="280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C958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C95858"/>
                </a:solidFill>
                <a:latin typeface="Helvetica Neue"/>
                <a:ea typeface="Helvetica Neue"/>
                <a:cs typeface="Helvetica Neue"/>
              </a:rPr>
              <a:t>≈5.9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F4EF71-2B71-4189-B116-38EA8E90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01980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Unconstrained residual • audit power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377911-EFB5-4069-8397-269482B1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600700"/>
            <a:ext cx="41910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6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F6F7F9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36FDAD-9146-43F1-B244-37C2E769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67690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96 / 18 / 394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8AF6CB-D3D2-490A-ADB6-91786AD0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019800"/>
            <a:ext cx="384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Sequences / videos / windows • 3 seeds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BDFCDA-B605-41F0-BA4F-2770B81F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3055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C958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C95858"/>
                </a:solidFill>
                <a:latin typeface="Helvetica Neue"/>
                <a:ea typeface="Helvetica Neue"/>
                <a:cs typeface="Helvetica Neue"/>
              </a:rPr>
              <a:t>Geometry is validated locally; force utility, unseen-person generalization, and fall-risk value remain unknown.</a:t>
            </a:r>
          </a:p>
        </p:txBody>
      </p:sp>
    </p:spTree>
    <p:extLst>
      <p:ext uri="{BB962C8B-B14F-4D97-AF65-F5344CB8AC3E}">
        <p14:creationId xmlns:p14="http://schemas.microsoft.com/office/powerpoint/2010/main" val="29412049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AD8F70-CC34-4D5C-8A78-CC05C12C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FUTURE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DC57B0-D719-498A-9418-77F22862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The decisive experiment moves from geometry to force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393FA-9CCF-41BB-9D77-3C686A54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E15234-869F-4A75-A3A9-127A0385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GaitParity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E51816-7EBC-460C-BE4A-7F418F5B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16e5f0e0254908"/>
          <a:stretch xmlns:a="http://schemas.openxmlformats.org/drawingml/2006/main"/>
        </p:blipFill>
        <p:spPr>
          <a:xfrm xmlns:a="http://schemas.openxmlformats.org/drawingml/2006/main">
            <a:off x="428625" y="2003584"/>
            <a:ext cx="4905375" cy="304133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2BC7CE-8728-4EE2-A26C-E4572521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28750"/>
            <a:ext cx="4572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D0ED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D0EDFA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E858CB-F3C3-4016-80FD-EC48B047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144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AA4AB6-3B22-4F57-B4E0-16245ADF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382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Audit force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6E9C0E-9212-4D10-BD75-4537A540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24025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Verify bilateral contacts, repeatability, and ≥30 eligible stroke participants.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637430-AF7B-4120-95AE-EB0C7A2C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24100"/>
            <a:ext cx="4572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D0ED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D0EDFA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DCC6DF-5DD3-43F9-ADBC-205C3B60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098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C7685B-6C84-42ED-889A-2F844110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336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Freeze encoders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6BCB22-5C04-4A74-A051-54FF2CF7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19375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Complete matched AMASS Stage 1 + BABEL walking Stage 2 checkpoints.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60F905-4C1E-439B-9095-0530164B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19450"/>
            <a:ext cx="4572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D0ED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D0EDFA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A4CFC9-7B1A-4F06-A7D5-058ECB91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05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8F7CD-B8AA-42F1-8946-FFC7AAF0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289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Run the primary 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CB522D-5120-4EDC-A946-5C36179E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14725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Nested held-out stroke force prediction versus odd_output and paired_unconstrained.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BD0156-F77F-4461-9906-69135E7C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14800"/>
            <a:ext cx="4572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D0ED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D0EDFA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21DDDC-13DC-4280-B68E-8A08F21F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005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33A891-CE5E-4D7A-98EE-B6A851EB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243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Stress the measurement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B966DC-9B22-465A-A811-0AB29BC1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10075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MoVi real views, coordinate/missingness/temporal corruption, and reduced joint sets.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DE7DE6-AC7A-4693-AC88-A0A1FC01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10150"/>
            <a:ext cx="4572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D0ED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D0EDFA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3D0497-32F2-4630-8F96-C6E4FA54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958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508FEF-7574-4D70-BC6D-E11DE4CE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0196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Extend the claim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8B7A66-D423-4793-8F9C-0A62DA5A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305425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36071"/>
                </a:solidFill>
                <a:latin typeface="Helvetica Neue"/>
                <a:ea typeface="Helvetica Neue"/>
                <a:cs typeface="Helvetica Neue"/>
              </a:rPr>
              <a:t>Locked Parkinson replication; only then design prospective fall-outcome validation.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BBD75F-BB60-498D-9A73-A36D7E89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1125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2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FF2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FFF2EA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12DD20-39E4-4A64-A2A8-F361D7EB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48375"/>
            <a:ext cx="10706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C958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C95858"/>
                </a:solidFill>
                <a:latin typeface="Helvetica Neue"/>
                <a:ea typeface="Helvetica Neue"/>
                <a:cs typeface="Helvetica Neue"/>
              </a:rPr>
              <a:t>Stop rule: if equivariance does not beat both decisive controls on independent force, do not elevate it to a fall-risk model.</a:t>
            </a:r>
          </a:p>
        </p:txBody>
      </p:sp>
    </p:spTree>
    <p:extLst>
      <p:ext uri="{BB962C8B-B14F-4D97-AF65-F5344CB8AC3E}">
        <p14:creationId xmlns:p14="http://schemas.microsoft.com/office/powerpoint/2010/main" val="190623389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0D347F-5D29-46BC-B310-3C8424F4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D0A4D6-2D18-4367-A971-31B5B6B0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CLOSING 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72B034-5925-4959-8182-7E7BA78A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GaitParity is not a fall detector.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32AC5-E56F-45DD-9F2E-83CE0E29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09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DDE5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 i="0">
                <a:solidFill>
                  <a:srgbClr val="DDE5EF"/>
                </a:solidFill>
                <a:latin typeface="Helvetica Neue"/>
                <a:ea typeface="Helvetica Neue"/>
                <a:cs typeface="Helvetica Neue"/>
              </a:rPr>
              <a:t>It is the representation test required before side-aware video gait can become a credible balance measure.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9C854D-6337-4801-8BF7-3BC39820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07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79D888-3075-4036-8D25-B61B72EC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Balance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81273-D7C0-41D9-9FD5-79B5C9A5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needs side-specific mechanics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40EF44-9A0B-4307-8D07-1368B448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5148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73819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738195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504105-E8B3-44ED-969D-6E19EE37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2672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Parity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E8870B-1245-495D-B359-BB757E62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6863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supplies predictable geometry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4DA9FC-075A-4003-9B78-300ED378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5148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73819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738195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963C60-7DA3-4E79-98D2-38435A40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2672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Independent force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0D04B3-7031-4DA3-8CEF-705D5481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6863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decides whether it is useful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4E2CA8-7D2C-4C5A-8905-0501DCB3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D7DE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D7DEE8"/>
                </a:solidFill>
                <a:latin typeface="Helvetica Neue"/>
                <a:ea typeface="Helvetica Neue"/>
                <a:cs typeface="Helvetica Neue"/>
              </a:rPr>
              <a:t>Geometry first. Force next. Falls only after prospective validation.</a:t>
            </a:r>
          </a:p>
        </p:txBody>
      </p:sp>
    </p:spTree>
    <p:extLst>
      <p:ext uri="{BB962C8B-B14F-4D97-AF65-F5344CB8AC3E}">
        <p14:creationId xmlns:p14="http://schemas.microsoft.com/office/powerpoint/2010/main" val="20831598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2026-08-24T04:11:03.6610000Z</dcterms:created>
  <dcterms:modified xsi:type="dcterms:W3CDTF">2026-08-24T04:11:03.6610000Z</dcterms:modified>
</coreProperties>
</file>