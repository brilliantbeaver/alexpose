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with the learning task. Each sequence has 64 normalized frames, 33 MediaPipe landmark identities, and three coordinate values. Four frames for one joint form one token. This creates 16 time patches times 33 joints, or 528 possible tokens. The student encoder receives only the visible tokens. The predictor fills the selected hidden positions in feature space. The target encoder sees the full sequence and changes slowly through an exponential moving average, or EMA. It supplies a stable feature target and does not receive a gradient. This is latent prediction, not video generation and not a clinical diagnosis. The project uses GAVD folder names as dataset labels. The added normal clips were not independently clinically reviewed. Sources: references 1 through 4.</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this timeline from left to right. The legacy system was a useful prototype, but its normal training data came from one video. The failure audit then exposed source-video overlap, detector missingness, lost temporal order, and the absence of an independent outer test. The current model broadens the normal data, expands the target whitelist, adds two loss jobs, and continues through five stages. The latest Lane C change repaired the classifier fold definition without changing the encoder. The final card is different: it describes the experiment still needed for an unseen-video estimate. A model improvement, an evaluation improvement, and a reporting improvement are all valuable. They do not support the same claim.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prototype did its job because it made the hidden assumptions measurable. First, twelve windows from one source video are correlated observations, not twelve independent people or camera settings. Second, a row-level split can put different windows from one video on both sides. In A1, every one of the 16 test videos also appears in classifier training. Third, a 97-value visibility-only control reached 0.448 accuracy on A1. That means pose success and failure are related to the labels and form a meaningful shortcut floor. Fourth, the downstream vector uses means and standard deviations, so it cannot tell the Random Forest when an event happened. The current work addresses some of these limits, documents the rest, and does not pretend that one new score solved all four.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canonical GAVD cohort remains locked at 96 sequences from 18 videos. The project added normal walking windows through a separate extraction path. That path proposed 64 candidates from 17 additional videos. Sixty-three passed the authorized-landmark coverage threshold of 0.45. One candidate had coverage 0.027 and was rejected. Stage 0 therefore contains 12 canonical normal sequences plus 63 added-normal sequences, or 75 sequences from 18 videos. This is a real gain in source breadth. It also creates a new risk: 63 of 75 normal rows use the added extraction path, while every abnormal row uses the canonical path. A classifier can learn camera, crop, detector, or bounding-box differences. The scientific unit of diversity is 17 added videos, not 63 independent people.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through the figure in three steps. First, 64 frames divided by four frames per patch gives 16 time patches. Multiplying by 33 joints gives 528 possible tokens. All 33 joint identities may provide visible context, but only 12 may become hidden targets: both shoulders, hips, knees, ankles, heels, and foot indices. Second, the mask builder counts valid eligible tokens for every sample in a batch. It takes 60 percent of the smallest count and gives every sample that common target count. Therefore, samples with more valid eligible tokens have a smaller realized fraction. The phrase 60 percent of each sample is not correct. Third, the saved endpoint means were 0.551 at Stage 0 and 0.423 at Stage 4. Targets are drawn uniformly. No velocity, displacement, acceleration, or learned motion score is used, and no forbidden joint is substituted.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legacy objective contained only the JEPA prediction term. The current objective adds two jobs. JEPA still asks the predictor to match teacher features at authorized hidden tokens. VICReg keeps two views of the same sequence close, pushes feature dimensions to retain variance, and reduces redundant covariance. This is active anti-collapse pressure. The group term uses condition labels to make same-label vectors more compact and penalize nearby group centers. Its weight is zero during normal-only Stage 0 and 0.25 during Stages 1 through 4. The saved total is JEPA plus 0.05 times VICReg plus 0.25 times the group term. Because the group term reads labels, only Stage 0 is label-free. The later stages are label-informed representation fine-tuning. Sources: references 1, 2, and 5.</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continuing model lineage. The student encoder, target encoder, predictor, centering state, and VICReg projector continue from one stage to the next. Each stage starts a fresh AdamW optimizer, learning-rate scheduler, warmup, and EMA schedule position. Stage 0 trains on 75 normal sequences for 300 epochs. Four 75-epoch stages then add Parkinson’s, stroke, myopathic gait, and cerebral palsy. Condition-balanced replay keeps earlier groups in later batches. The final total is 600 curriculum epochs and 11,400 optimizer updates. Every stage records a fingerprint tied to its parent, cohort, mask rule, loss settings, and configuration. The fingerprint identifies experiment lineage. It is not a byte checksum of the checkpoint file.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read a falling loss as proof of a useful representation. Use the diagnostics together. The JEPA and VICReg losses stayed finite. Final feature standard deviation was 0.414, so the extreme case in which every sequence becomes one identical vector did not occur. Final pair cosine was 0.609, another signal against complete collapse. At the same time, normal-anchor cosine fell from 0.954 after Stage 1 to 0.594 after Stage 4. The normal reference therefore changed substantially as condition groups entered. The Stage 4 margin penalty remained 0.038, so the requested training-corpus group margin was not fully met. Balanced replay reduced the risk of forgetting, but it did not prevent this drift. These are training diagnostics, not held-out accuracy.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05 freezes the final target encoder before any Random Forest is fitted. For each canonical sequence, it joins four 96-value summaries: global mean, global standard deviation, authorized-target mean, and authorized-target standard deviation. This makes a 384-value vector. On the 96 canonical rows, the mean within-condition cosine distance was 0.120. The smallest distance between condition centers was only 0.037, between myopathic and cerebral-palsy rows. Cosine silhouette was 0.009, close to the point where within-group and nearest-other-group distances balance. The representation contains label-related structure, but these numbers do not show five clean clusters. The same rows and labels shaped the later training stages, so this geometry is descriptive and label-informed. Source for silhouette theory: reference 9.</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A1 asks whether a shallow classifier can recover labels inside the full known canonical corpus. It uses 67 training rows and 29 test rows, but 16 source videos cross the split and all 29 test rows trained the encoder. A2 reproduces the historical 47 training and 21 test assignment. Nine videos cross that classifier split, and all 21 test rows trained the encoder. Lane C groups source videos inside the Random Forest evaluation. The binary task has five folds and the five-class task has two. However, the final encoder was trained once on all 159 rows. Lane C is therefore classifier-video-disjoint but encoder-exposed. None of these lanes estimates performance for a new person, video, camera, or clinic. Grouped-data guidance comes from reference 7.</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Stratification means that each class keeps roughly the same proportion on each side. The full cohort has 12 normal, 9 Parkinson’s, 12 stroke, 47 myopathic, and 16 cerebral-palsy sequences. The training side receives 67 rows and the test side receives 29. This helps prevent the small classes from disappearing from the test set. It does not separate videos. Every one of the 16 test videos also occurs in classifier training. It also does not undo representation training. The encoder had already used all 96 rows and, after Stage 0, their folder labels. The current A1 result is 0.793 accuracy, 0.889 balanced accuracy, and 0.821 macro-F1. The visibility-only control is 0.448 accuracy. The valid conclusion is that the vector contains class-related structure inside this known corpus.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left chart compares two different representation systems on the same historical 47/21 assignment. The legacy normal-only model reached 0.619 accuracy and 0.613 macro-F1. The current five-stage model reached 0.714 accuracy, 0.730 balanced accuracy, and 0.742 macro-F1. The approximate changes are plus 0.095 accuracy and plus 0.129 macro-F1. Data, targets, losses, training, and provenance contracts changed together, so this is not a component ablation. The right chart is an evaluation repair. The checkpoint and all 159 embeddings stayed fixed. Replacing five ordinary group folds with two stratified group folds moved mean accuracy from 0.604 to 0.653 and fixed-label macro-F1 from 0.407 to 0.625. That change reflects a better-defined five-class task, not a better encoder.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earlier five-fold version was superseded because one training fold had no cerebral-palsy rows and the macro-F1 label list changed from fold to fold. Parkinson’s and cerebral palsy each have only two source videos. Two StratifiedGroupKFold folds are therefore the largest feasible design that keeps all five labels on both sides. The corrected mean is 0.653 accuracy, 0.603 balanced accuracy, and 0.625 fixed-label macro-F1. Pooled predictions give 0.654 accuracy and 0.619 macro-F1. The actual majority baseline in these 159 rows is normal at 75 divided by 159, or 0.472. The encoder still saw 159 of 159 fold-test rows. A grouped Random Forest cannot undo that exposure. Call this a classifier-level stress test, not unseen-video generalization.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with the claim boundary. The current work is a meaningful engineering improvement: it broadens Stage 0 from one normal video to 18, uses 12 target identities, adds active anti-collapse pressure, completes five fingerprinted stages, improves the exact-split descriptive readout, and repairs the Lane C fold definition. It also shows substantial normal drift and weak five-group geometry. The next valid experiment must split complete source videos first. For every outer fold, choose preprocessing only from training videos, start S-JEPA from fresh weights, train all five stages, fit the classifier, and then open the held-out videos once. Save per-fold predictions, class and video support, provenance, and exposure audits. Only that design can estimate how the complete pipeline behaves on unseen videos.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matrix prevents a common attribution error. The exact-split score changed after six method layers changed together. It is valid to compare the complete legacy and current systems on that fixed assignment. It is not valid to say that VICReg, heel targets, added normal videos, or curriculum order caused the whole change. Controlled ablations are still required.</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added pipeline inspects pose candidates, selects a walker, smooths a bounding-box track, estimates a cycle from ankle separation, proposes overlapping windows, and extracts MediaPipe landmarks. The extraction report is the selection contract used by notebooks 04 and 06. A rejected pose file cannot enter just because it remains on disk. These rows are useful added normal data, not canonical GAVD annotations.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manifest does not point to an already clipped video. Its frame numbers belong to the original source timeline. Caching the full video is therefore required for correct extraction and for a useful notebook preview. Pose failures remain explicit rather than being silently dropped. That allows later coverage and missingness controls. Sources: references 3, 4, and 6.</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current whitelist contains 12 landmark identities. The legacy whitelist contained 10 because heels 29 and 30 were absent. A landmark identity is not one token. Each identity can appear in 16 time patches, so validity determines how many eligible joint-time tokens each sequence contributes.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readout has no trainable sequence head. This keeps variance low for a small dataset and makes the feature probe easy to audit. Its cost is clear: mean and standard deviation cannot preserve the order of 16 time patches, absolute walking rate after resizing, or the timing of left-right asymmetry. The right-hand card is a proposed ablation, not a completed result.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Macro-F1 gives every class equal weight, which is useful in an imbalanced cohort. It can still hide a weak class. On A2, normal and Parkinson’s each had F1 of 1.000, while stroke had F1 of 0.333. The test support is tiny: three rows each for normal, Parkinson’s, and stroke. Always read class support and the confusion pattern beside the aggregate value.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confusion matrix contains only 21 test rows. It is more informative than accuracy alone because it shows that the same source video can contribute repeated errors. The split is preserved for historical comparison, not for an unseen-video claim.</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all-96 and exact-split lanes are sequence-level descriptive readouts. The grouped Random Forest lane prevents the same video from appearing on both sides of a classifier fold. The encoder exposure remains complete in every lane. The binary and five-class Lane C values also answer different tasks, so their bar heights should not be compared as though the class sets were identical.</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legacy and current A1 and A2 rows compare different models. The old and corrected Lane C rows compare different evaluation definitions with the same model and embeddings. The legacy A2 accuracy of 0.619 and the corrected pooled Lane C macro-F1 of 0.619 are different metrics that happen to round to the same value.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four readouts complete the legacy-to-current history recovered in the result ledger. The apparent gains are not independent estimates because the test sets contain only 7 to 18 rows, source videos cross the sequence splits, and the final encoder already saw the evaluated rows and labels. Cerebral-palsy accuracy did not change. This is another reason to preserve per-task history rather than report only the best-looking values.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missingness controls show how much label structure exists in detector success and failure alone. The learned vector exceeds these controls on A1 and A2, but both systems remain inside the same confounded split. The Lane C binary task uses five grouped classifier folds. Its accuracy range from 0.800 to 0.906 summarizes five related fold scores and is not a population confidence interval.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05 and notebook 06 do not accept an arbitrary file with a familiar name. They check stage completion, target identities, cohort, configuration, and experiment fingerprint. This is the direct fix for the earlier missing-checkpoint problem: the current consumer resolves the final augmented checkpoint and stops when the expected lineage is incomplete or inconsistent.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00 defines the learning graph and invariants. Notebook 01 builds the manifest and source-video cache. Notebook 02 extracts and displays skeletons. Notebook 03 proves the target mask rule. Notebook 04 trains and fingerprints the five-stage curriculum. Notebook 05 freezes and inspects the representation. Notebook 06 fits the readouts, controls, overlap audits, and Lane C stress tests. Real mode stops when a required artifact or fingerprint is missing.</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final checkpoint alias ends in augmented. Consumers verify its lineage before loading it. The result ledger keeps superseded and current values together instead of overwriting history. Rebuilding figures from the saved CSV files provides a further consistency check.</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archived improvement notes contain useful hypotheses, but they are not a list of current features. Outer source-video folds, fold-local five-stage training, dynamics-preserving readouts, and uncertainty from independent outer folds remain proposed. The current system does not use motion-ranked targets, does not mask exactly 60 percent of every sample, and does not provide an unseen-video encoder estimate.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references cover the S-JEPA and JEPA method family, the GAVD data source, MediaPipe pose extraction, VICReg, grouped evaluation, cross-validation uncertainty, silhouette interpretation, Random Forests, and recent skeleton masking research. The presentation reports dataset-label prediction and representation diagnostics, not clinical validity.</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 Id="rId3" Type="http://schemas.openxmlformats.org/officeDocument/2006/relationships/image" Target="../media/image1.sv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sv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sv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sv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sv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sv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1.sv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2.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3.sv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4.sv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5.sv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xml" /><Relationship Id="rId3" Type="http://schemas.openxmlformats.org/officeDocument/2006/relationships/image" Target="../media/image16.sv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7.sv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8.sv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xml" /><Relationship Id="rId3" Type="http://schemas.openxmlformats.org/officeDocument/2006/relationships/image" Target="../media/image19.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0.sv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21.sv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22.svg"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3.sv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xml" /><Relationship Id="rId3" Type="http://schemas.openxmlformats.org/officeDocument/2006/relationships/hyperlink" Target="https://doi.org/10.1007/978-3-031-73411-3_21" TargetMode="External" /><Relationship Id="rId4" Type="http://schemas.openxmlformats.org/officeDocument/2006/relationships/hyperlink" Target="https://doi.org/10.1109/CVPR52729.2023.01499" TargetMode="External" /><Relationship Id="rId5" Type="http://schemas.openxmlformats.org/officeDocument/2006/relationships/hyperlink" Target="https://doi.org/10.1109/ACCESS.2025.3545787" TargetMode="External" /><Relationship Id="rId6" Type="http://schemas.openxmlformats.org/officeDocument/2006/relationships/hyperlink" Target="https://doi.org/10.48550/arXiv.2206.11678" TargetMode="External" /><Relationship Id="rId7" Type="http://schemas.openxmlformats.org/officeDocument/2006/relationships/hyperlink" Target="https://openreview.net/forum?id=xm6YD62D1Ub" TargetMode="External" /><Relationship Id="rId8" Type="http://schemas.openxmlformats.org/officeDocument/2006/relationships/hyperlink" Target="https://ai.google.dev/edge/mediapipe/solutions/vision/pose_landmarker" TargetMode="External" /><Relationship Id="rId9" Type="http://schemas.openxmlformats.org/officeDocument/2006/relationships/hyperlink" Target="https://doi.org/10.1111/ecog.02881" TargetMode="External" /><Relationship Id="rId10" Type="http://schemas.openxmlformats.org/officeDocument/2006/relationships/hyperlink" Target="https://www.jmlr.org/papers/v5/grandvalet04a.html" TargetMode="External" /><Relationship Id="rId11" Type="http://schemas.openxmlformats.org/officeDocument/2006/relationships/hyperlink" Target="https://doi.org/10.1016/0377-0427(87)90125-7" TargetMode="External" /><Relationship Id="rId12" Type="http://schemas.openxmlformats.org/officeDocument/2006/relationships/hyperlink" Target="https://doi.org/10.1023/A:1010933404324" TargetMode="External" /><Relationship Id="rId13" Type="http://schemas.openxmlformats.org/officeDocument/2006/relationships/hyperlink" Target="https://doi.org/10.1038/s41598-026-39330-9"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How the GAVD3 S-JEPA study evolved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changed, what improved, and what still remains untested</a:t>
            </a:r>
            <a:br/>
            <a:br/>
            <a:r>
              <a:rPr/>
              <a:t>GAVD3 S-JEPA tutorial</a:t>
            </a:r>
          </a:p>
        </p:txBody>
      </p:sp>
      <p:sp>
        <p:nvSpPr>
          <p:cNvPr id="4" name="Date Placeholder 3"/>
          <p:cNvSpPr>
            <a:spLocks noGrp="1"/>
          </p:cNvSpPr>
          <p:nvPr>
            <p:ph idx="10" sz="half" type="dt"/>
          </p:nvPr>
        </p:nvSpPr>
        <p:spPr/>
        <p:txBody>
          <a:bodyPr/>
          <a:lstStyle/>
          <a:p>
            <a:pPr lvl="0" indent="0" marL="0">
              <a:buNone/>
            </a:pPr>
            <a:r>
              <a:rPr/>
              <a:t>August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goal is feature learning, not diagnosis</a:t>
            </a:r>
          </a:p>
        </p:txBody>
      </p:sp>
      <p:sp>
        <p:nvSpPr>
          <p:cNvPr id="3" name="Content Placeholder 2"/>
          <p:cNvSpPr>
            <a:spLocks noGrp="1"/>
          </p:cNvSpPr>
          <p:nvPr>
            <p:ph idx="1" sz="half"/>
          </p:nvPr>
        </p:nvSpPr>
        <p:spPr/>
        <p:txBody>
          <a:bodyPr/>
          <a:lstStyle/>
          <a:p>
            <a:pPr lvl="0"/>
            <a:r>
              <a:rPr/>
              <a:t>A 64-frame skeleton becomes </a:t>
            </a:r>
            <a:r>
              <a:rPr b="1"/>
              <a:t>528 joint-time tokens</a:t>
            </a:r>
            <a:r>
              <a:rPr/>
              <a:t>.</a:t>
            </a:r>
          </a:p>
          <a:p>
            <a:pPr lvl="0"/>
            <a:r>
              <a:rPr/>
              <a:t>The student sees visible tokens.</a:t>
            </a:r>
          </a:p>
          <a:p>
            <a:pPr lvl="0"/>
            <a:r>
              <a:rPr/>
              <a:t>A slow teacher sees the complete sequence.</a:t>
            </a:r>
          </a:p>
          <a:p>
            <a:pPr lvl="0"/>
            <a:r>
              <a:rPr/>
              <a:t>A predictor estimates teacher features at hidden locations.</a:t>
            </a:r>
          </a:p>
          <a:p>
            <a:pPr lvl="0"/>
            <a:r>
              <a:rPr/>
              <a:t>The research question is whether the learned vector retains useful gait structure.</a:t>
            </a:r>
          </a:p>
          <a:p>
            <a:pPr lvl="0" indent="0" marL="0">
              <a:buNone/>
            </a:pPr>
            <a:r>
              <a:rPr b="1"/>
              <a:t>Scope:</a:t>
            </a:r>
            <a:r>
              <a:rPr/>
              <a:t> exploratory representation research. Folder labels are not diagnoses verified by this project.</a:t>
            </a:r>
          </a:p>
        </p:txBody>
      </p:sp>
      <p:pic>
        <p:nvPicPr>
          <p:cNvPr descr="../images/02_sjepa_architecture.svg" id="0" name="Picture 1"/>
          <p:cNvPicPr>
            <a:picLocks noGrp="1" noChangeAspect="1"/>
          </p:cNvPicPr>
          <p:nvPr/>
        </p:nvPicPr>
        <p:blipFill>
          <a:blip r:embed="rId3"/>
          <a:stretch>
            <a:fillRect/>
          </a:stretch>
        </p:blipFill>
        <p:spPr bwMode="auto">
          <a:xfrm>
            <a:off x="4648200" y="1422400"/>
            <a:ext cx="4038600" cy="24257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The student predicts hidden teacher features rather than pixels or raw coordinates. Sources: Abdelfattah and Alahi, ECCV 2024; Assran et al., CVPR 2023.</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project improved in three different ways</a:t>
            </a:r>
          </a:p>
        </p:txBody>
      </p:sp>
      <p:pic>
        <p:nvPicPr>
          <p:cNvPr descr="../docs/figures/evolution_timeline.svg" id="0" name="Picture 1"/>
          <p:cNvPicPr>
            <a:picLocks noGrp="1" noChangeAspect="1"/>
          </p:cNvPicPr>
          <p:nvPr/>
        </p:nvPicPr>
        <p:blipFill>
          <a:blip r:embed="rId3"/>
          <a:stretch>
            <a:fillRect/>
          </a:stretch>
        </p:blipFill>
        <p:spPr bwMode="auto">
          <a:xfrm>
            <a:off x="1574800" y="1193800"/>
            <a:ext cx="5994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evolution separates model changes, evaluation repairs, and work that has not yet been run. Source: current notebooks, artifacts, and result ledger.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first prototype exposed four limits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Audit finding</a:t>
                      </a:r>
                    </a:p>
                  </a:txBody>
                  <a:tcPr/>
                </a:tc>
                <a:tc>
                  <a:txBody>
                    <a:bodyPr/>
                    <a:lstStyle/>
                    <a:p>
                      <a:pPr lvl="0" indent="0" marL="0">
                        <a:buNone/>
                      </a:pPr>
                      <a:r>
                        <a:rPr/>
                        <a:t>Concrete evidence</a:t>
                      </a:r>
                    </a:p>
                  </a:txBody>
                  <a:tcPr/>
                </a:tc>
                <a:tc>
                  <a:txBody>
                    <a:bodyPr/>
                    <a:lstStyle/>
                    <a:p>
                      <a:pPr lvl="0" indent="0" marL="0">
                        <a:buNone/>
                      </a:pPr>
                      <a:r>
                        <a:rPr/>
                        <a:t>Response and remaining limit</a:t>
                      </a:r>
                    </a:p>
                  </a:txBody>
                  <a:tcPr/>
                </a:tc>
              </a:tr>
              <a:tr h="0">
                <a:tc>
                  <a:txBody>
                    <a:bodyPr/>
                    <a:lstStyle/>
                    <a:p>
                      <a:pPr lvl="0" indent="0" marL="0">
                        <a:buNone/>
                      </a:pPr>
                      <a:r>
                        <a:rPr/>
                        <a:t>One normal source</a:t>
                      </a:r>
                    </a:p>
                  </a:txBody>
                </a:tc>
                <a:tc>
                  <a:txBody>
                    <a:bodyPr/>
                    <a:lstStyle/>
                    <a:p>
                      <a:pPr lvl="0" indent="0" marL="0">
                        <a:buNone/>
                      </a:pPr>
                      <a:r>
                        <a:rPr/>
                        <a:t>12 windows from 1 video</a:t>
                      </a:r>
                    </a:p>
                  </a:txBody>
                </a:tc>
                <a:tc>
                  <a:txBody>
                    <a:bodyPr/>
                    <a:lstStyle/>
                    <a:p>
                      <a:pPr lvl="0" indent="0" marL="0">
                        <a:buNone/>
                      </a:pPr>
                      <a:r>
                        <a:rPr/>
                        <a:t>Add 63 accepted windows from 17 videos, while keeping their provenance separate</a:t>
                      </a:r>
                    </a:p>
                  </a:txBody>
                </a:tc>
              </a:tr>
              <a:tr h="0">
                <a:tc>
                  <a:txBody>
                    <a:bodyPr/>
                    <a:lstStyle/>
                    <a:p>
                      <a:pPr lvl="0" indent="0" marL="0">
                        <a:buNone/>
                      </a:pPr>
                      <a:r>
                        <a:rPr/>
                        <a:t>Rows were split, not videos</a:t>
                      </a:r>
                    </a:p>
                  </a:txBody>
                </a:tc>
                <a:tc>
                  <a:txBody>
                    <a:bodyPr/>
                    <a:lstStyle/>
                    <a:p>
                      <a:pPr lvl="0" indent="0" marL="0">
                        <a:buNone/>
                      </a:pPr>
                      <a:r>
                        <a:rPr/>
                        <a:t>All 16 A1 test videos also occur in classifier training</a:t>
                      </a:r>
                    </a:p>
                  </a:txBody>
                </a:tc>
                <a:tc>
                  <a:txBody>
                    <a:bodyPr/>
                    <a:lstStyle/>
                    <a:p>
                      <a:pPr lvl="0" indent="0" marL="0">
                        <a:buNone/>
                      </a:pPr>
                      <a:r>
                        <a:rPr/>
                        <a:t>Add grouped Random Forest audits; the encoder still saw every row</a:t>
                      </a:r>
                    </a:p>
                  </a:txBody>
                </a:tc>
              </a:tr>
              <a:tr h="0">
                <a:tc>
                  <a:txBody>
                    <a:bodyPr/>
                    <a:lstStyle/>
                    <a:p>
                      <a:pPr lvl="0" indent="0" marL="0">
                        <a:buNone/>
                      </a:pPr>
                      <a:r>
                        <a:rPr/>
                        <a:t>Detector missingness carried labels</a:t>
                      </a:r>
                    </a:p>
                  </a:txBody>
                </a:tc>
                <a:tc>
                  <a:txBody>
                    <a:bodyPr/>
                    <a:lstStyle/>
                    <a:p>
                      <a:pPr lvl="0" indent="0" marL="0">
                        <a:buNone/>
                      </a:pPr>
                      <a:r>
                        <a:rPr/>
                        <a:t>Visibility-only A1 accuracy was 0.448</a:t>
                      </a:r>
                    </a:p>
                  </a:txBody>
                </a:tc>
                <a:tc>
                  <a:txBody>
                    <a:bodyPr/>
                    <a:lstStyle/>
                    <a:p>
                      <a:pPr lvl="0" indent="0" marL="0">
                        <a:buNone/>
                      </a:pPr>
                      <a:r>
                        <a:rPr/>
                        <a:t>Keep a missingness control beside the learned readout</a:t>
                      </a:r>
                    </a:p>
                  </a:txBody>
                </a:tc>
              </a:tr>
              <a:tr h="0">
                <a:tc>
                  <a:txBody>
                    <a:bodyPr/>
                    <a:lstStyle/>
                    <a:p>
                      <a:pPr lvl="0" indent="0" marL="0">
                        <a:buNone/>
                      </a:pPr>
                      <a:r>
                        <a:rPr/>
                        <a:t>Mean and standard deviation remove order</a:t>
                      </a:r>
                    </a:p>
                  </a:txBody>
                </a:tc>
                <a:tc>
                  <a:txBody>
                    <a:bodyPr/>
                    <a:lstStyle/>
                    <a:p>
                      <a:pPr lvl="0" indent="0" marL="0">
                        <a:buNone/>
                      </a:pPr>
                      <a:r>
                        <a:rPr/>
                        <a:t>The readout compresses all time patches into 384 values</a:t>
                      </a:r>
                    </a:p>
                  </a:txBody>
                </a:tc>
                <a:tc>
                  <a:txBody>
                    <a:bodyPr/>
                    <a:lstStyle/>
                    <a:p>
                      <a:pPr lvl="0" indent="0" marL="0">
                        <a:buNone/>
                      </a:pPr>
                      <a:r>
                        <a:rPr/>
                        <a:t>Document the limit; temporal pooling remains a proposed ablation</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More normal videos increased breadth and added a provenance risk</a:t>
            </a:r>
          </a:p>
        </p:txBody>
      </p:sp>
      <p:pic>
        <p:nvPicPr>
          <p:cNvPr descr="../docs/figures/evolution_data_scale.svg" id="0" name="Picture 1"/>
          <p:cNvPicPr>
            <a:picLocks noGrp="1" noChangeAspect="1"/>
          </p:cNvPicPr>
          <p:nvPr/>
        </p:nvPicPr>
        <p:blipFill>
          <a:blip r:embed="rId3"/>
          <a:stretch>
            <a:fillRect/>
          </a:stretch>
        </p:blipFill>
        <p:spPr bwMode="auto">
          <a:xfrm>
            <a:off x="1727200" y="1193800"/>
            <a:ext cx="57023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Stage 0 grew from one normal video to 18, while the final curriculum reached 159 sequences from 35 videos.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fixed target rule turns joints into a learnable question</a:t>
            </a:r>
          </a:p>
        </p:txBody>
      </p:sp>
      <p:pic>
        <p:nvPicPr>
          <p:cNvPr descr="../docs/figures/evolution_masking_math.svg" id="0" name="Picture 1"/>
          <p:cNvPicPr>
            <a:picLocks noGrp="1" noChangeAspect="1"/>
          </p:cNvPicPr>
          <p:nvPr/>
        </p:nvPicPr>
        <p:blipFill>
          <a:blip r:embed="rId3"/>
          <a:stretch>
            <a:fillRect/>
          </a:stretch>
        </p:blipFill>
        <p:spPr bwMode="auto">
          <a:xfrm>
            <a:off x="1371600" y="1193800"/>
            <a:ext cx="640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configured 0.60 fraction is applied to the smallest valid eligible-token count in the batch.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objective changed from one job to three</a:t>
            </a:r>
          </a:p>
        </p:txBody>
      </p:sp>
      <p:pic>
        <p:nvPicPr>
          <p:cNvPr descr="../docs/figures/evolution_objective.svg" id="0" name="Picture 1"/>
          <p:cNvPicPr>
            <a:picLocks noGrp="1" noChangeAspect="1"/>
          </p:cNvPicPr>
          <p:nvPr/>
        </p:nvPicPr>
        <p:blipFill>
          <a:blip r:embed="rId3"/>
          <a:stretch>
            <a:fillRect/>
          </a:stretch>
        </p:blipFill>
        <p:spPr bwMode="auto">
          <a:xfrm>
            <a:off x="1866900" y="1193800"/>
            <a:ext cx="5410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JEPA predicts hidden features, VICReg resists collapse, and the group term shapes condition geometry after Stage 0.</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model continues through five ordered stages</a:t>
            </a:r>
          </a:p>
        </p:txBody>
      </p:sp>
      <p:pic>
        <p:nvPicPr>
          <p:cNvPr descr="../docs/figures/evolution_checkpoint_lineage.svg" id="0" name="Picture 1"/>
          <p:cNvPicPr>
            <a:picLocks noGrp="1" noChangeAspect="1"/>
          </p:cNvPicPr>
          <p:nvPr/>
        </p:nvPicPr>
        <p:blipFill>
          <a:blip r:embed="rId3"/>
          <a:stretch>
            <a:fillRect/>
          </a:stretch>
        </p:blipFill>
        <p:spPr bwMode="auto">
          <a:xfrm>
            <a:off x="1828800" y="1193800"/>
            <a:ext cx="5486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Model-side state continues, while each stage starts a fresh optimizer and schedule.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Training avoided total collapse, but normal features drifted</a:t>
            </a:r>
          </a:p>
        </p:txBody>
      </p:sp>
      <p:pic>
        <p:nvPicPr>
          <p:cNvPr descr="../docs/figures/training_health.svg" id="0" name="Picture 1"/>
          <p:cNvPicPr>
            <a:picLocks noGrp="1" noChangeAspect="1"/>
          </p:cNvPicPr>
          <p:nvPr/>
        </p:nvPicPr>
        <p:blipFill>
          <a:blip r:embed="rId3"/>
          <a:stretch>
            <a:fillRect/>
          </a:stretch>
        </p:blipFill>
        <p:spPr bwMode="auto">
          <a:xfrm>
            <a:off x="2146300" y="1193800"/>
            <a:ext cx="485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five-stage run stayed finite, retained nonzero spread, and moved away from its Stage 0 normal reference.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384-value summary contains signal, but groups overlap</a:t>
            </a:r>
          </a:p>
        </p:txBody>
      </p:sp>
      <p:pic>
        <p:nvPicPr>
          <p:cNvPr descr="figures/geometry_current.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smallest condition-centroid distance is lower than the average spread inside a condition.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readout lanes answer three limited questions</a:t>
            </a:r>
          </a:p>
        </p:txBody>
      </p:sp>
      <p:pic>
        <p:nvPicPr>
          <p:cNvPr descr="../docs/figures/evidence_ladder.svg" id="0" name="Picture 1"/>
          <p:cNvPicPr>
            <a:picLocks noGrp="1" noChangeAspect="1"/>
          </p:cNvPicPr>
          <p:nvPr/>
        </p:nvPicPr>
        <p:blipFill>
          <a:blip r:embed="rId3"/>
          <a:stretch>
            <a:fillRect/>
          </a:stretch>
        </p:blipFill>
        <p:spPr bwMode="auto">
          <a:xfrm>
            <a:off x="457200" y="1244600"/>
            <a:ext cx="8229600" cy="27686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A1, A2, and Lane C differ in row selection and classifier grouping, but all reuse an exposed encoder.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“All-96 stratified” balances classes, not videos</a:t>
            </a:r>
          </a:p>
        </p:txBody>
      </p:sp>
      <p:pic>
        <p:nvPicPr>
          <p:cNvPr descr="../images/10_all96_stratification.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 step-by-step view of the 67-row training split, 29-row test split, and two forms of exposure.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Previous and current scores changed for different reasons</a:t>
            </a:r>
          </a:p>
        </p:txBody>
      </p:sp>
      <p:pic>
        <p:nvPicPr>
          <p:cNvPr descr="../docs/figures/result_changes.svg" id="0" name="Picture 1"/>
          <p:cNvPicPr>
            <a:picLocks noGrp="1" noChangeAspect="1"/>
          </p:cNvPicPr>
          <p:nvPr/>
        </p:nvPicPr>
        <p:blipFill>
          <a:blip r:embed="rId3"/>
          <a:stretch>
            <a:fillRect/>
          </a:stretch>
        </p:blipFill>
        <p:spPr bwMode="auto">
          <a:xfrm>
            <a:off x="1409700" y="1193800"/>
            <a:ext cx="6324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exact-split change used a new model; the Lane C change kept the same model and repaired the fold definition.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Lane C repaired the evaluation, not the model</a:t>
            </a:r>
          </a:p>
        </p:txBody>
      </p:sp>
      <p:pic>
        <p:nvPicPr>
          <p:cNvPr descr="../docs/figures/evolution_lane_c_repair.svg" id="0" name="Picture 1"/>
          <p:cNvPicPr>
            <a:picLocks noGrp="1" noChangeAspect="1"/>
          </p:cNvPicPr>
          <p:nvPr/>
        </p:nvPicPr>
        <p:blipFill>
          <a:blip r:embed="rId3"/>
          <a:stretch>
            <a:fillRect/>
          </a:stretch>
        </p:blipFill>
        <p:spPr bwMode="auto">
          <a:xfrm>
            <a:off x="1549400" y="1193800"/>
            <a:ext cx="6045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is the largest fold count that keeps every class in both training and testing.</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next valid test must split videos before learning</a:t>
            </a:r>
          </a:p>
        </p:txBody>
      </p:sp>
      <p:pic>
        <p:nvPicPr>
          <p:cNvPr descr="../images/11_nested_evaluation.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 complete outer fold keeps source videos sealed while preprocessing, all five S-JEPA stages, and the classifier are fitted.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legacy and current methods differ at six layers</a:t>
            </a:r>
          </a:p>
        </p:txBody>
      </p:sp>
      <p:pic>
        <p:nvPicPr>
          <p:cNvPr descr="../docs/figures/evolution_layer_matrix.svg" id="0" name="Picture 1"/>
          <p:cNvPicPr>
            <a:picLocks noGrp="1" noChangeAspect="1"/>
          </p:cNvPicPr>
          <p:nvPr/>
        </p:nvPicPr>
        <p:blipFill>
          <a:blip r:embed="rId3"/>
          <a:stretch>
            <a:fillRect/>
          </a:stretch>
        </p:blipFill>
        <p:spPr bwMode="auto">
          <a:xfrm>
            <a:off x="2197100" y="1193800"/>
            <a:ext cx="4749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Data, targets, objective, training, artifacts, and evaluation all changed together.</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added normal data use a separate extraction path</a:t>
            </a:r>
          </a:p>
        </p:txBody>
      </p:sp>
      <p:pic>
        <p:nvPicPr>
          <p:cNvPr descr="../docs/figures/evolution_augmentation_pipeline.svg" id="0" name="Picture 1"/>
          <p:cNvPicPr>
            <a:picLocks noGrp="1" noChangeAspect="1"/>
          </p:cNvPicPr>
          <p:nvPr/>
        </p:nvPicPr>
        <p:blipFill>
          <a:blip r:embed="rId3"/>
          <a:stretch>
            <a:fillRect/>
          </a:stretch>
        </p:blipFill>
        <p:spPr bwMode="auto">
          <a:xfrm>
            <a:off x="1892300" y="1193800"/>
            <a:ext cx="5359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added-normal pipeline keeps its candidates, selection rule, coverage threshold, and rejection report separate from canonical GAVD.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full video must remain available</a:t>
            </a:r>
          </a:p>
        </p:txBody>
      </p:sp>
      <p:pic>
        <p:nvPicPr>
          <p:cNvPr descr="../images/04_gavd_pipeline.svg" id="0" name="Picture 1"/>
          <p:cNvPicPr>
            <a:picLocks noGrp="1" noChangeAspect="1"/>
          </p:cNvPicPr>
          <p:nvPr/>
        </p:nvPicPr>
        <p:blipFill>
          <a:blip r:embed="rId3"/>
          <a:stretch>
            <a:fillRect/>
          </a:stretch>
        </p:blipFill>
        <p:spPr bwMode="auto">
          <a:xfrm>
            <a:off x="457200" y="1422400"/>
            <a:ext cx="4038600" cy="24257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The CSV frame numbers refer to positions in the original source video, so the complete source is cached before clipping and pose extraction. Sources: GAVD and MediaPipe.</a:t>
            </a:r>
          </a:p>
        </p:txBody>
      </p:sp>
      <p:sp>
        <p:nvSpPr>
          <p:cNvPr id="4" name="Content Placeholder 3"/>
          <p:cNvSpPr>
            <a:spLocks noGrp="1"/>
          </p:cNvSpPr>
          <p:nvPr>
            <p:ph idx="2" sz="half"/>
          </p:nvPr>
        </p:nvSpPr>
        <p:spPr/>
        <p:txBody>
          <a:bodyPr/>
          <a:lstStyle/>
          <a:p>
            <a:pPr lvl="0" indent="-342900" marL="342900">
              <a:buAutoNum type="arabicPeriod"/>
            </a:pPr>
            <a:r>
              <a:rPr/>
              <a:t>Cache the complete source video.</a:t>
            </a:r>
          </a:p>
          <a:p>
            <a:pPr lvl="0" indent="-342900" marL="342900">
              <a:buAutoNum type="arabicPeriod"/>
            </a:pPr>
            <a:r>
              <a:rPr/>
              <a:t>Select the annotated frame range.</a:t>
            </a:r>
          </a:p>
          <a:p>
            <a:pPr lvl="0" indent="-342900" marL="342900">
              <a:buAutoNum type="arabicPeriod"/>
            </a:pPr>
            <a:r>
              <a:rPr/>
              <a:t>Crop the intended walker.</a:t>
            </a:r>
          </a:p>
          <a:p>
            <a:pPr lvl="0" indent="-342900" marL="342900">
              <a:buAutoNum type="arabicPeriod"/>
            </a:pPr>
            <a:r>
              <a:rPr/>
              <a:t>Keep failed pose frames explicit.</a:t>
            </a:r>
          </a:p>
          <a:p>
            <a:pPr lvl="0" indent="-342900" marL="342900">
              <a:buAutoNum type="arabicPeriod"/>
            </a:pPr>
            <a:r>
              <a:rPr/>
              <a:t>Center, scale, and resize to 64 frames.</a:t>
            </a:r>
          </a:p>
          <a:p>
            <a:pPr lvl="0" indent="-342900" marL="342900">
              <a:buAutoNum type="arabicPeriod"/>
            </a:pPr>
            <a:r>
              <a:rPr/>
              <a:t>Preserve source-video identity for audits.</a:t>
            </a:r>
          </a:p>
          <a:p>
            <a:pPr lvl="0" indent="0" marL="0">
              <a:buNone/>
            </a:pPr>
            <a:r>
              <a:rPr/>
              <a:t>MediaPipe depth is relative monocular depth, not calibrated 3D motion.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exact cohort and target identities</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Canonical folder label</a:t>
                      </a:r>
                    </a:p>
                  </a:txBody>
                  <a:tcPr/>
                </a:tc>
                <a:tc>
                  <a:txBody>
                    <a:bodyPr/>
                    <a:lstStyle/>
                    <a:p>
                      <a:pPr lvl="0" indent="0" marL="0" algn="r">
                        <a:buNone/>
                      </a:pPr>
                      <a:r>
                        <a:rPr/>
                        <a:t>Sequences</a:t>
                      </a:r>
                    </a:p>
                  </a:txBody>
                  <a:tcPr/>
                </a:tc>
                <a:tc>
                  <a:txBody>
                    <a:bodyPr/>
                    <a:lstStyle/>
                    <a:p>
                      <a:pPr lvl="0" indent="0" marL="0" algn="r">
                        <a:buNone/>
                      </a:pPr>
                      <a:r>
                        <a:rPr/>
                        <a:t>Videos</a:t>
                      </a:r>
                    </a:p>
                  </a:txBody>
                  <a:tcPr/>
                </a:tc>
              </a:tr>
              <a:tr h="0">
                <a:tc>
                  <a:txBody>
                    <a:bodyPr/>
                    <a:lstStyle/>
                    <a:p>
                      <a:pPr lvl="0" indent="0" marL="0">
                        <a:buNone/>
                      </a:pPr>
                      <a:r>
                        <a:rPr/>
                        <a:t>Normal</a:t>
                      </a:r>
                    </a:p>
                  </a:txBody>
                </a:tc>
                <a:tc>
                  <a:txBody>
                    <a:bodyPr/>
                    <a:lstStyle/>
                    <a:p>
                      <a:pPr lvl="0" indent="0" marL="0" algn="r">
                        <a:buNone/>
                      </a:pPr>
                      <a:r>
                        <a:rPr/>
                        <a:t>12</a:t>
                      </a:r>
                    </a:p>
                  </a:txBody>
                </a:tc>
                <a:tc>
                  <a:txBody>
                    <a:bodyPr/>
                    <a:lstStyle/>
                    <a:p>
                      <a:pPr lvl="0" indent="0" marL="0" algn="r">
                        <a:buNone/>
                      </a:pPr>
                      <a:r>
                        <a:rPr/>
                        <a:t>1</a:t>
                      </a:r>
                    </a:p>
                  </a:txBody>
                </a:tc>
              </a:tr>
              <a:tr h="0">
                <a:tc>
                  <a:txBody>
                    <a:bodyPr/>
                    <a:lstStyle/>
                    <a:p>
                      <a:pPr lvl="0" indent="0" marL="0">
                        <a:buNone/>
                      </a:pPr>
                      <a:r>
                        <a:rPr/>
                        <a:t>Parkinson’s</a:t>
                      </a:r>
                    </a:p>
                  </a:txBody>
                </a:tc>
                <a:tc>
                  <a:txBody>
                    <a:bodyPr/>
                    <a:lstStyle/>
                    <a:p>
                      <a:pPr lvl="0" indent="0" marL="0" algn="r">
                        <a:buNone/>
                      </a:pPr>
                      <a:r>
                        <a:rPr/>
                        <a:t>9</a:t>
                      </a:r>
                    </a:p>
                  </a:txBody>
                </a:tc>
                <a:tc>
                  <a:txBody>
                    <a:bodyPr/>
                    <a:lstStyle/>
                    <a:p>
                      <a:pPr lvl="0" indent="0" marL="0" algn="r">
                        <a:buNone/>
                      </a:pPr>
                      <a:r>
                        <a:rPr/>
                        <a:t>2</a:t>
                      </a:r>
                    </a:p>
                  </a:txBody>
                </a:tc>
              </a:tr>
              <a:tr h="0">
                <a:tc>
                  <a:txBody>
                    <a:bodyPr/>
                    <a:lstStyle/>
                    <a:p>
                      <a:pPr lvl="0" indent="0" marL="0">
                        <a:buNone/>
                      </a:pPr>
                      <a:r>
                        <a:rPr/>
                        <a:t>Stroke</a:t>
                      </a:r>
                    </a:p>
                  </a:txBody>
                </a:tc>
                <a:tc>
                  <a:txBody>
                    <a:bodyPr/>
                    <a:lstStyle/>
                    <a:p>
                      <a:pPr lvl="0" indent="0" marL="0" algn="r">
                        <a:buNone/>
                      </a:pPr>
                      <a:r>
                        <a:rPr/>
                        <a:t>12</a:t>
                      </a:r>
                    </a:p>
                  </a:txBody>
                </a:tc>
                <a:tc>
                  <a:txBody>
                    <a:bodyPr/>
                    <a:lstStyle/>
                    <a:p>
                      <a:pPr lvl="0" indent="0" marL="0" algn="r">
                        <a:buNone/>
                      </a:pPr>
                      <a:r>
                        <a:rPr/>
                        <a:t>3</a:t>
                      </a:r>
                    </a:p>
                  </a:txBody>
                </a:tc>
              </a:tr>
              <a:tr h="0">
                <a:tc>
                  <a:txBody>
                    <a:bodyPr/>
                    <a:lstStyle/>
                    <a:p>
                      <a:pPr lvl="0" indent="0" marL="0">
                        <a:buNone/>
                      </a:pPr>
                      <a:r>
                        <a:rPr/>
                        <a:t>Myopathic</a:t>
                      </a:r>
                    </a:p>
                  </a:txBody>
                </a:tc>
                <a:tc>
                  <a:txBody>
                    <a:bodyPr/>
                    <a:lstStyle/>
                    <a:p>
                      <a:pPr lvl="0" indent="0" marL="0" algn="r">
                        <a:buNone/>
                      </a:pPr>
                      <a:r>
                        <a:rPr/>
                        <a:t>47</a:t>
                      </a:r>
                    </a:p>
                  </a:txBody>
                </a:tc>
                <a:tc>
                  <a:txBody>
                    <a:bodyPr/>
                    <a:lstStyle/>
                    <a:p>
                      <a:pPr lvl="0" indent="0" marL="0" algn="r">
                        <a:buNone/>
                      </a:pPr>
                      <a:r>
                        <a:rPr/>
                        <a:t>10</a:t>
                      </a:r>
                    </a:p>
                  </a:txBody>
                </a:tc>
              </a:tr>
              <a:tr h="0">
                <a:tc>
                  <a:txBody>
                    <a:bodyPr/>
                    <a:lstStyle/>
                    <a:p>
                      <a:pPr lvl="0" indent="0" marL="0">
                        <a:buNone/>
                      </a:pPr>
                      <a:r>
                        <a:rPr/>
                        <a:t>Cerebral palsy</a:t>
                      </a:r>
                    </a:p>
                  </a:txBody>
                </a:tc>
                <a:tc>
                  <a:txBody>
                    <a:bodyPr/>
                    <a:lstStyle/>
                    <a:p>
                      <a:pPr lvl="0" indent="0" marL="0" algn="r">
                        <a:buNone/>
                      </a:pPr>
                      <a:r>
                        <a:rPr/>
                        <a:t>16</a:t>
                      </a:r>
                    </a:p>
                  </a:txBody>
                </a:tc>
                <a:tc>
                  <a:txBody>
                    <a:bodyPr/>
                    <a:lstStyle/>
                    <a:p>
                      <a:pPr lvl="0" indent="0" marL="0" algn="r">
                        <a:buNone/>
                      </a:pPr>
                      <a:r>
                        <a:rPr/>
                        <a:t>2</a:t>
                      </a:r>
                    </a:p>
                  </a:txBody>
                </a:tc>
              </a:tr>
              <a:tr h="0">
                <a:tc>
                  <a:txBody>
                    <a:bodyPr/>
                    <a:lstStyle/>
                    <a:p>
                      <a:pPr lvl="0" indent="0" marL="0">
                        <a:buNone/>
                      </a:pPr>
                      <a:r>
                        <a:rPr b="1"/>
                        <a:t>Total</a:t>
                      </a:r>
                    </a:p>
                  </a:txBody>
                </a:tc>
                <a:tc>
                  <a:txBody>
                    <a:bodyPr/>
                    <a:lstStyle/>
                    <a:p>
                      <a:pPr lvl="0" indent="0" marL="0" algn="r">
                        <a:buNone/>
                      </a:pPr>
                      <a:r>
                        <a:rPr b="1"/>
                        <a:t>96</a:t>
                      </a:r>
                    </a:p>
                  </a:txBody>
                </a:tc>
                <a:tc>
                  <a:txBody>
                    <a:bodyPr/>
                    <a:lstStyle/>
                    <a:p>
                      <a:pPr lvl="0" indent="0" marL="0" algn="r">
                        <a:buNone/>
                      </a:pPr>
                      <a:r>
                        <a:rPr b="1"/>
                        <a:t>18</a:t>
                      </a:r>
                    </a:p>
                  </a:txBody>
                </a:tc>
              </a:tr>
            </a:tbl>
          </a:graphicData>
        </a:graphic>
      </p:graphicFrame>
      <p:sp>
        <p:nvSpPr>
          <p:cNvPr id="4" name="Content Placeholder 3"/>
          <p:cNvSpPr>
            <a:spLocks noGrp="1"/>
          </p:cNvSpPr>
          <p:nvPr>
            <p:ph idx="2" sz="half"/>
          </p:nvPr>
        </p:nvSpPr>
        <p:spPr/>
        <p:txBody>
          <a:bodyPr/>
          <a:lstStyle/>
          <a:p>
            <a:pPr lvl="0" indent="0" marL="0">
              <a:buNone/>
            </a:pPr>
            <a:r>
              <a:rPr b="1"/>
              <a:t>Authorized hidden target identities</a:t>
            </a:r>
          </a:p>
          <a:p>
            <a:pPr lvl="0"/>
            <a:r>
              <a:rPr/>
              <a:t>11, 12: shoulders</a:t>
            </a:r>
          </a:p>
          <a:p>
            <a:pPr lvl="0"/>
            <a:r>
              <a:rPr/>
              <a:t>23, 24: hips</a:t>
            </a:r>
          </a:p>
          <a:p>
            <a:pPr lvl="0"/>
            <a:r>
              <a:rPr/>
              <a:t>25, 26: knees</a:t>
            </a:r>
          </a:p>
          <a:p>
            <a:pPr lvl="0"/>
            <a:r>
              <a:rPr/>
              <a:t>27, 28: ankles</a:t>
            </a:r>
          </a:p>
          <a:p>
            <a:pPr lvl="0"/>
            <a:r>
              <a:rPr/>
              <a:t>29, 30: heels</a:t>
            </a:r>
          </a:p>
          <a:p>
            <a:pPr lvl="0"/>
            <a:r>
              <a:rPr/>
              <a:t>31, 32: foot indices</a:t>
            </a:r>
          </a:p>
          <a:p>
            <a:pPr lvl="0" indent="0" marL="0">
              <a:buNone/>
            </a:pPr>
            <a:r>
              <a:rPr/>
              <a:t>No motion score. No fallback joint. All 33 identities may provide visible context.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384-value readout is deliberately simple</a:t>
            </a:r>
          </a:p>
        </p:txBody>
      </p:sp>
      <p:pic>
        <p:nvPicPr>
          <p:cNvPr descr="../docs/figures/evolution_readout.svg" id="0" name="Picture 1"/>
          <p:cNvPicPr>
            <a:picLocks noGrp="1" noChangeAspect="1"/>
          </p:cNvPicPr>
          <p:nvPr/>
        </p:nvPicPr>
        <p:blipFill>
          <a:blip r:embed="rId3"/>
          <a:stretch>
            <a:fillRect/>
          </a:stretch>
        </p:blipFill>
        <p:spPr bwMode="auto">
          <a:xfrm>
            <a:off x="1574800" y="1193800"/>
            <a:ext cx="5994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Four 96-value summaries create the current frozen readout; dynamics-preserving alternatives remain proposed.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aggregate scores hide class behavior</a:t>
            </a:r>
          </a:p>
        </p:txBody>
      </p:sp>
      <p:pic>
        <p:nvPicPr>
          <p:cNvPr descr="../docs/figures/evolution_class_f1.svg" id="0" name="Picture 1"/>
          <p:cNvPicPr>
            <a:picLocks noGrp="1" noChangeAspect="1"/>
          </p:cNvPicPr>
          <p:nvPr/>
        </p:nvPicPr>
        <p:blipFill>
          <a:blip r:embed="rId3"/>
          <a:stretch>
            <a:fillRect/>
          </a:stretch>
        </p:blipFill>
        <p:spPr bwMode="auto">
          <a:xfrm>
            <a:off x="1485900" y="1193800"/>
            <a:ext cx="6172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A2 macro-F1 is 0.742, but its stroke F1 is 0.333. Support below each class is A1 followed by A2.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exact-split errors repeat by source video</a:t>
            </a:r>
          </a:p>
        </p:txBody>
      </p:sp>
      <p:pic>
        <p:nvPicPr>
          <p:cNvPr descr="../cache/artifacts/real/five_class_confusion_matrix.png" id="0" name="Picture 1"/>
          <p:cNvPicPr>
            <a:picLocks noGrp="1" noChangeAspect="1"/>
          </p:cNvPicPr>
          <p:nvPr/>
        </p:nvPicPr>
        <p:blipFill>
          <a:blip r:embed="rId3"/>
          <a:stretch>
            <a:fillRect/>
          </a:stretch>
        </p:blipFill>
        <p:spPr bwMode="auto">
          <a:xfrm>
            <a:off x="812800" y="1193800"/>
            <a:ext cx="3340100" cy="28829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Exact historical 47/21 split confusion matrix. Source: notebook 06.</a:t>
            </a:r>
          </a:p>
        </p:txBody>
      </p:sp>
      <p:sp>
        <p:nvSpPr>
          <p:cNvPr id="4" name="Content Placeholder 3"/>
          <p:cNvSpPr>
            <a:spLocks noGrp="1"/>
          </p:cNvSpPr>
          <p:nvPr>
            <p:ph idx="2" sz="half"/>
          </p:nvPr>
        </p:nvSpPr>
        <p:spPr/>
        <p:txBody>
          <a:bodyPr/>
          <a:lstStyle/>
          <a:p>
            <a:pPr lvl="0" indent="0" marL="0">
              <a:buNone/>
            </a:pPr>
            <a:r>
              <a:rPr b="1"/>
              <a:t>Examples</a:t>
            </a:r>
          </a:p>
          <a:p>
            <a:pPr lvl="0"/>
            <a:r>
              <a:rPr/>
              <a:t>Two stroke sequences from </a:t>
            </a:r>
            <a:r>
              <a:rPr>
                <a:latin typeface="Courier"/>
              </a:rPr>
              <a:t>5gpoegYv1hs</a:t>
            </a:r>
            <a:r>
              <a:rPr/>
              <a:t> were predicted as myopathic.</a:t>
            </a:r>
          </a:p>
          <a:p>
            <a:pPr lvl="0"/>
            <a:r>
              <a:rPr/>
              <a:t>Two cerebral-palsy sequences from </a:t>
            </a:r>
            <a:r>
              <a:rPr>
                <a:latin typeface="Courier"/>
              </a:rPr>
              <a:t>DlPDuHBAP7A</a:t>
            </a:r>
            <a:r>
              <a:rPr/>
              <a:t> were predicted as myopathic.</a:t>
            </a:r>
          </a:p>
          <a:p>
            <a:pPr lvl="0"/>
            <a:r>
              <a:rPr/>
              <a:t>Two myopathic errors came from two different source videos and were predicted as stroke.</a:t>
            </a:r>
          </a:p>
          <a:p>
            <a:pPr lvl="0" indent="0" marL="0">
              <a:buNone/>
            </a:pPr>
            <a:r>
              <a:rPr/>
              <a:t>Repeated rows from one video are not independent patients.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current readouts are stress tests</a:t>
            </a:r>
          </a:p>
        </p:txBody>
      </p:sp>
      <p:pic>
        <p:nvPicPr>
          <p:cNvPr descr="figures/results_current.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Every current score has a clear use and a clear exposure warning.</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model history and current result ledger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lvl="0" indent="0" marL="0">
                        <a:buNone/>
                      </a:pPr>
                      <a:r>
                        <a:rPr/>
                        <a:t>Readout version</a:t>
                      </a:r>
                    </a:p>
                  </a:txBody>
                  <a:tcPr/>
                </a:tc>
                <a:tc>
                  <a:txBody>
                    <a:bodyPr/>
                    <a:lstStyle/>
                    <a:p>
                      <a:pPr lvl="0" indent="0" marL="0" algn="r">
                        <a:buNone/>
                      </a:pPr>
                      <a:r>
                        <a:rPr/>
                        <a:t>Accuracy</a:t>
                      </a:r>
                    </a:p>
                  </a:txBody>
                  <a:tcPr/>
                </a:tc>
                <a:tc>
                  <a:txBody>
                    <a:bodyPr/>
                    <a:lstStyle/>
                    <a:p>
                      <a:pPr lvl="0" indent="0" marL="0" algn="r">
                        <a:buNone/>
                      </a:pPr>
                      <a:r>
                        <a:rPr/>
                        <a:t>Balanced accuracy</a:t>
                      </a:r>
                    </a:p>
                  </a:txBody>
                  <a:tcPr/>
                </a:tc>
                <a:tc>
                  <a:txBody>
                    <a:bodyPr/>
                    <a:lstStyle/>
                    <a:p>
                      <a:pPr lvl="0" indent="0" marL="0" algn="r">
                        <a:buNone/>
                      </a:pPr>
                      <a:r>
                        <a:rPr/>
                        <a:t>Macro-F1</a:t>
                      </a:r>
                    </a:p>
                  </a:txBody>
                  <a:tcPr/>
                </a:tc>
                <a:tc>
                  <a:txBody>
                    <a:bodyPr/>
                    <a:lstStyle/>
                    <a:p>
                      <a:pPr lvl="0" indent="0" marL="0">
                        <a:buNone/>
                      </a:pPr>
                      <a:r>
                        <a:rPr/>
                        <a:t>Status and meaning</a:t>
                      </a:r>
                    </a:p>
                  </a:txBody>
                  <a:tcPr/>
                </a:tc>
              </a:tr>
              <a:tr h="0">
                <a:tc>
                  <a:txBody>
                    <a:bodyPr/>
                    <a:lstStyle/>
                    <a:p>
                      <a:pPr lvl="0" indent="0" marL="0">
                        <a:buNone/>
                      </a:pPr>
                      <a:r>
                        <a:rPr/>
                        <a:t>Legacy A2 normal-only</a:t>
                      </a:r>
                    </a:p>
                  </a:txBody>
                </a:tc>
                <a:tc>
                  <a:txBody>
                    <a:bodyPr/>
                    <a:lstStyle/>
                    <a:p>
                      <a:pPr lvl="0" indent="0" marL="0" algn="r">
                        <a:buNone/>
                      </a:pPr>
                      <a:r>
                        <a:rPr/>
                        <a:t>0.619</a:t>
                      </a:r>
                    </a:p>
                  </a:txBody>
                </a:tc>
                <a:tc>
                  <a:txBody>
                    <a:bodyPr/>
                    <a:lstStyle/>
                    <a:p>
                      <a:pPr lvl="0" indent="0" marL="0" algn="r">
                        <a:buNone/>
                      </a:pPr>
                      <a:r>
                        <a:rPr/>
                        <a:t>0.596</a:t>
                      </a:r>
                    </a:p>
                  </a:txBody>
                </a:tc>
                <a:tc>
                  <a:txBody>
                    <a:bodyPr/>
                    <a:lstStyle/>
                    <a:p>
                      <a:pPr lvl="0" indent="0" marL="0" algn="r">
                        <a:buNone/>
                      </a:pPr>
                      <a:r>
                        <a:rPr/>
                        <a:t>0.613</a:t>
                      </a:r>
                    </a:p>
                  </a:txBody>
                </a:tc>
                <a:tc>
                  <a:txBody>
                    <a:bodyPr/>
                    <a:lstStyle/>
                    <a:p>
                      <a:pPr lvl="0" indent="0" marL="0">
                        <a:buNone/>
                      </a:pPr>
                      <a:r>
                        <a:rPr/>
                        <a:t>Superseded model; same confounded 47/21 assignment</a:t>
                      </a:r>
                    </a:p>
                  </a:txBody>
                </a:tc>
              </a:tr>
              <a:tr h="0">
                <a:tc>
                  <a:txBody>
                    <a:bodyPr/>
                    <a:lstStyle/>
                    <a:p>
                      <a:pPr lvl="0" indent="0" marL="0">
                        <a:buNone/>
                      </a:pPr>
                      <a:r>
                        <a:rPr/>
                        <a:t>Current A2 five-stage</a:t>
                      </a:r>
                    </a:p>
                  </a:txBody>
                </a:tc>
                <a:tc>
                  <a:txBody>
                    <a:bodyPr/>
                    <a:lstStyle/>
                    <a:p>
                      <a:pPr lvl="0" indent="0" marL="0" algn="r">
                        <a:buNone/>
                      </a:pPr>
                      <a:r>
                        <a:rPr/>
                        <a:t>0.714</a:t>
                      </a:r>
                    </a:p>
                  </a:txBody>
                </a:tc>
                <a:tc>
                  <a:txBody>
                    <a:bodyPr/>
                    <a:lstStyle/>
                    <a:p>
                      <a:pPr lvl="0" indent="0" marL="0" algn="r">
                        <a:buNone/>
                      </a:pPr>
                      <a:r>
                        <a:rPr/>
                        <a:t>0.730</a:t>
                      </a:r>
                    </a:p>
                  </a:txBody>
                </a:tc>
                <a:tc>
                  <a:txBody>
                    <a:bodyPr/>
                    <a:lstStyle/>
                    <a:p>
                      <a:pPr lvl="0" indent="0" marL="0" algn="r">
                        <a:buNone/>
                      </a:pPr>
                      <a:r>
                        <a:rPr/>
                        <a:t>0.742</a:t>
                      </a:r>
                    </a:p>
                  </a:txBody>
                </a:tc>
                <a:tc>
                  <a:txBody>
                    <a:bodyPr/>
                    <a:lstStyle/>
                    <a:p>
                      <a:pPr lvl="0" indent="0" marL="0">
                        <a:buNone/>
                      </a:pPr>
                      <a:r>
                        <a:rPr/>
                        <a:t>Current model; same assignment and encoder exposure</a:t>
                      </a:r>
                    </a:p>
                  </a:txBody>
                </a:tc>
              </a:tr>
              <a:tr h="0">
                <a:tc>
                  <a:txBody>
                    <a:bodyPr/>
                    <a:lstStyle/>
                    <a:p>
                      <a:pPr lvl="0" indent="0" marL="0">
                        <a:buNone/>
                      </a:pPr>
                      <a:r>
                        <a:rPr/>
                        <a:t>Legacy A1 normal-only</a:t>
                      </a:r>
                    </a:p>
                  </a:txBody>
                </a:tc>
                <a:tc>
                  <a:txBody>
                    <a:bodyPr/>
                    <a:lstStyle/>
                    <a:p>
                      <a:pPr lvl="0" indent="0" marL="0" algn="r">
                        <a:buNone/>
                      </a:pPr>
                      <a:r>
                        <a:rPr/>
                        <a:t>0.621</a:t>
                      </a:r>
                    </a:p>
                  </a:txBody>
                </a:tc>
                <a:tc>
                  <a:txBody>
                    <a:bodyPr/>
                    <a:lstStyle/>
                    <a:p>
                      <a:pPr lvl="0" indent="0" marL="0" algn="r">
                        <a:buNone/>
                      </a:pPr>
                      <a:r>
                        <a:rPr/>
                        <a:t>0.624</a:t>
                      </a:r>
                    </a:p>
                  </a:txBody>
                </a:tc>
                <a:tc>
                  <a:txBody>
                    <a:bodyPr/>
                    <a:lstStyle/>
                    <a:p>
                      <a:pPr lvl="0" indent="0" marL="0" algn="r">
                        <a:buNone/>
                      </a:pPr>
                      <a:r>
                        <a:rPr/>
                        <a:t>0.594</a:t>
                      </a:r>
                    </a:p>
                  </a:txBody>
                </a:tc>
                <a:tc>
                  <a:txBody>
                    <a:bodyPr/>
                    <a:lstStyle/>
                    <a:p>
                      <a:pPr lvl="0" indent="0" marL="0">
                        <a:buNone/>
                      </a:pPr>
                      <a:r>
                        <a:rPr/>
                        <a:t>Superseded model; sequence split</a:t>
                      </a:r>
                    </a:p>
                  </a:txBody>
                </a:tc>
              </a:tr>
              <a:tr h="0">
                <a:tc>
                  <a:txBody>
                    <a:bodyPr/>
                    <a:lstStyle/>
                    <a:p>
                      <a:pPr lvl="0" indent="0" marL="0">
                        <a:buNone/>
                      </a:pPr>
                      <a:r>
                        <a:rPr/>
                        <a:t>Current A1 five-stage</a:t>
                      </a:r>
                    </a:p>
                  </a:txBody>
                </a:tc>
                <a:tc>
                  <a:txBody>
                    <a:bodyPr/>
                    <a:lstStyle/>
                    <a:p>
                      <a:pPr lvl="0" indent="0" marL="0" algn="r">
                        <a:buNone/>
                      </a:pPr>
                      <a:r>
                        <a:rPr/>
                        <a:t>0.793</a:t>
                      </a:r>
                    </a:p>
                  </a:txBody>
                </a:tc>
                <a:tc>
                  <a:txBody>
                    <a:bodyPr/>
                    <a:lstStyle/>
                    <a:p>
                      <a:pPr lvl="0" indent="0" marL="0" algn="r">
                        <a:buNone/>
                      </a:pPr>
                      <a:r>
                        <a:rPr/>
                        <a:t>0.889</a:t>
                      </a:r>
                    </a:p>
                  </a:txBody>
                </a:tc>
                <a:tc>
                  <a:txBody>
                    <a:bodyPr/>
                    <a:lstStyle/>
                    <a:p>
                      <a:pPr lvl="0" indent="0" marL="0" algn="r">
                        <a:buNone/>
                      </a:pPr>
                      <a:r>
                        <a:rPr/>
                        <a:t>0.821</a:t>
                      </a:r>
                    </a:p>
                  </a:txBody>
                </a:tc>
                <a:tc>
                  <a:txBody>
                    <a:bodyPr/>
                    <a:lstStyle/>
                    <a:p>
                      <a:pPr lvl="0" indent="0" marL="0">
                        <a:buNone/>
                      </a:pPr>
                      <a:r>
                        <a:rPr/>
                        <a:t>Current model; 29 of 29 test rows exposed</a:t>
                      </a:r>
                    </a:p>
                  </a:txBody>
                </a:tc>
              </a:tr>
              <a:tr h="0">
                <a:tc>
                  <a:txBody>
                    <a:bodyPr/>
                    <a:lstStyle/>
                    <a:p>
                      <a:pPr lvl="0" indent="0" marL="0">
                        <a:buNone/>
                      </a:pPr>
                      <a:r>
                        <a:rPr/>
                        <a:t>Lane C five-class, old five-fold mean</a:t>
                      </a:r>
                    </a:p>
                  </a:txBody>
                </a:tc>
                <a:tc>
                  <a:txBody>
                    <a:bodyPr/>
                    <a:lstStyle/>
                    <a:p>
                      <a:pPr lvl="0" indent="0" marL="0" algn="r">
                        <a:buNone/>
                      </a:pPr>
                      <a:r>
                        <a:rPr/>
                        <a:t>0.604</a:t>
                      </a:r>
                    </a:p>
                  </a:txBody>
                </a:tc>
                <a:tc>
                  <a:txBody>
                    <a:bodyPr/>
                    <a:lstStyle/>
                    <a:p>
                      <a:pPr lvl="0" indent="0" marL="0" algn="r">
                        <a:buNone/>
                      </a:pPr>
                      <a:r>
                        <a:rPr/>
                        <a:t>0.595</a:t>
                      </a:r>
                    </a:p>
                  </a:txBody>
                </a:tc>
                <a:tc>
                  <a:txBody>
                    <a:bodyPr/>
                    <a:lstStyle/>
                    <a:p>
                      <a:pPr lvl="0" indent="0" marL="0" algn="r">
                        <a:buNone/>
                      </a:pPr>
                      <a:r>
                        <a:rPr/>
                        <a:t>0.407</a:t>
                      </a:r>
                    </a:p>
                  </a:txBody>
                </a:tc>
                <a:tc>
                  <a:txBody>
                    <a:bodyPr/>
                    <a:lstStyle/>
                    <a:p>
                      <a:pPr lvl="0" indent="0" marL="0">
                        <a:buNone/>
                      </a:pPr>
                      <a:r>
                        <a:rPr/>
                        <a:t>Superseded evaluation; label support changed by fold</a:t>
                      </a:r>
                    </a:p>
                  </a:txBody>
                </a:tc>
              </a:tr>
              <a:tr h="0">
                <a:tc>
                  <a:txBody>
                    <a:bodyPr/>
                    <a:lstStyle/>
                    <a:p>
                      <a:pPr lvl="0" indent="0" marL="0">
                        <a:buNone/>
                      </a:pPr>
                      <a:r>
                        <a:rPr/>
                        <a:t>Lane C five-class, corrected two-fold mean</a:t>
                      </a:r>
                    </a:p>
                  </a:txBody>
                </a:tc>
                <a:tc>
                  <a:txBody>
                    <a:bodyPr/>
                    <a:lstStyle/>
                    <a:p>
                      <a:pPr lvl="0" indent="0" marL="0" algn="r">
                        <a:buNone/>
                      </a:pPr>
                      <a:r>
                        <a:rPr/>
                        <a:t>0.653</a:t>
                      </a:r>
                    </a:p>
                  </a:txBody>
                </a:tc>
                <a:tc>
                  <a:txBody>
                    <a:bodyPr/>
                    <a:lstStyle/>
                    <a:p>
                      <a:pPr lvl="0" indent="0" marL="0" algn="r">
                        <a:buNone/>
                      </a:pPr>
                      <a:r>
                        <a:rPr/>
                        <a:t>0.603</a:t>
                      </a:r>
                    </a:p>
                  </a:txBody>
                </a:tc>
                <a:tc>
                  <a:txBody>
                    <a:bodyPr/>
                    <a:lstStyle/>
                    <a:p>
                      <a:pPr lvl="0" indent="0" marL="0" algn="r">
                        <a:buNone/>
                      </a:pPr>
                      <a:r>
                        <a:rPr/>
                        <a:t>0.625</a:t>
                      </a:r>
                    </a:p>
                  </a:txBody>
                </a:tc>
                <a:tc>
                  <a:txBody>
                    <a:bodyPr/>
                    <a:lstStyle/>
                    <a:p>
                      <a:pPr lvl="0" indent="0" marL="0">
                        <a:buNone/>
                      </a:pPr>
                      <a:r>
                        <a:rPr/>
                        <a:t>Same checkpoint; every fold has all five labels</a:t>
                      </a:r>
                    </a:p>
                  </a:txBody>
                </a:tc>
              </a:tr>
              <a:tr h="0">
                <a:tc>
                  <a:txBody>
                    <a:bodyPr/>
                    <a:lstStyle/>
                    <a:p>
                      <a:pPr lvl="0" indent="0" marL="0">
                        <a:buNone/>
                      </a:pPr>
                      <a:r>
                        <a:rPr/>
                        <a:t>Lane C five-class, corrected pooled predictions</a:t>
                      </a:r>
                    </a:p>
                  </a:txBody>
                </a:tc>
                <a:tc>
                  <a:txBody>
                    <a:bodyPr/>
                    <a:lstStyle/>
                    <a:p>
                      <a:pPr lvl="0" indent="0" marL="0" algn="r">
                        <a:buNone/>
                      </a:pPr>
                      <a:r>
                        <a:rPr/>
                        <a:t>0.654</a:t>
                      </a:r>
                    </a:p>
                  </a:txBody>
                </a:tc>
                <a:tc>
                  <a:txBody>
                    <a:bodyPr/>
                    <a:lstStyle/>
                    <a:p>
                      <a:pPr lvl="0" indent="0" marL="0" algn="r">
                        <a:buNone/>
                      </a:pPr>
                      <a:r>
                        <a:rPr/>
                        <a:t>0.600</a:t>
                      </a:r>
                    </a:p>
                  </a:txBody>
                </a:tc>
                <a:tc>
                  <a:txBody>
                    <a:bodyPr/>
                    <a:lstStyle/>
                    <a:p>
                      <a:pPr lvl="0" indent="0" marL="0" algn="r">
                        <a:buNone/>
                      </a:pPr>
                      <a:r>
                        <a:rPr/>
                        <a:t>0.619</a:t>
                      </a:r>
                    </a:p>
                  </a:txBody>
                </a:tc>
                <a:tc>
                  <a:txBody>
                    <a:bodyPr/>
                    <a:lstStyle/>
                    <a:p>
                      <a:pPr lvl="0" indent="0" marL="0">
                        <a:buNone/>
                      </a:pPr>
                      <a:r>
                        <a:rPr/>
                        <a:t>Current summary; all 159 rows exposed</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small binary probes are regression checks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079500"/>
                <a:gridCol w="1435100"/>
                <a:gridCol w="1435100"/>
                <a:gridCol w="1435100"/>
                <a:gridCol w="1435100"/>
                <a:gridCol w="1435100"/>
              </a:tblGrid>
              <a:tr h="0">
                <a:tc>
                  <a:txBody>
                    <a:bodyPr/>
                    <a:lstStyle/>
                    <a:p>
                      <a:pPr lvl="0" indent="0" marL="0">
                        <a:buNone/>
                      </a:pPr>
                      <a:r>
                        <a:rPr/>
                        <a:t>Condition versus normal</a:t>
                      </a:r>
                    </a:p>
                  </a:txBody>
                  <a:tcPr/>
                </a:tc>
                <a:tc>
                  <a:txBody>
                    <a:bodyPr/>
                    <a:lstStyle/>
                    <a:p>
                      <a:pPr lvl="0" indent="0" marL="0" algn="r">
                        <a:buNone/>
                      </a:pPr>
                      <a:r>
                        <a:rPr/>
                        <a:t>Legacy accuracy</a:t>
                      </a:r>
                    </a:p>
                  </a:txBody>
                  <a:tcPr/>
                </a:tc>
                <a:tc>
                  <a:txBody>
                    <a:bodyPr/>
                    <a:lstStyle/>
                    <a:p>
                      <a:pPr lvl="0" indent="0" marL="0" algn="r">
                        <a:buNone/>
                      </a:pPr>
                      <a:r>
                        <a:rPr/>
                        <a:t>Current accuracy</a:t>
                      </a:r>
                    </a:p>
                  </a:txBody>
                  <a:tcPr/>
                </a:tc>
                <a:tc>
                  <a:txBody>
                    <a:bodyPr/>
                    <a:lstStyle/>
                    <a:p>
                      <a:pPr lvl="0" indent="0" marL="0" algn="r">
                        <a:buNone/>
                      </a:pPr>
                      <a:r>
                        <a:rPr/>
                        <a:t>Legacy macro-F1</a:t>
                      </a:r>
                    </a:p>
                  </a:txBody>
                  <a:tcPr/>
                </a:tc>
                <a:tc>
                  <a:txBody>
                    <a:bodyPr/>
                    <a:lstStyle/>
                    <a:p>
                      <a:pPr lvl="0" indent="0" marL="0" algn="r">
                        <a:buNone/>
                      </a:pPr>
                      <a:r>
                        <a:rPr/>
                        <a:t>Current macro-F1</a:t>
                      </a:r>
                    </a:p>
                  </a:txBody>
                  <a:tcPr/>
                </a:tc>
                <a:tc>
                  <a:txBody>
                    <a:bodyPr/>
                    <a:lstStyle/>
                    <a:p>
                      <a:pPr lvl="0" indent="0" marL="0" algn="r">
                        <a:buNone/>
                      </a:pPr>
                      <a:r>
                        <a:rPr/>
                        <a:t>Test rows</a:t>
                      </a:r>
                    </a:p>
                  </a:txBody>
                  <a:tcPr/>
                </a:tc>
              </a:tr>
              <a:tr h="0">
                <a:tc>
                  <a:txBody>
                    <a:bodyPr/>
                    <a:lstStyle/>
                    <a:p>
                      <a:pPr lvl="0" indent="0" marL="0">
                        <a:buNone/>
                      </a:pPr>
                      <a:r>
                        <a:rPr/>
                        <a:t>Parkinson’s</a:t>
                      </a:r>
                    </a:p>
                  </a:txBody>
                </a:tc>
                <a:tc>
                  <a:txBody>
                    <a:bodyPr/>
                    <a:lstStyle/>
                    <a:p>
                      <a:pPr lvl="0" indent="0" marL="0" algn="r">
                        <a:buNone/>
                      </a:pPr>
                      <a:r>
                        <a:rPr/>
                        <a:t>0.714</a:t>
                      </a:r>
                    </a:p>
                  </a:txBody>
                </a:tc>
                <a:tc>
                  <a:txBody>
                    <a:bodyPr/>
                    <a:lstStyle/>
                    <a:p>
                      <a:pPr lvl="0" indent="0" marL="0" algn="r">
                        <a:buNone/>
                      </a:pPr>
                      <a:r>
                        <a:rPr/>
                        <a:t>1.000</a:t>
                      </a:r>
                    </a:p>
                  </a:txBody>
                </a:tc>
                <a:tc>
                  <a:txBody>
                    <a:bodyPr/>
                    <a:lstStyle/>
                    <a:p>
                      <a:pPr lvl="0" indent="0" marL="0" algn="r">
                        <a:buNone/>
                      </a:pPr>
                      <a:r>
                        <a:rPr/>
                        <a:t>0.708</a:t>
                      </a:r>
                    </a:p>
                  </a:txBody>
                </a:tc>
                <a:tc>
                  <a:txBody>
                    <a:bodyPr/>
                    <a:lstStyle/>
                    <a:p>
                      <a:pPr lvl="0" indent="0" marL="0" algn="r">
                        <a:buNone/>
                      </a:pPr>
                      <a:r>
                        <a:rPr/>
                        <a:t>1.000</a:t>
                      </a:r>
                    </a:p>
                  </a:txBody>
                </a:tc>
                <a:tc>
                  <a:txBody>
                    <a:bodyPr/>
                    <a:lstStyle/>
                    <a:p>
                      <a:pPr lvl="0" indent="0" marL="0" algn="r">
                        <a:buNone/>
                      </a:pPr>
                      <a:r>
                        <a:rPr/>
                        <a:t>7</a:t>
                      </a:r>
                    </a:p>
                  </a:txBody>
                </a:tc>
              </a:tr>
              <a:tr h="0">
                <a:tc>
                  <a:txBody>
                    <a:bodyPr/>
                    <a:lstStyle/>
                    <a:p>
                      <a:pPr lvl="0" indent="0" marL="0">
                        <a:buNone/>
                      </a:pPr>
                      <a:r>
                        <a:rPr/>
                        <a:t>Stroke</a:t>
                      </a:r>
                    </a:p>
                  </a:txBody>
                </a:tc>
                <a:tc>
                  <a:txBody>
                    <a:bodyPr/>
                    <a:lstStyle/>
                    <a:p>
                      <a:pPr lvl="0" indent="0" marL="0" algn="r">
                        <a:buNone/>
                      </a:pPr>
                      <a:r>
                        <a:rPr/>
                        <a:t>0.857</a:t>
                      </a:r>
                    </a:p>
                  </a:txBody>
                </a:tc>
                <a:tc>
                  <a:txBody>
                    <a:bodyPr/>
                    <a:lstStyle/>
                    <a:p>
                      <a:pPr lvl="0" indent="0" marL="0" algn="r">
                        <a:buNone/>
                      </a:pPr>
                      <a:r>
                        <a:rPr/>
                        <a:t>1.000</a:t>
                      </a:r>
                    </a:p>
                  </a:txBody>
                </a:tc>
                <a:tc>
                  <a:txBody>
                    <a:bodyPr/>
                    <a:lstStyle/>
                    <a:p>
                      <a:pPr lvl="0" indent="0" marL="0" algn="r">
                        <a:buNone/>
                      </a:pPr>
                      <a:r>
                        <a:rPr/>
                        <a:t>0.857</a:t>
                      </a:r>
                    </a:p>
                  </a:txBody>
                </a:tc>
                <a:tc>
                  <a:txBody>
                    <a:bodyPr/>
                    <a:lstStyle/>
                    <a:p>
                      <a:pPr lvl="0" indent="0" marL="0" algn="r">
                        <a:buNone/>
                      </a:pPr>
                      <a:r>
                        <a:rPr/>
                        <a:t>1.000</a:t>
                      </a:r>
                    </a:p>
                  </a:txBody>
                </a:tc>
                <a:tc>
                  <a:txBody>
                    <a:bodyPr/>
                    <a:lstStyle/>
                    <a:p>
                      <a:pPr lvl="0" indent="0" marL="0" algn="r">
                        <a:buNone/>
                      </a:pPr>
                      <a:r>
                        <a:rPr/>
                        <a:t>7</a:t>
                      </a:r>
                    </a:p>
                  </a:txBody>
                </a:tc>
              </a:tr>
              <a:tr h="0">
                <a:tc>
                  <a:txBody>
                    <a:bodyPr/>
                    <a:lstStyle/>
                    <a:p>
                      <a:pPr lvl="0" indent="0" marL="0">
                        <a:buNone/>
                      </a:pPr>
                      <a:r>
                        <a:rPr/>
                        <a:t>Myopathic</a:t>
                      </a:r>
                    </a:p>
                  </a:txBody>
                </a:tc>
                <a:tc>
                  <a:txBody>
                    <a:bodyPr/>
                    <a:lstStyle/>
                    <a:p>
                      <a:pPr lvl="0" indent="0" marL="0" algn="r">
                        <a:buNone/>
                      </a:pPr>
                      <a:r>
                        <a:rPr/>
                        <a:t>0.778</a:t>
                      </a:r>
                    </a:p>
                  </a:txBody>
                </a:tc>
                <a:tc>
                  <a:txBody>
                    <a:bodyPr/>
                    <a:lstStyle/>
                    <a:p>
                      <a:pPr lvl="0" indent="0" marL="0" algn="r">
                        <a:buNone/>
                      </a:pPr>
                      <a:r>
                        <a:rPr/>
                        <a:t>0.944</a:t>
                      </a:r>
                    </a:p>
                  </a:txBody>
                </a:tc>
                <a:tc>
                  <a:txBody>
                    <a:bodyPr/>
                    <a:lstStyle/>
                    <a:p>
                      <a:pPr lvl="0" indent="0" marL="0" algn="r">
                        <a:buNone/>
                      </a:pPr>
                      <a:r>
                        <a:rPr/>
                        <a:t>0.679</a:t>
                      </a:r>
                    </a:p>
                  </a:txBody>
                </a:tc>
                <a:tc>
                  <a:txBody>
                    <a:bodyPr/>
                    <a:lstStyle/>
                    <a:p>
                      <a:pPr lvl="0" indent="0" marL="0" algn="r">
                        <a:buNone/>
                      </a:pPr>
                      <a:r>
                        <a:rPr/>
                        <a:t>0.926</a:t>
                      </a:r>
                    </a:p>
                  </a:txBody>
                </a:tc>
                <a:tc>
                  <a:txBody>
                    <a:bodyPr/>
                    <a:lstStyle/>
                    <a:p>
                      <a:pPr lvl="0" indent="0" marL="0" algn="r">
                        <a:buNone/>
                      </a:pPr>
                      <a:r>
                        <a:rPr/>
                        <a:t>18</a:t>
                      </a:r>
                    </a:p>
                  </a:txBody>
                </a:tc>
              </a:tr>
              <a:tr h="0">
                <a:tc>
                  <a:txBody>
                    <a:bodyPr/>
                    <a:lstStyle/>
                    <a:p>
                      <a:pPr lvl="0" indent="0" marL="0">
                        <a:buNone/>
                      </a:pPr>
                      <a:r>
                        <a:rPr/>
                        <a:t>Cerebral palsy</a:t>
                      </a:r>
                    </a:p>
                  </a:txBody>
                </a:tc>
                <a:tc>
                  <a:txBody>
                    <a:bodyPr/>
                    <a:lstStyle/>
                    <a:p>
                      <a:pPr lvl="0" indent="0" marL="0" algn="r">
                        <a:buNone/>
                      </a:pPr>
                      <a:r>
                        <a:rPr/>
                        <a:t>0.889</a:t>
                      </a:r>
                    </a:p>
                  </a:txBody>
                </a:tc>
                <a:tc>
                  <a:txBody>
                    <a:bodyPr/>
                    <a:lstStyle/>
                    <a:p>
                      <a:pPr lvl="0" indent="0" marL="0" algn="r">
                        <a:buNone/>
                      </a:pPr>
                      <a:r>
                        <a:rPr/>
                        <a:t>0.889</a:t>
                      </a:r>
                    </a:p>
                  </a:txBody>
                </a:tc>
                <a:tc>
                  <a:txBody>
                    <a:bodyPr/>
                    <a:lstStyle/>
                    <a:p>
                      <a:pPr lvl="0" indent="0" marL="0" algn="r">
                        <a:buNone/>
                      </a:pPr>
                      <a:r>
                        <a:rPr/>
                        <a:t>0.883</a:t>
                      </a:r>
                    </a:p>
                  </a:txBody>
                </a:tc>
                <a:tc>
                  <a:txBody>
                    <a:bodyPr/>
                    <a:lstStyle/>
                    <a:p>
                      <a:pPr lvl="0" indent="0" marL="0" algn="r">
                        <a:buNone/>
                      </a:pPr>
                      <a:r>
                        <a:rPr/>
                        <a:t>0.889</a:t>
                      </a:r>
                    </a:p>
                  </a:txBody>
                </a:tc>
                <a:tc>
                  <a:txBody>
                    <a:bodyPr/>
                    <a:lstStyle/>
                    <a:p>
                      <a:pPr lvl="0" indent="0" marL="0" algn="r">
                        <a:buNone/>
                      </a:pPr>
                      <a:r>
                        <a:rPr/>
                        <a:t>9</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controls, baselines, and binary Lane C</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lvl="0" indent="0" marL="0">
                        <a:buNone/>
                      </a:pPr>
                      <a:r>
                        <a:rPr/>
                        <a:t>Check</a:t>
                      </a:r>
                    </a:p>
                  </a:txBody>
                  <a:tcPr/>
                </a:tc>
                <a:tc>
                  <a:txBody>
                    <a:bodyPr/>
                    <a:lstStyle/>
                    <a:p>
                      <a:pPr lvl="0" indent="0" marL="0" algn="r">
                        <a:buNone/>
                      </a:pPr>
                      <a:r>
                        <a:rPr/>
                        <a:t>Accuracy</a:t>
                      </a:r>
                    </a:p>
                  </a:txBody>
                  <a:tcPr/>
                </a:tc>
                <a:tc>
                  <a:txBody>
                    <a:bodyPr/>
                    <a:lstStyle/>
                    <a:p>
                      <a:pPr lvl="0" indent="0" marL="0" algn="r">
                        <a:buNone/>
                      </a:pPr>
                      <a:r>
                        <a:rPr/>
                        <a:t>Balanced accuracy</a:t>
                      </a:r>
                    </a:p>
                  </a:txBody>
                  <a:tcPr/>
                </a:tc>
                <a:tc>
                  <a:txBody>
                    <a:bodyPr/>
                    <a:lstStyle/>
                    <a:p>
                      <a:pPr lvl="0" indent="0" marL="0" algn="r">
                        <a:buNone/>
                      </a:pPr>
                      <a:r>
                        <a:rPr/>
                        <a:t>Macro-F1</a:t>
                      </a:r>
                    </a:p>
                  </a:txBody>
                  <a:tcPr/>
                </a:tc>
                <a:tc>
                  <a:txBody>
                    <a:bodyPr/>
                    <a:lstStyle/>
                    <a:p>
                      <a:pPr lvl="0" indent="0" marL="0">
                        <a:buNone/>
                      </a:pPr>
                      <a:r>
                        <a:rPr/>
                        <a:t>Additional detail</a:t>
                      </a:r>
                    </a:p>
                  </a:txBody>
                  <a:tcPr/>
                </a:tc>
              </a:tr>
              <a:tr h="0">
                <a:tc>
                  <a:txBody>
                    <a:bodyPr/>
                    <a:lstStyle/>
                    <a:p>
                      <a:pPr lvl="0" indent="0" marL="0">
                        <a:buNone/>
                      </a:pPr>
                      <a:r>
                        <a:rPr/>
                        <a:t>A1 missingness only</a:t>
                      </a:r>
                    </a:p>
                  </a:txBody>
                </a:tc>
                <a:tc>
                  <a:txBody>
                    <a:bodyPr/>
                    <a:lstStyle/>
                    <a:p>
                      <a:pPr lvl="0" indent="0" marL="0" algn="r">
                        <a:buNone/>
                      </a:pPr>
                      <a:r>
                        <a:rPr/>
                        <a:t>0.448</a:t>
                      </a:r>
                    </a:p>
                  </a:txBody>
                </a:tc>
                <a:tc>
                  <a:txBody>
                    <a:bodyPr/>
                    <a:lstStyle/>
                    <a:p>
                      <a:pPr lvl="0" indent="0" marL="0" algn="r">
                        <a:buNone/>
                      </a:pPr>
                      <a:r>
                        <a:rPr/>
                        <a:t>0.466</a:t>
                      </a:r>
                    </a:p>
                  </a:txBody>
                </a:tc>
                <a:tc>
                  <a:txBody>
                    <a:bodyPr/>
                    <a:lstStyle/>
                    <a:p>
                      <a:pPr lvl="0" indent="0" marL="0" algn="r">
                        <a:buNone/>
                      </a:pPr>
                      <a:r>
                        <a:rPr/>
                        <a:t>0.429</a:t>
                      </a:r>
                    </a:p>
                  </a:txBody>
                </a:tc>
                <a:tc>
                  <a:txBody>
                    <a:bodyPr/>
                    <a:lstStyle/>
                    <a:p>
                      <a:pPr lvl="0" indent="0" marL="0">
                        <a:buNone/>
                      </a:pPr>
                      <a:r>
                        <a:rPr/>
                        <a:t>97 visibility fractions, no coordinates</a:t>
                      </a:r>
                    </a:p>
                  </a:txBody>
                </a:tc>
              </a:tr>
              <a:tr h="0">
                <a:tc>
                  <a:txBody>
                    <a:bodyPr/>
                    <a:lstStyle/>
                    <a:p>
                      <a:pPr lvl="0" indent="0" marL="0">
                        <a:buNone/>
                      </a:pPr>
                      <a:r>
                        <a:rPr/>
                        <a:t>A2 missingness only</a:t>
                      </a:r>
                    </a:p>
                  </a:txBody>
                </a:tc>
                <a:tc>
                  <a:txBody>
                    <a:bodyPr/>
                    <a:lstStyle/>
                    <a:p>
                      <a:pPr lvl="0" indent="0" marL="0" algn="r">
                        <a:buNone/>
                      </a:pPr>
                      <a:r>
                        <a:rPr/>
                        <a:t>0.333</a:t>
                      </a:r>
                    </a:p>
                  </a:txBody>
                </a:tc>
                <a:tc>
                  <a:txBody>
                    <a:bodyPr/>
                    <a:lstStyle/>
                    <a:p>
                      <a:pPr lvl="0" indent="0" marL="0" algn="r">
                        <a:buNone/>
                      </a:pPr>
                      <a:r>
                        <a:rPr/>
                        <a:t>0.364</a:t>
                      </a:r>
                    </a:p>
                  </a:txBody>
                </a:tc>
                <a:tc>
                  <a:txBody>
                    <a:bodyPr/>
                    <a:lstStyle/>
                    <a:p>
                      <a:pPr lvl="0" indent="0" marL="0" algn="r">
                        <a:buNone/>
                      </a:pPr>
                      <a:r>
                        <a:rPr/>
                        <a:t>0.336</a:t>
                      </a:r>
                    </a:p>
                  </a:txBody>
                </a:tc>
                <a:tc>
                  <a:txBody>
                    <a:bodyPr/>
                    <a:lstStyle/>
                    <a:p>
                      <a:pPr lvl="0" indent="0" marL="0">
                        <a:buNone/>
                      </a:pPr>
                      <a:r>
                        <a:rPr/>
                        <a:t>Same control on the 47/21 assignment</a:t>
                      </a:r>
                    </a:p>
                  </a:txBody>
                </a:tc>
              </a:tr>
              <a:tr h="0">
                <a:tc>
                  <a:txBody>
                    <a:bodyPr/>
                    <a:lstStyle/>
                    <a:p>
                      <a:pPr lvl="0" indent="0" marL="0">
                        <a:buNone/>
                      </a:pPr>
                      <a:r>
                        <a:rPr/>
                        <a:t>A1 majority baseline</a:t>
                      </a:r>
                    </a:p>
                  </a:txBody>
                </a:tc>
                <a:tc>
                  <a:txBody>
                    <a:bodyPr/>
                    <a:lstStyle/>
                    <a:p>
                      <a:pPr lvl="0" indent="0" marL="0" algn="r">
                        <a:buNone/>
                      </a:pPr>
                      <a:r>
                        <a:rPr/>
                        <a:t>0.490</a:t>
                      </a:r>
                    </a:p>
                  </a:txBody>
                </a:tc>
                <a:tc>
                  <a:txBody>
                    <a:bodyPr/>
                    <a:lstStyle/>
                    <a:p>
                      <a:pPr lvl="0" indent="0" marL="0" algn="r">
                        <a:buNone/>
                      </a:pPr>
                      <a:r>
                        <a:rPr/>
                        <a:t>0.200</a:t>
                      </a:r>
                    </a:p>
                  </a:txBody>
                </a:tc>
                <a:tc>
                  <a:txBody>
                    <a:bodyPr/>
                    <a:lstStyle/>
                    <a:p>
                      <a:pPr lvl="0" indent="0" marL="0" algn="r">
                        <a:buNone/>
                      </a:pPr>
                      <a:r>
                        <a:rPr/>
                        <a:t>0.132</a:t>
                      </a:r>
                    </a:p>
                  </a:txBody>
                </a:tc>
                <a:tc>
                  <a:txBody>
                    <a:bodyPr/>
                    <a:lstStyle/>
                    <a:p>
                      <a:pPr lvl="0" indent="0" marL="0">
                        <a:buNone/>
                      </a:pPr>
                      <a:r>
                        <a:rPr/>
                        <a:t>Canonical majority is myopathic, 47 of 96</a:t>
                      </a:r>
                    </a:p>
                  </a:txBody>
                </a:tc>
              </a:tr>
              <a:tr h="0">
                <a:tc>
                  <a:txBody>
                    <a:bodyPr/>
                    <a:lstStyle/>
                    <a:p>
                      <a:pPr lvl="0" indent="0" marL="0">
                        <a:buNone/>
                      </a:pPr>
                      <a:r>
                        <a:rPr/>
                        <a:t>Lane C five-class majority</a:t>
                      </a:r>
                    </a:p>
                  </a:txBody>
                </a:tc>
                <a:tc>
                  <a:txBody>
                    <a:bodyPr/>
                    <a:lstStyle/>
                    <a:p>
                      <a:pPr lvl="0" indent="0" marL="0" algn="r">
                        <a:buNone/>
                      </a:pPr>
                      <a:r>
                        <a:rPr/>
                        <a:t>0.472</a:t>
                      </a:r>
                    </a:p>
                  </a:txBody>
                </a:tc>
                <a:tc>
                  <a:txBody>
                    <a:bodyPr/>
                    <a:lstStyle/>
                    <a:p>
                      <a:pPr lvl="0" indent="0" marL="0" algn="r">
                        <a:buNone/>
                      </a:pPr>
                      <a:r>
                        <a:rPr/>
                        <a:t>0.200</a:t>
                      </a:r>
                    </a:p>
                  </a:txBody>
                </a:tc>
                <a:tc>
                  <a:txBody>
                    <a:bodyPr/>
                    <a:lstStyle/>
                    <a:p>
                      <a:pPr lvl="0" indent="0" marL="0" algn="r">
                        <a:buNone/>
                      </a:pPr>
                      <a:r>
                        <a:rPr/>
                        <a:t>0.128</a:t>
                      </a:r>
                    </a:p>
                  </a:txBody>
                </a:tc>
                <a:tc>
                  <a:txBody>
                    <a:bodyPr/>
                    <a:lstStyle/>
                    <a:p>
                      <a:pPr lvl="0" indent="0" marL="0">
                        <a:buNone/>
                      </a:pPr>
                      <a:r>
                        <a:rPr/>
                        <a:t>Lane C majority is normal, 75 of 159</a:t>
                      </a:r>
                    </a:p>
                  </a:txBody>
                </a:tc>
              </a:tr>
              <a:tr h="0">
                <a:tc>
                  <a:txBody>
                    <a:bodyPr/>
                    <a:lstStyle/>
                    <a:p>
                      <a:pPr lvl="0" indent="0" marL="0">
                        <a:buNone/>
                      </a:pPr>
                      <a:r>
                        <a:rPr/>
                        <a:t>Lane C normal versus abnormal</a:t>
                      </a:r>
                    </a:p>
                  </a:txBody>
                </a:tc>
                <a:tc>
                  <a:txBody>
                    <a:bodyPr/>
                    <a:lstStyle/>
                    <a:p>
                      <a:pPr lvl="0" indent="0" marL="0" algn="r">
                        <a:buNone/>
                      </a:pPr>
                      <a:r>
                        <a:rPr/>
                        <a:t>0.849</a:t>
                      </a:r>
                    </a:p>
                  </a:txBody>
                </a:tc>
                <a:tc>
                  <a:txBody>
                    <a:bodyPr/>
                    <a:lstStyle/>
                    <a:p>
                      <a:pPr lvl="0" indent="0" marL="0" algn="r">
                        <a:buNone/>
                      </a:pPr>
                      <a:r>
                        <a:rPr/>
                        <a:t>0.874</a:t>
                      </a:r>
                    </a:p>
                  </a:txBody>
                </a:tc>
                <a:tc>
                  <a:txBody>
                    <a:bodyPr/>
                    <a:lstStyle/>
                    <a:p>
                      <a:pPr lvl="0" indent="0" marL="0" algn="r">
                        <a:buNone/>
                      </a:pPr>
                      <a:r>
                        <a:rPr/>
                        <a:t>0.826</a:t>
                      </a:r>
                    </a:p>
                  </a:txBody>
                </a:tc>
                <a:tc>
                  <a:txBody>
                    <a:bodyPr/>
                    <a:lstStyle/>
                    <a:p>
                      <a:pPr lvl="0" indent="0" marL="0">
                        <a:buNone/>
                      </a:pPr>
                      <a:r>
                        <a:rPr/>
                        <a:t>Five grouped RF folds; mean ROC AUC 0.966</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artifact contract rejects silent substitution</a:t>
            </a:r>
          </a:p>
        </p:txBody>
      </p:sp>
      <p:pic>
        <p:nvPicPr>
          <p:cNvPr descr="../docs/figures/evolution_artifact_contract.svg" id="0" name="Picture 1"/>
          <p:cNvPicPr>
            <a:picLocks noGrp="1" noChangeAspect="1"/>
          </p:cNvPicPr>
          <p:nvPr/>
        </p:nvPicPr>
        <p:blipFill>
          <a:blip r:embed="rId3"/>
          <a:stretch>
            <a:fillRect/>
          </a:stretch>
        </p:blipFill>
        <p:spPr bwMode="auto">
          <a:xfrm>
            <a:off x="1231900" y="1193800"/>
            <a:ext cx="6692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Checkpoint lineage, embeddings, readouts, and figures must agree on the completed curriculum and experiment fingerprint.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seven notebooks form one audit trail</a:t>
            </a:r>
          </a:p>
        </p:txBody>
      </p:sp>
      <p:pic>
        <p:nvPicPr>
          <p:cNvPr descr="../images/09_notebook_roadmap.svg" id="0" name="Picture 1"/>
          <p:cNvPicPr>
            <a:picLocks noGrp="1" noChangeAspect="1"/>
          </p:cNvPicPr>
          <p:nvPr/>
        </p:nvPicPr>
        <p:blipFill>
          <a:blip r:embed="rId3"/>
          <a:stretch>
            <a:fillRect/>
          </a:stretch>
        </p:blipFill>
        <p:spPr bwMode="auto">
          <a:xfrm>
            <a:off x="2171700" y="1193800"/>
            <a:ext cx="4800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Each notebook produces an artifact that the next notebook can verify.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reproduce and verify</a:t>
            </a:r>
          </a:p>
        </p:txBody>
      </p:sp>
      <p:sp>
        <p:nvSpPr>
          <p:cNvPr id="3" name="Content Placeholder 2"/>
          <p:cNvSpPr>
            <a:spLocks noGrp="1"/>
          </p:cNvSpPr>
          <p:nvPr>
            <p:ph idx="1" sz="half"/>
          </p:nvPr>
        </p:nvSpPr>
        <p:spPr/>
        <p:txBody>
          <a:bodyPr/>
          <a:lstStyle/>
          <a:p>
            <a:pPr lvl="0" indent="0" marL="0">
              <a:buNone/>
            </a:pPr>
            <a:r>
              <a:rPr b="1"/>
              <a:t>Primary artifacts</a:t>
            </a:r>
          </a:p>
          <a:p>
            <a:pPr lvl="0"/>
            <a:r>
              <a:rPr>
                <a:latin typeface="Courier"/>
              </a:rPr>
              <a:t>sjepa_curriculum_final_augmented.pt</a:t>
            </a:r>
          </a:p>
          <a:p>
            <a:pPr lvl="0"/>
            <a:r>
              <a:rPr>
                <a:latin typeface="Courier"/>
              </a:rPr>
              <a:t>curriculum_training_history_augmented.csv</a:t>
            </a:r>
          </a:p>
          <a:p>
            <a:pPr lvl="0"/>
            <a:r>
              <a:rPr>
                <a:latin typeface="Courier"/>
              </a:rPr>
              <a:t>curriculum_stage_summary_augmented.csv</a:t>
            </a:r>
          </a:p>
          <a:p>
            <a:pPr lvl="0"/>
            <a:r>
              <a:rPr>
                <a:latin typeface="Courier"/>
              </a:rPr>
              <a:t>sequence_embeddings.parquet</a:t>
            </a:r>
          </a:p>
          <a:p>
            <a:pPr lvl="0"/>
            <a:r>
              <a:rPr>
                <a:latin typeface="Courier"/>
              </a:rPr>
              <a:t>classifier_metrics.csv</a:t>
            </a:r>
          </a:p>
          <a:p>
            <a:pPr lvl="0"/>
            <a:r>
              <a:rPr>
                <a:latin typeface="Courier"/>
              </a:rPr>
              <a:t>lane_c_video_disjoint_metrics.csv</a:t>
            </a:r>
          </a:p>
          <a:p>
            <a:pPr lvl="0"/>
            <a:r>
              <a:rPr>
                <a:latin typeface="Courier"/>
              </a:rPr>
              <a:t>classifier_contract.json</a:t>
            </a:r>
          </a:p>
          <a:p>
            <a:pPr lvl="0"/>
            <a:r>
              <a:rPr>
                <a:latin typeface="Courier"/>
              </a:rPr>
              <a:t>result_history.csv</a:t>
            </a:r>
          </a:p>
        </p:txBody>
      </p:sp>
      <p:sp>
        <p:nvSpPr>
          <p:cNvPr id="4" name="Content Placeholder 3"/>
          <p:cNvSpPr>
            <a:spLocks noGrp="1"/>
          </p:cNvSpPr>
          <p:nvPr>
            <p:ph idx="2" sz="half"/>
          </p:nvPr>
        </p:nvSpPr>
        <p:spPr/>
        <p:txBody>
          <a:bodyPr/>
          <a:lstStyle/>
          <a:p>
            <a:pPr lvl="0" indent="0" marL="0">
              <a:buNone/>
            </a:pPr>
            <a:r>
              <a:rPr b="1"/>
              <a:t>Current experiment identity</a:t>
            </a:r>
          </a:p>
          <a:p>
            <a:pPr lvl="0" indent="0" marL="0">
              <a:buNone/>
            </a:pPr>
            <a:r>
              <a:rPr>
                <a:latin typeface="Courier"/>
              </a:rPr>
              <a:t>d0acc2628d134959d8b91e96d5112fc3bed560fe8feb9569e5b13b11a8b614d1</a:t>
            </a:r>
          </a:p>
          <a:p>
            <a:pPr lvl="0" indent="0" marL="0">
              <a:buNone/>
            </a:pPr>
            <a:r>
              <a:rPr/>
              <a:t>The fingerprint names data and configuration lineage. It is not a byte checksum.</a:t>
            </a:r>
          </a:p>
          <a:p>
            <a:pPr lvl="0" indent="0" marL="0">
              <a:buNone/>
            </a:pPr>
            <a:r>
              <a:rPr/>
              <a:t>Run notebooks 00 through 06 in order. Use real mode for reported values.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separate completed work from proposed work</a:t>
            </a:r>
          </a:p>
        </p:txBody>
      </p:sp>
      <p:pic>
        <p:nvPicPr>
          <p:cNvPr descr="../docs/figures/evolution_status_map.svg" id="0" name="Picture 1"/>
          <p:cNvPicPr>
            <a:picLocks noGrp="1" noChangeAspect="1"/>
          </p:cNvPicPr>
          <p:nvPr/>
        </p:nvPicPr>
        <p:blipFill>
          <a:blip r:embed="rId3"/>
          <a:stretch>
            <a:fillRect/>
          </a:stretch>
        </p:blipFill>
        <p:spPr bwMode="auto">
          <a:xfrm>
            <a:off x="2044700" y="1193800"/>
            <a:ext cx="5054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Only the green column describes the completed checkpoint.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references and responsible use</a:t>
            </a:r>
          </a:p>
        </p:txBody>
      </p:sp>
      <p:sp>
        <p:nvSpPr>
          <p:cNvPr id="3" name="Content Placeholder 2"/>
          <p:cNvSpPr>
            <a:spLocks noGrp="1"/>
          </p:cNvSpPr>
          <p:nvPr>
            <p:ph idx="1" sz="half"/>
          </p:nvPr>
        </p:nvSpPr>
        <p:spPr/>
        <p:txBody>
          <a:bodyPr/>
          <a:lstStyle/>
          <a:p>
            <a:pPr lvl="0" indent="-342900" marL="342900">
              <a:buAutoNum type="arabicPeriod"/>
            </a:pPr>
            <a:r>
              <a:rPr/>
              <a:t>Abdelfattah and Alahi. S-JEPA. </a:t>
            </a:r>
            <a:r>
              <a:rPr i="1"/>
              <a:t>ECCV</a:t>
            </a:r>
            <a:r>
              <a:rPr/>
              <a:t>, 2024. </a:t>
            </a:r>
            <a:r>
              <a:rPr>
                <a:hlinkClick r:id="rId3"/>
              </a:rPr>
              <a:t>DOI</a:t>
            </a:r>
          </a:p>
          <a:p>
            <a:pPr lvl="0" indent="-342900" marL="342900">
              <a:buAutoNum type="arabicPeriod"/>
            </a:pPr>
            <a:r>
              <a:rPr/>
              <a:t>Assran et al. I-JEPA. </a:t>
            </a:r>
            <a:r>
              <a:rPr i="1"/>
              <a:t>CVPR</a:t>
            </a:r>
            <a:r>
              <a:rPr/>
              <a:t>, 2023. </a:t>
            </a:r>
            <a:r>
              <a:rPr>
                <a:hlinkClick r:id="rId4"/>
              </a:rPr>
              <a:t>DOI</a:t>
            </a:r>
          </a:p>
          <a:p>
            <a:pPr lvl="0" indent="-342900" marL="342900">
              <a:buAutoNum type="arabicPeriod"/>
            </a:pPr>
            <a:r>
              <a:rPr/>
              <a:t>Ranjan et al. GAVD. </a:t>
            </a:r>
            <a:r>
              <a:rPr i="1"/>
              <a:t>IEEE Access</a:t>
            </a:r>
            <a:r>
              <a:rPr/>
              <a:t>, 2025. </a:t>
            </a:r>
            <a:r>
              <a:rPr>
                <a:hlinkClick r:id="rId5"/>
              </a:rPr>
              <a:t>DOI</a:t>
            </a:r>
          </a:p>
          <a:p>
            <a:pPr lvl="0" indent="-342900" marL="342900">
              <a:buAutoNum type="arabicPeriod"/>
            </a:pPr>
            <a:r>
              <a:rPr/>
              <a:t>Grishchenko et al. BlazePose GHUM Holistic, 2022. </a:t>
            </a:r>
            <a:r>
              <a:rPr>
                <a:hlinkClick r:id="rId6"/>
              </a:rPr>
              <a:t>DOI</a:t>
            </a:r>
          </a:p>
          <a:p>
            <a:pPr lvl="0" indent="-342900" marL="342900">
              <a:buAutoNum type="arabicPeriod"/>
            </a:pPr>
            <a:r>
              <a:rPr/>
              <a:t>Bardes, Ponce, and LeCun. VICReg. </a:t>
            </a:r>
            <a:r>
              <a:rPr i="1"/>
              <a:t>ICLR</a:t>
            </a:r>
            <a:r>
              <a:rPr/>
              <a:t>, 2022. </a:t>
            </a:r>
            <a:r>
              <a:rPr>
                <a:hlinkClick r:id="rId7"/>
              </a:rPr>
              <a:t>OpenReview</a:t>
            </a:r>
          </a:p>
          <a:p>
            <a:pPr lvl="0" indent="-342900" marL="342900">
              <a:buAutoNum type="arabicPeriod"/>
            </a:pPr>
            <a:r>
              <a:rPr/>
              <a:t>Google AI Edge. Pose Landmark Detection Guide. </a:t>
            </a:r>
            <a:r>
              <a:rPr>
                <a:hlinkClick r:id="rId8"/>
              </a:rPr>
              <a:t>Documentation</a:t>
            </a:r>
          </a:p>
        </p:txBody>
      </p:sp>
      <p:sp>
        <p:nvSpPr>
          <p:cNvPr id="4" name="Content Placeholder 3"/>
          <p:cNvSpPr>
            <a:spLocks noGrp="1"/>
          </p:cNvSpPr>
          <p:nvPr>
            <p:ph idx="2" sz="half"/>
          </p:nvPr>
        </p:nvSpPr>
        <p:spPr/>
        <p:txBody>
          <a:bodyPr/>
          <a:lstStyle/>
          <a:p>
            <a:pPr lvl="0" indent="-342900" marL="342900">
              <a:buAutoNum startAt="7" type="arabicPeriod"/>
            </a:pPr>
            <a:r>
              <a:rPr/>
              <a:t>Roberts et al. Group-aware cross-validation. </a:t>
            </a:r>
            <a:r>
              <a:rPr i="1"/>
              <a:t>Ecography</a:t>
            </a:r>
            <a:r>
              <a:rPr/>
              <a:t>, 2017. </a:t>
            </a:r>
            <a:r>
              <a:rPr>
                <a:hlinkClick r:id="rId9"/>
              </a:rPr>
              <a:t>DOI</a:t>
            </a:r>
          </a:p>
          <a:p>
            <a:pPr lvl="0" indent="-342900" marL="342900">
              <a:buAutoNum startAt="7" type="arabicPeriod"/>
            </a:pPr>
            <a:r>
              <a:rPr/>
              <a:t>Bengio and Grandvalet. Variance of K-fold cross-validation. </a:t>
            </a:r>
            <a:r>
              <a:rPr i="1"/>
              <a:t>JMLR</a:t>
            </a:r>
            <a:r>
              <a:rPr/>
              <a:t>, 2004. </a:t>
            </a:r>
            <a:r>
              <a:rPr>
                <a:hlinkClick r:id="rId10"/>
              </a:rPr>
              <a:t>Article</a:t>
            </a:r>
          </a:p>
          <a:p>
            <a:pPr lvl="0" indent="-342900" marL="342900">
              <a:buAutoNum startAt="7" type="arabicPeriod"/>
            </a:pPr>
            <a:r>
              <a:rPr/>
              <a:t>Rousseeuw. Silhouettes for cluster analysis, 1987. </a:t>
            </a:r>
            <a:r>
              <a:rPr>
                <a:hlinkClick r:id="rId11"/>
              </a:rPr>
              <a:t>DOI</a:t>
            </a:r>
          </a:p>
          <a:p>
            <a:pPr lvl="0" indent="-342900" marL="342900">
              <a:buAutoNum startAt="7" type="arabicPeriod"/>
            </a:pPr>
            <a:r>
              <a:rPr/>
              <a:t>Breiman. Random Forests. </a:t>
            </a:r>
            <a:r>
              <a:rPr i="1"/>
              <a:t>Machine Learning</a:t>
            </a:r>
            <a:r>
              <a:rPr/>
              <a:t>, 2001. </a:t>
            </a:r>
            <a:r>
              <a:rPr>
                <a:hlinkClick r:id="rId12"/>
              </a:rPr>
              <a:t>DOI</a:t>
            </a:r>
          </a:p>
          <a:p>
            <a:pPr lvl="0" indent="-342900" marL="342900">
              <a:buAutoNum startAt="7" type="arabicPeriod"/>
            </a:pPr>
            <a:r>
              <a:rPr/>
              <a:t>Hui et al. Motion-topology masked prediction. </a:t>
            </a:r>
            <a:r>
              <a:rPr i="1"/>
              <a:t>Scientific Reports</a:t>
            </a:r>
            <a:r>
              <a:rPr/>
              <a:t>, 2026. </a:t>
            </a:r>
            <a:r>
              <a:rPr>
                <a:hlinkClick r:id="rId13"/>
              </a:rPr>
              <a:t>DOI</a:t>
            </a:r>
          </a:p>
          <a:p>
            <a:pPr lvl="0" indent="0" marL="0">
              <a:buNone/>
            </a:pPr>
            <a:r>
              <a:rPr b="1"/>
              <a:t>Responsible use:</a:t>
            </a:r>
            <a:r>
              <a:rPr/>
              <a:t> research comparison only. Do not use these outputs for diagnosis, triage, or patient-level decisions.</a:t>
            </a:r>
          </a:p>
        </p:txBody>
      </p:sp>
    </p:spTree>
  </p:cSld>
</p:sld>
</file>

<file path=ppt/theme/theme1.xml><?xml version="1.0" encoding="utf-8"?>
<a:theme xmlns:a="http://schemas.openxmlformats.org/drawingml/2006/main" name="GAVD3 S-JEPA Theme">
  <a:themeElements>
    <a:clrScheme name="Office">
      <a:dk1>
        <a:srgbClr val="17324D"/>
      </a:dk1>
      <a:lt1>
        <a:srgbClr val="FBFAF7"/>
      </a:lt1>
      <a:dk2>
        <a:srgbClr val="244D70"/>
      </a:dk2>
      <a:lt2>
        <a:srgbClr val="EEF3F6"/>
      </a:lt2>
      <a:accent1>
        <a:srgbClr val="3977A8"/>
      </a:accent1>
      <a:accent2>
        <a:srgbClr val="D97745"/>
      </a:accent2>
      <a:accent3>
        <a:srgbClr val="3D8B7D"/>
      </a:accent3>
      <a:accent4>
        <a:srgbClr val="7562A8"/>
      </a:accent4>
      <a:accent5>
        <a:srgbClr val="D9A441"/>
      </a:accent5>
      <a:accent6>
        <a:srgbClr val="B94E48"/>
      </a:accent6>
      <a:hlink>
        <a:srgbClr val="1D6395"/>
      </a:hlink>
      <a:folHlink>
        <a:srgbClr val="7562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GAVD3 S-JEPA study evolved</dc:title>
  <dc:creator>GAVD3 S-JEPA tutorial</dc:creator>
  <cp:keywords/>
  <dcterms:created xsi:type="dcterms:W3CDTF">2026-08-06T06:09:04Z</dcterms:created>
  <dcterms:modified xsi:type="dcterms:W3CDTF">2026-08-06T06:09:04Z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August 2026</vt:lpwstr>
  </property>
  <property fmtid="{D5CDD505-2E9C-101B-9397-08002B2CF9AE}" pid="3" name="slide-level">
    <vt:lpwstr>1</vt:lpwstr>
  </property>
  <property fmtid="{D5CDD505-2E9C-101B-9397-08002B2CF9AE}" pid="4" name="subtitle">
    <vt:lpwstr>What changed, what improved, and what still remains untested</vt:lpwstr>
  </property>
</Properties>
</file>