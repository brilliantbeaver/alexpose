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9d5fd71ce64a2e" /><Relationship Type="http://schemas.openxmlformats.org/officeDocument/2006/relationships/extended-properties" Target="/docProps/app.xml" Id="R3a2755d218014561" /><Relationship Type="http://schemas.openxmlformats.org/officeDocument/2006/relationships/officeDocument" Target="/ppt/presentation.xml" Id="Rc2f17658017b46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fc83b779654034"/>
  </p:sldMasterIdLst>
  <p:notesMasterIdLst>
    <p:notesMasterId xmlns:r="http://schemas.openxmlformats.org/officeDocument/2006/relationships" r:id="R4d17c49b6adb4929"/>
  </p:notesMasterIdLst>
  <p:sldIdLst>
    <p:sldId xmlns:r="http://schemas.openxmlformats.org/officeDocument/2006/relationships" id="256" r:id="Reed0e63cfb68447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f5d0888dca4020" /><Relationship Type="http://schemas.openxmlformats.org/officeDocument/2006/relationships/slideMaster" Target="/ppt/slideMasters/slideMaster1.xml" Id="R33fc83b779654034" /><Relationship Type="http://schemas.openxmlformats.org/officeDocument/2006/relationships/notesMaster" Target="/ppt/notesMasters/notesMaster1.xml" Id="R4d17c49b6adb4929" /><Relationship Type="http://schemas.openxmlformats.org/officeDocument/2006/relationships/presProps" Target="/ppt/presProps.xml" Id="R9189dffa5a2045fd" /><Relationship Type="http://schemas.openxmlformats.org/officeDocument/2006/relationships/tableStyles" Target="/ppt/tableStyles.xml" Id="R558bd27ba82440d3" /><Relationship Type="http://schemas.openxmlformats.org/officeDocument/2006/relationships/slide" Target="/ppt/slides/slide1.xml" Id="Reed0e63cfb68447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bc0b2a2b6b244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817acc601c440fd" /><Relationship Type="http://schemas.openxmlformats.org/officeDocument/2006/relationships/notesMaster" Target="/ppt/notesMasters/notesMaster1.xml" Id="R68f2af4f2a764c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slide content and terminology, supplied 2026-08-24.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note: Explain that ‘direction and size’ means identifying which side produces more propulsive force and estimating the size of that imbalance.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d10a4a67641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67a7cc3f4b34b2b" /><Relationship Type="http://schemas.openxmlformats.org/officeDocument/2006/relationships/slideLayout" Target="/ppt/slideLayouts/slideLayout1.xml" Id="R7bdf30e8d19241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df30e8d19241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676f19fcc4eb5" /><Relationship Type="http://schemas.openxmlformats.org/officeDocument/2006/relationships/notesSlide" Target="/ppt/notesSlides/notesSlide1.xml" Id="R3f61a1deb2fd4c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59126E45-427B-4B8B-A2E3-731B7EC0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315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Can skeleton motion reveal propulsion imbalance?</a:t>
            </a:r>
          </a:p>
        </p:txBody>
      </p:sp>
      <p:sp>
        <p:nvSpPr>
          <p:cNvPr id="2" name="question-detail">
            <a:extLst xmlns:a="http://schemas.openxmlformats.org/drawingml/2006/main">
              <a:ext uri="{FF2B5EF4-FFF2-40B4-BE49-F238E27FC236}">
                <a16:creationId xmlns:a16="http://schemas.microsoft.com/office/drawing/2014/main" id="{C29C0920-20DC-40C9-B27A-84F7A80B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 a model predict which side generates more propulsive force—and by how much—across people?</a:t>
            </a:r>
          </a:p>
        </p:txBody>
      </p:sp>
      <p:sp>
        <p:nvSpPr>
          <p:cNvPr id="3" name="question-divider">
            <a:extLst xmlns:a="http://schemas.openxmlformats.org/drawingml/2006/main">
              <a:ext uri="{FF2B5EF4-FFF2-40B4-BE49-F238E27FC236}">
                <a16:creationId xmlns:a16="http://schemas.microsoft.com/office/drawing/2014/main" id="{FD77DEFF-A4DA-45DC-B0D5-FB50EEE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4" name="why-this-matters">
            <a:extLst xmlns:a="http://schemas.openxmlformats.org/drawingml/2006/main">
              <a:ext uri="{FF2B5EF4-FFF2-40B4-BE49-F238E27FC236}">
                <a16:creationId xmlns:a16="http://schemas.microsoft.com/office/drawing/2014/main" id="{9E847602-D332-45D8-86D2-DF47D99D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Why this matters</a:t>
            </a:r>
          </a:p>
        </p:txBody>
      </p:sp>
      <p:sp>
        <p:nvSpPr>
          <p:cNvPr id="5" name="flow-anchor-1">
            <a:extLst xmlns:a="http://schemas.openxmlformats.org/drawingml/2006/main">
              <a:ext uri="{FF2B5EF4-FFF2-40B4-BE49-F238E27FC236}">
                <a16:creationId xmlns:a16="http://schemas.microsoft.com/office/drawing/2014/main" id="{3C37C4A9-91E1-4D5E-9584-9363EE10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flow-anchor-2">
            <a:extLst xmlns:a="http://schemas.openxmlformats.org/drawingml/2006/main">
              <a:ext uri="{FF2B5EF4-FFF2-40B4-BE49-F238E27FC236}">
                <a16:creationId xmlns:a16="http://schemas.microsoft.com/office/drawing/2014/main" id="{73387104-64D0-4FC0-83BF-BCC5E6B8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flow-anchor-3">
            <a:extLst xmlns:a="http://schemas.openxmlformats.org/drawingml/2006/main">
              <a:ext uri="{FF2B5EF4-FFF2-40B4-BE49-F238E27FC236}">
                <a16:creationId xmlns:a16="http://schemas.microsoft.com/office/drawing/2014/main" id="{6F30727F-87CC-48BD-ACCE-D060C0F0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flow-anchor-4">
            <a:extLst xmlns:a="http://schemas.openxmlformats.org/drawingml/2006/main">
              <a:ext uri="{FF2B5EF4-FFF2-40B4-BE49-F238E27FC236}">
                <a16:creationId xmlns:a16="http://schemas.microsoft.com/office/drawing/2014/main" id="{5CAE1919-D6C6-4063-BEAD-30F102E5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457200" cy="457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1543050" y="2686050"/>
            <a:ext cx="2171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4171950" y="2686050"/>
            <a:ext cx="2171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triangle" w="sm" len="sm"/>
          </a:ln>
        </p:spPr>
      </p:cxnSp>
      <p:cxnSp>
        <p:nvCxnSpPr>
          <p:cNvPr id="39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6800850" y="2686050"/>
            <a:ext cx="2171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BD5E1"/>
            </a:solidFill>
            <a:prstDash val="solid"/>
            <a:tailEnd type="triangle" w="sm" len="sm"/>
          </a:ln>
        </p:spPr>
      </p:cxnSp>
      <p:sp>
        <p:nvSpPr>
          <p:cNvPr id="12" name="flow-node-1">
            <a:extLst xmlns:a="http://schemas.openxmlformats.org/drawingml/2006/main">
              <a:ext uri="{FF2B5EF4-FFF2-40B4-BE49-F238E27FC236}">
                <a16:creationId xmlns:a16="http://schemas.microsoft.com/office/drawing/2014/main" id="{1E93A65D-0810-4E00-B47D-93CDE33B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3" name="flow-heading-1">
            <a:extLst xmlns:a="http://schemas.openxmlformats.org/drawingml/2006/main">
              <a:ext uri="{FF2B5EF4-FFF2-40B4-BE49-F238E27FC236}">
                <a16:creationId xmlns:a16="http://schemas.microsoft.com/office/drawing/2014/main" id="{FB4074F6-4CCC-4C46-8A24-3FAE1CBE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048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INJURY</a:t>
            </a:r>
          </a:p>
        </p:txBody>
      </p:sp>
      <p:sp>
        <p:nvSpPr>
          <p:cNvPr id="14" name="flow-body-1">
            <a:extLst xmlns:a="http://schemas.openxmlformats.org/drawingml/2006/main">
              <a:ext uri="{FF2B5EF4-FFF2-40B4-BE49-F238E27FC236}">
                <a16:creationId xmlns:a16="http://schemas.microsoft.com/office/drawing/2014/main" id="{1B60C465-CB36-45A6-A8F7-ADAC86CF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Each side can be affected differently.</a:t>
            </a:r>
          </a:p>
        </p:txBody>
      </p:sp>
      <p:sp>
        <p:nvSpPr>
          <p:cNvPr id="15" name="flow-node-2">
            <a:extLst xmlns:a="http://schemas.openxmlformats.org/drawingml/2006/main">
              <a:ext uri="{FF2B5EF4-FFF2-40B4-BE49-F238E27FC236}">
                <a16:creationId xmlns:a16="http://schemas.microsoft.com/office/drawing/2014/main" id="{7EB58EFD-E7ED-480C-A152-254D0C43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B3E"/>
          </a:solidFill>
          <a:ln xmlns:a="http://schemas.openxmlformats.org/drawingml/2006/main" w="9525">
            <a:solidFill>
              <a:srgbClr val="E56B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flow-heading-2">
            <a:extLst xmlns:a="http://schemas.openxmlformats.org/drawingml/2006/main">
              <a:ext uri="{FF2B5EF4-FFF2-40B4-BE49-F238E27FC236}">
                <a16:creationId xmlns:a16="http://schemas.microsoft.com/office/drawing/2014/main" id="{41076F5D-BE02-41ED-AA6F-F2F3E57E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048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56B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56B3E"/>
                </a:solidFill>
                <a:latin typeface="Aptos"/>
                <a:ea typeface="Aptos"/>
                <a:cs typeface="Aptos"/>
              </a:rPr>
              <a:t>PROPULSION</a:t>
            </a:r>
          </a:p>
        </p:txBody>
      </p:sp>
      <p:sp>
        <p:nvSpPr>
          <p:cNvPr id="17" name="flow-body-2">
            <a:extLst xmlns:a="http://schemas.openxmlformats.org/drawingml/2006/main">
              <a:ext uri="{FF2B5EF4-FFF2-40B4-BE49-F238E27FC236}">
                <a16:creationId xmlns:a16="http://schemas.microsoft.com/office/drawing/2014/main" id="{165EFE5F-ECA3-4807-BF8D-03C78B7D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two legs may generate unequal force.</a:t>
            </a:r>
          </a:p>
        </p:txBody>
      </p:sp>
      <p:sp>
        <p:nvSpPr>
          <p:cNvPr id="18" name="flow-node-3">
            <a:extLst xmlns:a="http://schemas.openxmlformats.org/drawingml/2006/main">
              <a:ext uri="{FF2B5EF4-FFF2-40B4-BE49-F238E27FC236}">
                <a16:creationId xmlns:a16="http://schemas.microsoft.com/office/drawing/2014/main" id="{0DB16851-553D-45B9-B5AC-F4BB1266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58D9"/>
          </a:solidFill>
          <a:ln xmlns:a="http://schemas.openxmlformats.org/drawingml/2006/main" w="9525">
            <a:solidFill>
              <a:srgbClr val="7558D9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flow-heading-3">
            <a:extLst xmlns:a="http://schemas.openxmlformats.org/drawingml/2006/main">
              <a:ext uri="{FF2B5EF4-FFF2-40B4-BE49-F238E27FC236}">
                <a16:creationId xmlns:a16="http://schemas.microsoft.com/office/drawing/2014/main" id="{E3C6C1D0-13AB-4191-B8E2-F757E7D8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48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558D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558D9"/>
                </a:solidFill>
                <a:latin typeface="Aptos"/>
                <a:ea typeface="Aptos"/>
                <a:cs typeface="Aptos"/>
              </a:rPr>
              <a:t>COMPENSATION</a:t>
            </a:r>
          </a:p>
        </p:txBody>
      </p:sp>
      <p:sp>
        <p:nvSpPr>
          <p:cNvPr id="20" name="flow-body-3">
            <a:extLst xmlns:a="http://schemas.openxmlformats.org/drawingml/2006/main">
              <a:ext uri="{FF2B5EF4-FFF2-40B4-BE49-F238E27FC236}">
                <a16:creationId xmlns:a16="http://schemas.microsoft.com/office/drawing/2014/main" id="{6F1D2E65-4578-4292-9726-C18E8476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Walking speed can improve without recovery of the affected side.</a:t>
            </a:r>
          </a:p>
        </p:txBody>
      </p:sp>
      <p:sp>
        <p:nvSpPr>
          <p:cNvPr id="21" name="flow-node-4">
            <a:extLst xmlns:a="http://schemas.openxmlformats.org/drawingml/2006/main">
              <a:ext uri="{FF2B5EF4-FFF2-40B4-BE49-F238E27FC236}">
                <a16:creationId xmlns:a16="http://schemas.microsoft.com/office/drawing/2014/main" id="{4DFF9C14-97A5-4D43-9F46-52EAEF0B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574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9162"/>
          </a:solidFill>
          <a:ln xmlns:a="http://schemas.openxmlformats.org/drawingml/2006/main" w="9525">
            <a:solidFill>
              <a:srgbClr val="279162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flow-heading-4">
            <a:extLst xmlns:a="http://schemas.openxmlformats.org/drawingml/2006/main">
              <a:ext uri="{FF2B5EF4-FFF2-40B4-BE49-F238E27FC236}">
                <a16:creationId xmlns:a16="http://schemas.microsoft.com/office/drawing/2014/main" id="{317D2215-13DF-4608-AD69-2FDBD249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0480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7916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79162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23" name="flow-body-4">
            <a:extLst xmlns:a="http://schemas.openxmlformats.org/drawingml/2006/main">
              <a:ext uri="{FF2B5EF4-FFF2-40B4-BE49-F238E27FC236}">
                <a16:creationId xmlns:a16="http://schemas.microsoft.com/office/drawing/2014/main" id="{4D8CE981-25A1-4D69-82CD-05ACBF7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333750"/>
            <a:ext cx="2000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Compensations may fail when balance is tested.</a:t>
            </a:r>
          </a:p>
        </p:txBody>
      </p:sp>
      <p:sp>
        <p:nvSpPr>
          <p:cNvPr id="24" name="hypothesis-surface">
            <a:extLst xmlns:a="http://schemas.openxmlformats.org/drawingml/2006/main">
              <a:ext uri="{FF2B5EF4-FFF2-40B4-BE49-F238E27FC236}">
                <a16:creationId xmlns:a16="http://schemas.microsoft.com/office/drawing/2014/main" id="{A8280C76-1603-4C5F-8C63-29B4CA77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18669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8CCFA"/>
            </a:solidFill>
            <a:prstDash val="solid"/>
          </a:ln>
        </p:spPr>
      </p:sp>
      <p:sp>
        <p:nvSpPr>
          <p:cNvPr id="25" name="hypothesis-accent">
            <a:extLst xmlns:a="http://schemas.openxmlformats.org/drawingml/2006/main">
              <a:ext uri="{FF2B5EF4-FFF2-40B4-BE49-F238E27FC236}">
                <a16:creationId xmlns:a16="http://schemas.microsoft.com/office/drawing/2014/main" id="{4F3E4593-70E0-4D22-B3FB-96D2F7D6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76200" cy="1866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6" name="hypothesis-label">
            <a:extLst xmlns:a="http://schemas.openxmlformats.org/drawingml/2006/main">
              <a:ext uri="{FF2B5EF4-FFF2-40B4-BE49-F238E27FC236}">
                <a16:creationId xmlns:a16="http://schemas.microsoft.com/office/drawing/2014/main" id="{3237E2CD-0ED6-465D-BD31-D3ACBFD3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910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F6F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F6FED"/>
                </a:solidFill>
                <a:latin typeface="Aptos"/>
                <a:ea typeface="Aptos"/>
                <a:cs typeface="Aptos"/>
              </a:rPr>
              <a:t>GAITPARITY HYPOTHESIS</a:t>
            </a:r>
          </a:p>
        </p:txBody>
      </p:sp>
      <p:sp>
        <p:nvSpPr>
          <p:cNvPr id="27" name="hypothesis-text">
            <a:extLst xmlns:a="http://schemas.openxmlformats.org/drawingml/2006/main">
              <a:ext uri="{FF2B5EF4-FFF2-40B4-BE49-F238E27FC236}">
                <a16:creationId xmlns:a16="http://schemas.microsoft.com/office/drawing/2014/main" id="{880E7E6B-1C26-4F04-8219-9D897225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14900"/>
            <a:ext cx="9982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3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32238"/>
                </a:solidFill>
                <a:latin typeface="Aptos"/>
                <a:ea typeface="Aptos"/>
                <a:cs typeface="Aptos"/>
              </a:rPr>
              <a:t>A motion model that explicitly preserves the left–right relationship should learn the direction and size of propulsion asymmetry from fewer labeled participants.</a:t>
            </a:r>
          </a:p>
        </p:txBody>
      </p:sp>
      <p:sp>
        <p:nvSpPr>
          <p:cNvPr id="28" name="comparison-text">
            <a:extLst xmlns:a="http://schemas.openxmlformats.org/drawingml/2006/main">
              <a:ext uri="{FF2B5EF4-FFF2-40B4-BE49-F238E27FC236}">
                <a16:creationId xmlns:a16="http://schemas.microsoft.com/office/drawing/2014/main" id="{205F00A3-AFEF-4781-BAF5-2423EE36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62625"/>
            <a:ext cx="9982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Tested against output correction and a capacity-matched model without the left–right constraint.</a:t>
            </a:r>
          </a:p>
        </p:txBody>
      </p:sp>
    </p:spTree>
    <p:extLst>
      <p:ext uri="{BB962C8B-B14F-4D97-AF65-F5344CB8AC3E}">
        <p14:creationId xmlns:p14="http://schemas.microsoft.com/office/powerpoint/2010/main" val="1471206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2026-08-24T17:15:47.5670000Z</dcterms:created>
  <dcterms:modified xsi:type="dcterms:W3CDTF">2026-08-24T17:15:47.5670000Z</dcterms:modified>
</coreProperties>
</file>