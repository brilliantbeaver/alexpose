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889fce25a042e4" /><Relationship Type="http://schemas.openxmlformats.org/officeDocument/2006/relationships/extended-properties" Target="/docProps/app.xml" Id="Rbaa3eab6e88e4395" /><Relationship Type="http://schemas.openxmlformats.org/officeDocument/2006/relationships/officeDocument" Target="/ppt/presentation.xml" Id="Re245159c339a4e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fa778b407f47c6"/>
  </p:sldMasterIdLst>
  <p:notesMasterIdLst>
    <p:notesMasterId xmlns:r="http://schemas.openxmlformats.org/officeDocument/2006/relationships" r:id="R314a7457b1934e28"/>
  </p:notesMasterIdLst>
  <p:sldIdLst>
    <p:sldId xmlns:r="http://schemas.openxmlformats.org/officeDocument/2006/relationships" id="256" r:id="R0fff586ff342478a"/>
    <p:sldId xmlns:r="http://schemas.openxmlformats.org/officeDocument/2006/relationships" id="257" r:id="Raad319db35634642"/>
    <p:sldId xmlns:r="http://schemas.openxmlformats.org/officeDocument/2006/relationships" id="258" r:id="Rbdc2fb27f2364db3"/>
    <p:sldId xmlns:r="http://schemas.openxmlformats.org/officeDocument/2006/relationships" id="259" r:id="R0d51363020ca48b2"/>
    <p:sldId xmlns:r="http://schemas.openxmlformats.org/officeDocument/2006/relationships" id="260" r:id="R56c61510113c4744"/>
    <p:sldId xmlns:r="http://schemas.openxmlformats.org/officeDocument/2006/relationships" id="261" r:id="R384fee2985d14397"/>
    <p:sldId xmlns:r="http://schemas.openxmlformats.org/officeDocument/2006/relationships" id="262" r:id="Rf9ba7b42a94e4413"/>
    <p:sldId xmlns:r="http://schemas.openxmlformats.org/officeDocument/2006/relationships" id="263" r:id="R9c6dc886da704441"/>
    <p:sldId xmlns:r="http://schemas.openxmlformats.org/officeDocument/2006/relationships" id="264" r:id="Ra3a3cba2f9e14cab"/>
    <p:sldId xmlns:r="http://schemas.openxmlformats.org/officeDocument/2006/relationships" id="265" r:id="R47b0327672d84825"/>
    <p:sldId xmlns:r="http://schemas.openxmlformats.org/officeDocument/2006/relationships" id="266" r:id="Ra10fa619a5434c80"/>
    <p:sldId xmlns:r="http://schemas.openxmlformats.org/officeDocument/2006/relationships" id="267" r:id="Rc9fa7a29ebe54479"/>
    <p:sldId xmlns:r="http://schemas.openxmlformats.org/officeDocument/2006/relationships" id="268" r:id="R7b3593f49cf84d08"/>
    <p:sldId xmlns:r="http://schemas.openxmlformats.org/officeDocument/2006/relationships" id="269" r:id="Rda0935030cee4f62"/>
    <p:sldId xmlns:r="http://schemas.openxmlformats.org/officeDocument/2006/relationships" id="270" r:id="R8d05eaf9b3134911"/>
    <p:sldId xmlns:r="http://schemas.openxmlformats.org/officeDocument/2006/relationships" id="271" r:id="R933816afaeb04016"/>
    <p:sldId xmlns:r="http://schemas.openxmlformats.org/officeDocument/2006/relationships" id="272" r:id="R007bec2dc9174519"/>
    <p:sldId xmlns:r="http://schemas.openxmlformats.org/officeDocument/2006/relationships" id="273" r:id="Rf758c166372641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0ab0ff84e44700" /><Relationship Type="http://schemas.openxmlformats.org/officeDocument/2006/relationships/slideMaster" Target="/ppt/slideMasters/slideMaster1.xml" Id="R60fa778b407f47c6" /><Relationship Type="http://schemas.openxmlformats.org/officeDocument/2006/relationships/notesMaster" Target="/ppt/notesMasters/notesMaster1.xml" Id="R314a7457b1934e28" /><Relationship Type="http://schemas.openxmlformats.org/officeDocument/2006/relationships/presProps" Target="/ppt/presProps.xml" Id="R697ee0c48cca48a2" /><Relationship Type="http://schemas.openxmlformats.org/officeDocument/2006/relationships/tableStyles" Target="/ppt/tableStyles.xml" Id="Rcc2617bb60184aad" /><Relationship Type="http://schemas.openxmlformats.org/officeDocument/2006/relationships/slide" Target="/ppt/slides/slide1.xml" Id="R0fff586ff342478a" /><Relationship Type="http://schemas.openxmlformats.org/officeDocument/2006/relationships/slide" Target="/ppt/slides/slide2.xml" Id="Raad319db35634642" /><Relationship Type="http://schemas.openxmlformats.org/officeDocument/2006/relationships/slide" Target="/ppt/slides/slide3.xml" Id="Rbdc2fb27f2364db3" /><Relationship Type="http://schemas.openxmlformats.org/officeDocument/2006/relationships/slide" Target="/ppt/slides/slide4.xml" Id="R0d51363020ca48b2" /><Relationship Type="http://schemas.openxmlformats.org/officeDocument/2006/relationships/slide" Target="/ppt/slides/slide5.xml" Id="R56c61510113c4744" /><Relationship Type="http://schemas.openxmlformats.org/officeDocument/2006/relationships/slide" Target="/ppt/slides/slide6.xml" Id="R384fee2985d14397" /><Relationship Type="http://schemas.openxmlformats.org/officeDocument/2006/relationships/slide" Target="/ppt/slides/slide7.xml" Id="Rf9ba7b42a94e4413" /><Relationship Type="http://schemas.openxmlformats.org/officeDocument/2006/relationships/slide" Target="/ppt/slides/slide8.xml" Id="R9c6dc886da704441" /><Relationship Type="http://schemas.openxmlformats.org/officeDocument/2006/relationships/slide" Target="/ppt/slides/slide9.xml" Id="Ra3a3cba2f9e14cab" /><Relationship Type="http://schemas.openxmlformats.org/officeDocument/2006/relationships/slide" Target="/ppt/slides/slide10.xml" Id="R47b0327672d84825" /><Relationship Type="http://schemas.openxmlformats.org/officeDocument/2006/relationships/slide" Target="/ppt/slides/slide11.xml" Id="Ra10fa619a5434c80" /><Relationship Type="http://schemas.openxmlformats.org/officeDocument/2006/relationships/slide" Target="/ppt/slides/slide12.xml" Id="Rc9fa7a29ebe54479" /><Relationship Type="http://schemas.openxmlformats.org/officeDocument/2006/relationships/slide" Target="/ppt/slides/slide13.xml" Id="R7b3593f49cf84d08" /><Relationship Type="http://schemas.openxmlformats.org/officeDocument/2006/relationships/slide" Target="/ppt/slides/slide14.xml" Id="Rda0935030cee4f62" /><Relationship Type="http://schemas.openxmlformats.org/officeDocument/2006/relationships/slide" Target="/ppt/slides/slide15.xml" Id="R8d05eaf9b3134911" /><Relationship Type="http://schemas.openxmlformats.org/officeDocument/2006/relationships/slide" Target="/ppt/slides/slide16.xml" Id="R933816afaeb04016" /><Relationship Type="http://schemas.openxmlformats.org/officeDocument/2006/relationships/slide" Target="/ppt/slides/slide17.xml" Id="R007bec2dc9174519" /><Relationship Type="http://schemas.openxmlformats.org/officeDocument/2006/relationships/slide" Target="/ppt/slides/slide18.xml" Id="Rf758c166372641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ca18ecfd0d48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e97493e74747ec" /><Relationship Type="http://schemas.openxmlformats.org/officeDocument/2006/relationships/notesMaster" Target="/ppt/notesMasters/notesMaster1.xml" Id="R710bee8db2aa43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edd88228f94fe6" /><Relationship Type="http://schemas.openxmlformats.org/officeDocument/2006/relationships/notesMaster" Target="/ppt/notesMasters/notesMaster1.xml" Id="R3b05fe4a4f6947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d4793f35a44e1d" /><Relationship Type="http://schemas.openxmlformats.org/officeDocument/2006/relationships/notesMaster" Target="/ppt/notesMasters/notesMaster1.xml" Id="Rcc5e1e79cb3842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49f4c625824b3c" /><Relationship Type="http://schemas.openxmlformats.org/officeDocument/2006/relationships/notesMaster" Target="/ppt/notesMasters/notesMaster1.xml" Id="R133ba51f093a4c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013bbb1e184a62" /><Relationship Type="http://schemas.openxmlformats.org/officeDocument/2006/relationships/notesMaster" Target="/ppt/notesMasters/notesMaster1.xml" Id="R9e115fb8f5fb42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e326fd41a24891" /><Relationship Type="http://schemas.openxmlformats.org/officeDocument/2006/relationships/notesMaster" Target="/ppt/notesMasters/notesMaster1.xml" Id="R09964371fac349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60f5858f7f4959" /><Relationship Type="http://schemas.openxmlformats.org/officeDocument/2006/relationships/notesMaster" Target="/ppt/notesMasters/notesMaster1.xml" Id="R95009d5310c348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dbbb10b84344c5" /><Relationship Type="http://schemas.openxmlformats.org/officeDocument/2006/relationships/notesMaster" Target="/ppt/notesMasters/notesMaster1.xml" Id="R950d2382dd1945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ccc8fa5a974f82" /><Relationship Type="http://schemas.openxmlformats.org/officeDocument/2006/relationships/notesMaster" Target="/ppt/notesMasters/notesMaster1.xml" Id="Rb3d39cae5d0f46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3783f9b40d4be9" /><Relationship Type="http://schemas.openxmlformats.org/officeDocument/2006/relationships/notesMaster" Target="/ppt/notesMasters/notesMaster1.xml" Id="R70c5779725cf43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00b19707d543cf" /><Relationship Type="http://schemas.openxmlformats.org/officeDocument/2006/relationships/notesMaster" Target="/ppt/notesMasters/notesMaster1.xml" Id="Rcb01326e0b2340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0b28412ebf4177" /><Relationship Type="http://schemas.openxmlformats.org/officeDocument/2006/relationships/notesMaster" Target="/ppt/notesMasters/notesMaster1.xml" Id="R5162fc1fed0543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f63176dca641eb" /><Relationship Type="http://schemas.openxmlformats.org/officeDocument/2006/relationships/notesMaster" Target="/ppt/notesMasters/notesMaster1.xml" Id="R2bcbd8ccaa0c43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e7c581ca824057" /><Relationship Type="http://schemas.openxmlformats.org/officeDocument/2006/relationships/notesMaster" Target="/ppt/notesMasters/notesMaster1.xml" Id="Rf88be34a84e340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ccf1fe488f4ceb" /><Relationship Type="http://schemas.openxmlformats.org/officeDocument/2006/relationships/notesMaster" Target="/ppt/notesMasters/notesMaster1.xml" Id="Rcac5887160a1476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7ecf5e09314bfa" /><Relationship Type="http://schemas.openxmlformats.org/officeDocument/2006/relationships/notesMaster" Target="/ppt/notesMasters/notesMaster1.xml" Id="R11fc7ba5a2a148c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5cd66a9ad6d4ca3" /><Relationship Type="http://schemas.openxmlformats.org/officeDocument/2006/relationships/notesMaster" Target="/ppt/notesMasters/notesMaster1.xml" Id="R89e93dd57b5447c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f594d61466a4e45" /><Relationship Type="http://schemas.openxmlformats.org/officeDocument/2006/relationships/notesMaster" Target="/ppt/notesMasters/notesMaster1.xml" Id="Reb260a6bfb2949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GaitParity Presentation.pdf, slides 1 and 6 (title, project framing, and home gait visual).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GaitParity Presentation.pdf, slide 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Stroke figure: https://link.springer.com/article/10.1186/s12984-025-01726-5</a:t>
            </a:r>
          </a:p>
          <a:p xmlns:a="http://schemas.openxmlformats.org/drawingml/2006/main">
            <a:r>
              <a:t>- Parkinson's figure: https://link.springer.com/article/10.1007/s44196-025-01071-4</a:t>
            </a:r>
          </a:p>
          <a:p xmlns:a="http://schemas.openxmlformats.org/drawingml/2006/main">
            <a:r>
              <a:t>- Cerebral palsy figure: https://www.nature.com/articles/s41598-024-62119-7</a:t>
            </a:r>
          </a:p>
          <a:p xmlns:a="http://schemas.openxmlformats.org/drawingml/2006/main">
            <a:r>
              <a:t>- Condition summaries adapted from user-provided GaitParity Presentation.pdf, slide 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GaitParity Presentation.pdf, slides 4 and 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Compensation framing adapted from user-provided GaitParity Presentation.pdf, slide 7.</a:t>
            </a:r>
          </a:p>
          <a:p xmlns:a="http://schemas.openxmlformats.org/drawingml/2006/main">
            <a:r>
              <a:t>- Stroke figure: https://link.springer.com/article/10.1186/s12984-025-01726-5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GaitParity Presentation.pdf, slides 5 and 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GaitParity Presentation.pdf, slide 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GaitParity Presentation.pdf, slide 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GaitParity Presentation.pdf, slide 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GaitParity Presentation.pdf, slide 10.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GaitParity Presentation.pdf, slides 8, 11, and 12 (paired-view architecture and signed readout).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GaitParity Presentation.pdf, slides 8 and 12.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GaitParity Presentation.pdf, slide 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GaitParity Presentation.pdf, slide 14.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GaitParity Presentation.pdf, slide 15.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GaitParity Presentation.pdf, slide 16.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GaitParity Presentation.pdf, slide 17.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GaitParity Presentation.pdf, slide 18, with the roadmap expanded from the stated AMASS and biomechanical-JEPA next steps.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4184eeb11842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8c226ce9d44611" /><Relationship Type="http://schemas.openxmlformats.org/officeDocument/2006/relationships/slideLayout" Target="/ppt/slideLayouts/slideLayout1.xml" Id="R7745c33ccbfb43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45c33ccbfb43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62cf7690e4684" /><Relationship Type="http://schemas.openxmlformats.org/officeDocument/2006/relationships/image" Target="/ppt/media/image.png" Id="Re7aa2ac0cebd4eae" /><Relationship Type="http://schemas.openxmlformats.org/officeDocument/2006/relationships/notesSlide" Target="/ppt/notesSlides/notesSlide1.xml" Id="Rb791c847207e41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856e81868484a" /><Relationship Type="http://schemas.openxmlformats.org/officeDocument/2006/relationships/image" Target="/ppt/media/image2.png" Id="R6bc45c584ad34deb" /><Relationship Type="http://schemas.openxmlformats.org/officeDocument/2006/relationships/notesSlide" Target="/ppt/notesSlides/notesSlide2.xml" Id="R8a0dfc0142b842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71fc2420845cf" /><Relationship Type="http://schemas.openxmlformats.org/officeDocument/2006/relationships/image" Target="/ppt/media/image3.png" Id="R315c743a32684bfa" /><Relationship Type="http://schemas.openxmlformats.org/officeDocument/2006/relationships/image" Target="/ppt/media/image4.png" Id="R18367306165e469e" /><Relationship Type="http://schemas.openxmlformats.org/officeDocument/2006/relationships/image" Target="/ppt/media/image.jpeg" Id="R6b44bc3ac85f4bc5" /><Relationship Type="http://schemas.openxmlformats.org/officeDocument/2006/relationships/notesSlide" Target="/ppt/notesSlides/notesSlide3.xml" Id="Rfacd275f348f49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574edc791450a" /><Relationship Type="http://schemas.openxmlformats.org/officeDocument/2006/relationships/notesSlide" Target="/ppt/notesSlides/notesSlide4.xml" Id="R6fa31ee78e6d4c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b324313b14705" /><Relationship Type="http://schemas.openxmlformats.org/officeDocument/2006/relationships/image" Target="/ppt/media/image5.png" Id="Rb0182722b1414453" /><Relationship Type="http://schemas.openxmlformats.org/officeDocument/2006/relationships/notesSlide" Target="/ppt/notesSlides/notesSlide5.xml" Id="Rdbfb0900f2504d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c2d0ac5d64200" /><Relationship Type="http://schemas.openxmlformats.org/officeDocument/2006/relationships/image" Target="/ppt/media/image6.png" Id="Rda75cf39e01c4668" /><Relationship Type="http://schemas.openxmlformats.org/officeDocument/2006/relationships/notesSlide" Target="/ppt/notesSlides/notesSlide6.xml" Id="R44c23c30d23f4e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69448e0bb4830" /><Relationship Type="http://schemas.openxmlformats.org/officeDocument/2006/relationships/notesSlide" Target="/ppt/notesSlides/notesSlide7.xml" Id="Re7d050b7ea2445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2603f30e343d6" /><Relationship Type="http://schemas.openxmlformats.org/officeDocument/2006/relationships/image" Target="/ppt/media/image7.png" Id="Re46edc3ab027468c" /><Relationship Type="http://schemas.openxmlformats.org/officeDocument/2006/relationships/notesSlide" Target="/ppt/notesSlides/notesSlide8.xml" Id="R79daa3d3532f48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df89d0bab49b3" /><Relationship Type="http://schemas.openxmlformats.org/officeDocument/2006/relationships/image" Target="/ppt/media/image8.png" Id="R7de51375d649430d" /><Relationship Type="http://schemas.openxmlformats.org/officeDocument/2006/relationships/notesSlide" Target="/ppt/notesSlides/notesSlide9.xml" Id="R8027df5cbc014a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c29e64a704f1b" /><Relationship Type="http://schemas.openxmlformats.org/officeDocument/2006/relationships/image" Target="/ppt/media/image9.png" Id="R754420a049fe4151" /><Relationship Type="http://schemas.openxmlformats.org/officeDocument/2006/relationships/notesSlide" Target="/ppt/notesSlides/notesSlide10.xml" Id="R4ba0c4e0ea6747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5b18631964730" /><Relationship Type="http://schemas.openxmlformats.org/officeDocument/2006/relationships/notesSlide" Target="/ppt/notesSlides/notesSlide11.xml" Id="R2b972f2029b149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a4c689b0141e1" /><Relationship Type="http://schemas.openxmlformats.org/officeDocument/2006/relationships/notesSlide" Target="/ppt/notesSlides/notesSlide12.xml" Id="R49e87ff12b514e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8a0e2d5f247e4" /><Relationship Type="http://schemas.openxmlformats.org/officeDocument/2006/relationships/image" Target="/ppt/media/image10.png" Id="Rba3249ce19444094" /><Relationship Type="http://schemas.openxmlformats.org/officeDocument/2006/relationships/notesSlide" Target="/ppt/notesSlides/notesSlide13.xml" Id="R0edc2089da6440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39a4f7a3d4d3e" /><Relationship Type="http://schemas.openxmlformats.org/officeDocument/2006/relationships/image" Target="/ppt/media/image11.png" Id="R476c110b0e084c60" /><Relationship Type="http://schemas.openxmlformats.org/officeDocument/2006/relationships/notesSlide" Target="/ppt/notesSlides/notesSlide14.xml" Id="R3f3b13ba88d04f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35b1b0d7a47b5" /><Relationship Type="http://schemas.openxmlformats.org/officeDocument/2006/relationships/image" Target="/ppt/media/image12.png" Id="R8c6eb6a4fa574219" /><Relationship Type="http://schemas.openxmlformats.org/officeDocument/2006/relationships/notesSlide" Target="/ppt/notesSlides/notesSlide15.xml" Id="R8a82e8e76bdc443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602a51d614929" /><Relationship Type="http://schemas.openxmlformats.org/officeDocument/2006/relationships/image" Target="/ppt/media/image13.png" Id="Rcb243c23cdae424c" /><Relationship Type="http://schemas.openxmlformats.org/officeDocument/2006/relationships/notesSlide" Target="/ppt/notesSlides/notesSlide16.xml" Id="R13cb339a10e441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82bdf4c4c4926" /><Relationship Type="http://schemas.openxmlformats.org/officeDocument/2006/relationships/image" Target="/ppt/media/image14.png" Id="R0c3534ca7a38412b" /><Relationship Type="http://schemas.openxmlformats.org/officeDocument/2006/relationships/notesSlide" Target="/ppt/notesSlides/notesSlide17.xml" Id="Rfab709a130de40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597b2e248471a" /><Relationship Type="http://schemas.openxmlformats.org/officeDocument/2006/relationships/notesSlide" Target="/ppt/notesSlides/notesSlide18.xml" Id="R107ae04fe53349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aa2ac0cebd4eae"/>
          <a:srcRect xmlns:a="http://schemas.openxmlformats.org/drawingml/2006/main" l="53" t="0" r="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0"/>
            <a:ext cx="5191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A6B89-C884-4278-9CD3-639B7B3D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00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E339D-AD5E-41C5-B458-848F5AE5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GAITPARITY</a:t>
            </a:r>
          </a:p>
        </p:txBody>
      </p:sp>
      <p:sp>
        <p:nvSpPr>
          <p:cNvPr id="4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9D94A367-8ED3-4253-9F87-8061AA57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Can a camera tell which leg needs help?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F4C4F-FF68-43C1-8264-C39ABB73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Teaching video models to preserve left-right gait asymmetry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9A773-D298-45B2-9014-30DBDDB3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Theodore Mui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A7F2D-E908-4F48-A509-50494D80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Reflection-equivariant S-JEPA</a:t>
            </a:r>
          </a:p>
        </p:txBody>
      </p:sp>
    </p:spTree>
    <p:extLst>
      <p:ext uri="{BB962C8B-B14F-4D97-AF65-F5344CB8AC3E}">
        <p14:creationId xmlns:p14="http://schemas.microsoft.com/office/powerpoint/2010/main" val="112368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2">
            <a:extLst xmlns:a="http://schemas.openxmlformats.org/drawingml/2006/main">
              <a:ext uri="{FF2B5EF4-FFF2-40B4-BE49-F238E27FC236}">
                <a16:creationId xmlns:a16="http://schemas.microsoft.com/office/drawing/2014/main" id="{18430A45-F8D9-419C-B8E9-E91466A0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STARTING POINT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57ACE31-111D-491C-9DF6-B5742121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 walk becomes 11 moving points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9C17E81A-51C4-4EB8-A517-054D02F5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45c584ad34deb"/>
          <a:srcRect xmlns:a="http://schemas.openxmlformats.org/drawingml/2006/main" l="0" t="12909" r="0" b="129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733550"/>
            <a:ext cx="11125200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120C7-99EA-46A2-84C5-048C2883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1FA25-DBF5-4292-84BE-92CA4431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Pose estimation removes appearance and keeps the changing geometry of the body.</a:t>
            </a:r>
          </a:p>
        </p:txBody>
      </p:sp>
    </p:spTree>
    <p:extLst>
      <p:ext uri="{BB962C8B-B14F-4D97-AF65-F5344CB8AC3E}">
        <p14:creationId xmlns:p14="http://schemas.microsoft.com/office/powerpoint/2010/main" val="45039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3">
            <a:extLst xmlns:a="http://schemas.openxmlformats.org/drawingml/2006/main">
              <a:ext uri="{FF2B5EF4-FFF2-40B4-BE49-F238E27FC236}">
                <a16:creationId xmlns:a16="http://schemas.microsoft.com/office/drawing/2014/main" id="{3CDC163E-CCFD-4623-9301-0FA6B014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WHY GAIT MATTERS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04A153C-814B-4233-9422-0E77973A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Different conditions leave different gait signatures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F9254C75-86CF-47D9-8871-8F3FB70C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c743a32684bfa"/>
          <a:srcRect xmlns:a="http://schemas.openxmlformats.org/drawingml/2006/main" l="14063" t="0" r="140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24050"/>
            <a:ext cx="3333750" cy="2667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67306165e469e"/>
          <a:stretch xmlns:a="http://schemas.openxmlformats.org/drawingml/2006/main"/>
        </p:blipFill>
        <p:spPr>
          <a:xfrm xmlns:a="http://schemas.openxmlformats.org/drawingml/2006/main">
            <a:off x="5238190" y="1924050"/>
            <a:ext cx="1506071" cy="26670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4bc3ac85f4bc5"/>
          <a:srcRect xmlns:a="http://schemas.openxmlformats.org/drawingml/2006/main" l="7208" t="0" r="72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0" y="1924050"/>
            <a:ext cx="3333750" cy="2667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26764-B1D1-47BC-A507-BCAD9302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Stroke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6FA26-3F42-4AAF-993E-4DE8337A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9590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Side-to-side propulsion can become unequal.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EEEB7-A0E1-40D5-AAD1-3CC6AEBE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57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Parkinson's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8B266-C786-4674-9E82-2EA3E684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9590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Steps can shorten while posture and arm swing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718AA-E6DA-408E-886B-2C5DA13F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57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Cerebral palsy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0C786-1A85-43D0-83EA-7D49C8C5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95900"/>
            <a:ext cx="333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Joint flexion and foot position can follow distinct patterns.</a:t>
            </a:r>
          </a:p>
        </p:txBody>
      </p:sp>
    </p:spTree>
    <p:extLst>
      <p:ext uri="{BB962C8B-B14F-4D97-AF65-F5344CB8AC3E}">
        <p14:creationId xmlns:p14="http://schemas.microsoft.com/office/powerpoint/2010/main" val="617922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4">
            <a:extLst xmlns:a="http://schemas.openxmlformats.org/drawingml/2006/main">
              <a:ext uri="{FF2B5EF4-FFF2-40B4-BE49-F238E27FC236}">
                <a16:creationId xmlns:a16="http://schemas.microsoft.com/office/drawing/2014/main" id="{1F5B116A-4AAB-4BC6-83D0-8B1B039D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GAP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16D9FF8-6972-4703-A0A2-04536235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Pose tells us what moved - not what caused it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969BA7D4-F0EF-4E12-98DC-2B181FA0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9CE6A-3AB5-44AC-A10D-E76113AA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762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808AA-9055-441A-A805-BFE2D1AB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VISIBLE IN VIDEO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691F7-56EF-4240-8725-B0E9B848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Where each joint went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E9148-F4B1-444E-AF15-6F25FD3B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38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10141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2DE0F-2935-48A4-AA5C-60DF9DF0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346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Joint positions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68E83-AEE7-4D1F-86E5-5B1D0CE9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1014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9CF75-E349-4E2C-9123-8E2CBAC4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62450"/>
            <a:ext cx="346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Walking speed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A9483-F06F-4FED-8615-95EB45EF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1014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95017-F276-40BC-8BAE-DF921B45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46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Timing and posture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961AB-7605-41C5-8732-27131F8F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38500"/>
            <a:ext cx="104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C7C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C7CDD3"/>
                </a:solidFill>
                <a:latin typeface="Helvetica Neue"/>
                <a:ea typeface="Helvetica Neue"/>
                <a:cs typeface="Helvetica Neue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74D56-B557-4933-89D2-6F7E8D3C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66900"/>
            <a:ext cx="4762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F5962-56EF-4B9A-A04D-218589A8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NEEDED FOR BIOMECHANICS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E9682-9949-4E79-BC2B-20B57346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3905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How the movement was produced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884AE-4CE6-472A-AF0A-C492EA1E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1014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D4FA0-0825-446B-984A-43937DB5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86200"/>
            <a:ext cx="346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Foot-ground contact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0DA17-2F6E-4743-BD4C-00F4F315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19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1014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8B595-C723-4C84-859A-0EBDF13F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14850"/>
            <a:ext cx="3467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Force and propulsion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37CC6-958A-465B-8981-940C36B3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248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10141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30F13B-50D2-4FF9-91CD-0F2CF4BB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43500"/>
            <a:ext cx="365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Balance and uncertainty</a:t>
            </a:r>
          </a:p>
        </p:txBody>
      </p:sp>
    </p:spTree>
    <p:extLst>
      <p:ext uri="{BB962C8B-B14F-4D97-AF65-F5344CB8AC3E}">
        <p14:creationId xmlns:p14="http://schemas.microsoft.com/office/powerpoint/2010/main" val="457771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5">
            <a:extLst xmlns:a="http://schemas.openxmlformats.org/drawingml/2006/main">
              <a:ext uri="{FF2B5EF4-FFF2-40B4-BE49-F238E27FC236}">
                <a16:creationId xmlns:a16="http://schemas.microsoft.com/office/drawing/2014/main" id="{9C3CC2B7-ED17-42F9-9EB6-9E02885A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CLINICAL MOTIVATION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3C7FABB-B956-43F0-9F63-ED29EBD9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 faster walk can still hide the wrong kind of recovery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55B5758C-2F1B-4CFB-9065-8B7B5AAD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7771C-A810-4AEF-9DF8-FDC0DCCB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After a stroke, speed may improve because...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AA465-115E-4FF8-9A12-5EFC9AA9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8"/>
          </a:solidFill>
          <a:ln xmlns:a="http://schemas.openxmlformats.org/drawingml/2006/main" w="0">
            <a:solidFill>
              <a:srgbClr val="DDF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59292-E048-4A91-9234-708E0F6A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C9B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C9B68"/>
                </a:solidFill>
                <a:latin typeface="Helvetica Neue"/>
                <a:ea typeface="Helvetica Neue"/>
                <a:cs typeface="Helvetica Neue"/>
              </a:rPr>
              <a:t>the affected leg recovered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39BBD-F1DE-4766-950C-A80B8D07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4335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BA049-A6C1-4786-AFDB-92437D40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476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E"/>
          </a:solidFill>
          <a:ln xmlns:a="http://schemas.openxmlformats.org/drawingml/2006/main" w="0">
            <a:solidFill>
              <a:srgbClr val="FCE8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04985-C629-491B-8943-6D4A7409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rPr>
              <a:t>the stronger leg compensated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AF4A9-9559-4369-ACC6-D95ABD98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Those outcomes look similar in speed, but they imply different care.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82722b1414453"/>
          <a:srcRect xmlns:a="http://schemas.openxmlformats.org/drawingml/2006/main" l="0" t="12715" r="0" b="12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828800"/>
            <a:ext cx="5276850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0231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6">
            <a:extLst xmlns:a="http://schemas.openxmlformats.org/drawingml/2006/main">
              <a:ext uri="{FF2B5EF4-FFF2-40B4-BE49-F238E27FC236}">
                <a16:creationId xmlns:a16="http://schemas.microsoft.com/office/drawing/2014/main" id="{B6BDC0E4-FDF9-4F48-BF6F-A88F7A2F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GOAL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CBEDB19-0116-4BD6-A24A-C28F58BA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The opportunity: gait insight from ordinary video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2F54CE76-BD1E-46F9-BF2E-4D5E87EF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5cf39e01c4668"/>
          <a:srcRect xmlns:a="http://schemas.openxmlformats.org/drawingml/2006/main" l="6793" t="0" r="67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752600"/>
            <a:ext cx="5372100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5467E-C425-4DFE-9A5B-396F4C6E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Accessible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ED575-5E0C-41D3-BE95-DC01A320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Use video captured in clinics or at home.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B1EDC-E0C7-4062-900F-88A4FE5F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337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Consistent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E2196-636C-4A59-B434-6728AFC1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100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Keep left-right meaning stable across viewpoints and mirrors.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245B9-DAE1-4C55-8DF7-2D1DD338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Longitudinal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C3B14-5DCD-4091-8C37-856DFF6F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435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Separate changes in the person from changes in the camera.</a:t>
            </a:r>
          </a:p>
        </p:txBody>
      </p:sp>
    </p:spTree>
    <p:extLst>
      <p:ext uri="{BB962C8B-B14F-4D97-AF65-F5344CB8AC3E}">
        <p14:creationId xmlns:p14="http://schemas.microsoft.com/office/powerpoint/2010/main" val="6864967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3E66F-A8A5-4EC6-9CE9-01D6D792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D79C4-5B62-4252-BEF5-27F77473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10477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Can a video-derived skeleton reveal which side propels less?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CEF39-7941-40AC-8BAB-8F5B11FD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A5157-4E72-47AD-9AB6-88F5E8BA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GaitParity tests whether a model built to respect reflection can recover a signed right-versus-left force target for a person it has never seen.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BDF1D-D936-45ED-9E50-F0D751D1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62625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If the input is mirrored, the answer must reverse.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EF4D4-2022-4A8B-BEBC-89D697AB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865680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8">
            <a:extLst xmlns:a="http://schemas.openxmlformats.org/drawingml/2006/main">
              <a:ext uri="{FF2B5EF4-FFF2-40B4-BE49-F238E27FC236}">
                <a16:creationId xmlns:a16="http://schemas.microsoft.com/office/drawing/2014/main" id="{4E957213-CA9B-4455-B45D-3DE75A97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GROUND TRUTH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DADD905E-57DB-4139-B10D-F1F42DCC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The answer comes from the force under each foot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9C7DE88F-6DA5-44AB-98C1-B48373AF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35579-4CE3-46CF-BDFA-D1B6D103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A force plate measures forward propulsion during stance.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A7B25-2C94-4D3B-8442-D10E7690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Right impulse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18030-4EAA-4130-8838-91CB7103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861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versus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5937B-9165-4A47-8F72-E4ED057B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861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rPr>
              <a:t>Left impulse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8544F-28D6-4032-B795-6DD7F88F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9109F-B5B6-4539-B620-0D49DA16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00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signed target = ln(JR / JL)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28F99-1603-417F-98A0-68B1FB85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The sign identifies the stronger side; the magnitude shows how unequal they are.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edc3ab027468c"/>
          <a:stretch xmlns:a="http://schemas.openxmlformats.org/drawingml/2006/main"/>
        </p:blipFill>
        <p:spPr>
          <a:xfrm xmlns:a="http://schemas.openxmlformats.org/drawingml/2006/main">
            <a:off x="6172200" y="2274470"/>
            <a:ext cx="5486400" cy="31282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7985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9">
            <a:extLst xmlns:a="http://schemas.openxmlformats.org/drawingml/2006/main">
              <a:ext uri="{FF2B5EF4-FFF2-40B4-BE49-F238E27FC236}">
                <a16:creationId xmlns:a16="http://schemas.microsoft.com/office/drawing/2014/main" id="{F9A7B142-8BEC-48A5-B7C3-FA817EFF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SYMMETRY RULE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8EE6F463-7D66-43CB-BA93-92006B9E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 mirror should reverse the answer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CEF2EBDE-6955-4E10-9382-46456D24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3FDB4-82CA-4EEC-B83D-68B8D262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A valid anatomical reflection requires three coordinated changes.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51375d649430d"/>
          <a:stretch xmlns:a="http://schemas.openxmlformats.org/drawingml/2006/main"/>
        </p:blipFill>
        <p:spPr>
          <a:xfrm xmlns:a="http://schemas.openxmlformats.org/drawingml/2006/main">
            <a:off x="1374657" y="2286000"/>
            <a:ext cx="9442685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DD09B-F18C-4FED-A42D-35C1A467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geometry, the joint names, and the visibility flags must all agree.</a:t>
            </a:r>
          </a:p>
        </p:txBody>
      </p:sp>
    </p:spTree>
    <p:extLst>
      <p:ext uri="{BB962C8B-B14F-4D97-AF65-F5344CB8AC3E}">
        <p14:creationId xmlns:p14="http://schemas.microsoft.com/office/powerpoint/2010/main" val="5445027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10">
            <a:extLst xmlns:a="http://schemas.openxmlformats.org/drawingml/2006/main">
              <a:ext uri="{FF2B5EF4-FFF2-40B4-BE49-F238E27FC236}">
                <a16:creationId xmlns:a16="http://schemas.microsoft.com/office/drawing/2014/main" id="{97382924-91ED-4C89-B96C-D427A55D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SELF-SUPERVISED LEARNING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B706383D-29BF-423A-8986-A2DFBC91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The model learns by predicting hidden motion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261C5446-AA62-4994-90CE-A8970FC0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420a049fe4151"/>
          <a:stretch xmlns:a="http://schemas.openxmlformats.org/drawingml/2006/main"/>
        </p:blipFill>
        <p:spPr>
          <a:xfrm xmlns:a="http://schemas.openxmlformats.org/drawingml/2006/main">
            <a:off x="533400" y="2024233"/>
            <a:ext cx="5219700" cy="349533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978F7-04B6-4E96-94A8-E8316555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514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6EA02-70AD-4145-9C99-BD1454D4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Hide pieces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FC62A-A289-4032-8CCF-7C3E5844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384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Mask some joints across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9787C-4473-469C-955F-82A26737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57550"/>
            <a:ext cx="514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CA8D4-5DFA-4604-8C26-C517FC95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575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Predict the missing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2116F-59BC-493B-B8A8-B7F6F2CA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576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Use the visible context to estimate the hidden representation.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64253-47CA-4EDC-8784-188F5751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514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73EB8-745D-4E77-B38E-1BEECEFC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Learn structure without labels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2BDBC-5DA7-44D8-B105-67B990BB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8768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Repeated prediction teaches a compact model of movement.</a:t>
            </a:r>
          </a:p>
        </p:txBody>
      </p:sp>
    </p:spTree>
    <p:extLst>
      <p:ext uri="{BB962C8B-B14F-4D97-AF65-F5344CB8AC3E}">
        <p14:creationId xmlns:p14="http://schemas.microsoft.com/office/powerpoint/2010/main" val="403547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ection-11">
            <a:extLst xmlns:a="http://schemas.openxmlformats.org/drawingml/2006/main">
              <a:ext uri="{FF2B5EF4-FFF2-40B4-BE49-F238E27FC236}">
                <a16:creationId xmlns:a16="http://schemas.microsoft.com/office/drawing/2014/main" id="{307CFC98-6693-4EE9-8B68-A22F4F15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GAITPARITY IDEA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7F94E954-8237-4F1B-A8D4-51163767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GaitParity sees every walk in two matched views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76FEB0E7-7920-46FC-8C0B-BB03A086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40316-9CFE-4B5D-823F-E1CC04B0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479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342F2-152F-4760-B960-5A298C6B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95143-F4A3-427D-B66D-086310B0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100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A45"/>
          </a:solidFill>
          <a:ln xmlns:a="http://schemas.openxmlformats.org/drawingml/2006/main" w="0">
            <a:solidFill>
              <a:srgbClr val="ED7A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5DFF6-C23E-445F-BC75-FF29C744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195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0BD09-E0A3-4FD9-9B0A-BC000AD9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971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AD9DF-6013-4FF3-916D-36C838AB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B6699-70E8-4655-88B2-04982EAC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971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A45"/>
          </a:solidFill>
          <a:ln xmlns:a="http://schemas.openxmlformats.org/drawingml/2006/main" w="0">
            <a:solidFill>
              <a:srgbClr val="ED7A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699931-85FE-41F6-AC7A-2A81F5A9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0195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C6D22-201C-4836-AA00-E3DA49D0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149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A45"/>
          </a:solidFill>
          <a:ln xmlns:a="http://schemas.openxmlformats.org/drawingml/2006/main" w="0">
            <a:solidFill>
              <a:srgbClr val="ED7A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D603D-74DD-4973-B29B-A6EEF098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35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rPr>
              <a:t>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F10BC-159F-4F3B-8A27-85BDEBBC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1  MATCHED INPUTS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37EB1-81EC-48D1-AF0E-FEA3A9BD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954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2  SHARED LEARNING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6B82A-3112-4C33-828B-10AE19B8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3  FEATURE SPLIT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7924B-A282-40F1-9A07-7BB91F8D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D98591-DA3B-44AA-9F6E-BC9252FA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ORIGINAL VIEW  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8771F-2849-4A6B-8428-B934DD6D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Measured joint</a:t>
            </a:r>
          </a:p>
          <a:p xmlns:a="http://schemas.openxmlformats.org/drawingml/2006/main">
            <a:pPr algn="l">
              <a:def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motion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99667-38D3-44DB-A726-95FED525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2381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E"/>
          </a:solidFill>
          <a:ln xmlns:a="http://schemas.openxmlformats.org/drawingml/2006/main" w="0">
            <a:solidFill>
              <a:srgbClr val="FCE8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3D216B-9AFD-474B-9C18-C25A82DF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rPr>
              <a:t>MIRRORED VIEW  M(x)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C638E6-5C8F-4E5A-820F-59286163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9075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Swap left/right</a:t>
            </a:r>
          </a:p>
          <a:p xmlns:a="http://schemas.openxmlformats.org/drawingml/2006/main">
            <a:pPr algn="l">
              <a:def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joints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626093-5E4C-475C-9068-6CD9F8B4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+ reflect the body axis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DA74C2-2762-496F-94D5-092396A2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38350"/>
            <a:ext cx="257175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solidFill>
              <a:srgbClr val="EEF1F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878437-6992-4F3D-900B-3248ED39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228850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ONE SHARED</a:t>
            </a:r>
          </a:p>
          <a:p xmlns:a="http://schemas.openxmlformats.org/drawingml/2006/main">
            <a:pPr algn="ctr">
              <a:defRPr sz="1275" b="1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ENCODER  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190E9B-37BA-4829-9936-DFB2AD50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09875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Learns patterns</a:t>
            </a:r>
          </a:p>
          <a:p xmlns:a="http://schemas.openxmlformats.org/drawingml/2006/main">
            <a:pPr algn="ctr">
              <a:def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across joints + time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7D4A15-8C99-487F-BAE8-58661652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57600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15B41-26DA-4ED8-959F-AC262E8A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19525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same weights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68BBFC-34FD-430D-91EE-A9C6EFC1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21957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same masks and</a:t>
            </a:r>
          </a:p>
          <a:p xmlns:a="http://schemas.openxmlformats.org/drawingml/2006/main">
            <a:pPr algn="ctr">
              <a:defRPr sz="127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normalization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8BA919-3EE5-4C54-A728-865CA578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44196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DA90F0-9109-4579-82DD-8FDC405E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EVEN FEATURES  h_even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FA0966-9B67-458B-AE3A-F8A88EB1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050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What stays</a:t>
            </a:r>
          </a:p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the same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AFE9E1-0A5F-4631-9975-E4C81F20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384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pace  |  gait phase  |  identity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5F8EDB-0A4D-4658-8D79-284E2ED0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19350"/>
            <a:ext cx="160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h_even(Mx) =</a:t>
            </a:r>
          </a:p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h_even(x)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50DFFD-202F-432E-B667-3A440F51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05200"/>
            <a:ext cx="44196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8DE"/>
          </a:solidFill>
          <a:ln xmlns:a="http://schemas.openxmlformats.org/drawingml/2006/main" w="0">
            <a:solidFill>
              <a:srgbClr val="FCE8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E77B1B-AF28-4209-BE27-87A48082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7665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rPr>
              <a:t>ODD FEATURES  h_odd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88A0E9-4DDC-4409-BA8F-045E734A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7192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What changes</a:t>
            </a:r>
          </a:p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direction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100038-CE1B-47CD-9908-18A27C25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624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left-right contribution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584B26-397E-4B61-A07C-77F87947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24300"/>
            <a:ext cx="1771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rPr>
              <a:t>h_odd(Mx) =</a:t>
            </a:r>
          </a:p>
          <a:p xmlns:a="http://schemas.openxmlformats.org/drawingml/2006/main">
            <a:pPr algn="ctr">
              <a:defRPr sz="135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rPr>
              <a:t>-h_odd(x)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340448-9F04-4359-BBEA-DC740E53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48300"/>
            <a:ext cx="7943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10141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7FADE2-417C-44DA-B1D4-091F8BB1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721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rPr>
              <a:t>4  SIGNED READOUT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43B3C9-13BD-49F3-829E-76A9DDEF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5245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s(x) = w^T h_odd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46032A-FC44-4A24-8426-11BC6DD1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245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rPr>
              <a:t>s(Mx) = -s(x)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38E1C9-22E8-4C7E-B589-98B87E2E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829300"/>
            <a:ext cx="558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Mirror consistency is guaranteed by construction.</a:t>
            </a:r>
          </a:p>
        </p:txBody>
      </p:sp>
    </p:spTree>
    <p:extLst>
      <p:ext uri="{BB962C8B-B14F-4D97-AF65-F5344CB8AC3E}">
        <p14:creationId xmlns:p14="http://schemas.microsoft.com/office/powerpoint/2010/main" val="18274290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12">
            <a:extLst xmlns:a="http://schemas.openxmlformats.org/drawingml/2006/main">
              <a:ext uri="{FF2B5EF4-FFF2-40B4-BE49-F238E27FC236}">
                <a16:creationId xmlns:a16="http://schemas.microsoft.com/office/drawing/2014/main" id="{420E813C-F63C-4D96-8353-433D989D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READOUT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9EFA9193-BBA3-4F31-9CB7-64E2E038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One signed score: which side contributes more?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CFF74ECF-B79B-4764-B4B7-2BBF6B93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95F53-E677-4321-B423-39125567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33550"/>
            <a:ext cx="3390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ln(JR / JL)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20B9B-CF00-4E51-A4B5-CA6C1F39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90900"/>
            <a:ext cx="9105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366D6-A14E-42DD-B4BB-7A9796BC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52775"/>
            <a:ext cx="152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1014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FEE81-26E7-474A-834C-C95CF64A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19450"/>
            <a:ext cx="2286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7A45"/>
          </a:solidFill>
          <a:ln xmlns:a="http://schemas.openxmlformats.org/drawingml/2006/main" w="0">
            <a:solidFill>
              <a:srgbClr val="ED7A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DBF465-08D8-448E-A1DF-1281DC99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19450"/>
            <a:ext cx="22860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8AD1A-2B65-4A2C-BF47-6B4F1D75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57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rPr>
              <a:t>negative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23367-FEB0-4258-A588-7A13035D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862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left &gt; right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DB510-1C54-4A00-B8F3-D56C34EF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57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zero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D17F4-4EBE-4AA2-8F62-C691C9C6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862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equal propulsion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0D016-5DFE-401A-8495-B07185CF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57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positive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8BD25-75D7-4B51-84E9-DB2A10B5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right &gt; left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4B83F-98F5-4E7F-BC75-9D764891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76875"/>
            <a:ext cx="769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Mirroring the skeleton should multiply this score by -1.</a:t>
            </a:r>
          </a:p>
        </p:txBody>
      </p:sp>
    </p:spTree>
    <p:extLst>
      <p:ext uri="{BB962C8B-B14F-4D97-AF65-F5344CB8AC3E}">
        <p14:creationId xmlns:p14="http://schemas.microsoft.com/office/powerpoint/2010/main" val="9245600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13">
            <a:extLst xmlns:a="http://schemas.openxmlformats.org/drawingml/2006/main">
              <a:ext uri="{FF2B5EF4-FFF2-40B4-BE49-F238E27FC236}">
                <a16:creationId xmlns:a16="http://schemas.microsoft.com/office/drawing/2014/main" id="{24D3F78C-CFCC-4D10-8176-83ED2C22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DATA STAGE 1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C90C37DD-1EC7-4345-BCC5-9EB1FB96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We start with 96 real-world abnormal gait videos</a:t>
            </a:r>
          </a:p>
        </p:txBody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C46EF782-8EEF-43A7-80DB-6B73335E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A63DC-6862-47DA-A665-63622B6A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96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7BD41-5547-4BE0-BB11-42E01A04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9557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gait videos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58EAE-5B40-4B3D-817B-578FEDAA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6B0E9-AB50-4E11-9318-DDC837B6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9557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gait categories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EBDB8-AFC7-467E-BA8F-1FE486AD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381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Normal</a:t>
            </a:r>
          </a:p>
          <a:p xmlns:a="http://schemas.openxmlformats.org/drawingml/2006/main">
            <a:pPr algn="l">
              <a:defRPr sz="21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Parkinson's</a:t>
            </a:r>
          </a:p>
          <a:p xmlns:a="http://schemas.openxmlformats.org/drawingml/2006/main">
            <a:pPr algn="l">
              <a:defRPr sz="21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Stroke</a:t>
            </a:r>
          </a:p>
          <a:p xmlns:a="http://schemas.openxmlformats.org/drawingml/2006/main">
            <a:pPr algn="l">
              <a:defRPr sz="21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Myopathic</a:t>
            </a:r>
          </a:p>
          <a:p xmlns:a="http://schemas.openxmlformats.org/drawingml/2006/main">
            <a:pPr algn="l">
              <a:defRPr sz="21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Cerebral palsy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249ce19444094"/>
          <a:stretch xmlns:a="http://schemas.openxmlformats.org/drawingml/2006/main"/>
        </p:blipFill>
        <p:spPr>
          <a:xfrm xmlns:a="http://schemas.openxmlformats.org/drawingml/2006/main">
            <a:off x="5105400" y="2589934"/>
            <a:ext cx="6553200" cy="238298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905A0-7EAB-4C6F-A713-736F921F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9055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A small, varied set is useful for geometry checks - not yet for clinical claims.</a:t>
            </a:r>
          </a:p>
        </p:txBody>
      </p:sp>
    </p:spTree>
    <p:extLst>
      <p:ext uri="{BB962C8B-B14F-4D97-AF65-F5344CB8AC3E}">
        <p14:creationId xmlns:p14="http://schemas.microsoft.com/office/powerpoint/2010/main" val="2988937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14">
            <a:extLst xmlns:a="http://schemas.openxmlformats.org/drawingml/2006/main">
              <a:ext uri="{FF2B5EF4-FFF2-40B4-BE49-F238E27FC236}">
                <a16:creationId xmlns:a16="http://schemas.microsoft.com/office/drawing/2014/main" id="{73B93872-226E-4B61-81BE-1D56E0C7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DATA STAGE 2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113A21D8-28A8-4934-9490-B13EA385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Scale motion learning with 10,941 walking sequences</a:t>
            </a:r>
          </a:p>
        </p:txBody>
      </p:sp>
      <p:sp>
        <p:nvSpPr>
          <p:cNvPr id="3" name="page-14">
            <a:extLst xmlns:a="http://schemas.openxmlformats.org/drawingml/2006/main">
              <a:ext uri="{FF2B5EF4-FFF2-40B4-BE49-F238E27FC236}">
                <a16:creationId xmlns:a16="http://schemas.microsoft.com/office/drawing/2014/main" id="{F497B850-54A7-4BBC-89EE-86C47E88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60B17-BFB7-4782-86BA-4352DFFB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AMASS supplies diverse 3D motion before force labels are introduced.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4773A-2274-46D7-B1F5-3521F27C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10,941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BFA81-1CD9-4A80-8414-0EBD4A22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walking sequences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E8FC3-CF59-4048-B790-63E4EF4C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527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rPr>
              <a:t>3D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13A2D-80BC-4FDC-B2B5-E6A7DE7E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957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body motion converted to joint keypoints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B08C5-860A-4E3F-B22C-7AF0047F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Purpose: learn broad movement structure first, then specialize to biomechanics.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c110b0e084c60"/>
          <a:srcRect xmlns:a="http://schemas.openxmlformats.org/drawingml/2006/main" l="3322" t="0" r="33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676400"/>
            <a:ext cx="5467350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245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15">
            <a:extLst xmlns:a="http://schemas.openxmlformats.org/drawingml/2006/main">
              <a:ext uri="{FF2B5EF4-FFF2-40B4-BE49-F238E27FC236}">
                <a16:creationId xmlns:a16="http://schemas.microsoft.com/office/drawing/2014/main" id="{2902DC0E-F593-47F5-A9E8-BF8BAF40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EARLY EVIDENCE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17519BC9-7717-487B-8DD3-1CB7266C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Checkpoint 1: the model learned nontrivial motion</a:t>
            </a:r>
          </a:p>
        </p:txBody>
      </p:sp>
      <p:sp>
        <p:nvSpPr>
          <p:cNvPr id="3" name="page-15">
            <a:extLst xmlns:a="http://schemas.openxmlformats.org/drawingml/2006/main">
              <a:ext uri="{FF2B5EF4-FFF2-40B4-BE49-F238E27FC236}">
                <a16:creationId xmlns:a16="http://schemas.microsoft.com/office/drawing/2014/main" id="{4501807C-91B9-4586-89AF-E222A7BE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eb6a4fa574219"/>
          <a:srcRect xmlns:a="http://schemas.openxmlformats.org/drawingml/2006/main" l="7027" t="0" r="70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790700"/>
            <a:ext cx="6477000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61692-5B9A-4435-AC44-676D1891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Loss fell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CDCAC-8981-44FE-A7F1-112954F8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098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The prediction objective moved in the expected direction.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2232F-FCF6-4353-B64A-ACD8115A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338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C9B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C9B68"/>
                </a:solidFill>
                <a:latin typeface="Helvetica Neue"/>
                <a:ea typeface="Helvetica Neue"/>
                <a:cs typeface="Helvetica Neue"/>
              </a:rPr>
              <a:t>Features varied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52C11-3120-42FD-8DFE-235F4A2F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48150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The encoder did not settle on the same representation for every walk.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5A32E-2A5B-401E-A48F-81BC5769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6197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Meaning: the self-supervised stage learned nontrivial motion structure.</a:t>
            </a:r>
          </a:p>
        </p:txBody>
      </p:sp>
    </p:spTree>
    <p:extLst>
      <p:ext uri="{BB962C8B-B14F-4D97-AF65-F5344CB8AC3E}">
        <p14:creationId xmlns:p14="http://schemas.microsoft.com/office/powerpoint/2010/main" val="21223282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16">
            <a:extLst xmlns:a="http://schemas.openxmlformats.org/drawingml/2006/main">
              <a:ext uri="{FF2B5EF4-FFF2-40B4-BE49-F238E27FC236}">
                <a16:creationId xmlns:a16="http://schemas.microsoft.com/office/drawing/2014/main" id="{C6BA16A1-43C6-41C9-A8D8-10BD5393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BASELINE FAILURE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08FD479A-2B1C-42E0-BA70-085BD183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Checkpoint 2: a standard model loses left versus right</a:t>
            </a:r>
          </a:p>
        </p:txBody>
      </p:sp>
      <p:sp>
        <p:nvSpPr>
          <p:cNvPr id="3" name="page-16">
            <a:extLst xmlns:a="http://schemas.openxmlformats.org/drawingml/2006/main">
              <a:ext uri="{FF2B5EF4-FFF2-40B4-BE49-F238E27FC236}">
                <a16:creationId xmlns:a16="http://schemas.microsoft.com/office/drawing/2014/main" id="{AE5C7EAB-63F8-4FD6-ABED-CB40F6F0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43c23cdae424c"/>
          <a:stretch xmlns:a="http://schemas.openxmlformats.org/drawingml/2006/main"/>
        </p:blipFill>
        <p:spPr>
          <a:xfrm xmlns:a="http://schemas.openxmlformats.org/drawingml/2006/main">
            <a:off x="1070240" y="1847850"/>
            <a:ext cx="5098521" cy="3905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6C2D5-EBD1-4687-A4F9-E81E2482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3905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4E5"/>
          </a:solidFill>
          <a:ln xmlns:a="http://schemas.openxmlformats.org/drawingml/2006/main" w="0">
            <a:solidFill>
              <a:srgbClr val="FAE4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D3DE2-E202-4E78-90D2-F3C43B96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241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CF4E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F4E55"/>
                </a:solidFill>
                <a:latin typeface="Helvetica Neue"/>
                <a:ea typeface="Helvetica Neue"/>
                <a:cs typeface="Helvetica Neue"/>
              </a:rPr>
              <a:t>R² = -0.07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3A1A9-9FFF-46B8-AC1D-495AE7F1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95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No useful signed direction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D90D3-68D9-436C-A12C-921E8CF9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48100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The baseline can encode motion and still fail to know which side is which.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57B77-4122-4A48-BDAF-3C4410D6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219700"/>
            <a:ext cx="3905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That failure motivates building symmetry into the representation itself.</a:t>
            </a:r>
          </a:p>
        </p:txBody>
      </p:sp>
    </p:spTree>
    <p:extLst>
      <p:ext uri="{BB962C8B-B14F-4D97-AF65-F5344CB8AC3E}">
        <p14:creationId xmlns:p14="http://schemas.microsoft.com/office/powerpoint/2010/main" val="4872757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17">
            <a:extLst xmlns:a="http://schemas.openxmlformats.org/drawingml/2006/main">
              <a:ext uri="{FF2B5EF4-FFF2-40B4-BE49-F238E27FC236}">
                <a16:creationId xmlns:a16="http://schemas.microsoft.com/office/drawing/2014/main" id="{ED260BB1-79F4-417C-87FC-1DD034F9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WHAT THE EARLY TESTS SAY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4347DB5E-BA98-4577-B02A-EA2F3F21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The symmetry works. Clinical usefulness is still open.</a:t>
            </a:r>
          </a:p>
        </p:txBody>
      </p:sp>
      <p:sp>
        <p:nvSpPr>
          <p:cNvPr id="3" name="page-17">
            <a:extLst xmlns:a="http://schemas.openxmlformats.org/drawingml/2006/main">
              <a:ext uri="{FF2B5EF4-FFF2-40B4-BE49-F238E27FC236}">
                <a16:creationId xmlns:a16="http://schemas.microsoft.com/office/drawing/2014/main" id="{8DF80407-E03F-4FDD-86E9-4F5FF6E7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534ca7a38412b"/>
          <a:stretch xmlns:a="http://schemas.openxmlformats.org/drawingml/2006/main"/>
        </p:blipFill>
        <p:spPr>
          <a:xfrm xmlns:a="http://schemas.openxmlformats.org/drawingml/2006/main">
            <a:off x="873062" y="1847850"/>
            <a:ext cx="5073777" cy="3676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A8153-C419-4A38-B241-42518254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62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9B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C9B68"/>
                </a:solidFill>
                <a:latin typeface="Helvetica Neue"/>
                <a:ea typeface="Helvetica Neue"/>
                <a:cs typeface="Helvetica Neue"/>
              </a:rPr>
              <a:t>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96F5E-26BF-41DB-8E5F-85C24F83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Mirror consistency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E7DA7-6A22-4858-BEC3-FF0528FF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71800"/>
            <a:ext cx="4191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The reflection-equivariant encoder follows the intended swap rule exactly in the geometry audit.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7D657-5323-4BA2-981F-1C86F160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33875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8F76A-B9AA-4448-9236-ACD6E6BE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48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rPr>
              <a:t>STILL TO 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3871F-1FDF-4606-ABAC-F176984D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67300"/>
            <a:ext cx="4191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Force prediction on unseen people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38832-65EE-492C-84B1-BBA724FB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9436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Architecture check first; biomechanical validation next.</a:t>
            </a:r>
          </a:p>
        </p:txBody>
      </p:sp>
    </p:spTree>
    <p:extLst>
      <p:ext uri="{BB962C8B-B14F-4D97-AF65-F5344CB8AC3E}">
        <p14:creationId xmlns:p14="http://schemas.microsoft.com/office/powerpoint/2010/main" val="7969593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E74E8-E711-4F3A-81F0-724013CC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4EA9D-F0B7-4CC7-9949-E429B0E2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From tracking movement toward explaining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7B2A8-AFE8-4164-A172-0D12396D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3"/>
          </a:solidFill>
          <a:ln xmlns:a="http://schemas.openxmlformats.org/drawingml/2006/main" w="0">
            <a:solidFill>
              <a:srgbClr val="C7CDD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27DF1-1132-483B-9719-52073BB0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1. Pretrain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0767F-A0F3-4685-9C9E-1A250912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Finish large-scale AMASS motion pretraining.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13C7C-08A6-4309-9A07-1E18AF34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71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ED7A45"/>
                </a:solidFill>
                <a:latin typeface="Helvetica Neue"/>
                <a:ea typeface="Helvetica Neue"/>
                <a:cs typeface="Helvetica Neue"/>
              </a:rPr>
              <a:t>2. Ground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1F12A-03A8-4F64-AA90-A670D8E0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Connect motion to force, contact, and uncertainty.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7DE72-73DC-4F3A-9E5A-C3D51BE4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718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3. Validate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3FA3C-0E40-4F8D-9815-53F8B1F4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0525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Test signed predictions on unseen people and viewpoints.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E9DBA-592B-43AA-9F05-2D4703E5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solidFill>
              <a:srgbClr val="DCEE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E356C-1D82-4CFB-B846-68F1324F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418"/>
                </a:solidFill>
                <a:latin typeface="Helvetica Neue"/>
                <a:ea typeface="Helvetica Neue"/>
                <a:cs typeface="Helvetica Neue"/>
              </a:rPr>
              <a:t>Long-term vision: ordinary video that supports biomechanical understanding, not just pose tracking.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2AEC5-3FB6-4B7E-AA4D-DEC9FACF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29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16B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450511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2026-08-24T07:12:16.2090000Z</dcterms:created>
  <dcterms:modified xsi:type="dcterms:W3CDTF">2026-08-24T07:12:16.2090000Z</dcterms:modified>
</coreProperties>
</file>