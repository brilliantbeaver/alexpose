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16ed68f96348bf" /><Relationship Type="http://schemas.openxmlformats.org/officeDocument/2006/relationships/extended-properties" Target="/docProps/app.xml" Id="Rea0710ddf0c44e07" /><Relationship Type="http://schemas.openxmlformats.org/officeDocument/2006/relationships/officeDocument" Target="/ppt/presentation.xml" Id="R404f92be2d82485c" /></Relationships>
</file>

<file path=ppt/presentation.xml><?xml version="1.0" encoding="utf-8"?>
<p:presentation xmlns:p="http://schemas.openxmlformats.org/presentationml/2006/main">
  <p:sldMasterIdLst>
    <p:sldMasterId xmlns:r="http://schemas.openxmlformats.org/officeDocument/2006/relationships" id="2147483648" r:id="R7e35cf9544a544e6"/>
  </p:sldMasterIdLst>
  <p:notesMasterIdLst>
    <p:notesMasterId xmlns:r="http://schemas.openxmlformats.org/officeDocument/2006/relationships" r:id="R5937f3b076894848"/>
  </p:notesMasterIdLst>
  <p:sldIdLst>
    <p:sldId xmlns:r="http://schemas.openxmlformats.org/officeDocument/2006/relationships" id="256" r:id="Ra9462494c48d402c"/>
    <p:sldId xmlns:r="http://schemas.openxmlformats.org/officeDocument/2006/relationships" id="257" r:id="R86e492b58fc64fc5"/>
    <p:sldId xmlns:r="http://schemas.openxmlformats.org/officeDocument/2006/relationships" id="258" r:id="R7e4e23be99a0418e"/>
    <p:sldId xmlns:r="http://schemas.openxmlformats.org/officeDocument/2006/relationships" id="259" r:id="Re3be946cecfe4404"/>
    <p:sldId xmlns:r="http://schemas.openxmlformats.org/officeDocument/2006/relationships" id="260" r:id="Rfcb2116298e845f8"/>
    <p:sldId xmlns:r="http://schemas.openxmlformats.org/officeDocument/2006/relationships" id="261" r:id="R0454628309d74842"/>
    <p:sldId xmlns:r="http://schemas.openxmlformats.org/officeDocument/2006/relationships" id="262" r:id="R702702f4c9834acc"/>
    <p:sldId xmlns:r="http://schemas.openxmlformats.org/officeDocument/2006/relationships" id="263" r:id="R7ad002460f504302"/>
    <p:sldId xmlns:r="http://schemas.openxmlformats.org/officeDocument/2006/relationships" id="264" r:id="R4dec0e21ac6a4da4"/>
    <p:sldId xmlns:r="http://schemas.openxmlformats.org/officeDocument/2006/relationships" id="265" r:id="Rc346f9d7b6b14abf"/>
    <p:sldId xmlns:r="http://schemas.openxmlformats.org/officeDocument/2006/relationships" id="266" r:id="Ra698b9fdac00473a"/>
    <p:sldId xmlns:r="http://schemas.openxmlformats.org/officeDocument/2006/relationships" id="267" r:id="R47266bebdfdd4585"/>
    <p:sldId xmlns:r="http://schemas.openxmlformats.org/officeDocument/2006/relationships" id="268" r:id="R251d043b6d0c4454"/>
    <p:sldId xmlns:r="http://schemas.openxmlformats.org/officeDocument/2006/relationships" id="269" r:id="Rc818fc15f69b4c5f"/>
    <p:sldId xmlns:r="http://schemas.openxmlformats.org/officeDocument/2006/relationships" id="270" r:id="R981676d9d0064268"/>
    <p:sldId xmlns:r="http://schemas.openxmlformats.org/officeDocument/2006/relationships" id="271" r:id="R83fde80a835b4784"/>
    <p:sldId xmlns:r="http://schemas.openxmlformats.org/officeDocument/2006/relationships" id="272" r:id="Rb32012824d464538"/>
    <p:sldId xmlns:r="http://schemas.openxmlformats.org/officeDocument/2006/relationships" id="273" r:id="R8ec3b2dc19e34f93"/>
    <p:sldId xmlns:r="http://schemas.openxmlformats.org/officeDocument/2006/relationships" id="274" r:id="Rf32ada26cbb340d7"/>
    <p:sldId xmlns:r="http://schemas.openxmlformats.org/officeDocument/2006/relationships" id="275" r:id="R799089f9416b4e92"/>
    <p:sldId xmlns:r="http://schemas.openxmlformats.org/officeDocument/2006/relationships" id="276" r:id="R1416a297886e47c9"/>
    <p:sldId xmlns:r="http://schemas.openxmlformats.org/officeDocument/2006/relationships" id="277" r:id="R6cdd7e0a69734564"/>
    <p:sldId xmlns:r="http://schemas.openxmlformats.org/officeDocument/2006/relationships" id="278" r:id="Rdf925ab92f6e482d"/>
    <p:sldId xmlns:r="http://schemas.openxmlformats.org/officeDocument/2006/relationships" id="279" r:id="Rc5de22e0940e44ba"/>
    <p:sldId xmlns:r="http://schemas.openxmlformats.org/officeDocument/2006/relationships" id="280" r:id="Rd9f15f4678b648ed"/>
    <p:sldId xmlns:r="http://schemas.openxmlformats.org/officeDocument/2006/relationships" id="281" r:id="R4ff3ef937f9f43ea"/>
    <p:sldId xmlns:r="http://schemas.openxmlformats.org/officeDocument/2006/relationships" id="282" r:id="R8e06ac10492a4e77"/>
    <p:sldId xmlns:r="http://schemas.openxmlformats.org/officeDocument/2006/relationships" id="283" r:id="R3fc8fcdaf9ca4f4a"/>
    <p:sldId xmlns:r="http://schemas.openxmlformats.org/officeDocument/2006/relationships" id="284" r:id="R507cb0fff5fd430f"/>
    <p:sldId xmlns:r="http://schemas.openxmlformats.org/officeDocument/2006/relationships" id="285" r:id="R6443a0e8e5bf45ca"/>
    <p:sldId xmlns:r="http://schemas.openxmlformats.org/officeDocument/2006/relationships" id="286" r:id="R268f4b1be6cc4625"/>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3c1192db2514b80" /><Relationship Type="http://schemas.openxmlformats.org/officeDocument/2006/relationships/slideMaster" Target="/ppt/slideMasters/slideMaster1.xml" Id="R7e35cf9544a544e6" /><Relationship Type="http://schemas.openxmlformats.org/officeDocument/2006/relationships/notesMaster" Target="/ppt/notesMasters/notesMaster1.xml" Id="R5937f3b076894848" /><Relationship Type="http://schemas.openxmlformats.org/officeDocument/2006/relationships/presProps" Target="/ppt/presProps.xml" Id="Ra823744437584142" /><Relationship Type="http://schemas.openxmlformats.org/officeDocument/2006/relationships/viewProps" Target="/ppt/viewProps.xml" Id="R27c33e5af98e4bd2" /><Relationship Type="http://schemas.openxmlformats.org/officeDocument/2006/relationships/tableStyles" Target="/ppt/tableStyles.xml" Id="R045709c021af4053" /><Relationship Type="http://schemas.openxmlformats.org/officeDocument/2006/relationships/slide" Target="/ppt/slides/slide1.xml" Id="Ra9462494c48d402c" /><Relationship Type="http://schemas.openxmlformats.org/officeDocument/2006/relationships/slide" Target="/ppt/slides/slide2.xml" Id="R86e492b58fc64fc5" /><Relationship Type="http://schemas.openxmlformats.org/officeDocument/2006/relationships/slide" Target="/ppt/slides/slide3.xml" Id="R7e4e23be99a0418e" /><Relationship Type="http://schemas.openxmlformats.org/officeDocument/2006/relationships/slide" Target="/ppt/slides/slide4.xml" Id="Re3be946cecfe4404" /><Relationship Type="http://schemas.openxmlformats.org/officeDocument/2006/relationships/slide" Target="/ppt/slides/slide5.xml" Id="Rfcb2116298e845f8" /><Relationship Type="http://schemas.openxmlformats.org/officeDocument/2006/relationships/slide" Target="/ppt/slides/slide6.xml" Id="R0454628309d74842" /><Relationship Type="http://schemas.openxmlformats.org/officeDocument/2006/relationships/slide" Target="/ppt/slides/slide7.xml" Id="R702702f4c9834acc" /><Relationship Type="http://schemas.openxmlformats.org/officeDocument/2006/relationships/slide" Target="/ppt/slides/slide8.xml" Id="R7ad002460f504302" /><Relationship Type="http://schemas.openxmlformats.org/officeDocument/2006/relationships/slide" Target="/ppt/slides/slide9.xml" Id="R4dec0e21ac6a4da4" /><Relationship Type="http://schemas.openxmlformats.org/officeDocument/2006/relationships/slide" Target="/ppt/slides/slide10.xml" Id="Rc346f9d7b6b14abf" /><Relationship Type="http://schemas.openxmlformats.org/officeDocument/2006/relationships/slide" Target="/ppt/slides/slide11.xml" Id="Ra698b9fdac00473a" /><Relationship Type="http://schemas.openxmlformats.org/officeDocument/2006/relationships/slide" Target="/ppt/slides/slide12.xml" Id="R47266bebdfdd4585" /><Relationship Type="http://schemas.openxmlformats.org/officeDocument/2006/relationships/slide" Target="/ppt/slides/slide13.xml" Id="R251d043b6d0c4454" /><Relationship Type="http://schemas.openxmlformats.org/officeDocument/2006/relationships/slide" Target="/ppt/slides/slide14.xml" Id="Rc818fc15f69b4c5f" /><Relationship Type="http://schemas.openxmlformats.org/officeDocument/2006/relationships/slide" Target="/ppt/slides/slide15.xml" Id="R981676d9d0064268" /><Relationship Type="http://schemas.openxmlformats.org/officeDocument/2006/relationships/slide" Target="/ppt/slides/slide16.xml" Id="R83fde80a835b4784" /><Relationship Type="http://schemas.openxmlformats.org/officeDocument/2006/relationships/slide" Target="/ppt/slides/slide17.xml" Id="Rb32012824d464538" /><Relationship Type="http://schemas.openxmlformats.org/officeDocument/2006/relationships/slide" Target="/ppt/slides/slide18.xml" Id="R8ec3b2dc19e34f93" /><Relationship Type="http://schemas.openxmlformats.org/officeDocument/2006/relationships/slide" Target="/ppt/slides/slide19.xml" Id="Rf32ada26cbb340d7" /><Relationship Type="http://schemas.openxmlformats.org/officeDocument/2006/relationships/slide" Target="/ppt/slides/slide20.xml" Id="R799089f9416b4e92" /><Relationship Type="http://schemas.openxmlformats.org/officeDocument/2006/relationships/slide" Target="/ppt/slides/slide21.xml" Id="R1416a297886e47c9" /><Relationship Type="http://schemas.openxmlformats.org/officeDocument/2006/relationships/slide" Target="/ppt/slides/slide22.xml" Id="R6cdd7e0a69734564" /><Relationship Type="http://schemas.openxmlformats.org/officeDocument/2006/relationships/slide" Target="/ppt/slides/slide23.xml" Id="Rdf925ab92f6e482d" /><Relationship Type="http://schemas.openxmlformats.org/officeDocument/2006/relationships/slide" Target="/ppt/slides/slide24.xml" Id="Rc5de22e0940e44ba" /><Relationship Type="http://schemas.openxmlformats.org/officeDocument/2006/relationships/slide" Target="/ppt/slides/slide25.xml" Id="Rd9f15f4678b648ed" /><Relationship Type="http://schemas.openxmlformats.org/officeDocument/2006/relationships/slide" Target="/ppt/slides/slide26.xml" Id="R4ff3ef937f9f43ea" /><Relationship Type="http://schemas.openxmlformats.org/officeDocument/2006/relationships/slide" Target="/ppt/slides/slide27.xml" Id="R8e06ac10492a4e77" /><Relationship Type="http://schemas.openxmlformats.org/officeDocument/2006/relationships/slide" Target="/ppt/slides/slide28.xml" Id="R3fc8fcdaf9ca4f4a" /><Relationship Type="http://schemas.openxmlformats.org/officeDocument/2006/relationships/slide" Target="/ppt/slides/slide29.xml" Id="R507cb0fff5fd430f" /><Relationship Type="http://schemas.openxmlformats.org/officeDocument/2006/relationships/slide" Target="/ppt/slides/slide30.xml" Id="R6443a0e8e5bf45ca" /><Relationship Type="http://schemas.openxmlformats.org/officeDocument/2006/relationships/slide" Target="/ppt/slides/slide31.xml" Id="R268f4b1be6cc46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919cff01d94e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GAVD3 S-JEPA Theme">
  <a:themeElements>
    <a:clrScheme name="Office">
      <a:dk1>
        <a:srgbClr val="17324D"/>
      </a:dk1>
      <a:lt1>
        <a:srgbClr val="FBFAF7"/>
      </a:lt1>
      <a:dk2>
        <a:srgbClr val="244D70"/>
      </a:dk2>
      <a:lt2>
        <a:srgbClr val="EEF3F6"/>
      </a:lt2>
      <a:accent1>
        <a:srgbClr val="3977A8"/>
      </a:accent1>
      <a:accent2>
        <a:srgbClr val="D97745"/>
      </a:accent2>
      <a:accent3>
        <a:srgbClr val="3D8B7D"/>
      </a:accent3>
      <a:accent4>
        <a:srgbClr val="7562A8"/>
      </a:accent4>
      <a:accent5>
        <a:srgbClr val="D9A441"/>
      </a:accent5>
      <a:accent6>
        <a:srgbClr val="B94E48"/>
      </a:accent6>
      <a:hlink>
        <a:srgbClr val="1D6395"/>
      </a:hlink>
      <a:folHlink>
        <a:srgbClr val="7562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743be7d0df4d90" /><Relationship Type="http://schemas.openxmlformats.org/officeDocument/2006/relationships/notesMaster" Target="/ppt/notesMasters/notesMaster1.xml" Id="Rd768550a297343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6ac74843384f0d" /><Relationship Type="http://schemas.openxmlformats.org/officeDocument/2006/relationships/notesMaster" Target="/ppt/notesMasters/notesMaster1.xml" Id="R90f85799a0b744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5d1be94b0d4245" /><Relationship Type="http://schemas.openxmlformats.org/officeDocument/2006/relationships/notesMaster" Target="/ppt/notesMasters/notesMaster1.xml" Id="R3484ae8009d344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0d4e9b93fe45eb" /><Relationship Type="http://schemas.openxmlformats.org/officeDocument/2006/relationships/notesMaster" Target="/ppt/notesMasters/notesMaster1.xml" Id="Ra8c217bc4ecd45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c1536f24e242d2" /><Relationship Type="http://schemas.openxmlformats.org/officeDocument/2006/relationships/notesMaster" Target="/ppt/notesMasters/notesMaster1.xml" Id="Ra2f40d1f79a34a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00f35f54564257" /><Relationship Type="http://schemas.openxmlformats.org/officeDocument/2006/relationships/notesMaster" Target="/ppt/notesMasters/notesMaster1.xml" Id="Rcca134aa0e6c47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fdf2445af14f72" /><Relationship Type="http://schemas.openxmlformats.org/officeDocument/2006/relationships/notesMaster" Target="/ppt/notesMasters/notesMaster1.xml" Id="Rec33c7e185814c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9968c3a402456f" /><Relationship Type="http://schemas.openxmlformats.org/officeDocument/2006/relationships/notesMaster" Target="/ppt/notesMasters/notesMaster1.xml" Id="R0f4b9aaa7b2540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63882e47754f2a" /><Relationship Type="http://schemas.openxmlformats.org/officeDocument/2006/relationships/notesMaster" Target="/ppt/notesMasters/notesMaster1.xml" Id="R8035d695408a4b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dbbe8badc242bf" /><Relationship Type="http://schemas.openxmlformats.org/officeDocument/2006/relationships/notesMaster" Target="/ppt/notesMasters/notesMaster1.xml" Id="Rfcb86cdcf50c41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a11bc11da84492" /><Relationship Type="http://schemas.openxmlformats.org/officeDocument/2006/relationships/notesMaster" Target="/ppt/notesMasters/notesMaster1.xml" Id="R4853f0224a3a4e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b00e1837a54e16" /><Relationship Type="http://schemas.openxmlformats.org/officeDocument/2006/relationships/notesMaster" Target="/ppt/notesMasters/notesMaster1.xml" Id="R5247787e6ebd45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203134bc6e4095" /><Relationship Type="http://schemas.openxmlformats.org/officeDocument/2006/relationships/notesMaster" Target="/ppt/notesMasters/notesMaster1.xml" Id="R3450ce6d7ea143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b48328cc870463b" /><Relationship Type="http://schemas.openxmlformats.org/officeDocument/2006/relationships/notesMaster" Target="/ppt/notesMasters/notesMaster1.xml" Id="Recf6f9f735f148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0f5f9514c04be3" /><Relationship Type="http://schemas.openxmlformats.org/officeDocument/2006/relationships/notesMaster" Target="/ppt/notesMasters/notesMaster1.xml" Id="R791574316ee2405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4a48f882e4e4168" /><Relationship Type="http://schemas.openxmlformats.org/officeDocument/2006/relationships/notesMaster" Target="/ppt/notesMasters/notesMaster1.xml" Id="R86ba0621322e48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7528fbb52684c30" /><Relationship Type="http://schemas.openxmlformats.org/officeDocument/2006/relationships/notesMaster" Target="/ppt/notesMasters/notesMaster1.xml" Id="R30af862369c4416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c04cd4016f54290" /><Relationship Type="http://schemas.openxmlformats.org/officeDocument/2006/relationships/notesMaster" Target="/ppt/notesMasters/notesMaster1.xml" Id="R7ae3df72bc9d410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1b32241578c4ae9" /><Relationship Type="http://schemas.openxmlformats.org/officeDocument/2006/relationships/notesMaster" Target="/ppt/notesMasters/notesMaster1.xml" Id="R624f55c33feb41b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11974d8fc574f2d" /><Relationship Type="http://schemas.openxmlformats.org/officeDocument/2006/relationships/notesMaster" Target="/ppt/notesMasters/notesMaster1.xml" Id="R6277ac04439f4ec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1b723099b614727" /><Relationship Type="http://schemas.openxmlformats.org/officeDocument/2006/relationships/notesMaster" Target="/ppt/notesMasters/notesMaster1.xml" Id="R267b14744907420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bd2bad3a4e44bc3" /><Relationship Type="http://schemas.openxmlformats.org/officeDocument/2006/relationships/notesMaster" Target="/ppt/notesMasters/notesMaster1.xml" Id="R8ad2e42315004c4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cb42da366214cf7" /><Relationship Type="http://schemas.openxmlformats.org/officeDocument/2006/relationships/notesMaster" Target="/ppt/notesMasters/notesMaster1.xml" Id="R3a5963117ed242b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2efb74b9c3a402e" /><Relationship Type="http://schemas.openxmlformats.org/officeDocument/2006/relationships/notesMaster" Target="/ppt/notesMasters/notesMaster1.xml" Id="Rfb1a3f38bcbe4de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f9c4524d2b7473a" /><Relationship Type="http://schemas.openxmlformats.org/officeDocument/2006/relationships/notesMaster" Target="/ppt/notesMasters/notesMaster1.xml" Id="R346fc38165ca464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c2868654641430f" /><Relationship Type="http://schemas.openxmlformats.org/officeDocument/2006/relationships/notesMaster" Target="/ppt/notesMasters/notesMaster1.xml" Id="R06b1fc7b77f841f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7c6d3666ba744cd" /><Relationship Type="http://schemas.openxmlformats.org/officeDocument/2006/relationships/notesMaster" Target="/ppt/notesMasters/notesMaster1.xml" Id="Rbe01ce3dae9a4e2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1d6b038276c4389" /><Relationship Type="http://schemas.openxmlformats.org/officeDocument/2006/relationships/notesMaster" Target="/ppt/notesMasters/notesMaster1.xml" Id="Rc910dc84b34a430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94f736da5b8413f" /><Relationship Type="http://schemas.openxmlformats.org/officeDocument/2006/relationships/notesMaster" Target="/ppt/notesMasters/notesMaster1.xml" Id="Ra2ca495a0ca145f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02bf298f05542f4" /><Relationship Type="http://schemas.openxmlformats.org/officeDocument/2006/relationships/notesMaster" Target="/ppt/notesMasters/notesMaster1.xml" Id="R0d6122870fec40f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78a3c34d6504967" /><Relationship Type="http://schemas.openxmlformats.org/officeDocument/2006/relationships/notesMaster" Target="/ppt/notesMasters/notesMaster1.xml" Id="R29983482f13744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Start with the learning task. Each sequence has 64 normalized frames, 33 MediaPipe landmark identities, and three coordinate values. Four frames for one joint form one token. This creates 16 time patches times 33 joints, or 528 possible tokens. The student encoder receives only the visible tokens. The predictor fills the selected hidden positions in feature space. The target encoder sees the full sequence and changes slowly through an exponential moving average, or EMA. It supplies a stable feature target and does not receive a gradient. This is latent prediction, not video generation and not a clinical diagnosis. The project uses GAVD folder names as dataset labels. The added normal clips were not independently clinically reviewed. Sources: references 1 through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Read this timeline from left to right. The legacy system was a useful prototype, but its normal training data came from one video. The failure audit then exposed source-video overlap, detector missingness, lost temporal order, and the absence of an independent outer test. The current model broadens the normal data, expands the target whitelist, adds two loss jobs, and continues through five stages. The latest Lane C change repaired the classifier fold definition without changing the encoder. The final card is different: it describes the experiment still needed for an unseen-video estimate. A model improvement, an evaluation improvement, and a reporting improvement are all valuable. They do not support the same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prototype did its job because it made the hidden assumptions measurable. First, twelve windows from one source video are correlated observations, not twelve independent people or camera settings. Second, a row-level split can put different windows from one video on both sides. In A1, every one of the 16 test videos also appears in classifier training. Third, a 97-value visibility-only control reached 0.448 accuracy on A1. That means pose success and failure are related to the labels and form a meaningful shortcut floor. Fourth, the downstream vector uses means and standard deviations, so it cannot tell the Random Forest when an event happened. The current work addresses some of these limits, documents the rest, and does not pretend that one new score solved all four.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canonical GAVD cohort remains locked at 96 sequences from 18 videos. The project added normal walking windows through a separate extraction path. That path proposed 64 candidates from 17 additional videos. Sixty-three passed the authorized-landmark coverage threshold of 0.45. One candidate had coverage 0.027 and was rejected. Stage 0 therefore contains 12 canonical normal sequences plus 63 added-normal sequences, or 75 sequences from 18 videos. This is a real gain in source breadth. It also creates a new risk: 63 of 75 normal rows use the added extraction path, while every abnormal row uses the canonical path. A classifier can learn camera, crop, detector, or bounding-box differences. The scientific unit of diversity is 17 added videos, not 63 independent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Work through the figure in three steps. First, 64 frames divided by four frames per patch gives 16 time patches. Multiplying by 33 joints gives 528 possible tokens. All 33 joint identities may provide visible context, but only 12 may become hidden targets: both shoulders, hips, knees, ankles, heels, and foot indices. Second, the mask builder counts valid eligible tokens for every sample in a batch. It takes 60 percent of the smallest count and gives every sample that common target count. Therefore, samples with more valid eligible tokens have a smaller realized fraction. The phrase 60 percent of each sample is not correct. Third, the saved endpoint means were 0.551 at Stage 0 and 0.423 at Stage 4. Targets are drawn uniformly. No velocity, displacement, acceleration, or learned motion score is used, and no forbidden joint is substituted.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legacy objective contained only the JEPA prediction term. The current objective adds two jobs. JEPA still asks the predictor to match teacher features at authorized hidden tokens. VICReg keeps two views of the same sequence close, pushes feature dimensions to retain variance, and reduces redundant covariance. This is active anti-collapse pressure. The group term uses condition labels to make same-label vectors more compact and penalize nearby group centers. Its weight is zero during normal-only Stage 0 and 0.25 during Stages 1 through 4. The saved total is JEPA plus 0.05 times VICReg plus 0.25 times the group term. Because the group term reads labels, only Stage 0 is label-free. The later stages are label-informed representation fine-tuning. Sources: references 1, 2,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This is one continuing model lineage. The student encoder, target encoder, predictor, centering state, and VICReg projector continue from one stage to the next. Each stage starts a fresh AdamW optimizer, learning-rate scheduler, warmup, and EMA schedule position. Stage 0 trains on 75 normal sequences for 300 epochs. Four 75-epoch stages then add Parkinson’s, stroke, myopathic gait, and cerebral palsy. Condition-balanced replay keeps earlier groups in later batches. The final total is 600 curriculum epochs and 11,400 optimizer updates. Every stage records a fingerprint tied to its parent, cohort, mask rule, loss settings, and configuration. The fingerprint identifies experiment lineage. It is not a byte checksum of the checkpoint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Do not read a falling loss as proof of a useful representation. Use the diagnostics together. The JEPA and VICReg losses stayed finite. Final feature standard deviation was 0.414, so the extreme case in which every sequence becomes one identical vector did not occur. Final pair cosine was 0.609, another signal against complete collapse. At the same time, normal-anchor cosine fell from 0.954 after Stage 1 to 0.594 after Stage 4. The normal reference therefore changed substantially as condition groups entered. The Stage 4 margin penalty remained 0.038, so the requested training-corpus group margin was not fully met. Balanced replay reduced the risk of forgetting, but it did not prevent this drift. These are training diagnostics, not held-out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Notebook 05 freezes the final target encoder before any Random Forest is fitted. For each canonical sequence, it joins four 96-value summaries: global mean, global standard deviation, authorized-target mean, and authorized-target standard deviation. This makes a 384-value vector. On the 96 canonical rows, the mean within-condition cosine distance was 0.120. The smallest distance between condition centers was only 0.037, between myopathic and cerebral-palsy rows. Cosine silhouette was 0.009, close to the point where within-group and nearest-other-group distances balance. The representation contains label-related structure, but these numbers do not show five clean clusters. The same rows and labels shaped the later training stages, so this geometry is descriptive and label-informed. Source for silhouette theory: reference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three approaches answer different questions. The first two allow source videos on both sides. The third keeps source videos separate for the final classifier, but every video had already contributed to feature learning.</a:t>
            </a:r>
          </a:p>
          <a:p xmlns:a="http://schemas.openxmlformats.org/drawingml/2006/main">
            <a:pPr marL="0" lvl="0" indent="0">
              <a:buNone/>
            </a:pPr>
            <a:r>
              <a:t/>
            </a:r>
          </a:p>
          <a:p xmlns:a="http://schemas.openxmlformats.org/drawingml/2006/main">
            <a:pPr marL="0" lvl="0" indent="0">
              <a:buNone/>
            </a:pPr>
            <a:r>
              <a:t>[Sources]</a:t>
            </a:r>
          </a:p>
          <a:p xmlns:a="http://schemas.openxmlformats.org/drawingml/2006/main">
            <a:pPr marL="0" lvl="0" indent="0">
              <a:buNone/>
            </a:pPr>
            <a:r>
              <a:t>- Local verified score tables in gavd5/work/artifacts/real</a:t>
            </a:r>
          </a:p>
          <a:p xmlns:a="http://schemas.openxmlformats.org/drawingml/2006/main">
            <a:pPr marL="0" lvl="0" indent="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random division uses 67 examples for training and 29 for testing. It reaches 72.4% accuracy and a 75.0% F1 score. Every test video also appears in training.</a:t>
            </a:r>
          </a:p>
          <a:p xmlns:a="http://schemas.openxmlformats.org/drawingml/2006/main">
            <a:pPr marL="0" lvl="0" indent="0">
              <a:buNone/>
            </a:pPr>
            <a:r>
              <a:t/>
            </a:r>
          </a:p>
          <a:p xmlns:a="http://schemas.openxmlformats.org/drawingml/2006/main">
            <a:pPr marL="0" lvl="0" indent="0">
              <a:buNone/>
            </a:pPr>
            <a:r>
              <a:t>[Sources]</a:t>
            </a:r>
          </a:p>
          <a:p xmlns:a="http://schemas.openxmlformats.org/drawingml/2006/main">
            <a:pPr marL="0" lvl="0" indent="0">
              <a:buNone/>
            </a:pPr>
            <a:r>
              <a:t>- Local verified score tables in gavd5/work/artifacts/real</a:t>
            </a:r>
          </a:p>
          <a:p xmlns:a="http://schemas.openxmlformats.org/drawingml/2006/main">
            <a:pPr marL="0" lvl="0" indent="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matched comparison reaches 76.2% accuracy and a 76.5% F1 score. The source-video-separated combined result is 56.6% accuracy and a 49.6% F1 score.</a:t>
            </a:r>
          </a:p>
          <a:p xmlns:a="http://schemas.openxmlformats.org/drawingml/2006/main">
            <a:pPr marL="0" lvl="0" indent="0">
              <a:buNone/>
            </a:pPr>
            <a:r>
              <a:t/>
            </a:r>
          </a:p>
          <a:p xmlns:a="http://schemas.openxmlformats.org/drawingml/2006/main">
            <a:pPr marL="0" lvl="0" indent="0">
              <a:buNone/>
            </a:pPr>
            <a:r>
              <a:t>[Sources]</a:t>
            </a:r>
          </a:p>
          <a:p xmlns:a="http://schemas.openxmlformats.org/drawingml/2006/main">
            <a:pPr marL="0" lvl="0" indent="0">
              <a:buNone/>
            </a:pPr>
            <a:r>
              <a:t>- Local verified score tables in gavd5/work/artifacts/real</a:t>
            </a:r>
          </a:p>
          <a:p xmlns:a="http://schemas.openxmlformats.org/drawingml/2006/main">
            <a:pPr marL="0" lvl="0" indent="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Keeping source videos separate lowers the combined result to 56.6% accuracy and a 49.6% F1 score. This is more cautious but still not a fully unseen-video estimate.</a:t>
            </a:r>
          </a:p>
          <a:p xmlns:a="http://schemas.openxmlformats.org/drawingml/2006/main">
            <a:pPr marL="0" lvl="0" indent="0">
              <a:buNone/>
            </a:pPr>
            <a:r>
              <a:t/>
            </a:r>
          </a:p>
          <a:p xmlns:a="http://schemas.openxmlformats.org/drawingml/2006/main">
            <a:pPr marL="0" lvl="0" indent="0">
              <a:buNone/>
            </a:pPr>
            <a:r>
              <a:t>[Sources]</a:t>
            </a:r>
          </a:p>
          <a:p xmlns:a="http://schemas.openxmlformats.org/drawingml/2006/main">
            <a:pPr marL="0" lvl="0" indent="0">
              <a:buNone/>
            </a:pPr>
            <a:r>
              <a:t>- Local verified score tables in gavd5/work/artifacts/real</a:t>
            </a:r>
          </a:p>
          <a:p xmlns:a="http://schemas.openxmlformats.org/drawingml/2006/main">
            <a:pPr marL="0" lvl="0" indent="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End with the claim boundary. The current work is a meaningful engineering improvement: it broadens Stage 0 from one normal video to 18, uses 12 target identities, adds active anti-collapse pressure, completes five fingerprinted stages, improves the exact-split descriptive readout, and repairs the Lane C fold definition. It also shows substantial normal drift and weak five-group geometry. The next valid experiment must split complete source videos first. For every outer fold, choose preprocessing only from training videos, start S-JEPA from fresh weights, train all five stages, fit the classifier, and then open the held-out videos once. Save per-fold predictions, class and video support, provenance, and exposure audits. Only that design can estimate how the complete pipeline behaves on unseen videos.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This matrix prevents a common attribution error. The exact-split score changed after six method layers changed together. It is valid to compare the complete legacy and current systems on that fixed assignment. It is not valid to say that VICReg, heel targets, added normal videos, or curriculum order caused the whole change. Controlled ablations are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added pipeline inspects pose candidates, selects a walker, smooths a bounding-box track, estimates a cycle from ankle separation, proposes overlapping windows, and extracts MediaPipe landmarks. The extraction report is the selection contract used by notebooks 04 and 06. A rejected pose file cannot enter just because it remains on disk. These rows are useful added normal data, not canonical GAVD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manifest does not point to an already clipped video. Its frame numbers belong to the original source timeline. Caching the full video is therefore required for correct extraction and for a useful notebook preview. Pose failures remain explicit rather than being silently dropped. That allows later coverage and missingness controls. Sources: references 3, 4,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current whitelist contains 12 landmark identities. The legacy whitelist contained 10 because heels 29 and 30 were absent. A landmark identity is not one token. Each identity can appear in 16 time patches, so validity determines how many eligible joint-time tokens each sequence contributes.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readout has no trainable sequence head. This keeps variance low for a small dataset and makes the feature probe easy to audit. Its cost is clear: mean and standard deviation cannot preserve the order of 16 time patches, absolute walking rate after resizing, or the timing of left-right asymmetry. The right-hand card is a proposed ablation, not a completed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Condition-level F1 scores range from 66.7% to 85.7%. Three conditions have only three test examples, so individual percentages are unstable.</a:t>
            </a:r>
          </a:p>
          <a:p xmlns:a="http://schemas.openxmlformats.org/drawingml/2006/main">
            <a:pPr marL="0" lvl="0" indent="0">
              <a:buNone/>
            </a:pPr>
            <a:r>
              <a:t/>
            </a:r>
          </a:p>
          <a:p xmlns:a="http://schemas.openxmlformats.org/drawingml/2006/main">
            <a:pPr marL="0" lvl="0" indent="0">
              <a:buNone/>
            </a:pPr>
            <a:r>
              <a:t>[Sources]</a:t>
            </a:r>
          </a:p>
          <a:p xmlns:a="http://schemas.openxmlformats.org/drawingml/2006/main">
            <a:pPr marL="0" lvl="0" indent="0">
              <a:buNone/>
            </a:pPr>
            <a:r>
              <a:t>- Local verified score tables in gavd5/work/artifacts/real</a:t>
            </a:r>
          </a:p>
          <a:p xmlns:a="http://schemas.openxmlformats.org/drawingml/2006/main">
            <a:pPr marL="0" lvl="0" indent="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matched test has 16 correct predictions and five errors. Two cerebral-palsy errors come from the same source video.</a:t>
            </a:r>
          </a:p>
          <a:p xmlns:a="http://schemas.openxmlformats.org/drawingml/2006/main">
            <a:pPr marL="0" lvl="0" indent="0">
              <a:buNone/>
            </a:pPr>
            <a:r>
              <a:t/>
            </a:r>
          </a:p>
          <a:p xmlns:a="http://schemas.openxmlformats.org/drawingml/2006/main">
            <a:pPr marL="0" lvl="0" indent="0">
              <a:buNone/>
            </a:pPr>
            <a:r>
              <a:t>[Sources]</a:t>
            </a:r>
          </a:p>
          <a:p xmlns:a="http://schemas.openxmlformats.org/drawingml/2006/main">
            <a:pPr marL="0" lvl="0" indent="0">
              <a:buNone/>
            </a:pPr>
            <a:r>
              <a:t>- Local verified score tables in gavd5/work/artifacts/real</a:t>
            </a:r>
          </a:p>
          <a:p xmlns:a="http://schemas.openxmlformats.org/drawingml/2006/main">
            <a:pPr marL="0" lvl="0" indent="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results support condition-related signal in the known collection. They do not estimate performance for a new person, clinic, camera, or source video.</a:t>
            </a:r>
          </a:p>
          <a:p xmlns:a="http://schemas.openxmlformats.org/drawingml/2006/main">
            <a:pPr marL="0" lvl="0" indent="0">
              <a:buNone/>
            </a:pPr>
            <a:r>
              <a:t/>
            </a:r>
          </a:p>
          <a:p xmlns:a="http://schemas.openxmlformats.org/drawingml/2006/main">
            <a:pPr marL="0" lvl="0" indent="0">
              <a:buNone/>
            </a:pPr>
            <a:r>
              <a:t>[Sources]</a:t>
            </a:r>
          </a:p>
          <a:p xmlns:a="http://schemas.openxmlformats.org/drawingml/2006/main">
            <a:pPr marL="0" lvl="0" indent="0">
              <a:buNone/>
            </a:pPr>
            <a:r>
              <a:t>- Local verified score tables in gavd5/work/artifacts/real</a:t>
            </a:r>
          </a:p>
          <a:p xmlns:a="http://schemas.openxmlformats.org/drawingml/2006/main">
            <a:pPr marL="0" lvl="0" indent="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This ledger reports the current verified values in percentages. Accuracy is the share correct. Balanced accuracy gives each condition equal influence. F1 balances misses and incorrect assignments.</a:t>
            </a:r>
          </a:p>
          <a:p xmlns:a="http://schemas.openxmlformats.org/drawingml/2006/main">
            <a:pPr marL="0" lvl="0" indent="0">
              <a:buNone/>
            </a:pPr>
            <a:r>
              <a:t/>
            </a:r>
          </a:p>
          <a:p xmlns:a="http://schemas.openxmlformats.org/drawingml/2006/main">
            <a:pPr marL="0" lvl="0" indent="0">
              <a:buNone/>
            </a:pPr>
            <a:r>
              <a:t>[Sources]</a:t>
            </a:r>
          </a:p>
          <a:p xmlns:a="http://schemas.openxmlformats.org/drawingml/2006/main">
            <a:pPr marL="0" lvl="0" indent="0">
              <a:buNone/>
            </a:pPr>
            <a:r>
              <a:t>- Local verified score tables in gavd5/work/artifacts/real</a:t>
            </a:r>
          </a:p>
          <a:p xmlns:a="http://schemas.openxmlformats.org/drawingml/2006/main">
            <a:pPr marL="0" lvl="0" indent="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These small two-condition checks use only 7 to 18 test examples. They are regression checks, not independent clinical estimates.</a:t>
            </a:r>
          </a:p>
          <a:p xmlns:a="http://schemas.openxmlformats.org/drawingml/2006/main">
            <a:pPr marL="0" lvl="0" indent="0">
              <a:buNone/>
            </a:pPr>
            <a:r>
              <a:t/>
            </a:r>
          </a:p>
          <a:p xmlns:a="http://schemas.openxmlformats.org/drawingml/2006/main">
            <a:pPr marL="0" lvl="0" indent="0">
              <a:buNone/>
            </a:pPr>
            <a:r>
              <a:t>[Sources]</a:t>
            </a:r>
          </a:p>
          <a:p xmlns:a="http://schemas.openxmlformats.org/drawingml/2006/main">
            <a:pPr marL="0" lvl="0" indent="0">
              <a:buNone/>
            </a:pPr>
            <a:r>
              <a:t>- Local verified score tables in gavd5/work/artifacts/real</a:t>
            </a:r>
          </a:p>
          <a:p xmlns:a="http://schemas.openxmlformats.org/drawingml/2006/main">
            <a:pPr marL="0" lvl="0" indent="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Detection-success controls show how much condition information exists without body coordinates. The typical-versus-other check answers an easier two-condition question.</a:t>
            </a:r>
          </a:p>
          <a:p xmlns:a="http://schemas.openxmlformats.org/drawingml/2006/main">
            <a:pPr marL="0" lvl="0" indent="0">
              <a:buNone/>
            </a:pPr>
            <a:r>
              <a:t/>
            </a:r>
          </a:p>
          <a:p xmlns:a="http://schemas.openxmlformats.org/drawingml/2006/main">
            <a:pPr marL="0" lvl="0" indent="0">
              <a:buNone/>
            </a:pPr>
            <a:r>
              <a:t>[Sources]</a:t>
            </a:r>
          </a:p>
          <a:p xmlns:a="http://schemas.openxmlformats.org/drawingml/2006/main">
            <a:pPr marL="0" lvl="0" indent="0">
              <a:buNone/>
            </a:pPr>
            <a:r>
              <a:t>- Local verified score tables in gavd5/work/artifacts/real</a:t>
            </a:r>
          </a:p>
          <a:p xmlns:a="http://schemas.openxmlformats.org/drawingml/2006/main">
            <a:pPr marL="0" lvl="0" indent="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Notebook 05 and notebook 06 do not accept an arbitrary file with a familiar name. They check stage completion, target identities, cohort, configuration, and experiment fingerprint. This is the direct fix for the earlier missing-checkpoint problem: the current consumer resolves the final augmented checkpoint and stops when the expected lineage is incomplete or inconsistent.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Notebook 00 defines the learning graph and invariants. Notebook 01 builds the manifest and source-video cache. Notebook 02 extracts and displays skeletons. Notebook 03 proves the target mask rule. Notebook 04 trains and fingerprints the five-stage curriculum. Notebook 05 freezes and inspects the representation. Notebook 06 fits the readouts, controls, overlap audits, and Lane C stress tests. Real mode stops when a required artifact or fingerprint is missing.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Recreate the score tables by running notebooks 00 through 06 with real data. The figure script regenerates the result visuals using the same Matplotlib formatting as the rest of the tutorial.</a:t>
            </a:r>
          </a:p>
          <a:p xmlns:a="http://schemas.openxmlformats.org/drawingml/2006/main">
            <a:pPr marL="0" lvl="0" indent="0">
              <a:buNone/>
            </a:pPr>
            <a:r>
              <a:t/>
            </a:r>
          </a:p>
          <a:p xmlns:a="http://schemas.openxmlformats.org/drawingml/2006/main">
            <a:pPr marL="0" lvl="0" indent="0">
              <a:buNone/>
            </a:pPr>
            <a:r>
              <a:t>[Sources]</a:t>
            </a:r>
          </a:p>
          <a:p xmlns:a="http://schemas.openxmlformats.org/drawingml/2006/main">
            <a:pPr marL="0" lvl="0" indent="0">
              <a:buNone/>
            </a:pPr>
            <a:r>
              <a:t>- Local verified score tables in gavd5/work/artifacts/real</a:t>
            </a:r>
          </a:p>
          <a:p xmlns:a="http://schemas.openxmlformats.org/drawingml/2006/main">
            <a:pPr marL="0" lvl="0" indent="0">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 archived improvement notes contain useful hypotheses, but they are not a list of current features. Outer source-video folds, fold-local five-stage training, dynamics-preserving readouts, and uncertainty from independent outer folds remain proposed. The current system does not use motion-ranked targets, does not mask exactly 60 percent of every sample, and does not provide an unseen-video encoder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buNone/>
            </a:pPr>
            <a:r>
              <a:t>These references cover the S-JEPA and JEPA method family, the GAVD data source, MediaPipe pose extraction, VICReg, grouped evaluation, cross-validation uncertainty, silhouette interpretation, Random Forests, and recent skeleton masking research. The presentation reports dataset-label prediction and representation diagnostics, not clinical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ab3a5fd17040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39bfc7a84ee40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1cd6ae4e094d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051631bf0a4d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310fac3f2748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3cc1e044d04f9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0363b436ecf4b1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42f3ed66ac24ba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fe3f9df7b0d47d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61ffd18c34b4ea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920f29b1c2245a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5AE4F2-4234-4871-89EF-C99881C760A9}"/>
              </a:ext>
            </a:extLst>
          </p:cNvPr>
          <p:cNvSpPr>
            <a:spLocks xmlns:a="http://schemas.openxmlformats.org/drawingml/2006/main" noGrp="1"/>
          </p:cNvSpPr>
          <p:nvPr>
            <p:ph type="ctrTitle" idx="0"/>
          </p:nvPr>
        </p:nvSpPr>
        <p:spPr>
          <a:xfrm xmlns:a="http://schemas.openxmlformats.org/drawingml/2006/main">
            <a:off x="685800" y="1597819"/>
            <a:ext cx="7772400" cy="1102519"/>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DC4AC4A0-301E-43AC-9D3C-98410AF4183B}"/>
              </a:ext>
            </a:extLst>
          </p:cNvPr>
          <p:cNvSpPr>
            <a:spLocks xmlns:a="http://schemas.openxmlformats.org/drawingml/2006/main" noGrp="1"/>
          </p:cNvSpPr>
          <p:nvPr>
            <p:ph type="subTitle" idx="1"/>
          </p:nvPr>
        </p:nvSpPr>
        <p:spPr>
          <a:xfrm xmlns:a="http://schemas.openxmlformats.org/drawingml/2006/main">
            <a:off x="1371600" y="2914650"/>
            <a:ext cx="6400800" cy="131445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116BC22-47E8-4143-AC24-787BC9EF26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1/2/22</a:t>
            </a:fld>
            <a:endParaRPr/>
          </a:p>
        </p:txBody>
      </p:sp>
      <p:sp>
        <p:nvSpPr>
          <p:cNvPr id="5" name="Footer Placeholder 4">
            <a:extLst xmlns:a="http://schemas.openxmlformats.org/drawingml/2006/main">
              <a:ext uri="{FF2B5EF4-FFF2-40B4-BE49-F238E27FC236}">
                <a16:creationId xmlns:a16="http://schemas.microsoft.com/office/drawing/2014/main" id="{79462999-C9E7-4A27-B45F-36064DB581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75A95E6-81B3-44CB-A906-8E11E75323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4EAA23-4548-4F1F-8E57-BAACDF7F488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24441D6-E247-4A62-B3E6-B274EA6C039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C8E1AC0-F4E1-46EB-B67D-987D624D50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1/2/22</a:t>
            </a:fld>
            <a:endParaRPr/>
          </a:p>
        </p:txBody>
      </p:sp>
      <p:sp>
        <p:nvSpPr>
          <p:cNvPr id="5" name="Footer Placeholder 4">
            <a:extLst xmlns:a="http://schemas.openxmlformats.org/drawingml/2006/main">
              <a:ext uri="{FF2B5EF4-FFF2-40B4-BE49-F238E27FC236}">
                <a16:creationId xmlns:a16="http://schemas.microsoft.com/office/drawing/2014/main" id="{B0F60834-824A-437F-B40C-8830BC8167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145CCA4-D5EC-46CE-914B-1EF3F8EF94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68B526-D386-4B7D-8D92-5458157600A1}"/>
              </a:ext>
            </a:extLst>
          </p:cNvPr>
          <p:cNvSpPr>
            <a:spLocks xmlns:a="http://schemas.openxmlformats.org/drawingml/2006/main" noGrp="1"/>
          </p:cNvSpPr>
          <p:nvPr>
            <p:ph type="title" idx="0"/>
          </p:nvPr>
        </p:nvSpPr>
        <p:spPr>
          <a:xfrm xmlns:a="http://schemas.openxmlformats.org/drawingml/2006/main">
            <a:off x="722313" y="3305176"/>
            <a:ext cx="7772400" cy="1021556"/>
          </a:xfrm>
        </p:spPr>
        <p:txBody>
          <a:bodyPr xmlns:a="http://schemas.openxmlformats.org/drawingml/2006/main" anchor="t"/>
          <a:lstStyle xmlns:a="http://schemas.openxmlformats.org/drawingml/2006/main">
            <a:lvl1pPr algn="l">
              <a:buNone/>
              <a:defRPr sz="3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C593C8B-29C7-4325-8F2B-03852469B170}"/>
              </a:ext>
            </a:extLst>
          </p:cNvPr>
          <p:cNvSpPr>
            <a:spLocks xmlns:a="http://schemas.openxmlformats.org/drawingml/2006/main" noGrp="1"/>
          </p:cNvSpPr>
          <p:nvPr>
            <p:ph type="body" idx="1"/>
          </p:nvPr>
        </p:nvSpPr>
        <p:spPr>
          <a:xfrm xmlns:a="http://schemas.openxmlformats.org/drawingml/2006/main">
            <a:off x="722313" y="2180035"/>
            <a:ext cx="7772400" cy="1125140"/>
          </a:xfrm>
        </p:spPr>
        <p:txBody>
          <a:bodyPr xmlns:a="http://schemas.openxmlformats.org/drawingml/2006/main" anchor="b"/>
          <a:lstStyle xmlns:a="http://schemas.openxmlformats.org/drawingml/2006/main">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5D44CD7E-037B-4F45-A4DC-E65AE50968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1/2/22</a:t>
            </a:fld>
            <a:endParaRPr/>
          </a:p>
        </p:txBody>
      </p:sp>
      <p:sp>
        <p:nvSpPr>
          <p:cNvPr id="5" name="Footer Placeholder 4">
            <a:extLst xmlns:a="http://schemas.openxmlformats.org/drawingml/2006/main">
              <a:ext uri="{FF2B5EF4-FFF2-40B4-BE49-F238E27FC236}">
                <a16:creationId xmlns:a16="http://schemas.microsoft.com/office/drawing/2014/main" id="{FA03A15F-17C9-42F9-81CD-728D5E0191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59A7A1F-CA0B-4C24-9B36-17E9D42902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470B92-8589-4BC9-AB1D-0F17159CFFE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0DB0E9F-5DF7-43F8-A2CF-12B4865C0944}"/>
              </a:ext>
            </a:extLst>
          </p:cNvPr>
          <p:cNvSpPr>
            <a:spLocks xmlns:a="http://schemas.openxmlformats.org/drawingml/2006/main" noGrp="1"/>
          </p:cNvSpPr>
          <p:nvPr>
            <p:ph idx="1"/>
          </p:nvPr>
        </p:nvSpPr>
        <p:spPr>
          <a:xfrm xmlns:a="http://schemas.openxmlformats.org/drawingml/2006/main">
            <a:off x="457200" y="1200151"/>
            <a:ext cx="4038600" cy="3394472"/>
          </a:xfrm>
        </p:spPr>
        <p:txBody>
          <a:bodyPr xmlns:a="http://schemas.openxmlformats.org/drawingml/2006/main"/>
          <a:lstStyle xmlns:a="http://schemas.openxmlformats.org/drawingml/2006/main">
            <a:lvl1pPr>
              <a:buNone/>
              <a:defRPr sz="2100"/>
            </a:lvl1pPr>
            <a:lvl2pPr>
              <a:buNone/>
              <a:defRPr sz="1800"/>
            </a:lvl2pPr>
            <a:lvl3pPr>
              <a:buNone/>
              <a:defRPr sz="1500"/>
            </a:lvl3pPr>
            <a:lvl4pPr>
              <a:buNone/>
              <a:defRPr sz="1350"/>
            </a:lvl4pPr>
            <a:lvl5pPr>
              <a:buNone/>
              <a:defRPr sz="1350"/>
            </a:lvl5pPr>
            <a:lvl6pPr>
              <a:buNone/>
              <a:defRPr sz="1350"/>
            </a:lvl6pPr>
            <a:lvl7pPr>
              <a:buNone/>
              <a:defRPr sz="1350"/>
            </a:lvl7pPr>
            <a:lvl8pPr>
              <a:buNone/>
              <a:defRPr sz="1350"/>
            </a:lvl8pPr>
            <a:lvl9pPr>
              <a:buNone/>
              <a:defRPr sz="135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188614EF-5B93-4FA6-91E4-81F632DEC900}"/>
              </a:ext>
            </a:extLst>
          </p:cNvPr>
          <p:cNvSpPr>
            <a:spLocks xmlns:a="http://schemas.openxmlformats.org/drawingml/2006/main" noGrp="1"/>
          </p:cNvSpPr>
          <p:nvPr>
            <p:ph idx="2"/>
          </p:nvPr>
        </p:nvSpPr>
        <p:spPr>
          <a:xfrm xmlns:a="http://schemas.openxmlformats.org/drawingml/2006/main">
            <a:off x="4648200" y="1200151"/>
            <a:ext cx="4038600" cy="3394472"/>
          </a:xfrm>
        </p:spPr>
        <p:txBody>
          <a:bodyPr xmlns:a="http://schemas.openxmlformats.org/drawingml/2006/main"/>
          <a:lstStyle xmlns:a="http://schemas.openxmlformats.org/drawingml/2006/main">
            <a:lvl1pPr>
              <a:buNone/>
              <a:defRPr sz="2100"/>
            </a:lvl1pPr>
            <a:lvl2pPr>
              <a:buNone/>
              <a:defRPr sz="1800"/>
            </a:lvl2pPr>
            <a:lvl3pPr>
              <a:buNone/>
              <a:defRPr sz="1500"/>
            </a:lvl3pPr>
            <a:lvl4pPr>
              <a:buNone/>
              <a:defRPr sz="1350"/>
            </a:lvl4pPr>
            <a:lvl5pPr>
              <a:buNone/>
              <a:defRPr sz="1350"/>
            </a:lvl5pPr>
            <a:lvl6pPr>
              <a:buNone/>
              <a:defRPr sz="1350"/>
            </a:lvl6pPr>
            <a:lvl7pPr>
              <a:buNone/>
              <a:defRPr sz="1350"/>
            </a:lvl7pPr>
            <a:lvl8pPr>
              <a:buNone/>
              <a:defRPr sz="1350"/>
            </a:lvl8pPr>
            <a:lvl9pPr>
              <a:buNone/>
              <a:defRPr sz="135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49FF3D4A-8CBB-435F-A13B-1B0CF36C36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1/2/22</a:t>
            </a:fld>
            <a:endParaRPr/>
          </a:p>
        </p:txBody>
      </p:sp>
      <p:sp>
        <p:nvSpPr>
          <p:cNvPr id="6" name="Footer Placeholder 5">
            <a:extLst xmlns:a="http://schemas.openxmlformats.org/drawingml/2006/main">
              <a:ext uri="{FF2B5EF4-FFF2-40B4-BE49-F238E27FC236}">
                <a16:creationId xmlns:a16="http://schemas.microsoft.com/office/drawing/2014/main" id="{3B6FA034-55E2-47AE-A336-A2CBFC235F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67F8D6F-D550-4E8E-ABD1-6777EC987E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78E189-1467-4E8F-B01C-123C74012FC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DFBC209-ED54-4F5D-BD52-525643BEBD16}"/>
              </a:ext>
            </a:extLst>
          </p:cNvPr>
          <p:cNvSpPr>
            <a:spLocks xmlns:a="http://schemas.openxmlformats.org/drawingml/2006/main" noGrp="1"/>
          </p:cNvSpPr>
          <p:nvPr>
            <p:ph type="body" idx="1"/>
          </p:nvPr>
        </p:nvSpPr>
        <p:spPr>
          <a:xfrm xmlns:a="http://schemas.openxmlformats.org/drawingml/2006/main">
            <a:off x="457200" y="1151335"/>
            <a:ext cx="4040188" cy="479822"/>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1225137-26DB-4350-8019-EFEB75418322}"/>
              </a:ext>
            </a:extLst>
          </p:cNvPr>
          <p:cNvSpPr>
            <a:spLocks xmlns:a="http://schemas.openxmlformats.org/drawingml/2006/main" noGrp="1"/>
          </p:cNvSpPr>
          <p:nvPr>
            <p:ph idx="2"/>
          </p:nvPr>
        </p:nvSpPr>
        <p:spPr>
          <a:xfrm xmlns:a="http://schemas.openxmlformats.org/drawingml/2006/main">
            <a:off x="457200" y="1631156"/>
            <a:ext cx="4040188" cy="2963466"/>
          </a:xfrm>
        </p:spPr>
        <p:txBody>
          <a:bodyPr xmlns:a="http://schemas.openxmlformats.org/drawingml/2006/main"/>
          <a:lstStyle xmlns:a="http://schemas.openxmlformats.org/drawingml/2006/main">
            <a:lvl1pPr>
              <a:buNone/>
              <a:defRPr sz="1800"/>
            </a:lvl1pPr>
            <a:lvl2pPr>
              <a:buNone/>
              <a:defRPr sz="1500"/>
            </a:lvl2pPr>
            <a:lvl3pPr>
              <a:buNone/>
              <a:defRPr sz="1350"/>
            </a:lvl3pPr>
            <a:lvl4pPr>
              <a:buNone/>
              <a:defRPr sz="1200"/>
            </a:lvl4pPr>
            <a:lvl5pPr>
              <a:buNone/>
              <a:defRPr sz="1200"/>
            </a:lvl5pPr>
            <a:lvl6pPr>
              <a:buNone/>
              <a:defRPr sz="1200"/>
            </a:lvl6pPr>
            <a:lvl7pPr>
              <a:buNone/>
              <a:defRPr sz="1200"/>
            </a:lvl7pPr>
            <a:lvl8pPr>
              <a:buNone/>
              <a:defRPr sz="1200"/>
            </a:lvl8pPr>
            <a:lvl9pPr>
              <a:buNone/>
              <a:defRPr sz="1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D20B5EA2-491F-4A7D-8663-67665403C383}"/>
              </a:ext>
            </a:extLst>
          </p:cNvPr>
          <p:cNvSpPr>
            <a:spLocks xmlns:a="http://schemas.openxmlformats.org/drawingml/2006/main" noGrp="1"/>
          </p:cNvSpPr>
          <p:nvPr>
            <p:ph type="body" idx="3"/>
          </p:nvPr>
        </p:nvSpPr>
        <p:spPr>
          <a:xfrm xmlns:a="http://schemas.openxmlformats.org/drawingml/2006/main">
            <a:off x="4645026" y="1151335"/>
            <a:ext cx="4041775" cy="479822"/>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B7EBD20-A24D-41D1-AE32-A5AC94F001B8}"/>
              </a:ext>
            </a:extLst>
          </p:cNvPr>
          <p:cNvSpPr>
            <a:spLocks xmlns:a="http://schemas.openxmlformats.org/drawingml/2006/main" noGrp="1"/>
          </p:cNvSpPr>
          <p:nvPr>
            <p:ph idx="4"/>
          </p:nvPr>
        </p:nvSpPr>
        <p:spPr>
          <a:xfrm xmlns:a="http://schemas.openxmlformats.org/drawingml/2006/main">
            <a:off x="4645026" y="1631156"/>
            <a:ext cx="4041775" cy="2963466"/>
          </a:xfrm>
        </p:spPr>
        <p:txBody>
          <a:bodyPr xmlns:a="http://schemas.openxmlformats.org/drawingml/2006/main"/>
          <a:lstStyle xmlns:a="http://schemas.openxmlformats.org/drawingml/2006/main">
            <a:lvl1pPr>
              <a:buNone/>
              <a:defRPr sz="1800"/>
            </a:lvl1pPr>
            <a:lvl2pPr>
              <a:buNone/>
              <a:defRPr sz="1500"/>
            </a:lvl2pPr>
            <a:lvl3pPr>
              <a:buNone/>
              <a:defRPr sz="1350"/>
            </a:lvl3pPr>
            <a:lvl4pPr>
              <a:buNone/>
              <a:defRPr sz="1200"/>
            </a:lvl4pPr>
            <a:lvl5pPr>
              <a:buNone/>
              <a:defRPr sz="1200"/>
            </a:lvl5pPr>
            <a:lvl6pPr>
              <a:buNone/>
              <a:defRPr sz="1200"/>
            </a:lvl6pPr>
            <a:lvl7pPr>
              <a:buNone/>
              <a:defRPr sz="1200"/>
            </a:lvl7pPr>
            <a:lvl8pPr>
              <a:buNone/>
              <a:defRPr sz="1200"/>
            </a:lvl8pPr>
            <a:lvl9pPr>
              <a:buNone/>
              <a:defRPr sz="1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EE742FF5-00E9-498D-B135-7BC3653C70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1/2/22</a:t>
            </a:fld>
            <a:endParaRPr/>
          </a:p>
        </p:txBody>
      </p:sp>
      <p:sp>
        <p:nvSpPr>
          <p:cNvPr id="8" name="Footer Placeholder 7">
            <a:extLst xmlns:a="http://schemas.openxmlformats.org/drawingml/2006/main">
              <a:ext uri="{FF2B5EF4-FFF2-40B4-BE49-F238E27FC236}">
                <a16:creationId xmlns:a16="http://schemas.microsoft.com/office/drawing/2014/main" id="{2E685958-5600-49EB-A305-526949C5925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E9E9C65-01BC-4B7F-B91C-1EC97156AD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612A12-B537-4742-B742-F7356777C38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388290C8-B38C-4696-A0B2-FD8F27E4D1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1/2/22</a:t>
            </a:fld>
            <a:endParaRPr/>
          </a:p>
        </p:txBody>
      </p:sp>
      <p:sp>
        <p:nvSpPr>
          <p:cNvPr id="4" name="Footer Placeholder 3">
            <a:extLst xmlns:a="http://schemas.openxmlformats.org/drawingml/2006/main">
              <a:ext uri="{FF2B5EF4-FFF2-40B4-BE49-F238E27FC236}">
                <a16:creationId xmlns:a16="http://schemas.microsoft.com/office/drawing/2014/main" id="{D369D3D6-649A-4369-B29A-87F10EDE8E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7955AE38-F620-4BEB-B5AE-465C0F37C0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1BA0812B-F019-4379-8B3B-7F2C72014E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1/2/22</a:t>
            </a:fld>
            <a:endParaRPr/>
          </a:p>
        </p:txBody>
      </p:sp>
      <p:sp>
        <p:nvSpPr>
          <p:cNvPr id="3" name="Footer Placeholder 2">
            <a:extLst xmlns:a="http://schemas.openxmlformats.org/drawingml/2006/main">
              <a:ext uri="{FF2B5EF4-FFF2-40B4-BE49-F238E27FC236}">
                <a16:creationId xmlns:a16="http://schemas.microsoft.com/office/drawing/2014/main" id="{3B667A0C-B150-47C2-B058-1007B816B4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188E2AF-1E3A-4817-8606-60F78AD8D8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21CD44-77F4-4947-B9CB-B8EB9F42855E}"/>
              </a:ext>
            </a:extLst>
          </p:cNvPr>
          <p:cNvSpPr>
            <a:spLocks xmlns:a="http://schemas.openxmlformats.org/drawingml/2006/main" noGrp="1"/>
          </p:cNvSpPr>
          <p:nvPr>
            <p:ph type="title" idx="0"/>
          </p:nvPr>
        </p:nvSpPr>
        <p:spPr>
          <a:xfrm xmlns:a="http://schemas.openxmlformats.org/drawingml/2006/main">
            <a:off x="457201" y="204787"/>
            <a:ext cx="3008313" cy="871538"/>
          </a:xfrm>
        </p:spPr>
        <p:txBody>
          <a:bodyPr xmlns:a="http://schemas.openxmlformats.org/drawingml/2006/main" anchor="b"/>
          <a:lstStyle xmlns:a="http://schemas.openxmlformats.org/drawingml/2006/main">
            <a:lvl1pPr algn="l">
              <a:buNone/>
              <a:defRPr sz="15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DF60DF3-EAF7-4D5A-9AA7-0CE95531E239}"/>
              </a:ext>
            </a:extLst>
          </p:cNvPr>
          <p:cNvSpPr>
            <a:spLocks xmlns:a="http://schemas.openxmlformats.org/drawingml/2006/main" noGrp="1"/>
          </p:cNvSpPr>
          <p:nvPr>
            <p:ph idx="1"/>
          </p:nvPr>
        </p:nvSpPr>
        <p:spPr>
          <a:xfrm xmlns:a="http://schemas.openxmlformats.org/drawingml/2006/main">
            <a:off x="3575050" y="204788"/>
            <a:ext cx="5111750" cy="4389835"/>
          </a:xfrm>
        </p:spPr>
        <p:txBody>
          <a:bodyPr xmlns:a="http://schemas.openxmlformats.org/drawingml/2006/main"/>
          <a:lstStyle xmlns:a="http://schemas.openxmlformats.org/drawingml/2006/main">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1EBF0725-BC55-4188-941F-A228743FBC6B}"/>
              </a:ext>
            </a:extLst>
          </p:cNvPr>
          <p:cNvSpPr>
            <a:spLocks xmlns:a="http://schemas.openxmlformats.org/drawingml/2006/main" noGrp="1"/>
          </p:cNvSpPr>
          <p:nvPr>
            <p:ph type="body" idx="2"/>
          </p:nvPr>
        </p:nvSpPr>
        <p:spPr>
          <a:xfrm xmlns:a="http://schemas.openxmlformats.org/drawingml/2006/main">
            <a:off x="457201" y="1076326"/>
            <a:ext cx="3008313" cy="3518297"/>
          </a:xfrm>
        </p:spPr>
        <p:txBody>
          <a:bodyPr xmlns:a="http://schemas.openxmlformats.org/drawingml/2006/main"/>
          <a:lstStyle xmlns:a="http://schemas.openxmlformats.org/drawingml/2006/main">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AC48685-3952-44EF-953F-A2AED92359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1/2/22</a:t>
            </a:fld>
            <a:endParaRPr/>
          </a:p>
        </p:txBody>
      </p:sp>
      <p:sp>
        <p:nvSpPr>
          <p:cNvPr id="6" name="Footer Placeholder 5">
            <a:extLst xmlns:a="http://schemas.openxmlformats.org/drawingml/2006/main">
              <a:ext uri="{FF2B5EF4-FFF2-40B4-BE49-F238E27FC236}">
                <a16:creationId xmlns:a16="http://schemas.microsoft.com/office/drawing/2014/main" id="{46BF7FA7-C465-4408-A5F5-2E392DAF57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A051FFD-E940-4676-A32B-CABC59F41B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718AB7-EB47-42F7-A3C0-3FE44EFCE24E}"/>
              </a:ext>
            </a:extLst>
          </p:cNvPr>
          <p:cNvSpPr>
            <a:spLocks xmlns:a="http://schemas.openxmlformats.org/drawingml/2006/main" noGrp="1"/>
          </p:cNvSpPr>
          <p:nvPr>
            <p:ph type="title" idx="0"/>
          </p:nvPr>
        </p:nvSpPr>
        <p:spPr>
          <a:xfrm xmlns:a="http://schemas.openxmlformats.org/drawingml/2006/main">
            <a:off x="1792288" y="3600450"/>
            <a:ext cx="5486400" cy="425054"/>
          </a:xfrm>
        </p:spPr>
        <p:txBody>
          <a:bodyPr xmlns:a="http://schemas.openxmlformats.org/drawingml/2006/main" anchor="b"/>
          <a:lstStyle xmlns:a="http://schemas.openxmlformats.org/drawingml/2006/main">
            <a:lvl1pPr algn="l">
              <a:buNone/>
              <a:defRPr sz="15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E112427-E05E-46A7-836D-6EB76AE3C452}"/>
              </a:ext>
            </a:extLst>
          </p:cNvPr>
          <p:cNvSpPr>
            <a:spLocks xmlns:a="http://schemas.openxmlformats.org/drawingml/2006/main" noGrp="1"/>
          </p:cNvSpPr>
          <p:nvPr>
            <p:ph type="pic" idx="1"/>
          </p:nvPr>
        </p:nvSpPr>
        <p:spPr>
          <a:xfrm xmlns:a="http://schemas.openxmlformats.org/drawingml/2006/main">
            <a:off x="1792288" y="459581"/>
            <a:ext cx="5486400" cy="3086100"/>
          </a:xfrm>
        </p:spPr>
        <p:txBody>
          <a:bodyPr xmlns:a="http://schemas.openxmlformats.org/drawingml/2006/main"/>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AFD237C-D2CB-4B0F-9B3C-7D614216D11B}"/>
              </a:ext>
            </a:extLst>
          </p:cNvPr>
          <p:cNvSpPr>
            <a:spLocks xmlns:a="http://schemas.openxmlformats.org/drawingml/2006/main" noGrp="1"/>
          </p:cNvSpPr>
          <p:nvPr>
            <p:ph type="body" idx="2"/>
          </p:nvPr>
        </p:nvSpPr>
        <p:spPr>
          <a:xfrm xmlns:a="http://schemas.openxmlformats.org/drawingml/2006/main">
            <a:off x="1792288" y="4025503"/>
            <a:ext cx="5486400" cy="603647"/>
          </a:xfrm>
        </p:spPr>
        <p:txBody>
          <a:bodyPr xmlns:a="http://schemas.openxmlformats.org/drawingml/2006/main"/>
          <a:lstStyle xmlns:a="http://schemas.openxmlformats.org/drawingml/2006/main">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4636638-6979-449D-8E86-D9CAA96E7C9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1/2/22</a:t>
            </a:fld>
            <a:endParaRPr/>
          </a:p>
        </p:txBody>
      </p:sp>
      <p:sp>
        <p:nvSpPr>
          <p:cNvPr id="6" name="Footer Placeholder 5">
            <a:extLst xmlns:a="http://schemas.openxmlformats.org/drawingml/2006/main">
              <a:ext uri="{FF2B5EF4-FFF2-40B4-BE49-F238E27FC236}">
                <a16:creationId xmlns:a16="http://schemas.microsoft.com/office/drawing/2014/main" id="{EDD5B342-F148-43AC-AD84-1F19F9BF89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8768968-EA9B-4DCC-B860-9F3AACD8E5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5D147A4-CE15-47F7-9865-545656E684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5F1907C-6B4B-4F56-BCA5-D382680291E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1E54ABA-9927-41F0-BDFC-0C012800857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1/2/22</a:t>
            </a:fld>
            <a:endParaRPr/>
          </a:p>
        </p:txBody>
      </p:sp>
      <p:sp>
        <p:nvSpPr>
          <p:cNvPr id="5" name="Footer Placeholder 4">
            <a:extLst xmlns:a="http://schemas.openxmlformats.org/drawingml/2006/main">
              <a:ext uri="{FF2B5EF4-FFF2-40B4-BE49-F238E27FC236}">
                <a16:creationId xmlns:a16="http://schemas.microsoft.com/office/drawing/2014/main" id="{2DCA12B7-65D6-41C5-AFBD-3CFF5F651D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2087184-6F93-4EEC-97D2-C00D618DCD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77A23A0-D806-4BF2-A4BC-67DAB790DC7A}"/>
              </a:ext>
            </a:extLst>
          </p:cNvPr>
          <p:cNvSpPr>
            <a:spLocks xmlns:a="http://schemas.openxmlformats.org/drawingml/2006/main" noGrp="1"/>
          </p:cNvSpPr>
          <p:nvPr>
            <p:ph type="title" idx="0"/>
          </p:nvPr>
        </p:nvSpPr>
        <p:spPr>
          <a:xfrm xmlns:a="http://schemas.openxmlformats.org/drawingml/2006/main">
            <a:off x="6629400" y="205979"/>
            <a:ext cx="2057400" cy="4388644"/>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8CB9A32-2B7A-4EEF-9372-6898C3C4BBE2}"/>
              </a:ext>
            </a:extLst>
          </p:cNvPr>
          <p:cNvSpPr>
            <a:spLocks xmlns:a="http://schemas.openxmlformats.org/drawingml/2006/main" noGrp="1"/>
          </p:cNvSpPr>
          <p:nvPr>
            <p:ph type="body" idx="1"/>
          </p:nvPr>
        </p:nvSpPr>
        <p:spPr>
          <a:xfrm xmlns:a="http://schemas.openxmlformats.org/drawingml/2006/main">
            <a:off x="457200" y="205979"/>
            <a:ext cx="6019800" cy="4388644"/>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FD0DE11-81C9-44B1-B9C7-FC10C046EE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1/2/22</a:t>
            </a:fld>
            <a:endParaRPr/>
          </a:p>
        </p:txBody>
      </p:sp>
      <p:sp>
        <p:nvSpPr>
          <p:cNvPr id="5" name="Footer Placeholder 4">
            <a:extLst xmlns:a="http://schemas.openxmlformats.org/drawingml/2006/main">
              <a:ext uri="{FF2B5EF4-FFF2-40B4-BE49-F238E27FC236}">
                <a16:creationId xmlns:a16="http://schemas.microsoft.com/office/drawing/2014/main" id="{B80FCC01-4428-40A4-8DDB-45BFF3A241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7EF0247-8804-4F58-9906-C9FB1A4D26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06bb8eb90c4fd5" /><Relationship Type="http://schemas.openxmlformats.org/officeDocument/2006/relationships/slideLayout" Target="/ppt/slideLayouts/slideLayout1.xml" Id="R03dd1750da204bb2" /><Relationship Type="http://schemas.openxmlformats.org/officeDocument/2006/relationships/slideLayout" Target="/ppt/slideLayouts/slideLayout2.xml" Id="R10cb9fb44fce4faf" /><Relationship Type="http://schemas.openxmlformats.org/officeDocument/2006/relationships/slideLayout" Target="/ppt/slideLayouts/slideLayout3.xml" Id="R419e891027de4ede" /><Relationship Type="http://schemas.openxmlformats.org/officeDocument/2006/relationships/slideLayout" Target="/ppt/slideLayouts/slideLayout4.xml" Id="R410cb715843241d8" /><Relationship Type="http://schemas.openxmlformats.org/officeDocument/2006/relationships/slideLayout" Target="/ppt/slideLayouts/slideLayout5.xml" Id="Rd64d729b5b4544b7" /><Relationship Type="http://schemas.openxmlformats.org/officeDocument/2006/relationships/slideLayout" Target="/ppt/slideLayouts/slideLayout6.xml" Id="Ra57da7ba0e314811" /><Relationship Type="http://schemas.openxmlformats.org/officeDocument/2006/relationships/slideLayout" Target="/ppt/slideLayouts/slideLayout7.xml" Id="R7e34fa646da54e73" /><Relationship Type="http://schemas.openxmlformats.org/officeDocument/2006/relationships/slideLayout" Target="/ppt/slideLayouts/slideLayout8.xml" Id="R3cea0ce1070241ca" /><Relationship Type="http://schemas.openxmlformats.org/officeDocument/2006/relationships/slideLayout" Target="/ppt/slideLayouts/slideLayout9.xml" Id="R9844c35f51ee4480" /><Relationship Type="http://schemas.openxmlformats.org/officeDocument/2006/relationships/slideLayout" Target="/ppt/slideLayouts/slideLayout10.xml" Id="Rff470e2c1bc641cf" /><Relationship Type="http://schemas.openxmlformats.org/officeDocument/2006/relationships/slideLayout" Target="/ppt/slideLayouts/slideLayout11.xml" Id="Rc0db94912bec48f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D6B36B9-BD3F-45B4-AC75-0A4289674ADD}"/>
              </a:ext>
            </a:extLst>
          </p:cNvPr>
          <p:cNvSpPr>
            <a:spLocks xmlns:a="http://schemas.openxmlformats.org/drawingml/2006/main" noGrp="1"/>
          </p:cNvSpPr>
          <p:nvPr>
            <p:ph type="title" idx="0"/>
          </p:nvPr>
        </p:nvSpPr>
        <p:spPr>
          <a:xfrm xmlns:a="http://schemas.openxmlformats.org/drawingml/2006/main">
            <a:off x="457200" y="205979"/>
            <a:ext cx="8229600" cy="85725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1A91427-2630-45C2-B5CC-20B9861F6BA4}"/>
              </a:ext>
            </a:extLst>
          </p:cNvPr>
          <p:cNvSpPr>
            <a:spLocks xmlns:a="http://schemas.openxmlformats.org/drawingml/2006/main" noGrp="1"/>
          </p:cNvSpPr>
          <p:nvPr>
            <p:ph type="body" idx="1"/>
          </p:nvPr>
        </p:nvSpPr>
        <p:spPr>
          <a:xfrm xmlns:a="http://schemas.openxmlformats.org/drawingml/2006/main">
            <a:off x="457200" y="1200151"/>
            <a:ext cx="8229600" cy="3394472"/>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3283F3D-BCCE-4835-B24A-C83D1086C82F}"/>
              </a:ext>
            </a:extLst>
          </p:cNvPr>
          <p:cNvSpPr>
            <a:spLocks xmlns:a="http://schemas.openxmlformats.org/drawingml/2006/main" noGrp="1"/>
          </p:cNvSpPr>
          <p:nvPr>
            <p:ph type="dt" idx="2"/>
          </p:nvPr>
        </p:nvSpPr>
        <p:spPr>
          <a:xfrm xmlns:a="http://schemas.openxmlformats.org/drawingml/2006/main">
            <a:off x="457200" y="4767263"/>
            <a:ext cx="21336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fld id="{241EB5C9-1307-BA42-ABA2-0BC069CD8E7F}" type="datetimeFigureOut">
              <a:t>1/2/22</a:t>
            </a:fld>
            <a:endParaRPr/>
          </a:p>
        </p:txBody>
      </p:sp>
      <p:sp>
        <p:nvSpPr>
          <p:cNvPr id="5" name="Footer Placeholder 4">
            <a:extLst xmlns:a="http://schemas.openxmlformats.org/drawingml/2006/main">
              <a:ext uri="{FF2B5EF4-FFF2-40B4-BE49-F238E27FC236}">
                <a16:creationId xmlns:a16="http://schemas.microsoft.com/office/drawing/2014/main" id="{D78CA055-0CF6-4353-B4A0-6A4954D7B513}"/>
              </a:ext>
            </a:extLst>
          </p:cNvPr>
          <p:cNvSpPr>
            <a:spLocks xmlns:a="http://schemas.openxmlformats.org/drawingml/2006/main" noGrp="1"/>
          </p:cNvSpPr>
          <p:nvPr>
            <p:ph type="ftr" idx="3"/>
          </p:nvPr>
        </p:nvSpPr>
        <p:spPr>
          <a:xfrm xmlns:a="http://schemas.openxmlformats.org/drawingml/2006/main">
            <a:off x="3124200" y="4767263"/>
            <a:ext cx="28956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A8B1D0B-E0AD-48F9-94CE-89020E369FC6}"/>
              </a:ext>
            </a:extLst>
          </p:cNvPr>
          <p:cNvSpPr>
            <a:spLocks xmlns:a="http://schemas.openxmlformats.org/drawingml/2006/main" noGrp="1"/>
          </p:cNvSpPr>
          <p:nvPr>
            <p:ph type="sldNum" idx="4"/>
          </p:nvPr>
        </p:nvSpPr>
        <p:spPr>
          <a:xfrm xmlns:a="http://schemas.openxmlformats.org/drawingml/2006/main">
            <a:off x="6553200" y="4767263"/>
            <a:ext cx="21336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C5EF2332-01BF-834F-8236-50238282D533}"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dd1750da204bb2"/>
    <p:sldLayoutId xmlns:r="http://schemas.openxmlformats.org/officeDocument/2006/relationships" id="2147483650" r:id="R10cb9fb44fce4faf"/>
    <p:sldLayoutId xmlns:r="http://schemas.openxmlformats.org/officeDocument/2006/relationships" id="2147483651" r:id="R419e891027de4ede"/>
    <p:sldLayoutId xmlns:r="http://schemas.openxmlformats.org/officeDocument/2006/relationships" id="2147483652" r:id="R410cb715843241d8"/>
    <p:sldLayoutId xmlns:r="http://schemas.openxmlformats.org/officeDocument/2006/relationships" id="2147483653" r:id="Rd64d729b5b4544b7"/>
    <p:sldLayoutId xmlns:r="http://schemas.openxmlformats.org/officeDocument/2006/relationships" id="2147483654" r:id="Ra57da7ba0e314811"/>
    <p:sldLayoutId xmlns:r="http://schemas.openxmlformats.org/officeDocument/2006/relationships" id="2147483655" r:id="R7e34fa646da54e73"/>
    <p:sldLayoutId xmlns:r="http://schemas.openxmlformats.org/officeDocument/2006/relationships" id="2147483656" r:id="R3cea0ce1070241ca"/>
    <p:sldLayoutId xmlns:r="http://schemas.openxmlformats.org/officeDocument/2006/relationships" id="2147483657" r:id="R9844c35f51ee4480"/>
    <p:sldLayoutId xmlns:r="http://schemas.openxmlformats.org/officeDocument/2006/relationships" id="2147483658" r:id="Rff470e2c1bc641cf"/>
    <p:sldLayoutId xmlns:r="http://schemas.openxmlformats.org/officeDocument/2006/relationships" id="2147483659" r:id="Rc0db94912bec48fd"/>
  </p:sldLayoutIdLst>
  <p:txStyles>
    <p:titleStyle>
      <a:lvl1pPr xmlns:a="http://schemas.openxmlformats.org/drawingml/2006/main" algn="ctr" defTabSz="342900">
        <a:spcBef>
          <a:spcPct val="0"/>
        </a:spcBef>
        <a:buNone/>
        <a:defRPr sz="3300" kern="1200">
          <a:solidFill>
            <a:schemeClr val="tx1"/>
          </a:solidFill>
          <a:latin typeface="+mj-lt"/>
          <a:ea typeface="+mj-lt"/>
          <a:cs typeface="+mj-lt"/>
        </a:defRPr>
      </a:lvl1pPr>
    </p:titleStyle>
    <p:bodyStyle>
      <a:lvl1pPr xmlns:a="http://schemas.openxmlformats.org/drawingml/2006/main" marL="342900" indent="-342900" algn="l" defTabSz="342900">
        <a:spcBef>
          <a:spcPct val="20000"/>
        </a:spcBef>
        <a:buFont typeface="Arial"/>
        <a:buChar char="•"/>
        <a:defRPr sz="2400" kern="1200">
          <a:solidFill>
            <a:schemeClr val="tx1"/>
          </a:solidFill>
          <a:latin typeface="+mn-lt"/>
          <a:ea typeface="+mn-lt"/>
          <a:cs typeface="+mn-lt"/>
        </a:defRPr>
      </a:lvl1pPr>
      <a:lvl2pPr xmlns:a="http://schemas.openxmlformats.org/drawingml/2006/main" marL="685800" indent="-342900" algn="l" defTabSz="342900">
        <a:spcBef>
          <a:spcPct val="20000"/>
        </a:spcBef>
        <a:buFont typeface="Arial"/>
        <a:buChar char="–"/>
        <a:defRPr sz="2100" kern="1200">
          <a:solidFill>
            <a:schemeClr val="tx1"/>
          </a:solidFill>
          <a:latin typeface="+mn-lt"/>
          <a:ea typeface="+mn-lt"/>
          <a:cs typeface="+mn-lt"/>
        </a:defRPr>
      </a:lvl2pPr>
      <a:lvl3pPr xmlns:a="http://schemas.openxmlformats.org/drawingml/2006/main" marL="1028700" indent="-342900" algn="l" defTabSz="342900">
        <a:spcBef>
          <a:spcPct val="20000"/>
        </a:spcBef>
        <a:buFont typeface="Arial"/>
        <a:buChar char="•"/>
        <a:defRPr sz="1800" kern="1200">
          <a:solidFill>
            <a:schemeClr val="tx1"/>
          </a:solidFill>
          <a:latin typeface="+mn-lt"/>
          <a:ea typeface="+mn-lt"/>
          <a:cs typeface="+mn-lt"/>
        </a:defRPr>
      </a:lvl3pPr>
      <a:lvl4pPr xmlns:a="http://schemas.openxmlformats.org/drawingml/2006/main" marL="1371600" indent="-342900" algn="l" defTabSz="342900">
        <a:spcBef>
          <a:spcPct val="20000"/>
        </a:spcBef>
        <a:buFont typeface="Arial"/>
        <a:buChar char="–"/>
        <a:defRPr sz="1500" kern="1200">
          <a:solidFill>
            <a:schemeClr val="tx1"/>
          </a:solidFill>
          <a:latin typeface="+mn-lt"/>
          <a:ea typeface="+mn-lt"/>
          <a:cs typeface="+mn-lt"/>
        </a:defRPr>
      </a:lvl4pPr>
      <a:lvl5pPr xmlns:a="http://schemas.openxmlformats.org/drawingml/2006/main" marL="1714500" indent="-342900" algn="l" defTabSz="342900">
        <a:spcBef>
          <a:spcPct val="20000"/>
        </a:spcBef>
        <a:buFont typeface="Arial"/>
        <a:buChar char="»"/>
        <a:defRPr sz="1500" kern="1200">
          <a:solidFill>
            <a:schemeClr val="tx1"/>
          </a:solidFill>
          <a:latin typeface="+mn-lt"/>
          <a:ea typeface="+mn-lt"/>
          <a:cs typeface="+mn-lt"/>
        </a:defRPr>
      </a:lvl5pPr>
      <a:lvl6pPr xmlns:a="http://schemas.openxmlformats.org/drawingml/2006/main" marL="2057400" indent="-342900" algn="l" defTabSz="342900">
        <a:spcBef>
          <a:spcPct val="20000"/>
        </a:spcBef>
        <a:buFont typeface="Arial"/>
        <a:buChar char="•"/>
        <a:defRPr sz="1500" kern="1200">
          <a:solidFill>
            <a:schemeClr val="tx1"/>
          </a:solidFill>
          <a:latin typeface="+mn-lt"/>
          <a:ea typeface="+mn-lt"/>
          <a:cs typeface="+mn-lt"/>
        </a:defRPr>
      </a:lvl6pPr>
      <a:lvl7pPr xmlns:a="http://schemas.openxmlformats.org/drawingml/2006/main" marL="2400300" indent="-342900" algn="l" defTabSz="342900">
        <a:spcBef>
          <a:spcPct val="20000"/>
        </a:spcBef>
        <a:buFont typeface="Arial"/>
        <a:buChar char="•"/>
        <a:defRPr sz="1500" kern="1200">
          <a:solidFill>
            <a:schemeClr val="tx1"/>
          </a:solidFill>
          <a:latin typeface="+mn-lt"/>
          <a:ea typeface="+mn-lt"/>
          <a:cs typeface="+mn-lt"/>
        </a:defRPr>
      </a:lvl7pPr>
      <a:lvl8pPr xmlns:a="http://schemas.openxmlformats.org/drawingml/2006/main" marL="2743200" indent="-342900" algn="l" defTabSz="342900">
        <a:spcBef>
          <a:spcPct val="20000"/>
        </a:spcBef>
        <a:buFont typeface="Arial"/>
        <a:buChar char="•"/>
        <a:defRPr sz="1500" kern="1200">
          <a:solidFill>
            <a:schemeClr val="tx1"/>
          </a:solidFill>
          <a:latin typeface="+mn-lt"/>
          <a:ea typeface="+mn-lt"/>
          <a:cs typeface="+mn-lt"/>
        </a:defRPr>
      </a:lvl8pPr>
      <a:lvl9pPr xmlns:a="http://schemas.openxmlformats.org/drawingml/2006/main" marL="3086100" indent="-342900" algn="l" defTabSz="342900">
        <a:spcBef>
          <a:spcPct val="20000"/>
        </a:spcBef>
        <a:buFont typeface="Arial"/>
        <a:buChar char="•"/>
        <a:defRPr sz="1500" kern="1200">
          <a:solidFill>
            <a:schemeClr val="tx1"/>
          </a:solidFill>
          <a:latin typeface="+mn-lt"/>
          <a:ea typeface="+mn-lt"/>
          <a:cs typeface="+mn-lt"/>
        </a:defRPr>
      </a:lvl9pPr>
    </p:bodyStyle>
    <p:otherStyle>
      <a:lvl1pPr xmlns:a="http://schemas.openxmlformats.org/drawingml/2006/main" marL="0" algn="l" defTabSz="342900">
        <a:buNone/>
        <a:defRPr sz="1350" kern="1200">
          <a:solidFill>
            <a:schemeClr val="tx1"/>
          </a:solidFill>
          <a:latin typeface="+mn-lt"/>
          <a:ea typeface="+mn-lt"/>
          <a:cs typeface="+mn-lt"/>
        </a:defRPr>
      </a:lvl1pPr>
      <a:lvl2pPr xmlns:a="http://schemas.openxmlformats.org/drawingml/2006/main" marL="342900" algn="l" defTabSz="342900">
        <a:buNone/>
        <a:defRPr sz="1350" kern="1200">
          <a:solidFill>
            <a:schemeClr val="tx1"/>
          </a:solidFill>
          <a:latin typeface="+mn-lt"/>
          <a:ea typeface="+mn-lt"/>
          <a:cs typeface="+mn-lt"/>
        </a:defRPr>
      </a:lvl2pPr>
      <a:lvl3pPr xmlns:a="http://schemas.openxmlformats.org/drawingml/2006/main" marL="685800" algn="l" defTabSz="342900">
        <a:buNone/>
        <a:defRPr sz="1350" kern="1200">
          <a:solidFill>
            <a:schemeClr val="tx1"/>
          </a:solidFill>
          <a:latin typeface="+mn-lt"/>
          <a:ea typeface="+mn-lt"/>
          <a:cs typeface="+mn-lt"/>
        </a:defRPr>
      </a:lvl3pPr>
      <a:lvl4pPr xmlns:a="http://schemas.openxmlformats.org/drawingml/2006/main" marL="1028700" algn="l" defTabSz="342900">
        <a:buNone/>
        <a:defRPr sz="1350" kern="1200">
          <a:solidFill>
            <a:schemeClr val="tx1"/>
          </a:solidFill>
          <a:latin typeface="+mn-lt"/>
          <a:ea typeface="+mn-lt"/>
          <a:cs typeface="+mn-lt"/>
        </a:defRPr>
      </a:lvl4pPr>
      <a:lvl5pPr xmlns:a="http://schemas.openxmlformats.org/drawingml/2006/main" marL="1371600" algn="l" defTabSz="342900">
        <a:buNone/>
        <a:defRPr sz="1350" kern="1200">
          <a:solidFill>
            <a:schemeClr val="tx1"/>
          </a:solidFill>
          <a:latin typeface="+mn-lt"/>
          <a:ea typeface="+mn-lt"/>
          <a:cs typeface="+mn-lt"/>
        </a:defRPr>
      </a:lvl5pPr>
      <a:lvl6pPr xmlns:a="http://schemas.openxmlformats.org/drawingml/2006/main" marL="1714500" algn="l" defTabSz="342900">
        <a:buNone/>
        <a:defRPr sz="1350" kern="1200">
          <a:solidFill>
            <a:schemeClr val="tx1"/>
          </a:solidFill>
          <a:latin typeface="+mn-lt"/>
          <a:ea typeface="+mn-lt"/>
          <a:cs typeface="+mn-lt"/>
        </a:defRPr>
      </a:lvl6pPr>
      <a:lvl7pPr xmlns:a="http://schemas.openxmlformats.org/drawingml/2006/main" marL="2057400" algn="l" defTabSz="342900">
        <a:buNone/>
        <a:defRPr sz="1350" kern="1200">
          <a:solidFill>
            <a:schemeClr val="tx1"/>
          </a:solidFill>
          <a:latin typeface="+mn-lt"/>
          <a:ea typeface="+mn-lt"/>
          <a:cs typeface="+mn-lt"/>
        </a:defRPr>
      </a:lvl7pPr>
      <a:lvl8pPr xmlns:a="http://schemas.openxmlformats.org/drawingml/2006/main" marL="2400300" algn="l" defTabSz="342900">
        <a:buNone/>
        <a:defRPr sz="1350" kern="1200">
          <a:solidFill>
            <a:schemeClr val="tx1"/>
          </a:solidFill>
          <a:latin typeface="+mn-lt"/>
          <a:ea typeface="+mn-lt"/>
          <a:cs typeface="+mn-lt"/>
        </a:defRPr>
      </a:lvl8pPr>
      <a:lvl9pPr xmlns:a="http://schemas.openxmlformats.org/drawingml/2006/main" marL="2743200" algn="l" defTabSz="3429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GAVD3 S-JEPA Theme">
  <a:themeElements>
    <a:clrScheme name="Office">
      <a:dk1>
        <a:srgbClr val="17324D"/>
      </a:dk1>
      <a:lt1>
        <a:srgbClr val="FBFAF7"/>
      </a:lt1>
      <a:dk2>
        <a:srgbClr val="244D70"/>
      </a:dk2>
      <a:lt2>
        <a:srgbClr val="EEF3F6"/>
      </a:lt2>
      <a:accent1>
        <a:srgbClr val="3977A8"/>
      </a:accent1>
      <a:accent2>
        <a:srgbClr val="D97745"/>
      </a:accent2>
      <a:accent3>
        <a:srgbClr val="3D8B7D"/>
      </a:accent3>
      <a:accent4>
        <a:srgbClr val="7562A8"/>
      </a:accent4>
      <a:accent5>
        <a:srgbClr val="D9A441"/>
      </a:accent5>
      <a:accent6>
        <a:srgbClr val="B94E48"/>
      </a:accent6>
      <a:hlink>
        <a:srgbClr val="1D6395"/>
      </a:hlink>
      <a:folHlink>
        <a:srgbClr val="7562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b66ad9a8904979" /><Relationship Type="http://schemas.openxmlformats.org/officeDocument/2006/relationships/notesSlide" Target="/ppt/notesSlides/notesSlide1.xml" Id="R94c9e612d55a49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7186e46b91394102" /><Relationship Type="http://schemas.openxmlformats.org/officeDocument/2006/relationships/image" Target="/ppt/media/image.png" Id="R4e103e34a8ad4d7d" /><Relationship Type="http://schemas.openxmlformats.org/officeDocument/2006/relationships/image" Target="/ppt/media/image.svg" Id="R1b1c6e5128b34300" /><Relationship Type="http://schemas.openxmlformats.org/officeDocument/2006/relationships/notesSlide" Target="/ppt/notesSlides/notesSlide2.xml" Id="Rfd7c3a9f4b8845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1e2150745d04529" /><Relationship Type="http://schemas.openxmlformats.org/officeDocument/2006/relationships/image" Target="/ppt/media/image2.png" Id="Rff322d7b300b4354" /><Relationship Type="http://schemas.openxmlformats.org/officeDocument/2006/relationships/image" Target="/ppt/media/image2.svg" Id="Rf2aa4bd0a8354c5d" /><Relationship Type="http://schemas.openxmlformats.org/officeDocument/2006/relationships/notesSlide" Target="/ppt/notesSlides/notesSlide3.xml" Id="Rd7e3dd0f6bf64b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0114b132eeb4a75" /><Relationship Type="http://schemas.openxmlformats.org/officeDocument/2006/relationships/notesSlide" Target="/ppt/notesSlides/notesSlide4.xml" Id="Rd897c5dcdf5648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290794559994140" /><Relationship Type="http://schemas.openxmlformats.org/officeDocument/2006/relationships/image" Target="/ppt/media/image3.png" Id="R0e427b58512d4c8f" /><Relationship Type="http://schemas.openxmlformats.org/officeDocument/2006/relationships/image" Target="/ppt/media/image3.svg" Id="Rd20d15ec319e4164" /><Relationship Type="http://schemas.openxmlformats.org/officeDocument/2006/relationships/notesSlide" Target="/ppt/notesSlides/notesSlide5.xml" Id="R16618d7a9ce844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e9027c544d34e10" /><Relationship Type="http://schemas.openxmlformats.org/officeDocument/2006/relationships/image" Target="/ppt/media/image4.png" Id="R031ac589c56342ef" /><Relationship Type="http://schemas.openxmlformats.org/officeDocument/2006/relationships/image" Target="/ppt/media/image4.svg" Id="Rac7fdcb43fef4f1f" /><Relationship Type="http://schemas.openxmlformats.org/officeDocument/2006/relationships/notesSlide" Target="/ppt/notesSlides/notesSlide6.xml" Id="Rbbaf3f4a5ee244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839a8e89a714afd" /><Relationship Type="http://schemas.openxmlformats.org/officeDocument/2006/relationships/image" Target="/ppt/media/image5.png" Id="Re935b6d5d4584deb" /><Relationship Type="http://schemas.openxmlformats.org/officeDocument/2006/relationships/image" Target="/ppt/media/image5.svg" Id="Rcf1998bf6ede46b5" /><Relationship Type="http://schemas.openxmlformats.org/officeDocument/2006/relationships/notesSlide" Target="/ppt/notesSlides/notesSlide7.xml" Id="R5663b804efea4b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181c7d2bfb847c0" /><Relationship Type="http://schemas.openxmlformats.org/officeDocument/2006/relationships/image" Target="/ppt/media/image6.png" Id="R3347d20c4f7d4b82" /><Relationship Type="http://schemas.openxmlformats.org/officeDocument/2006/relationships/image" Target="/ppt/media/image6.svg" Id="Rca76ddf00e4c440f" /><Relationship Type="http://schemas.openxmlformats.org/officeDocument/2006/relationships/notesSlide" Target="/ppt/notesSlides/notesSlide8.xml" Id="R6fb5d8cf7a8447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e027f4a8dce4e20" /><Relationship Type="http://schemas.openxmlformats.org/officeDocument/2006/relationships/image" Target="/ppt/media/image7.png" Id="Re2e26d51e33a4ecb" /><Relationship Type="http://schemas.openxmlformats.org/officeDocument/2006/relationships/image" Target="/ppt/media/image7.svg" Id="R3f4f9e39c565479d" /><Relationship Type="http://schemas.openxmlformats.org/officeDocument/2006/relationships/notesSlide" Target="/ppt/notesSlides/notesSlide9.xml" Id="R640f88f5325e47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e8ea6fc51644c4b" /><Relationship Type="http://schemas.openxmlformats.org/officeDocument/2006/relationships/image" Target="/ppt/media/image8.png" Id="R6f7eb5388dff42df" /><Relationship Type="http://schemas.openxmlformats.org/officeDocument/2006/relationships/image" Target="/ppt/media/image8.svg" Id="Rfcbf473739674211" /><Relationship Type="http://schemas.openxmlformats.org/officeDocument/2006/relationships/notesSlide" Target="/ppt/notesSlides/notesSlide10.xml" Id="R2fa7fd7130cb48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72223ee29754001" /><Relationship Type="http://schemas.openxmlformats.org/officeDocument/2006/relationships/image" Target="/ppt/media/image9.png" Id="R4532a01e31964a50" /><Relationship Type="http://schemas.openxmlformats.org/officeDocument/2006/relationships/notesSlide" Target="/ppt/notesSlides/notesSlide11.xml" Id="Rd9f629b1089740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7a447e75387741f2" /><Relationship Type="http://schemas.openxmlformats.org/officeDocument/2006/relationships/image" Target="/ppt/media/image10.png" Id="R28a90d584d1a403b" /><Relationship Type="http://schemas.openxmlformats.org/officeDocument/2006/relationships/image" Target="/ppt/media/image9.svg" Id="Reca7ef6525c346cc" /><Relationship Type="http://schemas.openxmlformats.org/officeDocument/2006/relationships/notesSlide" Target="/ppt/notesSlides/notesSlide12.xml" Id="Ref1831297bab4b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a28b55ea3f2a456b" /><Relationship Type="http://schemas.openxmlformats.org/officeDocument/2006/relationships/image" Target="/ppt/media/image11.png" Id="Ra326858fc0344c7f" /><Relationship Type="http://schemas.openxmlformats.org/officeDocument/2006/relationships/notesSlide" Target="/ppt/notesSlides/notesSlide13.xml" Id="R8ab706456e3949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547f0de12bc74db8" /><Relationship Type="http://schemas.openxmlformats.org/officeDocument/2006/relationships/image" Target="/ppt/media/image12.png" Id="R7c58cace2c62495c" /><Relationship Type="http://schemas.openxmlformats.org/officeDocument/2006/relationships/notesSlide" Target="/ppt/notesSlides/notesSlide14.xml" Id="R8f462495cb3342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a55a36597654e2a" /><Relationship Type="http://schemas.openxmlformats.org/officeDocument/2006/relationships/image" Target="/ppt/media/image13.png" Id="R71c8038ed9224919" /><Relationship Type="http://schemas.openxmlformats.org/officeDocument/2006/relationships/image" Target="/ppt/media/image10.svg" Id="R92bfc073802d4644" /><Relationship Type="http://schemas.openxmlformats.org/officeDocument/2006/relationships/notesSlide" Target="/ppt/notesSlides/notesSlide15.xml" Id="Rb135d06cdc2947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21814f3dd36e4af7" /><Relationship Type="http://schemas.openxmlformats.org/officeDocument/2006/relationships/image" Target="/ppt/media/image14.png" Id="R70c102505b9343eb" /><Relationship Type="http://schemas.openxmlformats.org/officeDocument/2006/relationships/image" Target="/ppt/media/image11.svg" Id="Re6453a6d15aa4038" /><Relationship Type="http://schemas.openxmlformats.org/officeDocument/2006/relationships/notesSlide" Target="/ppt/notesSlides/notesSlide16.xml" Id="Rd157a1de207e4e2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89a877c8b96452b" /><Relationship Type="http://schemas.openxmlformats.org/officeDocument/2006/relationships/image" Target="/ppt/media/image15.png" Id="R9edb12ce4be84fdb" /><Relationship Type="http://schemas.openxmlformats.org/officeDocument/2006/relationships/image" Target="/ppt/media/image12.svg" Id="R7e0cf8370369434f" /><Relationship Type="http://schemas.openxmlformats.org/officeDocument/2006/relationships/notesSlide" Target="/ppt/notesSlides/notesSlide17.xml" Id="R684bf5f6e65a4a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4.xml" Id="Ra36c7f5ab96b4f91" /><Relationship Type="http://schemas.openxmlformats.org/officeDocument/2006/relationships/image" Target="/ppt/media/image16.png" Id="Rf068096084e64fba" /><Relationship Type="http://schemas.openxmlformats.org/officeDocument/2006/relationships/image" Target="/ppt/media/image13.svg" Id="R26845c6592e345fa" /><Relationship Type="http://schemas.openxmlformats.org/officeDocument/2006/relationships/notesSlide" Target="/ppt/notesSlides/notesSlide18.xml" Id="Rb99714cf30a4478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4.xml" Id="R99dee93f9bdc4c63" /><Relationship Type="http://schemas.openxmlformats.org/officeDocument/2006/relationships/notesSlide" Target="/ppt/notesSlides/notesSlide19.xml" Id="Ra1f6d576e2ac465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1ebecacb98b8424a" /><Relationship Type="http://schemas.openxmlformats.org/officeDocument/2006/relationships/image" Target="/ppt/media/image17.png" Id="Rca205208beae48ba" /><Relationship Type="http://schemas.openxmlformats.org/officeDocument/2006/relationships/image" Target="/ppt/media/image14.svg" Id="R369b3540bf3c4ae8" /><Relationship Type="http://schemas.openxmlformats.org/officeDocument/2006/relationships/notesSlide" Target="/ppt/notesSlides/notesSlide20.xml" Id="R76cf7746352743e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41bddd8385f548dc" /><Relationship Type="http://schemas.openxmlformats.org/officeDocument/2006/relationships/image" Target="/ppt/media/image18.png" Id="Rd4c23cb1a59c4ff9" /><Relationship Type="http://schemas.openxmlformats.org/officeDocument/2006/relationships/notesSlide" Target="/ppt/notesSlides/notesSlide21.xml" Id="R1dba45acd999402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4.xml" Id="R0b941b350ae8492a" /><Relationship Type="http://schemas.openxmlformats.org/officeDocument/2006/relationships/image" Target="/ppt/media/image19.png" Id="R86809f438347469d" /><Relationship Type="http://schemas.openxmlformats.org/officeDocument/2006/relationships/notesSlide" Target="/ppt/notesSlides/notesSlide22.xml" Id="Re0e5ad219687482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81a5266676cb42cb" /><Relationship Type="http://schemas.openxmlformats.org/officeDocument/2006/relationships/image" Target="/ppt/media/image20.png" Id="Rf938bd1787424f1b" /><Relationship Type="http://schemas.openxmlformats.org/officeDocument/2006/relationships/notesSlide" Target="/ppt/notesSlides/notesSlide23.xml" Id="Rbd1619262520405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44bc68e11e804930" /><Relationship Type="http://schemas.openxmlformats.org/officeDocument/2006/relationships/notesSlide" Target="/ppt/notesSlides/notesSlide24.xml" Id="R4df8659cf2984e9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d48cd62813444869" /><Relationship Type="http://schemas.openxmlformats.org/officeDocument/2006/relationships/notesSlide" Target="/ppt/notesSlides/notesSlide25.xml" Id="Rfa0850b732ad4a6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3f86479b5cd4498b" /><Relationship Type="http://schemas.openxmlformats.org/officeDocument/2006/relationships/notesSlide" Target="/ppt/notesSlides/notesSlide26.xml" Id="R9099c44adb49469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26074112b4084bc5" /><Relationship Type="http://schemas.openxmlformats.org/officeDocument/2006/relationships/image" Target="/ppt/media/image21.png" Id="R32e6375d69e7433e" /><Relationship Type="http://schemas.openxmlformats.org/officeDocument/2006/relationships/image" Target="/ppt/media/image15.svg" Id="Rfbbbf5accb544f34" /><Relationship Type="http://schemas.openxmlformats.org/officeDocument/2006/relationships/notesSlide" Target="/ppt/notesSlides/notesSlide27.xml" Id="R0bf6288f51ad43e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2e8824811207498f" /><Relationship Type="http://schemas.openxmlformats.org/officeDocument/2006/relationships/image" Target="/ppt/media/image22.png" Id="R03ef4cbc50b44ec1" /><Relationship Type="http://schemas.openxmlformats.org/officeDocument/2006/relationships/image" Target="/ppt/media/image16.svg" Id="R3db7eda64a0b4484" /><Relationship Type="http://schemas.openxmlformats.org/officeDocument/2006/relationships/notesSlide" Target="/ppt/notesSlides/notesSlide28.xml" Id="Rfd6ea87ab336494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4.xml" Id="Ra1b795bc02c2422a" /><Relationship Type="http://schemas.openxmlformats.org/officeDocument/2006/relationships/notesSlide" Target="/ppt/notesSlides/notesSlide29.xml" Id="R859a7fe43f8d4ac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43c2503ec0144c08" /><Relationship Type="http://schemas.openxmlformats.org/officeDocument/2006/relationships/image" Target="/ppt/media/image23.png" Id="R760fe366dab34285" /><Relationship Type="http://schemas.openxmlformats.org/officeDocument/2006/relationships/image" Target="/ppt/media/image17.svg" Id="Rc40db0ce4b8940db" /><Relationship Type="http://schemas.openxmlformats.org/officeDocument/2006/relationships/notesSlide" Target="/ppt/notesSlides/notesSlide30.xml" Id="Rc667e106d6ec45b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4.xml" Id="Rdb5ecee1a0d54959" /><Relationship Type="http://schemas.openxmlformats.org/officeDocument/2006/relationships/hyperlink" Target="https://doi.org/10.1007/978-3-031-73411-3_21" TargetMode="External" Id="R4484f83a796b446b" /><Relationship Type="http://schemas.openxmlformats.org/officeDocument/2006/relationships/hyperlink" Target="https://doi.org/10.1109/CVPR52729.2023.01499" TargetMode="External" Id="R5b1e7c32d7624fa5" /><Relationship Type="http://schemas.openxmlformats.org/officeDocument/2006/relationships/hyperlink" Target="https://doi.org/10.1109/ACCESS.2025.3545787" TargetMode="External" Id="Rbbce09dba81a480b" /><Relationship Type="http://schemas.openxmlformats.org/officeDocument/2006/relationships/hyperlink" Target="https://doi.org/10.48550/arXiv.2206.11678" TargetMode="External" Id="R00267d2967da493d" /><Relationship Type="http://schemas.openxmlformats.org/officeDocument/2006/relationships/hyperlink" Target="https://openreview.net/forum?id=xm6YD62D1Ub" TargetMode="External" Id="Re62ac549e8214d73" /><Relationship Type="http://schemas.openxmlformats.org/officeDocument/2006/relationships/hyperlink" Target="https://ai.google.dev/edge/mediapipe/solutions/vision/pose_landmarker" TargetMode="External" Id="Re988f6da8eac4749" /><Relationship Type="http://schemas.openxmlformats.org/officeDocument/2006/relationships/hyperlink" Target="https://doi.org/10.1111/ecog.02881" TargetMode="External" Id="Re1ded86efa2f4a50" /><Relationship Type="http://schemas.openxmlformats.org/officeDocument/2006/relationships/hyperlink" Target="https://www.jmlr.org/papers/v5/grandvalet04a.html" TargetMode="External" Id="R102f4301b8c04891" /><Relationship Type="http://schemas.openxmlformats.org/officeDocument/2006/relationships/hyperlink" Target="https://doi.org/10.1016/0377-0427(87)90125-7" TargetMode="External" Id="R17896e6cbcb846a1" /><Relationship Type="http://schemas.openxmlformats.org/officeDocument/2006/relationships/hyperlink" Target="https://doi.org/10.1023/A:1010933404324" TargetMode="External" Id="Rcbacb0e43c2f43a0" /><Relationship Type="http://schemas.openxmlformats.org/officeDocument/2006/relationships/hyperlink" Target="https://doi.org/10.1038/s41598-026-39330-9" TargetMode="External" Id="R512fa6117ddc420a" /><Relationship Type="http://schemas.openxmlformats.org/officeDocument/2006/relationships/notesSlide" Target="/ppt/notesSlides/notesSlide31.xml" Id="R73d96cc28e40480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B9383E4-15BB-4257-B90A-5A53AE8055EF}"/>
              </a:ext>
            </a:extLst>
          </p:cNvPr>
          <p:cNvSpPr>
            <a:spLocks xmlns:a="http://schemas.openxmlformats.org/drawingml/2006/main" noGrp="1"/>
          </p:cNvSpPr>
          <p:nvPr>
            <p:ph type="ctrTitle" idx="0"/>
          </p:nvPr>
        </p:nvSpPr>
        <p:spPr>
          <a:xfrm xmlns:a="http://schemas.openxmlformats.org/drawingml/2006/main">
            <a:off x="685800" y="1597819"/>
            <a:ext cx="7772400" cy="1102519"/>
          </a:xfrm>
        </p:spPr>
        <p:txBody>
          <a:bodyPr xmlns:a="http://schemas.openxmlformats.org/drawingml/2006/main"/>
          <a:lstStyle xmlns:a="http://schemas.openxmlformats.org/drawingml/2006/main"/>
          <a:p xmlns:a="http://schemas.openxmlformats.org/drawingml/2006/main">
            <a:pPr marL="0" lvl="0" indent="0">
              <a:buNone/>
            </a:pPr>
            <a:r>
              <a:t>How the GAVD3 S-JEPA study evolved</a:t>
            </a:r>
          </a:p>
        </p:txBody>
      </p:sp>
      <p:sp>
        <p:nvSpPr>
          <p:cNvPr id="3" name="Subtitle 2">
            <a:extLst xmlns:a="http://schemas.openxmlformats.org/drawingml/2006/main">
              <a:ext uri="{FF2B5EF4-FFF2-40B4-BE49-F238E27FC236}">
                <a16:creationId xmlns:a16="http://schemas.microsoft.com/office/drawing/2014/main" id="{4C9098A6-ABBD-48AD-9C68-DD9712235DFF}"/>
              </a:ext>
            </a:extLst>
          </p:cNvPr>
          <p:cNvSpPr>
            <a:spLocks xmlns:a="http://schemas.openxmlformats.org/drawingml/2006/main" noGrp="1"/>
          </p:cNvSpPr>
          <p:nvPr>
            <p:ph type="subTitle" idx="1"/>
          </p:nvPr>
        </p:nvSpPr>
        <p:spPr>
          <a:xfrm xmlns:a="http://schemas.openxmlformats.org/drawingml/2006/main">
            <a:off x="1371600" y="2914650"/>
            <a:ext cx="6400800" cy="1314450"/>
          </a:xfrm>
        </p:spPr>
        <p:txBody>
          <a:bodyPr xmlns:a="http://schemas.openxmlformats.org/drawingml/2006/main"/>
          <a:lstStyle xmlns:a="http://schemas.openxmlformats.org/drawingml/2006/main"/>
          <a:p xmlns:a="http://schemas.openxmlformats.org/drawingml/2006/main">
            <a:pPr marL="0" lvl="0" indent="0">
              <a:buNone/>
            </a:pPr>
            <a:r>
              <a:t>What changed, what improved, and what still remains untested</a:t>
            </a:r>
            <a:br/>
            <a:br/>
            <a:r>
              <a:t>GAVD3 S-JEPA tutorial</a:t>
            </a:r>
          </a:p>
        </p:txBody>
      </p:sp>
      <p:sp>
        <p:nvSpPr>
          <p:cNvPr id="4" name="Date Placeholder 3">
            <a:extLst xmlns:a="http://schemas.openxmlformats.org/drawingml/2006/main">
              <a:ext uri="{FF2B5EF4-FFF2-40B4-BE49-F238E27FC236}">
                <a16:creationId xmlns:a16="http://schemas.microsoft.com/office/drawing/2014/main" id="{0E441F8F-F78E-4210-9C8F-31EFE130EF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marL="0" lvl="0" indent="0">
              <a:buNone/>
            </a:pPr>
            <a:r>
              <a:t>August 2026</a:t>
            </a:r>
          </a:p>
        </p:txBody>
      </p:sp>
    </p:spTree>
    <p:extLst>
      <p:ext uri="{BB962C8B-B14F-4D97-AF65-F5344CB8AC3E}">
        <p14:creationId xmlns:p14="http://schemas.microsoft.com/office/powerpoint/2010/main" val="117610081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101ACD-9C3F-4957-B6DB-44491CEB06A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The goal is feature learning, not diagnosis</a:t>
            </a:r>
          </a:p>
        </p:txBody>
      </p:sp>
      <p:sp>
        <p:nvSpPr>
          <p:cNvPr id="3" name="Content Placeholder 2">
            <a:extLst xmlns:a="http://schemas.openxmlformats.org/drawingml/2006/main">
              <a:ext uri="{FF2B5EF4-FFF2-40B4-BE49-F238E27FC236}">
                <a16:creationId xmlns:a16="http://schemas.microsoft.com/office/drawing/2014/main" id="{57718822-2D89-47C0-A98C-676CEC051DB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A 64-frame skeleton becomes </a:t>
            </a:r>
            <a:r>
              <a:rPr b="1"/>
              <a:t>528 joint-time tokens</a:t>
            </a:r>
            <a:r>
              <a:t>.</a:t>
            </a:r>
          </a:p>
          <a:p xmlns:a="http://schemas.openxmlformats.org/drawingml/2006/main">
            <a:pPr lvl="0">
              <a:buNone/>
            </a:pPr>
            <a:r>
              <a:t>The student sees visible tokens.</a:t>
            </a:r>
          </a:p>
          <a:p xmlns:a="http://schemas.openxmlformats.org/drawingml/2006/main">
            <a:pPr lvl="0">
              <a:buNone/>
            </a:pPr>
            <a:r>
              <a:t>A slow teacher sees the complete sequence.</a:t>
            </a:r>
          </a:p>
          <a:p xmlns:a="http://schemas.openxmlformats.org/drawingml/2006/main">
            <a:pPr lvl="0">
              <a:buNone/>
            </a:pPr>
            <a:r>
              <a:t>A predictor estimates teacher features at hidden locations.</a:t>
            </a:r>
          </a:p>
          <a:p xmlns:a="http://schemas.openxmlformats.org/drawingml/2006/main">
            <a:pPr lvl="0">
              <a:buNone/>
            </a:pPr>
            <a:r>
              <a:t>The research question is whether the learned vector retains useful gait structure.</a:t>
            </a:r>
          </a:p>
          <a:p xmlns:a="http://schemas.openxmlformats.org/drawingml/2006/main">
            <a:pPr marL="0" lvl="0" indent="0">
              <a:buNone/>
            </a:pPr>
            <a:r>
              <a:rPr b="1"/>
              <a:t>Scope:</a:t>
            </a:r>
            <a:r>
              <a:t> exploratory representation research. Folder labels are not diagnoses verified by this project.</a:t>
            </a:r>
          </a:p>
        </p:txBody>
      </p:sp>
      <p:pic>
        <p:nvPicPr>
          <p:cNvPr id="12" name="Picture 1"/>
          <p:cNvPicPr>
            <a:picLocks xmlns:a="http://schemas.openxmlformats.org/drawingml/2006/main" noChangeAspect="1"/>
          </p:cNvPicPr>
          <p:nvPr/>
        </p:nvPicPr>
        <p:blipFill>
          <a:blip xmlns:r="http://schemas.openxmlformats.org/officeDocument/2006/relationships" xmlns:a="http://schemas.openxmlformats.org/drawingml/2006/main" r:embed="R4e103e34a8ad4d7d">
            <a:extLst>
              <a:ext uri="{96DAC541-7B7A-43D3-8B79-37D633B846F1}">
                <asvg:svgBlip xmlns:asvg="http://schemas.microsoft.com/office/drawing/2016/SVG/main" r:embed="R1b1c6e5128b34300"/>
              </a:ext>
            </a:extLst>
          </a:blip>
          <a:stretch xmlns:a="http://schemas.openxmlformats.org/drawingml/2006/main">
            <a:fillRect l="0" t="0" r="0" b="0"/>
          </a:stretch>
        </p:blipFill>
        <p:spPr>
          <a:xfrm xmlns:a="http://schemas.openxmlformats.org/drawingml/2006/main">
            <a:off x="4648200" y="1422400"/>
            <a:ext cx="4038600" cy="2425700"/>
          </a:xfrm>
          <a:prstGeom xmlns:a="http://schemas.openxmlformats.org/drawingml/2006/main" prst="rect">
            <a:avLst/>
          </a:prstGeom>
          <a:ln xmlns:a="http://schemas.openxmlformats.org/drawingml/2006/main" w="9525">
            <a:noFill/>
          </a:ln>
        </p:spPr>
      </p:pic>
      <p:sp>
        <p:nvSpPr>
          <p:cNvPr id="8" name="TextBox 3">
            <a:extLst xmlns:a="http://schemas.openxmlformats.org/drawingml/2006/main">
              <a:ext uri="{FF2B5EF4-FFF2-40B4-BE49-F238E27FC236}">
                <a16:creationId xmlns:a16="http://schemas.microsoft.com/office/drawing/2014/main" id="{9BB85836-59B2-4D95-A527-63CB07C23534}"/>
              </a:ext>
            </a:extLst>
          </p:cNvPr>
          <p:cNvSpPr>
            <a:spLocks xmlns:a="http://schemas.openxmlformats.org/drawingml/2006/main" noGrp="1"/>
          </p:cNvSpPr>
          <p:nvPr>
            <p:ph idx="1"/>
          </p:nvPr>
        </p:nvSpPr>
        <p:spPr>
          <a:xfrm xmlns:a="http://schemas.openxmlformats.org/drawingml/2006/main">
            <a:off x="4648200" y="4076700"/>
            <a:ext cx="4038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The student predicts hidden teacher features rather than pixels or raw coordinates. Sources: Abdelfattah and Alahi, ECCV 2024; Assran et al., CVPR 2023.</a:t>
            </a:r>
          </a:p>
        </p:txBody>
      </p:sp>
    </p:spTree>
    <p:extLst>
      <p:ext uri="{BB962C8B-B14F-4D97-AF65-F5344CB8AC3E}">
        <p14:creationId xmlns:p14="http://schemas.microsoft.com/office/powerpoint/2010/main" val="196232709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033A3A-B966-4EB0-B87D-CB8CDC85A8A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The project improved in three different ways</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ff322d7b300b4354">
            <a:extLst>
              <a:ext uri="{96DAC541-7B7A-43D3-8B79-37D633B846F1}">
                <asvg:svgBlip xmlns:asvg="http://schemas.microsoft.com/office/drawing/2016/SVG/main" r:embed="Rf2aa4bd0a8354c5d"/>
              </a:ext>
            </a:extLst>
          </a:blip>
          <a:stretch xmlns:a="http://schemas.openxmlformats.org/drawingml/2006/main">
            <a:fillRect l="0" t="0" r="0" b="0"/>
          </a:stretch>
        </p:blipFill>
        <p:spPr>
          <a:xfrm xmlns:a="http://schemas.openxmlformats.org/drawingml/2006/main">
            <a:off x="1574800" y="1193800"/>
            <a:ext cx="59944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D4C6796F-93BB-4B2C-8046-1D2E3A6B7012}"/>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The evolution separates model changes, evaluation repairs, and work that has not yet been run. Source: current notebooks, artifacts, and result ledger.</a:t>
            </a:r>
          </a:p>
        </p:txBody>
      </p:sp>
    </p:spTree>
    <p:extLst>
      <p:ext uri="{BB962C8B-B14F-4D97-AF65-F5344CB8AC3E}">
        <p14:creationId xmlns:p14="http://schemas.microsoft.com/office/powerpoint/2010/main" val="178556868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FE2EC9-5B7B-4DD7-8FC2-7F9509C8AD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The first prototype exposed four limits</a:t>
            </a:r>
          </a:p>
        </p:txBody>
      </p:sp>
      <p:graphicFrame>
        <p:nvGraphicFramePr>
          <p:cNvPr id="5" name="Content Placeholder 5"/>
          <p:cNvGraphicFramePr/>
          <p:nvPr/>
        </p:nvGraphicFramePr>
        <p:xfrm>
          <a:off xmlns:a="http://schemas.openxmlformats.org/drawingml/2006/main" x="457200" y="1193800"/>
          <a:ext xmlns:a="http://schemas.openxmlformats.org/drawingml/2006/main" cx="8229600" cy="3390900"/>
        </p:xfrm>
        <a:graphic xmlns:a="http://schemas.openxmlformats.org/drawingml/2006/main">
          <a:graphicData uri="http://schemas.openxmlformats.org/drawingml/2006/table">
            <a:tbl>
              <a:tblPr firstRow="1" bandRow="1">
                <a:tableStyleId>{5C22544A-7EE6-4342-B048-85BDC9FD1C3A}</a:tableStyleId>
              </a:tblPr>
              <a:tblGrid>
                <a:gridCol w="2743200"/>
                <a:gridCol w="2743200"/>
                <a:gridCol w="2743200"/>
              </a:tblGrid>
              <a:tr h="0">
                <a:tc>
                  <a:txBody>
                    <a:bodyPr/>
                    <a:lstStyle/>
                    <a:p>
                      <a:pPr marL="0" lvl="0" indent="0">
                        <a:buNone/>
                      </a:pPr>
                      <a:r>
                        <a:t>Audit finding</a:t>
                      </a:r>
                    </a:p>
                  </a:txBody>
                  <a:tcPr marL="91440" marR="91440" marT="45720" marB="45720"/>
                </a:tc>
                <a:tc>
                  <a:txBody>
                    <a:bodyPr/>
                    <a:lstStyle/>
                    <a:p>
                      <a:pPr marL="0" lvl="0" indent="0">
                        <a:buNone/>
                      </a:pPr>
                      <a:r>
                        <a:t>Concrete evidence</a:t>
                      </a:r>
                    </a:p>
                  </a:txBody>
                  <a:tcPr marL="91440" marR="91440" marT="45720" marB="45720"/>
                </a:tc>
                <a:tc>
                  <a:txBody>
                    <a:bodyPr/>
                    <a:lstStyle/>
                    <a:p>
                      <a:pPr marL="0" lvl="0" indent="0">
                        <a:buNone/>
                      </a:pPr>
                      <a:r>
                        <a:t>Response and remaining limit</a:t>
                      </a:r>
                    </a:p>
                  </a:txBody>
                  <a:tcPr marL="91440" marR="91440" marT="45720" marB="45720"/>
                </a:tc>
              </a:tr>
              <a:tr h="0">
                <a:tc>
                  <a:txBody>
                    <a:bodyPr/>
                    <a:lstStyle/>
                    <a:p>
                      <a:pPr marL="0" lvl="0" indent="0">
                        <a:buNone/>
                      </a:pPr>
                      <a:r>
                        <a:t>One normal source</a:t>
                      </a:r>
                    </a:p>
                  </a:txBody>
                  <a:tcPr marL="91440" marR="91440" marT="45720" marB="45720"/>
                </a:tc>
                <a:tc>
                  <a:txBody>
                    <a:bodyPr/>
                    <a:lstStyle/>
                    <a:p>
                      <a:pPr marL="0" lvl="0" indent="0">
                        <a:buNone/>
                      </a:pPr>
                      <a:r>
                        <a:t>12 windows from 1 video</a:t>
                      </a:r>
                    </a:p>
                  </a:txBody>
                  <a:tcPr marL="91440" marR="91440" marT="45720" marB="45720"/>
                </a:tc>
                <a:tc>
                  <a:txBody>
                    <a:bodyPr/>
                    <a:lstStyle/>
                    <a:p>
                      <a:pPr marL="0" lvl="0" indent="0">
                        <a:buNone/>
                      </a:pPr>
                      <a:r>
                        <a:t>Add 63 accepted windows from 17 videos, while keeping their provenance separate</a:t>
                      </a:r>
                    </a:p>
                  </a:txBody>
                  <a:tcPr marL="91440" marR="91440" marT="45720" marB="45720"/>
                </a:tc>
              </a:tr>
              <a:tr h="0">
                <a:tc>
                  <a:txBody>
                    <a:bodyPr/>
                    <a:lstStyle/>
                    <a:p>
                      <a:pPr marL="0" lvl="0" indent="0">
                        <a:buNone/>
                      </a:pPr>
                      <a:r>
                        <a:t>Rows were split, not videos</a:t>
                      </a:r>
                    </a:p>
                  </a:txBody>
                  <a:tcPr marL="91440" marR="91440" marT="45720" marB="45720"/>
                </a:tc>
                <a:tc>
                  <a:txBody>
                    <a:bodyPr/>
                    <a:lstStyle/>
                    <a:p>
                      <a:pPr marL="0" lvl="0" indent="0">
                        <a:buNone/>
                      </a:pPr>
                      <a:r>
                        <a:t>All 16 A1 test videos also occur in classifier training</a:t>
                      </a:r>
                    </a:p>
                  </a:txBody>
                  <a:tcPr marL="91440" marR="91440" marT="45720" marB="45720"/>
                </a:tc>
                <a:tc>
                  <a:txBody>
                    <a:bodyPr/>
                    <a:lstStyle/>
                    <a:p>
                      <a:pPr marL="0" lvl="0" indent="0">
                        <a:buNone/>
                      </a:pPr>
                      <a:r>
                        <a:t>Add grouped Random Forest audits; the encoder still saw every row</a:t>
                      </a:r>
                    </a:p>
                  </a:txBody>
                  <a:tcPr marL="91440" marR="91440" marT="45720" marB="45720"/>
                </a:tc>
              </a:tr>
              <a:tr h="0">
                <a:tc>
                  <a:txBody>
                    <a:bodyPr/>
                    <a:lstStyle/>
                    <a:p>
                      <a:pPr marL="0" lvl="0" indent="0">
                        <a:buNone/>
                      </a:pPr>
                      <a:r>
                        <a:t>Detector missingness carried labels</a:t>
                      </a:r>
                    </a:p>
                  </a:txBody>
                  <a:tcPr marL="91440" marR="91440" marT="45720" marB="45720"/>
                </a:tc>
                <a:tc>
                  <a:txBody>
                    <a:bodyPr/>
                    <a:lstStyle/>
                    <a:p>
                      <a:pPr marL="0" lvl="0" indent="0">
                        <a:buNone/>
                      </a:pPr>
                      <a:r>
                        <a:t>Visibility-only A1 accuracy was 0.448</a:t>
                      </a:r>
                    </a:p>
                  </a:txBody>
                  <a:tcPr marL="91440" marR="91440" marT="45720" marB="45720"/>
                </a:tc>
                <a:tc>
                  <a:txBody>
                    <a:bodyPr/>
                    <a:lstStyle/>
                    <a:p>
                      <a:pPr marL="0" lvl="0" indent="0">
                        <a:buNone/>
                      </a:pPr>
                      <a:r>
                        <a:t>Keep a missingness control beside the learned readout</a:t>
                      </a:r>
                    </a:p>
                  </a:txBody>
                  <a:tcPr marL="91440" marR="91440" marT="45720" marB="45720"/>
                </a:tc>
              </a:tr>
              <a:tr h="0">
                <a:tc>
                  <a:txBody>
                    <a:bodyPr/>
                    <a:lstStyle/>
                    <a:p>
                      <a:pPr marL="0" lvl="0" indent="0">
                        <a:buNone/>
                      </a:pPr>
                      <a:r>
                        <a:t>Mean and standard deviation remove order</a:t>
                      </a:r>
                    </a:p>
                  </a:txBody>
                  <a:tcPr marL="91440" marR="91440" marT="45720" marB="45720"/>
                </a:tc>
                <a:tc>
                  <a:txBody>
                    <a:bodyPr/>
                    <a:lstStyle/>
                    <a:p>
                      <a:pPr marL="0" lvl="0" indent="0">
                        <a:buNone/>
                      </a:pPr>
                      <a:r>
                        <a:t>The readout compresses all time patches into 384 values</a:t>
                      </a:r>
                    </a:p>
                  </a:txBody>
                  <a:tcPr marL="91440" marR="91440" marT="45720" marB="45720"/>
                </a:tc>
                <a:tc>
                  <a:txBody>
                    <a:bodyPr/>
                    <a:lstStyle/>
                    <a:p>
                      <a:pPr marL="0" lvl="0" indent="0">
                        <a:buNone/>
                      </a:pPr>
                      <a:r>
                        <a:t>Document the limit; temporal pooling remains a proposed ablation</a:t>
                      </a:r>
                    </a:p>
                  </a:txBody>
                  <a:tcPr marL="91440" marR="91440" marT="45720" marB="45720"/>
                </a:tc>
              </a:tr>
            </a:tbl>
          </a:graphicData>
        </a:graphic>
      </p:graphicFrame>
    </p:spTree>
    <p:extLst>
      <p:ext uri="{BB962C8B-B14F-4D97-AF65-F5344CB8AC3E}">
        <p14:creationId xmlns:p14="http://schemas.microsoft.com/office/powerpoint/2010/main" val="32557621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CA9EF8-AE7F-4E2C-A980-B031263277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More normal videos increased breadth and added a provenance risk</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0e427b58512d4c8f">
            <a:extLst>
              <a:ext uri="{96DAC541-7B7A-43D3-8B79-37D633B846F1}">
                <asvg:svgBlip xmlns:asvg="http://schemas.microsoft.com/office/drawing/2016/SVG/main" r:embed="Rd20d15ec319e4164"/>
              </a:ext>
            </a:extLst>
          </a:blip>
          <a:stretch xmlns:a="http://schemas.openxmlformats.org/drawingml/2006/main">
            <a:fillRect l="0" t="0" r="0" b="0"/>
          </a:stretch>
        </p:blipFill>
        <p:spPr>
          <a:xfrm xmlns:a="http://schemas.openxmlformats.org/drawingml/2006/main">
            <a:off x="1727200" y="1193800"/>
            <a:ext cx="57023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F8EE273D-F142-4765-93F8-BC6576C0717C}"/>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Stage 0 grew from one normal video to 18, while the final curriculum reached 159 sequences from 35 videos.</a:t>
            </a:r>
          </a:p>
        </p:txBody>
      </p:sp>
    </p:spTree>
    <p:extLst>
      <p:ext uri="{BB962C8B-B14F-4D97-AF65-F5344CB8AC3E}">
        <p14:creationId xmlns:p14="http://schemas.microsoft.com/office/powerpoint/2010/main" val="40211222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669DEE-596D-4DAD-8BA6-5F28F2A187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 fixed target rule turns joints into a learnable question</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031ac589c56342ef">
            <a:extLst>
              <a:ext uri="{96DAC541-7B7A-43D3-8B79-37D633B846F1}">
                <asvg:svgBlip xmlns:asvg="http://schemas.microsoft.com/office/drawing/2016/SVG/main" r:embed="Rac7fdcb43fef4f1f"/>
              </a:ext>
            </a:extLst>
          </a:blip>
          <a:stretch xmlns:a="http://schemas.openxmlformats.org/drawingml/2006/main">
            <a:fillRect l="0" t="0" r="0" b="0"/>
          </a:stretch>
        </p:blipFill>
        <p:spPr>
          <a:xfrm xmlns:a="http://schemas.openxmlformats.org/drawingml/2006/main">
            <a:off x="1371600" y="1193800"/>
            <a:ext cx="64008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78AFF6F6-563E-4CE4-80E2-140619DA1497}"/>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The configured 0.60 fraction is applied to the smallest valid eligible-token count in the batch.</a:t>
            </a:r>
          </a:p>
        </p:txBody>
      </p:sp>
    </p:spTree>
    <p:extLst>
      <p:ext uri="{BB962C8B-B14F-4D97-AF65-F5344CB8AC3E}">
        <p14:creationId xmlns:p14="http://schemas.microsoft.com/office/powerpoint/2010/main" val="131550376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495745-4F2A-4DF0-A0CF-6226EDD8A07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The objective changed from one job to three</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e935b6d5d4584deb">
            <a:extLst>
              <a:ext uri="{96DAC541-7B7A-43D3-8B79-37D633B846F1}">
                <asvg:svgBlip xmlns:asvg="http://schemas.microsoft.com/office/drawing/2016/SVG/main" r:embed="Rcf1998bf6ede46b5"/>
              </a:ext>
            </a:extLst>
          </a:blip>
          <a:stretch xmlns:a="http://schemas.openxmlformats.org/drawingml/2006/main">
            <a:fillRect l="0" t="0" r="0" b="0"/>
          </a:stretch>
        </p:blipFill>
        <p:spPr>
          <a:xfrm xmlns:a="http://schemas.openxmlformats.org/drawingml/2006/main">
            <a:off x="1866900" y="1193800"/>
            <a:ext cx="54102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4624E738-E739-4013-B435-22EE44C40F9F}"/>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JEPA predicts hidden features, VICReg resists collapse, and the group term shapes condition geometry after Stage 0.</a:t>
            </a:r>
          </a:p>
        </p:txBody>
      </p:sp>
    </p:spTree>
    <p:extLst>
      <p:ext uri="{BB962C8B-B14F-4D97-AF65-F5344CB8AC3E}">
        <p14:creationId xmlns:p14="http://schemas.microsoft.com/office/powerpoint/2010/main" val="17445162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0F0E7A-23C6-4044-801E-2F66DEA74F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One model continues through five ordered stages</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3347d20c4f7d4b82">
            <a:extLst>
              <a:ext uri="{96DAC541-7B7A-43D3-8B79-37D633B846F1}">
                <asvg:svgBlip xmlns:asvg="http://schemas.microsoft.com/office/drawing/2016/SVG/main" r:embed="Rca76ddf00e4c440f"/>
              </a:ext>
            </a:extLst>
          </a:blip>
          <a:stretch xmlns:a="http://schemas.openxmlformats.org/drawingml/2006/main">
            <a:fillRect l="0" t="0" r="0" b="0"/>
          </a:stretch>
        </p:blipFill>
        <p:spPr>
          <a:xfrm xmlns:a="http://schemas.openxmlformats.org/drawingml/2006/main">
            <a:off x="1828800" y="1193800"/>
            <a:ext cx="54864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AE8A1A00-BF14-4F71-8254-905DEFDC7E82}"/>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Model-side state continues, while each stage starts a fresh optimizer and schedule.</a:t>
            </a:r>
          </a:p>
        </p:txBody>
      </p:sp>
    </p:spTree>
    <p:extLst>
      <p:ext uri="{BB962C8B-B14F-4D97-AF65-F5344CB8AC3E}">
        <p14:creationId xmlns:p14="http://schemas.microsoft.com/office/powerpoint/2010/main" val="8617914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DA1234E-4C38-4183-813D-2C2DD62F987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Training avoided total collapse, but normal features drifted</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e2e26d51e33a4ecb">
            <a:extLst>
              <a:ext uri="{96DAC541-7B7A-43D3-8B79-37D633B846F1}">
                <asvg:svgBlip xmlns:asvg="http://schemas.microsoft.com/office/drawing/2016/SVG/main" r:embed="R3f4f9e39c565479d"/>
              </a:ext>
            </a:extLst>
          </a:blip>
          <a:stretch xmlns:a="http://schemas.openxmlformats.org/drawingml/2006/main">
            <a:fillRect l="0" t="0" r="0" b="0"/>
          </a:stretch>
        </p:blipFill>
        <p:spPr>
          <a:xfrm xmlns:a="http://schemas.openxmlformats.org/drawingml/2006/main">
            <a:off x="2146300" y="1193800"/>
            <a:ext cx="48514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0340F4D4-0655-488C-B87B-13F316024AAA}"/>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The five-stage run stayed finite, retained nonzero spread, and moved away from its Stage 0 normal reference.</a:t>
            </a:r>
          </a:p>
        </p:txBody>
      </p:sp>
    </p:spTree>
    <p:extLst>
      <p:ext uri="{BB962C8B-B14F-4D97-AF65-F5344CB8AC3E}">
        <p14:creationId xmlns:p14="http://schemas.microsoft.com/office/powerpoint/2010/main" val="160923182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1AF8D2B-7C01-4BAC-B973-7B1056C879D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The 384-value summary contains signal, but groups overlap</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6f7eb5388dff42df">
            <a:extLst>
              <a:ext uri="{96DAC541-7B7A-43D3-8B79-37D633B846F1}">
                <asvg:svgBlip xmlns:asvg="http://schemas.microsoft.com/office/drawing/2016/SVG/main" r:embed="Rfcbf473739674211"/>
              </a:ext>
            </a:extLst>
          </a:blip>
          <a:stretch xmlns:a="http://schemas.openxmlformats.org/drawingml/2006/main">
            <a:fillRect l="0" t="0" r="0" b="0"/>
          </a:stretch>
        </p:blipFill>
        <p:spPr>
          <a:xfrm xmlns:a="http://schemas.openxmlformats.org/drawingml/2006/main">
            <a:off x="2006600" y="1193800"/>
            <a:ext cx="51308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E8C58656-3AC1-4654-8F72-C81C550B7422}"/>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The smallest condition-centroid distance is lower than the average spread inside a condition.</a:t>
            </a:r>
          </a:p>
        </p:txBody>
      </p:sp>
    </p:spTree>
    <p:extLst>
      <p:ext uri="{BB962C8B-B14F-4D97-AF65-F5344CB8AC3E}">
        <p14:creationId xmlns:p14="http://schemas.microsoft.com/office/powerpoint/2010/main" val="22985644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3CBDA8-0500-4547-AE2C-0971744161C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Three evaluation approaches answer three limited questions</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4532a01e31964a50"/>
          <a:stretch xmlns:a="http://schemas.openxmlformats.org/drawingml/2006/main">
            <a:fillRect l="0" t="0" r="0" b="0"/>
          </a:stretch>
        </p:blipFill>
        <p:spPr>
          <a:xfrm xmlns:a="http://schemas.openxmlformats.org/drawingml/2006/main" flipH="0" flipV="0">
            <a:off x="457200" y="1244600"/>
            <a:ext cx="8229600" cy="27686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0A0FEA23-3F4D-4407-A229-CF98A93D06FB}"/>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Each approach answers a different question; none is a fully unseen-video test.</a:t>
            </a:r>
          </a:p>
        </p:txBody>
      </p:sp>
    </p:spTree>
    <p:extLst>
      <p:ext uri="{BB962C8B-B14F-4D97-AF65-F5344CB8AC3E}">
        <p14:creationId xmlns:p14="http://schemas.microsoft.com/office/powerpoint/2010/main" val="140738739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153A080-FA7E-44EE-A128-FE2323AE8E4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Dividing 96 examples at random balances conditions, not videos</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28a90d584d1a403b">
            <a:extLst>
              <a:ext uri="{96DAC541-7B7A-43D3-8B79-37D633B846F1}">
                <asvg:svgBlip xmlns:asvg="http://schemas.microsoft.com/office/drawing/2016/SVG/main" r:embed="Reca7ef6525c346cc"/>
              </a:ext>
            </a:extLst>
          </a:blip>
          <a:stretch xmlns:a="http://schemas.openxmlformats.org/drawingml/2006/main">
            <a:fillRect l="0" t="0" r="0" b="0"/>
          </a:stretch>
        </p:blipFill>
        <p:spPr>
          <a:xfrm xmlns:a="http://schemas.openxmlformats.org/drawingml/2006/main">
            <a:off x="2006600" y="1193800"/>
            <a:ext cx="51308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E75F6BAA-67BA-4C88-8D3E-5AFD02FAC548}"/>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Every test video also appears in training, so 72.4% accuracy describes this known collection.</a:t>
            </a:r>
          </a:p>
        </p:txBody>
      </p:sp>
    </p:spTree>
    <p:extLst>
      <p:ext uri="{BB962C8B-B14F-4D97-AF65-F5344CB8AC3E}">
        <p14:creationId xmlns:p14="http://schemas.microsoft.com/office/powerpoint/2010/main" val="55109222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AD15A6-3C05-46DB-B5DD-E4312155F45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How accurately were the five walking conditions identified?</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a326858fc0344c7f"/>
          <a:stretch xmlns:a="http://schemas.openxmlformats.org/drawingml/2006/main">
            <a:fillRect l="0" t="0" r="0" b="0"/>
          </a:stretch>
        </p:blipFill>
        <p:spPr>
          <a:xfrm xmlns:a="http://schemas.openxmlformats.org/drawingml/2006/main" flipH="0" flipV="0">
            <a:off x="1409700" y="1193800"/>
            <a:ext cx="63246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7483AA51-2168-484E-993D-6035D1138719}"/>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Accuracy is 76.2% in the matched comparison and 56.6% when source videos are kept separate.</a:t>
            </a:r>
          </a:p>
        </p:txBody>
      </p:sp>
    </p:spTree>
    <p:extLst>
      <p:ext uri="{BB962C8B-B14F-4D97-AF65-F5344CB8AC3E}">
        <p14:creationId xmlns:p14="http://schemas.microsoft.com/office/powerpoint/2010/main" val="15862702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E65B35-6954-4D7B-99FB-C600F9836B6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Keeping source videos separate changes the result</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7c58cace2c62495c"/>
          <a:stretch xmlns:a="http://schemas.openxmlformats.org/drawingml/2006/main">
            <a:fillRect l="0" t="0" r="0" b="0"/>
          </a:stretch>
        </p:blipFill>
        <p:spPr>
          <a:xfrm xmlns:a="http://schemas.openxmlformats.org/drawingml/2006/main" flipH="0" flipV="0">
            <a:off x="1549400" y="1193800"/>
            <a:ext cx="60452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DE9D6338-9054-4791-8DD7-B5BC981588E5}"/>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The combined accuracy is 56.6%, with a 49.6% F1 score.</a:t>
            </a:r>
          </a:p>
        </p:txBody>
      </p:sp>
    </p:spTree>
    <p:extLst>
      <p:ext uri="{BB962C8B-B14F-4D97-AF65-F5344CB8AC3E}">
        <p14:creationId xmlns:p14="http://schemas.microsoft.com/office/powerpoint/2010/main" val="135438908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6423D5B-2A8C-46E4-B227-4F552BFAE8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The next valid test must split videos before learning</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71c8038ed9224919">
            <a:extLst>
              <a:ext uri="{96DAC541-7B7A-43D3-8B79-37D633B846F1}">
                <asvg:svgBlip xmlns:asvg="http://schemas.microsoft.com/office/drawing/2016/SVG/main" r:embed="R92bfc073802d4644"/>
              </a:ext>
            </a:extLst>
          </a:blip>
          <a:stretch xmlns:a="http://schemas.openxmlformats.org/drawingml/2006/main">
            <a:fillRect l="0" t="0" r="0" b="0"/>
          </a:stretch>
        </p:blipFill>
        <p:spPr>
          <a:xfrm xmlns:a="http://schemas.openxmlformats.org/drawingml/2006/main">
            <a:off x="2006600" y="1193800"/>
            <a:ext cx="51308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73657D16-0C36-46C1-9D98-5E56395E1916}"/>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A complete outer fold keeps source videos sealed while preprocessing, all five S-JEPA stages, and the classifier are fitted.</a:t>
            </a:r>
          </a:p>
        </p:txBody>
      </p:sp>
    </p:spTree>
    <p:extLst>
      <p:ext uri="{BB962C8B-B14F-4D97-AF65-F5344CB8AC3E}">
        <p14:creationId xmlns:p14="http://schemas.microsoft.com/office/powerpoint/2010/main" val="73773831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135CEC4-5D61-41DA-8E7E-C857264275E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legacy and current methods differ at six layers</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70c102505b9343eb">
            <a:extLst>
              <a:ext uri="{96DAC541-7B7A-43D3-8B79-37D633B846F1}">
                <asvg:svgBlip xmlns:asvg="http://schemas.microsoft.com/office/drawing/2016/SVG/main" r:embed="Re6453a6d15aa4038"/>
              </a:ext>
            </a:extLst>
          </a:blip>
          <a:stretch xmlns:a="http://schemas.openxmlformats.org/drawingml/2006/main">
            <a:fillRect l="0" t="0" r="0" b="0"/>
          </a:stretch>
        </p:blipFill>
        <p:spPr>
          <a:xfrm xmlns:a="http://schemas.openxmlformats.org/drawingml/2006/main">
            <a:off x="2197100" y="1193800"/>
            <a:ext cx="47498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CF66DC3B-20C8-4089-8FCB-2A24DCB34D8A}"/>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Data, targets, objective, training, artifacts, and evaluation all changed together.</a:t>
            </a:r>
          </a:p>
        </p:txBody>
      </p:sp>
    </p:spTree>
    <p:extLst>
      <p:ext uri="{BB962C8B-B14F-4D97-AF65-F5344CB8AC3E}">
        <p14:creationId xmlns:p14="http://schemas.microsoft.com/office/powerpoint/2010/main" val="193749304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469483-ED82-48AA-B312-A39AD34552D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added normal data use a separate extraction path</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9edb12ce4be84fdb">
            <a:extLst>
              <a:ext uri="{96DAC541-7B7A-43D3-8B79-37D633B846F1}">
                <asvg:svgBlip xmlns:asvg="http://schemas.microsoft.com/office/drawing/2016/SVG/main" r:embed="R7e0cf8370369434f"/>
              </a:ext>
            </a:extLst>
          </a:blip>
          <a:stretch xmlns:a="http://schemas.openxmlformats.org/drawingml/2006/main">
            <a:fillRect l="0" t="0" r="0" b="0"/>
          </a:stretch>
        </p:blipFill>
        <p:spPr>
          <a:xfrm xmlns:a="http://schemas.openxmlformats.org/drawingml/2006/main">
            <a:off x="1892300" y="1193800"/>
            <a:ext cx="53594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A52ACE92-B0A8-4C11-B482-BC39845C4998}"/>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The added-normal pipeline keeps its candidates, selection rule, coverage threshold, and rejection report separate from canonical GAVD.</a:t>
            </a:r>
          </a:p>
        </p:txBody>
      </p:sp>
    </p:spTree>
    <p:extLst>
      <p:ext uri="{BB962C8B-B14F-4D97-AF65-F5344CB8AC3E}">
        <p14:creationId xmlns:p14="http://schemas.microsoft.com/office/powerpoint/2010/main" val="14541465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DFE6A81-284D-4FBD-8ACF-A51E515BE72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the full video must remain available</a:t>
            </a:r>
          </a:p>
        </p:txBody>
      </p:sp>
      <p:pic>
        <p:nvPicPr>
          <p:cNvPr id="11" name="Picture 1"/>
          <p:cNvPicPr>
            <a:picLocks xmlns:a="http://schemas.openxmlformats.org/drawingml/2006/main" noChangeAspect="1"/>
          </p:cNvPicPr>
          <p:nvPr/>
        </p:nvPicPr>
        <p:blipFill>
          <a:blip xmlns:r="http://schemas.openxmlformats.org/officeDocument/2006/relationships" xmlns:a="http://schemas.openxmlformats.org/drawingml/2006/main" r:embed="Rf068096084e64fba">
            <a:extLst>
              <a:ext uri="{96DAC541-7B7A-43D3-8B79-37D633B846F1}">
                <asvg:svgBlip xmlns:asvg="http://schemas.microsoft.com/office/drawing/2016/SVG/main" r:embed="R26845c6592e345fa"/>
              </a:ext>
            </a:extLst>
          </a:blip>
          <a:stretch xmlns:a="http://schemas.openxmlformats.org/drawingml/2006/main">
            <a:fillRect l="0" t="0" r="0" b="0"/>
          </a:stretch>
        </p:blipFill>
        <p:spPr>
          <a:xfrm xmlns:a="http://schemas.openxmlformats.org/drawingml/2006/main">
            <a:off x="457200" y="1422400"/>
            <a:ext cx="4038600" cy="2425700"/>
          </a:xfrm>
          <a:prstGeom xmlns:a="http://schemas.openxmlformats.org/drawingml/2006/main" prst="rect">
            <a:avLst/>
          </a:prstGeom>
          <a:ln xmlns:a="http://schemas.openxmlformats.org/drawingml/2006/main" w="9525">
            <a:noFill/>
          </a:ln>
        </p:spPr>
      </p:pic>
      <p:sp>
        <p:nvSpPr>
          <p:cNvPr id="8" name="TextBox 3">
            <a:extLst xmlns:a="http://schemas.openxmlformats.org/drawingml/2006/main">
              <a:ext uri="{FF2B5EF4-FFF2-40B4-BE49-F238E27FC236}">
                <a16:creationId xmlns:a16="http://schemas.microsoft.com/office/drawing/2014/main" id="{F07DFC1E-F4FE-4A91-8B48-071678B925BB}"/>
              </a:ext>
            </a:extLst>
          </p:cNvPr>
          <p:cNvSpPr>
            <a:spLocks xmlns:a="http://schemas.openxmlformats.org/drawingml/2006/main" noGrp="1"/>
          </p:cNvSpPr>
          <p:nvPr>
            <p:ph idx="1"/>
          </p:nvPr>
        </p:nvSpPr>
        <p:spPr>
          <a:xfrm xmlns:a="http://schemas.openxmlformats.org/drawingml/2006/main">
            <a:off x="457200" y="4076700"/>
            <a:ext cx="4038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The CSV frame numbers refer to positions in the original source video, so the complete source is cached before clipping and pose extraction. Sources: GAVD and MediaPipe.</a:t>
            </a:r>
          </a:p>
        </p:txBody>
      </p:sp>
      <p:sp>
        <p:nvSpPr>
          <p:cNvPr id="4" name="Content Placeholder 3">
            <a:extLst xmlns:a="http://schemas.openxmlformats.org/drawingml/2006/main">
              <a:ext uri="{FF2B5EF4-FFF2-40B4-BE49-F238E27FC236}">
                <a16:creationId xmlns:a16="http://schemas.microsoft.com/office/drawing/2014/main" id="{7B4460CA-011B-414C-90F3-2958118E5D50}"/>
              </a:ext>
            </a:extLst>
          </p:cNvPr>
          <p:cNvSpPr>
            <a:spLocks xmlns:a="http://schemas.openxmlformats.org/drawingml/2006/main" noGrp="1"/>
          </p:cNvSpPr>
          <p:nvPr>
            <p:ph idx="2"/>
          </p:nvPr>
        </p:nvSpPr>
        <p:spPr/>
        <p:txBody>
          <a:bodyPr xmlns:a="http://schemas.openxmlformats.org/drawingml/2006/main"/>
          <a:lstStyle xmlns:a="http://schemas.openxmlformats.org/drawingml/2006/main"/>
          <a:p xmlns:a="http://schemas.openxmlformats.org/drawingml/2006/main">
            <a:pPr marL="342900" lvl="0" indent="-342900">
              <a:buAutoNum type="arabicPeriod"/>
            </a:pPr>
            <a:r>
              <a:t>Cache the complete source video.</a:t>
            </a:r>
          </a:p>
          <a:p xmlns:a="http://schemas.openxmlformats.org/drawingml/2006/main">
            <a:pPr marL="342900" lvl="0" indent="-342900">
              <a:buAutoNum type="arabicPeriod"/>
            </a:pPr>
            <a:r>
              <a:t>Select the annotated frame range.</a:t>
            </a:r>
          </a:p>
          <a:p xmlns:a="http://schemas.openxmlformats.org/drawingml/2006/main">
            <a:pPr marL="342900" lvl="0" indent="-342900">
              <a:buAutoNum type="arabicPeriod"/>
            </a:pPr>
            <a:r>
              <a:t>Crop the intended walker.</a:t>
            </a:r>
          </a:p>
          <a:p xmlns:a="http://schemas.openxmlformats.org/drawingml/2006/main">
            <a:pPr marL="342900" lvl="0" indent="-342900">
              <a:buAutoNum type="arabicPeriod"/>
            </a:pPr>
            <a:r>
              <a:t>Keep failed pose frames explicit.</a:t>
            </a:r>
          </a:p>
          <a:p xmlns:a="http://schemas.openxmlformats.org/drawingml/2006/main">
            <a:pPr marL="342900" lvl="0" indent="-342900">
              <a:buAutoNum type="arabicPeriod"/>
            </a:pPr>
            <a:r>
              <a:t>Center, scale, and resize to 64 frames.</a:t>
            </a:r>
          </a:p>
          <a:p xmlns:a="http://schemas.openxmlformats.org/drawingml/2006/main">
            <a:pPr marL="342900" lvl="0" indent="-342900">
              <a:buAutoNum type="arabicPeriod"/>
            </a:pPr>
            <a:r>
              <a:t>Preserve source-video identity for audits.</a:t>
            </a:r>
          </a:p>
          <a:p xmlns:a="http://schemas.openxmlformats.org/drawingml/2006/main">
            <a:pPr marL="0" lvl="0" indent="0">
              <a:buNone/>
            </a:pPr>
            <a:r>
              <a:t>MediaPipe depth is relative monocular depth, not calibrated 3D motion.</a:t>
            </a:r>
          </a:p>
        </p:txBody>
      </p:sp>
    </p:spTree>
    <p:extLst>
      <p:ext uri="{BB962C8B-B14F-4D97-AF65-F5344CB8AC3E}">
        <p14:creationId xmlns:p14="http://schemas.microsoft.com/office/powerpoint/2010/main" val="123292144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0022EE-D7FD-43FA-86E1-C3F97508E9F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exact cohort and target identities</a:t>
            </a:r>
          </a:p>
        </p:txBody>
      </p:sp>
      <p:graphicFrame>
        <p:nvGraphicFramePr>
          <p:cNvPr id="7" name="Content Placeholder 5"/>
          <p:cNvGraphicFramePr/>
          <p:nvPr/>
        </p:nvGraphicFramePr>
        <p:xfrm>
          <a:off xmlns:a="http://schemas.openxmlformats.org/drawingml/2006/main" x="457200" y="1193800"/>
          <a:ext xmlns:a="http://schemas.openxmlformats.org/drawingml/2006/main" cx="4038600" cy="3390900"/>
        </p:xfrm>
        <a:graphic xmlns:a="http://schemas.openxmlformats.org/drawingml/2006/main">
          <a:graphicData uri="http://schemas.openxmlformats.org/drawingml/2006/table">
            <a:tbl>
              <a:tblPr firstRow="1" bandRow="1">
                <a:tableStyleId>{5C22544A-7EE6-4342-B048-85BDC9FD1C3A}</a:tableStyleId>
              </a:tblPr>
              <a:tblGrid>
                <a:gridCol w="1346200"/>
                <a:gridCol w="1346200"/>
                <a:gridCol w="1346200"/>
              </a:tblGrid>
              <a:tr h="0">
                <a:tc>
                  <a:txBody>
                    <a:bodyPr/>
                    <a:lstStyle/>
                    <a:p>
                      <a:pPr marL="0" lvl="0" indent="0">
                        <a:buNone/>
                      </a:pPr>
                      <a:r>
                        <a:t>Canonical folder label</a:t>
                      </a:r>
                    </a:p>
                  </a:txBody>
                  <a:tcPr marL="91440" marR="91440" marT="45720" marB="45720"/>
                </a:tc>
                <a:tc>
                  <a:txBody>
                    <a:bodyPr/>
                    <a:lstStyle/>
                    <a:p>
                      <a:pPr marL="0" lvl="0" indent="0" algn="r">
                        <a:buNone/>
                      </a:pPr>
                      <a:r>
                        <a:t>Sequences</a:t>
                      </a:r>
                    </a:p>
                  </a:txBody>
                  <a:tcPr marL="91440" marR="91440" marT="45720" marB="45720"/>
                </a:tc>
                <a:tc>
                  <a:txBody>
                    <a:bodyPr/>
                    <a:lstStyle/>
                    <a:p>
                      <a:pPr marL="0" lvl="0" indent="0" algn="r">
                        <a:buNone/>
                      </a:pPr>
                      <a:r>
                        <a:t>Videos</a:t>
                      </a:r>
                    </a:p>
                  </a:txBody>
                  <a:tcPr marL="91440" marR="91440" marT="45720" marB="45720"/>
                </a:tc>
              </a:tr>
              <a:tr h="0">
                <a:tc>
                  <a:txBody>
                    <a:bodyPr/>
                    <a:lstStyle/>
                    <a:p>
                      <a:pPr marL="0" lvl="0" indent="0">
                        <a:buNone/>
                      </a:pPr>
                      <a:r>
                        <a:t>Normal</a:t>
                      </a:r>
                    </a:p>
                  </a:txBody>
                  <a:tcPr marL="91440" marR="91440" marT="45720" marB="45720"/>
                </a:tc>
                <a:tc>
                  <a:txBody>
                    <a:bodyPr/>
                    <a:lstStyle/>
                    <a:p>
                      <a:pPr marL="0" lvl="0" indent="0" algn="r">
                        <a:buNone/>
                      </a:pPr>
                      <a:r>
                        <a:t>12</a:t>
                      </a:r>
                    </a:p>
                  </a:txBody>
                  <a:tcPr marL="91440" marR="91440" marT="45720" marB="45720"/>
                </a:tc>
                <a:tc>
                  <a:txBody>
                    <a:bodyPr/>
                    <a:lstStyle/>
                    <a:p>
                      <a:pPr marL="0" lvl="0" indent="0" algn="r">
                        <a:buNone/>
                      </a:pPr>
                      <a:r>
                        <a:t>1</a:t>
                      </a:r>
                    </a:p>
                  </a:txBody>
                  <a:tcPr marL="91440" marR="91440" marT="45720" marB="45720"/>
                </a:tc>
              </a:tr>
              <a:tr h="0">
                <a:tc>
                  <a:txBody>
                    <a:bodyPr/>
                    <a:lstStyle/>
                    <a:p>
                      <a:pPr marL="0" lvl="0" indent="0">
                        <a:buNone/>
                      </a:pPr>
                      <a:r>
                        <a:t>Parkinson’s</a:t>
                      </a:r>
                    </a:p>
                  </a:txBody>
                  <a:tcPr marL="91440" marR="91440" marT="45720" marB="45720"/>
                </a:tc>
                <a:tc>
                  <a:txBody>
                    <a:bodyPr/>
                    <a:lstStyle/>
                    <a:p>
                      <a:pPr marL="0" lvl="0" indent="0" algn="r">
                        <a:buNone/>
                      </a:pPr>
                      <a:r>
                        <a:t>9</a:t>
                      </a:r>
                    </a:p>
                  </a:txBody>
                  <a:tcPr marL="91440" marR="91440" marT="45720" marB="45720"/>
                </a:tc>
                <a:tc>
                  <a:txBody>
                    <a:bodyPr/>
                    <a:lstStyle/>
                    <a:p>
                      <a:pPr marL="0" lvl="0" indent="0" algn="r">
                        <a:buNone/>
                      </a:pPr>
                      <a:r>
                        <a:t>2</a:t>
                      </a:r>
                    </a:p>
                  </a:txBody>
                  <a:tcPr marL="91440" marR="91440" marT="45720" marB="45720"/>
                </a:tc>
              </a:tr>
              <a:tr h="0">
                <a:tc>
                  <a:txBody>
                    <a:bodyPr/>
                    <a:lstStyle/>
                    <a:p>
                      <a:pPr marL="0" lvl="0" indent="0">
                        <a:buNone/>
                      </a:pPr>
                      <a:r>
                        <a:t>Stroke</a:t>
                      </a:r>
                    </a:p>
                  </a:txBody>
                  <a:tcPr marL="91440" marR="91440" marT="45720" marB="45720"/>
                </a:tc>
                <a:tc>
                  <a:txBody>
                    <a:bodyPr/>
                    <a:lstStyle/>
                    <a:p>
                      <a:pPr marL="0" lvl="0" indent="0" algn="r">
                        <a:buNone/>
                      </a:pPr>
                      <a:r>
                        <a:t>12</a:t>
                      </a:r>
                    </a:p>
                  </a:txBody>
                  <a:tcPr marL="91440" marR="91440" marT="45720" marB="45720"/>
                </a:tc>
                <a:tc>
                  <a:txBody>
                    <a:bodyPr/>
                    <a:lstStyle/>
                    <a:p>
                      <a:pPr marL="0" lvl="0" indent="0" algn="r">
                        <a:buNone/>
                      </a:pPr>
                      <a:r>
                        <a:t>3</a:t>
                      </a:r>
                    </a:p>
                  </a:txBody>
                  <a:tcPr marL="91440" marR="91440" marT="45720" marB="45720"/>
                </a:tc>
              </a:tr>
              <a:tr h="0">
                <a:tc>
                  <a:txBody>
                    <a:bodyPr/>
                    <a:lstStyle/>
                    <a:p>
                      <a:pPr marL="0" lvl="0" indent="0">
                        <a:buNone/>
                      </a:pPr>
                      <a:r>
                        <a:t>Myopathic</a:t>
                      </a:r>
                    </a:p>
                  </a:txBody>
                  <a:tcPr marL="91440" marR="91440" marT="45720" marB="45720"/>
                </a:tc>
                <a:tc>
                  <a:txBody>
                    <a:bodyPr/>
                    <a:lstStyle/>
                    <a:p>
                      <a:pPr marL="0" lvl="0" indent="0" algn="r">
                        <a:buNone/>
                      </a:pPr>
                      <a:r>
                        <a:t>47</a:t>
                      </a:r>
                    </a:p>
                  </a:txBody>
                  <a:tcPr marL="91440" marR="91440" marT="45720" marB="45720"/>
                </a:tc>
                <a:tc>
                  <a:txBody>
                    <a:bodyPr/>
                    <a:lstStyle/>
                    <a:p>
                      <a:pPr marL="0" lvl="0" indent="0" algn="r">
                        <a:buNone/>
                      </a:pPr>
                      <a:r>
                        <a:t>10</a:t>
                      </a:r>
                    </a:p>
                  </a:txBody>
                  <a:tcPr marL="91440" marR="91440" marT="45720" marB="45720"/>
                </a:tc>
              </a:tr>
              <a:tr h="0">
                <a:tc>
                  <a:txBody>
                    <a:bodyPr/>
                    <a:lstStyle/>
                    <a:p>
                      <a:pPr marL="0" lvl="0" indent="0">
                        <a:buNone/>
                      </a:pPr>
                      <a:r>
                        <a:t>Cerebral palsy</a:t>
                      </a:r>
                    </a:p>
                  </a:txBody>
                  <a:tcPr marL="91440" marR="91440" marT="45720" marB="45720"/>
                </a:tc>
                <a:tc>
                  <a:txBody>
                    <a:bodyPr/>
                    <a:lstStyle/>
                    <a:p>
                      <a:pPr marL="0" lvl="0" indent="0" algn="r">
                        <a:buNone/>
                      </a:pPr>
                      <a:r>
                        <a:t>16</a:t>
                      </a:r>
                    </a:p>
                  </a:txBody>
                  <a:tcPr marL="91440" marR="91440" marT="45720" marB="45720"/>
                </a:tc>
                <a:tc>
                  <a:txBody>
                    <a:bodyPr/>
                    <a:lstStyle/>
                    <a:p>
                      <a:pPr marL="0" lvl="0" indent="0" algn="r">
                        <a:buNone/>
                      </a:pPr>
                      <a:r>
                        <a:t>2</a:t>
                      </a:r>
                    </a:p>
                  </a:txBody>
                  <a:tcPr marL="91440" marR="91440" marT="45720" marB="45720"/>
                </a:tc>
              </a:tr>
              <a:tr h="0">
                <a:tc>
                  <a:txBody>
                    <a:bodyPr/>
                    <a:lstStyle/>
                    <a:p>
                      <a:pPr marL="0" lvl="0" indent="0">
                        <a:buNone/>
                      </a:pPr>
                      <a:r>
                        <a:rPr b="1"/>
                        <a:t>Total</a:t>
                      </a:r>
                    </a:p>
                  </a:txBody>
                  <a:tcPr marL="91440" marR="91440" marT="45720" marB="45720"/>
                </a:tc>
                <a:tc>
                  <a:txBody>
                    <a:bodyPr/>
                    <a:lstStyle/>
                    <a:p>
                      <a:pPr marL="0" lvl="0" indent="0" algn="r">
                        <a:buNone/>
                      </a:pPr>
                      <a:r>
                        <a:rPr b="1"/>
                        <a:t>96</a:t>
                      </a:r>
                    </a:p>
                  </a:txBody>
                  <a:tcPr marL="91440" marR="91440" marT="45720" marB="45720"/>
                </a:tc>
                <a:tc>
                  <a:txBody>
                    <a:bodyPr/>
                    <a:lstStyle/>
                    <a:p>
                      <a:pPr marL="0" lvl="0" indent="0" algn="r">
                        <a:buNone/>
                      </a:pPr>
                      <a:r>
                        <a:rPr b="1"/>
                        <a:t>18</a:t>
                      </a:r>
                    </a:p>
                  </a:txBody>
                  <a:tcPr marL="91440" marR="91440" marT="45720" marB="45720"/>
                </a:tc>
              </a:tr>
            </a:tbl>
          </a:graphicData>
        </a:graphic>
      </p:graphicFrame>
      <p:sp>
        <p:nvSpPr>
          <p:cNvPr id="4" name="Content Placeholder 3">
            <a:extLst xmlns:a="http://schemas.openxmlformats.org/drawingml/2006/main">
              <a:ext uri="{FF2B5EF4-FFF2-40B4-BE49-F238E27FC236}">
                <a16:creationId xmlns:a16="http://schemas.microsoft.com/office/drawing/2014/main" id="{7F0BFA24-C93D-483A-ADA7-1C34A83477B0}"/>
              </a:ext>
            </a:extLst>
          </p:cNvPr>
          <p:cNvSpPr>
            <a:spLocks xmlns:a="http://schemas.openxmlformats.org/drawingml/2006/main" noGrp="1"/>
          </p:cNvSpPr>
          <p:nvPr>
            <p:ph idx="2"/>
          </p:nvPr>
        </p:nvSpPr>
        <p:spPr/>
        <p:txBody>
          <a:bodyPr xmlns:a="http://schemas.openxmlformats.org/drawingml/2006/main"/>
          <a:lstStyle xmlns:a="http://schemas.openxmlformats.org/drawingml/2006/main"/>
          <a:p xmlns:a="http://schemas.openxmlformats.org/drawingml/2006/main">
            <a:pPr marL="0" lvl="0" indent="0">
              <a:buNone/>
            </a:pPr>
            <a:r>
              <a:rPr b="1"/>
              <a:t>Authorized hidden target identities</a:t>
            </a:r>
          </a:p>
          <a:p xmlns:a="http://schemas.openxmlformats.org/drawingml/2006/main">
            <a:pPr lvl="0">
              <a:buNone/>
            </a:pPr>
            <a:r>
              <a:t>11, 12: shoulders</a:t>
            </a:r>
          </a:p>
          <a:p xmlns:a="http://schemas.openxmlformats.org/drawingml/2006/main">
            <a:pPr lvl="0">
              <a:buNone/>
            </a:pPr>
            <a:r>
              <a:t>23, 24: hips</a:t>
            </a:r>
          </a:p>
          <a:p xmlns:a="http://schemas.openxmlformats.org/drawingml/2006/main">
            <a:pPr lvl="0">
              <a:buNone/>
            </a:pPr>
            <a:r>
              <a:t>25, 26: knees</a:t>
            </a:r>
          </a:p>
          <a:p xmlns:a="http://schemas.openxmlformats.org/drawingml/2006/main">
            <a:pPr lvl="0">
              <a:buNone/>
            </a:pPr>
            <a:r>
              <a:t>27, 28: ankles</a:t>
            </a:r>
          </a:p>
          <a:p xmlns:a="http://schemas.openxmlformats.org/drawingml/2006/main">
            <a:pPr lvl="0">
              <a:buNone/>
            </a:pPr>
            <a:r>
              <a:t>29, 30: heels</a:t>
            </a:r>
          </a:p>
          <a:p xmlns:a="http://schemas.openxmlformats.org/drawingml/2006/main">
            <a:pPr lvl="0">
              <a:buNone/>
            </a:pPr>
            <a:r>
              <a:t>31, 32: foot indices</a:t>
            </a:r>
          </a:p>
          <a:p xmlns:a="http://schemas.openxmlformats.org/drawingml/2006/main">
            <a:pPr marL="0" lvl="0" indent="0">
              <a:buNone/>
            </a:pPr>
            <a:r>
              <a:t>No motion score. No fallback joint. All 33 identities may provide visible context.</a:t>
            </a:r>
          </a:p>
        </p:txBody>
      </p:sp>
    </p:spTree>
    <p:extLst>
      <p:ext uri="{BB962C8B-B14F-4D97-AF65-F5344CB8AC3E}">
        <p14:creationId xmlns:p14="http://schemas.microsoft.com/office/powerpoint/2010/main" val="39150711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77C89E-7EE2-465E-AC57-698BF398882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the 384-value readout is deliberately simple</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ca205208beae48ba">
            <a:extLst>
              <a:ext uri="{96DAC541-7B7A-43D3-8B79-37D633B846F1}">
                <asvg:svgBlip xmlns:asvg="http://schemas.microsoft.com/office/drawing/2016/SVG/main" r:embed="R369b3540bf3c4ae8"/>
              </a:ext>
            </a:extLst>
          </a:blip>
          <a:stretch xmlns:a="http://schemas.openxmlformats.org/drawingml/2006/main">
            <a:fillRect l="0" t="0" r="0" b="0"/>
          </a:stretch>
        </p:blipFill>
        <p:spPr>
          <a:xfrm xmlns:a="http://schemas.openxmlformats.org/drawingml/2006/main">
            <a:off x="1574800" y="1193800"/>
            <a:ext cx="59944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06B508AF-E928-4BC7-9F03-63838EF6CF93}"/>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Four 96-value summaries create the current frozen readout; dynamics-preserving alternatives remain proposed.</a:t>
            </a:r>
          </a:p>
        </p:txBody>
      </p:sp>
    </p:spTree>
    <p:extLst>
      <p:ext uri="{BB962C8B-B14F-4D97-AF65-F5344CB8AC3E}">
        <p14:creationId xmlns:p14="http://schemas.microsoft.com/office/powerpoint/2010/main" val="49279552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274004-90F5-4C47-A4F4-61A9858C40E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performance varies by walking condition</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d4c23cb1a59c4ff9"/>
          <a:stretch xmlns:a="http://schemas.openxmlformats.org/drawingml/2006/main">
            <a:fillRect l="0" t="0" r="0" b="0"/>
          </a:stretch>
        </p:blipFill>
        <p:spPr>
          <a:xfrm xmlns:a="http://schemas.openxmlformats.org/drawingml/2006/main" flipH="0" flipV="0">
            <a:off x="1485900" y="1193800"/>
            <a:ext cx="61722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5EB0EC86-741C-4920-BE5D-0D05207CAD7E}"/>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F1 scores range from 66.7% to 85.7%, with only 3 to 7 test examples per condition.</a:t>
            </a:r>
          </a:p>
        </p:txBody>
      </p:sp>
    </p:spTree>
    <p:extLst>
      <p:ext uri="{BB962C8B-B14F-4D97-AF65-F5344CB8AC3E}">
        <p14:creationId xmlns:p14="http://schemas.microsoft.com/office/powerpoint/2010/main" val="214601546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ABFF78D-1A21-412F-9E5D-FC9760FAAA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where the matched comparison made mistakes</a:t>
            </a:r>
          </a:p>
        </p:txBody>
      </p:sp>
      <p:pic>
        <p:nvPicPr>
          <p:cNvPr id="11" name="Picture 1"/>
          <p:cNvPicPr>
            <a:picLocks xmlns:a="http://schemas.openxmlformats.org/drawingml/2006/main" noChangeAspect="1"/>
          </p:cNvPicPr>
          <p:nvPr/>
        </p:nvPicPr>
        <p:blipFill>
          <a:blip xmlns:r="http://schemas.openxmlformats.org/officeDocument/2006/relationships" xmlns:a="http://schemas.openxmlformats.org/drawingml/2006/main" r:embed="R86809f438347469d"/>
          <a:stretch xmlns:a="http://schemas.openxmlformats.org/drawingml/2006/main">
            <a:fillRect l="0" t="0" r="0" b="0"/>
          </a:stretch>
        </p:blipFill>
        <p:spPr>
          <a:xfrm xmlns:a="http://schemas.openxmlformats.org/drawingml/2006/main" flipH="0" flipV="0">
            <a:off x="812800" y="1193800"/>
            <a:ext cx="3340100" cy="2882900"/>
          </a:xfrm>
          <a:prstGeom xmlns:a="http://schemas.openxmlformats.org/drawingml/2006/main" prst="rect">
            <a:avLst/>
          </a:prstGeom>
          <a:ln xmlns:a="http://schemas.openxmlformats.org/drawingml/2006/main" w="9525">
            <a:noFill/>
          </a:ln>
        </p:spPr>
      </p:pic>
      <p:sp>
        <p:nvSpPr>
          <p:cNvPr id="8" name="TextBox 3">
            <a:extLst xmlns:a="http://schemas.openxmlformats.org/drawingml/2006/main">
              <a:ext uri="{FF2B5EF4-FFF2-40B4-BE49-F238E27FC236}">
                <a16:creationId xmlns:a16="http://schemas.microsoft.com/office/drawing/2014/main" id="{35A417C7-953A-4B3F-B3E8-ACD245F2A10F}"/>
              </a:ext>
            </a:extLst>
          </p:cNvPr>
          <p:cNvSpPr>
            <a:spLocks xmlns:a="http://schemas.openxmlformats.org/drawingml/2006/main" noGrp="1"/>
          </p:cNvSpPr>
          <p:nvPr>
            <p:ph idx="1"/>
          </p:nvPr>
        </p:nvSpPr>
        <p:spPr>
          <a:xfrm xmlns:a="http://schemas.openxmlformats.org/drawingml/2006/main">
            <a:off x="457200" y="4076700"/>
            <a:ext cx="4038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Sixteen of 21 examples are correct; five errors involve four actual conditions.</a:t>
            </a:r>
          </a:p>
        </p:txBody>
      </p:sp>
      <p:sp>
        <p:nvSpPr>
          <p:cNvPr id="4" name="Content Placeholder 3">
            <a:extLst xmlns:a="http://schemas.openxmlformats.org/drawingml/2006/main">
              <a:ext uri="{FF2B5EF4-FFF2-40B4-BE49-F238E27FC236}">
                <a16:creationId xmlns:a16="http://schemas.microsoft.com/office/drawing/2014/main" id="{9ABC7971-83D8-4ABF-8BFA-0EBB20C39892}"/>
              </a:ext>
            </a:extLst>
          </p:cNvPr>
          <p:cNvSpPr>
            <a:spLocks xmlns:a="http://schemas.openxmlformats.org/drawingml/2006/main" noGrp="1"/>
          </p:cNvSpPr>
          <p:nvPr>
            <p:ph idx="2"/>
          </p:nvPr>
        </p:nvSpPr>
        <p:spPr>
          <a:xfrm xmlns:a="http://schemas.openxmlformats.org/drawingml/2006/main">
            <a:off x="4810125" y="1190625"/>
            <a:ext cx="3857625" cy="3476625"/>
          </a:xfrm>
        </p:spPr>
        <p:txBody>
          <a:bodyPr xmlns:a="http://schemas.openxmlformats.org/drawingml/2006/main"/>
          <a:lstStyle xmlns:a="http://schemas.openxmlformats.org/drawingml/2006/main"/>
          <a:p xmlns:a="http://schemas.openxmlformats.org/drawingml/2006/main">
            <a:pPr marL="0" lvl="0" indent="0">
              <a:buNone/>
              <a:defRPr sz="1125">
                <a:solidFill>
                  <a:srgbClr val="25384A"/>
                </a:solidFill>
              </a:defRPr>
            </a:pPr>
            <a:r>
              <a:rPr sz="1125" b="1">
                <a:solidFill>
                  <a:srgbClr val="25384A"/>
                </a:solidFill>
              </a:rPr>
              <a:t>Five mistakes</a:t>
            </a:r>
          </a:p>
          <a:p xmlns:a="http://schemas.openxmlformats.org/drawingml/2006/main">
            <a:pPr lvl="0">
              <a:buNone/>
              <a:defRPr sz="1125">
                <a:solidFill>
                  <a:srgbClr val="25384A"/>
                </a:solidFill>
              </a:defRPr>
            </a:pPr>
            <a:r>
              <a:rPr sz="1125">
                <a:solidFill>
                  <a:srgbClr val="25384A"/>
                </a:solidFill>
              </a:rPr>
              <a:t>Two cerebral-palsy examples from one source video went to other conditions.</a:t>
            </a:r>
          </a:p>
          <a:p xmlns:a="http://schemas.openxmlformats.org/drawingml/2006/main">
            <a:pPr lvl="0">
              <a:buNone/>
              <a:defRPr sz="1125">
                <a:solidFill>
                  <a:srgbClr val="25384A"/>
                </a:solidFill>
              </a:defRPr>
            </a:pPr>
            <a:r>
              <a:rPr sz="1125">
                <a:solidFill>
                  <a:srgbClr val="25384A"/>
                </a:solidFill>
              </a:rPr>
              <a:t>One myopathic-gait example was assigned to Parkinson's disease.</a:t>
            </a:r>
          </a:p>
          <a:p xmlns:a="http://schemas.openxmlformats.org/drawingml/2006/main">
            <a:pPr lvl="0">
              <a:buNone/>
              <a:defRPr sz="1125">
                <a:solidFill>
                  <a:srgbClr val="25384A"/>
                </a:solidFill>
              </a:defRPr>
            </a:pPr>
            <a:r>
              <a:rPr sz="1125">
                <a:solidFill>
                  <a:srgbClr val="25384A"/>
                </a:solidFill>
              </a:rPr>
              <a:t>One typical-gait example was assigned to myopathic gait.</a:t>
            </a:r>
          </a:p>
          <a:p xmlns:a="http://schemas.openxmlformats.org/drawingml/2006/main">
            <a:pPr marL="0" lvl="0" indent="0">
              <a:buNone/>
              <a:defRPr sz="1125">
                <a:solidFill>
                  <a:srgbClr val="25384A"/>
                </a:solidFill>
              </a:defRPr>
            </a:pPr>
            <a:r>
              <a:rPr sz="1125">
                <a:solidFill>
                  <a:srgbClr val="25384A"/>
                </a:solidFill>
              </a:rPr>
              <a:t>One stroke example was assigned to myopathic gait.</a:t>
            </a:r>
          </a:p>
          <a:p xmlns:a="http://schemas.openxmlformats.org/drawingml/2006/main">
            <a:pPr marL="0" lvl="0" indent="0">
              <a:buNone/>
              <a:defRPr sz="1125">
                <a:solidFill>
                  <a:srgbClr val="25384A"/>
                </a:solidFill>
              </a:defRPr>
            </a:pPr>
            <a:r>
              <a:rPr sz="1125">
                <a:solidFill>
                  <a:srgbClr val="25384A"/>
                </a:solidFill>
              </a:rPr>
              <a:t>Repeated clips from one video are not independent people.</a:t>
            </a:r>
          </a:p>
        </p:txBody>
      </p:sp>
    </p:spTree>
    <p:extLst>
      <p:ext uri="{BB962C8B-B14F-4D97-AF65-F5344CB8AC3E}">
        <p14:creationId xmlns:p14="http://schemas.microsoft.com/office/powerpoint/2010/main" val="3141421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5C3B47-BC26-4908-AC1A-9775EA3D5B9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what the current evidence can and cannot show</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f938bd1787424f1b"/>
          <a:stretch xmlns:a="http://schemas.openxmlformats.org/drawingml/2006/main">
            <a:fillRect l="0" t="0" r="0" b="0"/>
          </a:stretch>
        </p:blipFill>
        <p:spPr>
          <a:xfrm xmlns:a="http://schemas.openxmlformats.org/drawingml/2006/main" flipH="0" flipV="0">
            <a:off x="2006600" y="1193800"/>
            <a:ext cx="51308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C8257860-DD16-4897-AE6C-627CB6F3FDA7}"/>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The evidence supports condition-related signal, not fully unseen-video performance.</a:t>
            </a:r>
          </a:p>
        </p:txBody>
      </p:sp>
    </p:spTree>
    <p:extLst>
      <p:ext uri="{BB962C8B-B14F-4D97-AF65-F5344CB8AC3E}">
        <p14:creationId xmlns:p14="http://schemas.microsoft.com/office/powerpoint/2010/main" val="1285560420"/>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0131D77-74DE-4838-9C53-F91B59CB2D8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current result ledger</a:t>
            </a:r>
          </a:p>
        </p:txBody>
      </p:sp>
      <p:graphicFrame>
        <p:nvGraphicFramePr>
          <p:cNvPr id="5" name="Content Placeholder 5"/>
          <p:cNvGraphicFramePr/>
          <p:nvPr/>
        </p:nvGraphicFramePr>
        <p:xfrm>
          <a:off xmlns:a="http://schemas.openxmlformats.org/drawingml/2006/main" x="457200" y="1193800"/>
          <a:ext xmlns:a="http://schemas.openxmlformats.org/drawingml/2006/main" cx="8229600" cy="3390900"/>
        </p:xfrm>
        <a:graphic xmlns:a="http://schemas.openxmlformats.org/drawingml/2006/main">
          <a:graphicData uri="http://schemas.openxmlformats.org/drawingml/2006/table">
            <a:tbl>
              <a:tblPr firstRow="1" bandRow="1">
                <a:tableStyleId>{5C22544A-7EE6-4342-B048-85BDC9FD1C3A}</a:tableStyleId>
              </a:tblPr>
              <a:tblGrid>
                <a:gridCol w="1371600"/>
                <a:gridCol w="1828800"/>
                <a:gridCol w="1828800"/>
                <a:gridCol w="1828800"/>
                <a:gridCol w="1371600"/>
              </a:tblGrid>
              <a:tr h="0">
                <a:tc>
                  <a:txBody>
                    <a:bodyPr/>
                    <a:lstStyle/>
                    <a:p>
                      <a:pPr marL="0" lvl="0" indent="0">
                        <a:buNone/>
                      </a:pPr>
                      <a:r>
                        <a:t>Evaluation approach</a:t>
                      </a:r>
                    </a:p>
                  </a:txBody>
                  <a:tcPr marL="91440" marR="91440" marT="45720" marB="45720"/>
                </a:tc>
                <a:tc>
                  <a:txBody>
                    <a:bodyPr/>
                    <a:lstStyle/>
                    <a:p>
                      <a:pPr marL="0" lvl="0" indent="0" algn="r">
                        <a:buNone/>
                      </a:pPr>
                      <a:r>
                        <a:t>Accuracy</a:t>
                      </a:r>
                    </a:p>
                  </a:txBody>
                  <a:tcPr marL="91440" marR="91440" marT="45720" marB="45720"/>
                </a:tc>
                <a:tc>
                  <a:txBody>
                    <a:bodyPr/>
                    <a:lstStyle/>
                    <a:p>
                      <a:pPr marL="0" lvl="0" indent="0" algn="r">
                        <a:buNone/>
                      </a:pPr>
                      <a:r>
                        <a:t>Balanced accuracy</a:t>
                      </a:r>
                    </a:p>
                  </a:txBody>
                  <a:tcPr marL="91440" marR="91440" marT="45720" marB="45720"/>
                </a:tc>
                <a:tc>
                  <a:txBody>
                    <a:bodyPr/>
                    <a:lstStyle/>
                    <a:p>
                      <a:pPr marL="0" lvl="0" indent="0" algn="r">
                        <a:buNone/>
                      </a:pPr>
                      <a:r>
                        <a:t>F1 score</a:t>
                      </a:r>
                    </a:p>
                  </a:txBody>
                  <a:tcPr marL="91440" marR="91440" marT="45720" marB="45720"/>
                </a:tc>
                <a:tc>
                  <a:txBody>
                    <a:bodyPr/>
                    <a:lstStyle/>
                    <a:p>
                      <a:pPr marL="0" lvl="0" indent="0">
                        <a:buNone/>
                      </a:pPr>
                      <a:r>
                        <a:t>Meaning</a:t>
                      </a:r>
                    </a:p>
                  </a:txBody>
                  <a:tcPr marL="91440" marR="91440" marT="45720" marB="45720"/>
                </a:tc>
              </a:tr>
              <a:tr h="0">
                <a:tc>
                  <a:txBody>
                    <a:bodyPr/>
                    <a:lstStyle/>
                    <a:p>
                      <a:pPr marL="0" lvl="0" indent="0">
                        <a:buNone/>
                      </a:pPr>
                      <a:r>
                        <a:t>Random 96</a:t>
                      </a:r>
                    </a:p>
                  </a:txBody>
                  <a:tcPr marL="91440" marR="91440" marT="45720" marB="45720"/>
                </a:tc>
                <a:tc>
                  <a:txBody>
                    <a:bodyPr/>
                    <a:lstStyle/>
                    <a:p>
                      <a:pPr marL="0" lvl="0" indent="0" algn="r">
                        <a:buNone/>
                      </a:pPr>
                      <a:r>
                        <a:t>72.4%</a:t>
                      </a:r>
                    </a:p>
                  </a:txBody>
                  <a:tcPr marL="91440" marR="91440" marT="45720" marB="45720"/>
                </a:tc>
                <a:tc>
                  <a:txBody>
                    <a:bodyPr/>
                    <a:lstStyle/>
                    <a:p>
                      <a:pPr marL="0" lvl="0" indent="0" algn="r">
                        <a:buNone/>
                      </a:pPr>
                      <a:r>
                        <a:t>82.4%</a:t>
                      </a:r>
                    </a:p>
                  </a:txBody>
                  <a:tcPr marL="91440" marR="91440" marT="45720" marB="45720"/>
                </a:tc>
                <a:tc>
                  <a:txBody>
                    <a:bodyPr/>
                    <a:lstStyle/>
                    <a:p>
                      <a:pPr marL="0" lvl="0" indent="0" algn="r">
                        <a:buNone/>
                      </a:pPr>
                      <a:r>
                        <a:t>75.0%</a:t>
                      </a:r>
                    </a:p>
                  </a:txBody>
                  <a:tcPr marL="91440" marR="91440" marT="45720" marB="45720"/>
                </a:tc>
                <a:tc>
                  <a:txBody>
                    <a:bodyPr/>
                    <a:lstStyle/>
                    <a:p>
                      <a:pPr marL="0" lvl="0" indent="0">
                        <a:buNone/>
                      </a:pPr>
                      <a:r>
                        <a:t>Videos cross</a:t>
                      </a:r>
                    </a:p>
                  </a:txBody>
                  <a:tcPr marL="91440" marR="91440" marT="45720" marB="45720"/>
                </a:tc>
              </a:tr>
              <a:tr h="0">
                <a:tc>
                  <a:txBody>
                    <a:bodyPr/>
                    <a:lstStyle/>
                    <a:p>
                      <a:pPr marL="0" lvl="0" indent="0">
                        <a:buNone/>
                      </a:pPr>
                      <a:r>
                        <a:t>Matched 47 / 21</a:t>
                      </a:r>
                    </a:p>
                  </a:txBody>
                  <a:tcPr marL="91440" marR="91440" marT="45720" marB="45720"/>
                </a:tc>
                <a:tc>
                  <a:txBody>
                    <a:bodyPr/>
                    <a:lstStyle/>
                    <a:p>
                      <a:pPr marL="0" lvl="0" indent="0" algn="r">
                        <a:buNone/>
                      </a:pPr>
                      <a:r>
                        <a:t>76.2%</a:t>
                      </a:r>
                    </a:p>
                  </a:txBody>
                  <a:tcPr marL="91440" marR="91440" marT="45720" marB="45720"/>
                </a:tc>
                <a:tc>
                  <a:txBody>
                    <a:bodyPr/>
                    <a:lstStyle/>
                    <a:p>
                      <a:pPr marL="0" lvl="0" indent="0" algn="r">
                        <a:buNone/>
                      </a:pPr>
                      <a:r>
                        <a:t>75.8%</a:t>
                      </a:r>
                    </a:p>
                  </a:txBody>
                  <a:tcPr marL="91440" marR="91440" marT="45720" marB="45720"/>
                </a:tc>
                <a:tc>
                  <a:txBody>
                    <a:bodyPr/>
                    <a:lstStyle/>
                    <a:p>
                      <a:pPr marL="0" lvl="0" indent="0" algn="r">
                        <a:buNone/>
                      </a:pPr>
                      <a:r>
                        <a:t>76.5%</a:t>
                      </a:r>
                    </a:p>
                  </a:txBody>
                  <a:tcPr marL="91440" marR="91440" marT="45720" marB="45720"/>
                </a:tc>
                <a:tc>
                  <a:txBody>
                    <a:bodyPr/>
                    <a:lstStyle/>
                    <a:p>
                      <a:pPr marL="0" lvl="0" indent="0">
                        <a:buNone/>
                      </a:pPr>
                      <a:r>
                        <a:t>Historical test</a:t>
                      </a:r>
                    </a:p>
                  </a:txBody>
                  <a:tcPr marL="91440" marR="91440" marT="45720" marB="45720"/>
                </a:tc>
              </a:tr>
              <a:tr h="0">
                <a:tc>
                  <a:txBody>
                    <a:bodyPr/>
                    <a:lstStyle/>
                    <a:p>
                      <a:pPr marL="0" lvl="0" indent="0">
                        <a:buNone/>
                      </a:pPr>
                      <a:r>
                        <a:t>Video mean</a:t>
                      </a:r>
                    </a:p>
                  </a:txBody>
                  <a:tcPr marL="91440" marR="91440" marT="45720" marB="45720"/>
                </a:tc>
                <a:tc>
                  <a:txBody>
                    <a:bodyPr/>
                    <a:lstStyle/>
                    <a:p>
                      <a:pPr marL="0" lvl="0" indent="0" algn="r">
                        <a:buNone/>
                      </a:pPr>
                      <a:r>
                        <a:t>56.4%</a:t>
                      </a:r>
                    </a:p>
                  </a:txBody>
                  <a:tcPr marL="91440" marR="91440" marT="45720" marB="45720"/>
                </a:tc>
                <a:tc>
                  <a:txBody>
                    <a:bodyPr/>
                    <a:lstStyle/>
                    <a:p>
                      <a:pPr marL="0" lvl="0" indent="0" algn="r">
                        <a:buNone/>
                      </a:pPr>
                      <a:r>
                        <a:t>48.4%</a:t>
                      </a:r>
                    </a:p>
                  </a:txBody>
                  <a:tcPr marL="91440" marR="91440" marT="45720" marB="45720"/>
                </a:tc>
                <a:tc>
                  <a:txBody>
                    <a:bodyPr/>
                    <a:lstStyle/>
                    <a:p>
                      <a:pPr marL="0" lvl="0" indent="0" algn="r">
                        <a:buNone/>
                      </a:pPr>
                      <a:r>
                        <a:t>49.5%</a:t>
                      </a:r>
                    </a:p>
                  </a:txBody>
                  <a:tcPr marL="91440" marR="91440" marT="45720" marB="45720"/>
                </a:tc>
                <a:tc>
                  <a:txBody>
                    <a:bodyPr/>
                    <a:lstStyle/>
                    <a:p>
                      <a:pPr marL="0" lvl="0" indent="0">
                        <a:buNone/>
                      </a:pPr>
                      <a:r>
                        <a:t>Two splits</a:t>
                      </a:r>
                    </a:p>
                  </a:txBody>
                  <a:tcPr marL="91440" marR="91440" marT="45720" marB="45720"/>
                </a:tc>
              </a:tr>
              <a:tr h="0">
                <a:tc>
                  <a:txBody>
                    <a:bodyPr/>
                    <a:lstStyle/>
                    <a:p>
                      <a:pPr marL="0" lvl="0" indent="0">
                        <a:buNone/>
                      </a:pPr>
                      <a:r>
                        <a:t>Video combined</a:t>
                      </a:r>
                    </a:p>
                  </a:txBody>
                  <a:tcPr marL="91440" marR="91440" marT="45720" marB="45720"/>
                </a:tc>
                <a:tc>
                  <a:txBody>
                    <a:bodyPr/>
                    <a:lstStyle/>
                    <a:p>
                      <a:pPr marL="0" lvl="0" indent="0" algn="r">
                        <a:buNone/>
                      </a:pPr>
                      <a:r>
                        <a:t>56.6%</a:t>
                      </a:r>
                    </a:p>
                  </a:txBody>
                  <a:tcPr marL="91440" marR="91440" marT="45720" marB="45720"/>
                </a:tc>
                <a:tc>
                  <a:txBody>
                    <a:bodyPr/>
                    <a:lstStyle/>
                    <a:p>
                      <a:pPr marL="0" lvl="0" indent="0" algn="r">
                        <a:buNone/>
                      </a:pPr>
                      <a:r>
                        <a:t>50.6%</a:t>
                      </a:r>
                    </a:p>
                  </a:txBody>
                  <a:tcPr marL="91440" marR="91440" marT="45720" marB="45720"/>
                </a:tc>
                <a:tc>
                  <a:txBody>
                    <a:bodyPr/>
                    <a:lstStyle/>
                    <a:p>
                      <a:pPr marL="0" lvl="0" indent="0" algn="r">
                        <a:buNone/>
                      </a:pPr>
                      <a:r>
                        <a:t>49.6%</a:t>
                      </a:r>
                    </a:p>
                  </a:txBody>
                  <a:tcPr marL="91440" marR="91440" marT="45720" marB="45720"/>
                </a:tc>
                <a:tc>
                  <a:txBody>
                    <a:bodyPr/>
                    <a:lstStyle/>
                    <a:p>
                      <a:pPr marL="0" lvl="0" indent="0">
                        <a:buNone/>
                      </a:pPr>
                      <a:r>
                        <a:t>All predictions</a:t>
                      </a:r>
                    </a:p>
                  </a:txBody>
                  <a:tcPr marL="91440" marR="91440" marT="45720" marB="45720"/>
                </a:tc>
              </a:tr>
              <a:tr h="0">
                <a:tc>
                  <a:txBody>
                    <a:bodyPr/>
                    <a:lstStyle/>
                    <a:p>
                      <a:pPr marL="0" lvl="0" indent="0">
                        <a:buNone/>
                      </a:pPr>
                      <a:r>
                        <a:t>Detection random</a:t>
                      </a:r>
                    </a:p>
                  </a:txBody>
                  <a:tcPr marL="91440" marR="91440" marT="45720" marB="45720"/>
                </a:tc>
                <a:tc>
                  <a:txBody>
                    <a:bodyPr/>
                    <a:lstStyle/>
                    <a:p>
                      <a:pPr marL="0" lvl="0" indent="0" algn="r">
                        <a:buNone/>
                      </a:pPr>
                      <a:r>
                        <a:t>48.3%</a:t>
                      </a:r>
                    </a:p>
                  </a:txBody>
                  <a:tcPr marL="91440" marR="91440" marT="45720" marB="45720"/>
                </a:tc>
                <a:tc>
                  <a:txBody>
                    <a:bodyPr/>
                    <a:lstStyle/>
                    <a:p>
                      <a:pPr marL="0" lvl="0" indent="0" algn="r">
                        <a:buNone/>
                      </a:pPr>
                      <a:r>
                        <a:t>50.7%</a:t>
                      </a:r>
                    </a:p>
                  </a:txBody>
                  <a:tcPr marL="91440" marR="91440" marT="45720" marB="45720"/>
                </a:tc>
                <a:tc>
                  <a:txBody>
                    <a:bodyPr/>
                    <a:lstStyle/>
                    <a:p>
                      <a:pPr marL="0" lvl="0" indent="0" algn="r">
                        <a:buNone/>
                      </a:pPr>
                      <a:r>
                        <a:t>47.7%</a:t>
                      </a:r>
                    </a:p>
                  </a:txBody>
                  <a:tcPr marL="91440" marR="91440" marT="45720" marB="45720"/>
                </a:tc>
                <a:tc>
                  <a:txBody>
                    <a:bodyPr/>
                    <a:lstStyle/>
                    <a:p>
                      <a:pPr marL="0" lvl="0" indent="0">
                        <a:buNone/>
                      </a:pPr>
                      <a:r>
                        <a:t>No coordinates</a:t>
                      </a:r>
                    </a:p>
                  </a:txBody>
                  <a:tcPr marL="91440" marR="91440" marT="45720" marB="45720"/>
                </a:tc>
              </a:tr>
              <a:tr h="0">
                <a:tc>
                  <a:txBody>
                    <a:bodyPr/>
                    <a:lstStyle/>
                    <a:p>
                      <a:pPr marL="0" lvl="0" indent="0">
                        <a:buNone/>
                      </a:pPr>
                      <a:r>
                        <a:t>Detection matched</a:t>
                      </a:r>
                    </a:p>
                  </a:txBody>
                  <a:tcPr marL="91440" marR="91440" marT="45720" marB="45720"/>
                </a:tc>
                <a:tc>
                  <a:txBody>
                    <a:bodyPr/>
                    <a:lstStyle/>
                    <a:p>
                      <a:pPr marL="0" lvl="0" indent="0" algn="r">
                        <a:buNone/>
                      </a:pPr>
                      <a:r>
                        <a:t>28.6%</a:t>
                      </a:r>
                    </a:p>
                  </a:txBody>
                  <a:tcPr marL="91440" marR="91440" marT="45720" marB="45720"/>
                </a:tc>
                <a:tc>
                  <a:txBody>
                    <a:bodyPr/>
                    <a:lstStyle/>
                    <a:p>
                      <a:pPr marL="0" lvl="0" indent="0" algn="r">
                        <a:buNone/>
                      </a:pPr>
                      <a:r>
                        <a:t>27.0%</a:t>
                      </a:r>
                    </a:p>
                  </a:txBody>
                  <a:tcPr marL="91440" marR="91440" marT="45720" marB="45720"/>
                </a:tc>
                <a:tc>
                  <a:txBody>
                    <a:bodyPr/>
                    <a:lstStyle/>
                    <a:p>
                      <a:pPr marL="0" lvl="0" indent="0" algn="r">
                        <a:buNone/>
                      </a:pPr>
                      <a:r>
                        <a:t>27.7%</a:t>
                      </a:r>
                    </a:p>
                  </a:txBody>
                  <a:tcPr marL="91440" marR="91440" marT="45720" marB="45720"/>
                </a:tc>
                <a:tc>
                  <a:txBody>
                    <a:bodyPr/>
                    <a:lstStyle/>
                    <a:p>
                      <a:pPr marL="0" lvl="0" indent="0">
                        <a:buNone/>
                      </a:pPr>
                      <a:r>
                        <a:t>No coordinates</a:t>
                      </a:r>
                    </a:p>
                  </a:txBody>
                  <a:tcPr marL="91440" marR="91440" marT="45720" marB="45720"/>
                </a:tc>
              </a:tr>
              <a:tr h="0">
                <a:tc>
                  <a:txBody>
                    <a:bodyPr/>
                    <a:lstStyle/>
                    <a:p>
                      <a:pPr marL="0" lvl="0" indent="0">
                        <a:buNone/>
                      </a:pPr>
                      <a:r>
                        <a:t>Majority baseline</a:t>
                      </a:r>
                    </a:p>
                  </a:txBody>
                  <a:tcPr marL="91440" marR="91440" marT="45720" marB="45720"/>
                </a:tc>
                <a:tc>
                  <a:txBody>
                    <a:bodyPr/>
                    <a:lstStyle/>
                    <a:p>
                      <a:pPr marL="0" lvl="0" indent="0" algn="r">
                        <a:buNone/>
                      </a:pPr>
                      <a:r>
                        <a:t>49.0%</a:t>
                      </a:r>
                    </a:p>
                  </a:txBody>
                  <a:tcPr marL="91440" marR="91440" marT="45720" marB="45720"/>
                </a:tc>
                <a:tc>
                  <a:txBody>
                    <a:bodyPr/>
                    <a:lstStyle/>
                    <a:p>
                      <a:pPr marL="0" lvl="0" indent="0" algn="r">
                        <a:buNone/>
                      </a:pPr>
                      <a:r>
                        <a:t>20.0%</a:t>
                      </a:r>
                    </a:p>
                  </a:txBody>
                  <a:tcPr marL="91440" marR="91440" marT="45720" marB="45720"/>
                </a:tc>
                <a:tc>
                  <a:txBody>
                    <a:bodyPr/>
                    <a:lstStyle/>
                    <a:p>
                      <a:pPr marL="0" lvl="0" indent="0" algn="r">
                        <a:buNone/>
                      </a:pPr>
                      <a:r>
                        <a:t>13.2%</a:t>
                      </a:r>
                    </a:p>
                  </a:txBody>
                  <a:tcPr marL="91440" marR="91440" marT="45720" marB="45720"/>
                </a:tc>
                <a:tc>
                  <a:txBody>
                    <a:bodyPr/>
                    <a:lstStyle/>
                    <a:p>
                      <a:pPr marL="0" lvl="0" indent="0">
                        <a:buNone/>
                      </a:pPr>
                      <a:r>
                        <a:t>Simple baseline</a:t>
                      </a:r>
                    </a:p>
                  </a:txBody>
                  <a:tcPr marL="91440" marR="91440" marT="45720" marB="45720"/>
                </a:tc>
              </a:tr>
            </a:tbl>
          </a:graphicData>
        </a:graphic>
      </p:graphicFrame>
    </p:spTree>
    <p:extLst>
      <p:ext uri="{BB962C8B-B14F-4D97-AF65-F5344CB8AC3E}">
        <p14:creationId xmlns:p14="http://schemas.microsoft.com/office/powerpoint/2010/main" val="2130258278"/>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8EF994-4DFC-4AAD-9AD0-D124901C389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small two-condition checks are regression checks</a:t>
            </a:r>
          </a:p>
        </p:txBody>
      </p:sp>
      <p:graphicFrame>
        <p:nvGraphicFramePr>
          <p:cNvPr id="5" name="Content Placeholder 5"/>
          <p:cNvGraphicFramePr/>
          <p:nvPr/>
        </p:nvGraphicFramePr>
        <p:xfrm>
          <a:off xmlns:a="http://schemas.openxmlformats.org/drawingml/2006/main" x="457200" y="1193800"/>
          <a:ext xmlns:a="http://schemas.openxmlformats.org/drawingml/2006/main" cx="8229600" cy="3390900"/>
        </p:xfrm>
        <a:graphic xmlns:a="http://schemas.openxmlformats.org/drawingml/2006/main">
          <a:graphicData uri="http://schemas.openxmlformats.org/drawingml/2006/table">
            <a:tbl>
              <a:tblPr firstRow="1" bandRow="1">
                <a:tableStyleId>{5C22544A-7EE6-4342-B048-85BDC9FD1C3A}</a:tableStyleId>
              </a:tblPr>
              <a:tblGrid>
                <a:gridCol w="1079500"/>
                <a:gridCol w="1435100"/>
                <a:gridCol w="1435100"/>
                <a:gridCol w="1435100"/>
                <a:gridCol w="1435100"/>
                <a:gridCol w="1435100"/>
              </a:tblGrid>
              <a:tr h="0">
                <a:tc>
                  <a:txBody>
                    <a:bodyPr/>
                    <a:lstStyle/>
                    <a:p>
                      <a:pPr marL="0" lvl="0" indent="0">
                        <a:buNone/>
                      </a:pPr>
                      <a:r>
                        <a:t>Condition compared with typical gait</a:t>
                      </a:r>
                    </a:p>
                  </a:txBody>
                  <a:tcPr marL="91440" marR="91440" marT="45720" marB="45720"/>
                </a:tc>
                <a:tc>
                  <a:txBody>
                    <a:bodyPr/>
                    <a:lstStyle/>
                    <a:p>
                      <a:pPr marL="0" lvl="0" indent="0" algn="r">
                        <a:buNone/>
                      </a:pPr>
                      <a:r>
                        <a:t>Accuracy</a:t>
                      </a:r>
                    </a:p>
                  </a:txBody>
                  <a:tcPr marL="91440" marR="91440" marT="45720" marB="45720"/>
                </a:tc>
                <a:tc>
                  <a:txBody>
                    <a:bodyPr/>
                    <a:lstStyle/>
                    <a:p>
                      <a:pPr marL="0" lvl="0" indent="0" algn="r">
                        <a:buNone/>
                      </a:pPr>
                      <a:r>
                        <a:t>Balanced accuracy</a:t>
                      </a:r>
                    </a:p>
                  </a:txBody>
                  <a:tcPr marL="91440" marR="91440" marT="45720" marB="45720"/>
                </a:tc>
                <a:tc>
                  <a:txBody>
                    <a:bodyPr/>
                    <a:lstStyle/>
                    <a:p>
                      <a:pPr marL="0" lvl="0" indent="0" algn="r">
                        <a:buNone/>
                      </a:pPr>
                      <a:r>
                        <a:t>F1 score</a:t>
                      </a:r>
                    </a:p>
                  </a:txBody>
                  <a:tcPr marL="91440" marR="91440" marT="45720" marB="45720"/>
                </a:tc>
                <a:tc>
                  <a:txBody>
                    <a:bodyPr/>
                    <a:lstStyle/>
                    <a:p>
                      <a:pPr marL="0" lvl="0" indent="0" algn="r">
                        <a:buNone/>
                      </a:pPr>
                      <a:r>
                        <a:t>Test examples</a:t>
                      </a:r>
                    </a:p>
                  </a:txBody>
                  <a:tcPr marL="91440" marR="91440" marT="45720" marB="45720"/>
                </a:tc>
                <a:tc>
                  <a:txBody>
                    <a:bodyPr/>
                    <a:lstStyle/>
                    <a:p>
                      <a:pPr marL="0" lvl="0" indent="0" algn="r">
                        <a:buNone/>
                      </a:pPr>
                      <a:r>
                        <a:t>Meaning</a:t>
                      </a:r>
                    </a:p>
                  </a:txBody>
                  <a:tcPr marL="91440" marR="91440" marT="45720" marB="45720"/>
                </a:tc>
              </a:tr>
              <a:tr h="0">
                <a:tc>
                  <a:txBody>
                    <a:bodyPr/>
                    <a:lstStyle/>
                    <a:p>
                      <a:pPr marL="0" lvl="0" indent="0">
                        <a:buNone/>
                      </a:pPr>
                      <a:r>
                        <a:t>Parkinson's disease</a:t>
                      </a:r>
                    </a:p>
                  </a:txBody>
                  <a:tcPr marL="91440" marR="91440" marT="45720" marB="45720"/>
                </a:tc>
                <a:tc>
                  <a:txBody>
                    <a:bodyPr/>
                    <a:lstStyle/>
                    <a:p>
                      <a:pPr marL="0" lvl="0" indent="0" algn="r">
                        <a:buNone/>
                      </a:pPr>
                      <a:r>
                        <a:t>100.0%</a:t>
                      </a:r>
                    </a:p>
                  </a:txBody>
                  <a:tcPr marL="91440" marR="91440" marT="45720" marB="45720"/>
                </a:tc>
                <a:tc>
                  <a:txBody>
                    <a:bodyPr/>
                    <a:lstStyle/>
                    <a:p>
                      <a:pPr marL="0" lvl="0" indent="0" algn="r">
                        <a:buNone/>
                      </a:pPr>
                      <a:r>
                        <a:t>100.0%</a:t>
                      </a:r>
                    </a:p>
                  </a:txBody>
                  <a:tcPr marL="91440" marR="91440" marT="45720" marB="45720"/>
                </a:tc>
                <a:tc>
                  <a:txBody>
                    <a:bodyPr/>
                    <a:lstStyle/>
                    <a:p>
                      <a:pPr marL="0" lvl="0" indent="0" algn="r">
                        <a:buNone/>
                      </a:pPr>
                      <a:r>
                        <a:t>100.0%</a:t>
                      </a:r>
                    </a:p>
                  </a:txBody>
                  <a:tcPr marL="91440" marR="91440" marT="45720" marB="45720"/>
                </a:tc>
                <a:tc>
                  <a:txBody>
                    <a:bodyPr/>
                    <a:lstStyle/>
                    <a:p>
                      <a:pPr marL="0" lvl="0" indent="0" algn="r">
                        <a:buNone/>
                      </a:pPr>
                      <a:r>
                        <a:t>7</a:t>
                      </a:r>
                    </a:p>
                  </a:txBody>
                  <a:tcPr marL="91440" marR="91440" marT="45720" marB="45720"/>
                </a:tc>
                <a:tc>
                  <a:txBody>
                    <a:bodyPr/>
                    <a:lstStyle/>
                    <a:p>
                      <a:pPr marL="0" lvl="0" indent="0" algn="r">
                        <a:buNone/>
                      </a:pPr>
                      <a:r>
                        <a:t>Small check</a:t>
                      </a:r>
                    </a:p>
                  </a:txBody>
                  <a:tcPr marL="91440" marR="91440" marT="45720" marB="45720"/>
                </a:tc>
              </a:tr>
              <a:tr h="0">
                <a:tc>
                  <a:txBody>
                    <a:bodyPr/>
                    <a:lstStyle/>
                    <a:p>
                      <a:pPr marL="0" lvl="0" indent="0">
                        <a:buNone/>
                      </a:pPr>
                      <a:r>
                        <a:t>Stroke</a:t>
                      </a:r>
                    </a:p>
                  </a:txBody>
                  <a:tcPr marL="91440" marR="91440" marT="45720" marB="45720"/>
                </a:tc>
                <a:tc>
                  <a:txBody>
                    <a:bodyPr/>
                    <a:lstStyle/>
                    <a:p>
                      <a:pPr marL="0" lvl="0" indent="0" algn="r">
                        <a:buNone/>
                      </a:pPr>
                      <a:r>
                        <a:t>100.0%</a:t>
                      </a:r>
                    </a:p>
                  </a:txBody>
                  <a:tcPr marL="91440" marR="91440" marT="45720" marB="45720"/>
                </a:tc>
                <a:tc>
                  <a:txBody>
                    <a:bodyPr/>
                    <a:lstStyle/>
                    <a:p>
                      <a:pPr marL="0" lvl="0" indent="0" algn="r">
                        <a:buNone/>
                      </a:pPr>
                      <a:r>
                        <a:t>100.0%</a:t>
                      </a:r>
                    </a:p>
                  </a:txBody>
                  <a:tcPr marL="91440" marR="91440" marT="45720" marB="45720"/>
                </a:tc>
                <a:tc>
                  <a:txBody>
                    <a:bodyPr/>
                    <a:lstStyle/>
                    <a:p>
                      <a:pPr marL="0" lvl="0" indent="0" algn="r">
                        <a:buNone/>
                      </a:pPr>
                      <a:r>
                        <a:t>100.0%</a:t>
                      </a:r>
                    </a:p>
                  </a:txBody>
                  <a:tcPr marL="91440" marR="91440" marT="45720" marB="45720"/>
                </a:tc>
                <a:tc>
                  <a:txBody>
                    <a:bodyPr/>
                    <a:lstStyle/>
                    <a:p>
                      <a:pPr marL="0" lvl="0" indent="0" algn="r">
                        <a:buNone/>
                      </a:pPr>
                      <a:r>
                        <a:t>7</a:t>
                      </a:r>
                    </a:p>
                  </a:txBody>
                  <a:tcPr marL="91440" marR="91440" marT="45720" marB="45720"/>
                </a:tc>
                <a:tc>
                  <a:txBody>
                    <a:bodyPr/>
                    <a:lstStyle/>
                    <a:p>
                      <a:pPr marL="0" lvl="0" indent="0" algn="r">
                        <a:buNone/>
                      </a:pPr>
                      <a:r>
                        <a:t>Small check</a:t>
                      </a:r>
                    </a:p>
                  </a:txBody>
                  <a:tcPr marL="91440" marR="91440" marT="45720" marB="45720"/>
                </a:tc>
              </a:tr>
              <a:tr h="0">
                <a:tc>
                  <a:txBody>
                    <a:bodyPr/>
                    <a:lstStyle/>
                    <a:p>
                      <a:pPr marL="0" lvl="0" indent="0">
                        <a:buNone/>
                      </a:pPr>
                      <a:r>
                        <a:t>Myopathic gait</a:t>
                      </a:r>
                    </a:p>
                  </a:txBody>
                  <a:tcPr marL="91440" marR="91440" marT="45720" marB="45720"/>
                </a:tc>
                <a:tc>
                  <a:txBody>
                    <a:bodyPr/>
                    <a:lstStyle/>
                    <a:p>
                      <a:pPr marL="0" lvl="0" indent="0" algn="r">
                        <a:buNone/>
                      </a:pPr>
                      <a:r>
                        <a:t>88.9%</a:t>
                      </a:r>
                    </a:p>
                  </a:txBody>
                  <a:tcPr marL="91440" marR="91440" marT="45720" marB="45720"/>
                </a:tc>
                <a:tc>
                  <a:txBody>
                    <a:bodyPr/>
                    <a:lstStyle/>
                    <a:p>
                      <a:pPr marL="0" lvl="0" indent="0" algn="r">
                        <a:buNone/>
                      </a:pPr>
                      <a:r>
                        <a:t>83.9%</a:t>
                      </a:r>
                    </a:p>
                  </a:txBody>
                  <a:tcPr marL="91440" marR="91440" marT="45720" marB="45720"/>
                </a:tc>
                <a:tc>
                  <a:txBody>
                    <a:bodyPr/>
                    <a:lstStyle/>
                    <a:p>
                      <a:pPr marL="0" lvl="0" indent="0" algn="r">
                        <a:buNone/>
                      </a:pPr>
                      <a:r>
                        <a:t>83.9%</a:t>
                      </a:r>
                    </a:p>
                  </a:txBody>
                  <a:tcPr marL="91440" marR="91440" marT="45720" marB="45720"/>
                </a:tc>
                <a:tc>
                  <a:txBody>
                    <a:bodyPr/>
                    <a:lstStyle/>
                    <a:p>
                      <a:pPr marL="0" lvl="0" indent="0" algn="r">
                        <a:buNone/>
                      </a:pPr>
                      <a:r>
                        <a:t>18</a:t>
                      </a:r>
                    </a:p>
                  </a:txBody>
                  <a:tcPr marL="91440" marR="91440" marT="45720" marB="45720"/>
                </a:tc>
                <a:tc>
                  <a:txBody>
                    <a:bodyPr/>
                    <a:lstStyle/>
                    <a:p>
                      <a:pPr marL="0" lvl="0" indent="0" algn="r">
                        <a:buNone/>
                      </a:pPr>
                      <a:r>
                        <a:t>Small check</a:t>
                      </a:r>
                    </a:p>
                  </a:txBody>
                  <a:tcPr marL="91440" marR="91440" marT="45720" marB="45720"/>
                </a:tc>
              </a:tr>
              <a:tr h="0">
                <a:tc>
                  <a:txBody>
                    <a:bodyPr/>
                    <a:lstStyle/>
                    <a:p>
                      <a:pPr marL="0" lvl="0" indent="0">
                        <a:buNone/>
                      </a:pPr>
                      <a:r>
                        <a:t>Cerebral palsy</a:t>
                      </a:r>
                    </a:p>
                  </a:txBody>
                  <a:tcPr marL="91440" marR="91440" marT="45720" marB="45720"/>
                </a:tc>
                <a:tc>
                  <a:txBody>
                    <a:bodyPr/>
                    <a:lstStyle/>
                    <a:p>
                      <a:pPr marL="0" lvl="0" indent="0" algn="r">
                        <a:buNone/>
                      </a:pPr>
                      <a:r>
                        <a:t>100.0%</a:t>
                      </a:r>
                    </a:p>
                  </a:txBody>
                  <a:tcPr marL="91440" marR="91440" marT="45720" marB="45720"/>
                </a:tc>
                <a:tc>
                  <a:txBody>
                    <a:bodyPr/>
                    <a:lstStyle/>
                    <a:p>
                      <a:pPr marL="0" lvl="0" indent="0" algn="r">
                        <a:buNone/>
                      </a:pPr>
                      <a:r>
                        <a:t>100.0%</a:t>
                      </a:r>
                    </a:p>
                  </a:txBody>
                  <a:tcPr marL="91440" marR="91440" marT="45720" marB="45720"/>
                </a:tc>
                <a:tc>
                  <a:txBody>
                    <a:bodyPr/>
                    <a:lstStyle/>
                    <a:p>
                      <a:pPr marL="0" lvl="0" indent="0" algn="r">
                        <a:buNone/>
                      </a:pPr>
                      <a:r>
                        <a:t>100.0%</a:t>
                      </a:r>
                    </a:p>
                  </a:txBody>
                  <a:tcPr marL="91440" marR="91440" marT="45720" marB="45720"/>
                </a:tc>
                <a:tc>
                  <a:txBody>
                    <a:bodyPr/>
                    <a:lstStyle/>
                    <a:p>
                      <a:pPr marL="0" lvl="0" indent="0" algn="r">
                        <a:buNone/>
                      </a:pPr>
                      <a:r>
                        <a:t>9</a:t>
                      </a:r>
                    </a:p>
                  </a:txBody>
                  <a:tcPr marL="91440" marR="91440" marT="45720" marB="45720"/>
                </a:tc>
                <a:tc>
                  <a:txBody>
                    <a:bodyPr/>
                    <a:lstStyle/>
                    <a:p>
                      <a:pPr marL="0" lvl="0" indent="0" algn="r">
                        <a:buNone/>
                      </a:pPr>
                      <a:r>
                        <a:t>Small check</a:t>
                      </a:r>
                    </a:p>
                  </a:txBody>
                  <a:tcPr marL="91440" marR="91440" marT="45720" marB="45720"/>
                </a:tc>
              </a:tr>
            </a:tbl>
          </a:graphicData>
        </a:graphic>
      </p:graphicFrame>
    </p:spTree>
    <p:extLst>
      <p:ext uri="{BB962C8B-B14F-4D97-AF65-F5344CB8AC3E}">
        <p14:creationId xmlns:p14="http://schemas.microsoft.com/office/powerpoint/2010/main" val="634301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8BE419-C82D-4993-9ECC-2D8E3CA4BD8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controls and simple baselines</a:t>
            </a:r>
          </a:p>
        </p:txBody>
      </p:sp>
      <p:graphicFrame>
        <p:nvGraphicFramePr>
          <p:cNvPr id="5" name="Content Placeholder 5"/>
          <p:cNvGraphicFramePr/>
          <p:nvPr/>
        </p:nvGraphicFramePr>
        <p:xfrm>
          <a:off xmlns:a="http://schemas.openxmlformats.org/drawingml/2006/main" x="457200" y="1193800"/>
          <a:ext xmlns:a="http://schemas.openxmlformats.org/drawingml/2006/main" cx="8229600" cy="3390900"/>
        </p:xfrm>
        <a:graphic xmlns:a="http://schemas.openxmlformats.org/drawingml/2006/main">
          <a:graphicData uri="http://schemas.openxmlformats.org/drawingml/2006/table">
            <a:tbl>
              <a:tblPr firstRow="1" bandRow="1">
                <a:tableStyleId>{5C22544A-7EE6-4342-B048-85BDC9FD1C3A}</a:tableStyleId>
              </a:tblPr>
              <a:tblGrid>
                <a:gridCol w="1371600"/>
                <a:gridCol w="1828800"/>
                <a:gridCol w="1828800"/>
                <a:gridCol w="1828800"/>
                <a:gridCol w="1371600"/>
              </a:tblGrid>
              <a:tr h="0">
                <a:tc>
                  <a:txBody>
                    <a:bodyPr/>
                    <a:lstStyle/>
                    <a:p>
                      <a:pPr marL="0" lvl="0" indent="0">
                        <a:buNone/>
                      </a:pPr>
                      <a:r>
                        <a:t>Check</a:t>
                      </a:r>
                    </a:p>
                  </a:txBody>
                  <a:tcPr marL="91440" marR="91440" marT="45720" marB="45720"/>
                </a:tc>
                <a:tc>
                  <a:txBody>
                    <a:bodyPr/>
                    <a:lstStyle/>
                    <a:p>
                      <a:pPr marL="0" lvl="0" indent="0" algn="r">
                        <a:buNone/>
                      </a:pPr>
                      <a:r>
                        <a:t>Accuracy</a:t>
                      </a:r>
                    </a:p>
                  </a:txBody>
                  <a:tcPr marL="91440" marR="91440" marT="45720" marB="45720"/>
                </a:tc>
                <a:tc>
                  <a:txBody>
                    <a:bodyPr/>
                    <a:lstStyle/>
                    <a:p>
                      <a:pPr marL="0" lvl="0" indent="0" algn="r">
                        <a:buNone/>
                      </a:pPr>
                      <a:r>
                        <a:t>Balanced accuracy</a:t>
                      </a:r>
                    </a:p>
                  </a:txBody>
                  <a:tcPr marL="91440" marR="91440" marT="45720" marB="45720"/>
                </a:tc>
                <a:tc>
                  <a:txBody>
                    <a:bodyPr/>
                    <a:lstStyle/>
                    <a:p>
                      <a:pPr marL="0" lvl="0" indent="0" algn="r">
                        <a:buNone/>
                      </a:pPr>
                      <a:r>
                        <a:t>F1 score</a:t>
                      </a:r>
                    </a:p>
                  </a:txBody>
                  <a:tcPr marL="91440" marR="91440" marT="45720" marB="45720"/>
                </a:tc>
                <a:tc>
                  <a:txBody>
                    <a:bodyPr/>
                    <a:lstStyle/>
                    <a:p>
                      <a:pPr marL="0" lvl="0" indent="0">
                        <a:buNone/>
                      </a:pPr>
                      <a:r>
                        <a:t>Additional detail</a:t>
                      </a:r>
                    </a:p>
                  </a:txBody>
                  <a:tcPr marL="91440" marR="91440" marT="45720" marB="45720"/>
                </a:tc>
              </a:tr>
              <a:tr h="0">
                <a:tc>
                  <a:txBody>
                    <a:bodyPr/>
                    <a:lstStyle/>
                    <a:p>
                      <a:pPr marL="0" lvl="0" indent="0">
                        <a:buNone/>
                      </a:pPr>
                      <a:r>
                        <a:t>Detection success only, all 96</a:t>
                      </a:r>
                    </a:p>
                  </a:txBody>
                  <a:tcPr marL="91440" marR="91440" marT="45720" marB="45720"/>
                </a:tc>
                <a:tc>
                  <a:txBody>
                    <a:bodyPr/>
                    <a:lstStyle/>
                    <a:p>
                      <a:pPr marL="0" lvl="0" indent="0" algn="r">
                        <a:buNone/>
                      </a:pPr>
                      <a:r>
                        <a:t>48.3%</a:t>
                      </a:r>
                    </a:p>
                  </a:txBody>
                  <a:tcPr marL="91440" marR="91440" marT="45720" marB="45720"/>
                </a:tc>
                <a:tc>
                  <a:txBody>
                    <a:bodyPr/>
                    <a:lstStyle/>
                    <a:p>
                      <a:pPr marL="0" lvl="0" indent="0" algn="r">
                        <a:buNone/>
                      </a:pPr>
                      <a:r>
                        <a:t>50.7%</a:t>
                      </a:r>
                    </a:p>
                  </a:txBody>
                  <a:tcPr marL="91440" marR="91440" marT="45720" marB="45720"/>
                </a:tc>
                <a:tc>
                  <a:txBody>
                    <a:bodyPr/>
                    <a:lstStyle/>
                    <a:p>
                      <a:pPr marL="0" lvl="0" indent="0" algn="r">
                        <a:buNone/>
                      </a:pPr>
                      <a:r>
                        <a:t>47.7%</a:t>
                      </a:r>
                    </a:p>
                  </a:txBody>
                  <a:tcPr marL="91440" marR="91440" marT="45720" marB="45720"/>
                </a:tc>
                <a:tc>
                  <a:txBody>
                    <a:bodyPr/>
                    <a:lstStyle/>
                    <a:p>
                      <a:pPr marL="0" lvl="0" indent="0">
                        <a:buNone/>
                      </a:pPr>
                      <a:r>
                        <a:t>No body coordinates</a:t>
                      </a:r>
                    </a:p>
                  </a:txBody>
                  <a:tcPr marL="91440" marR="91440" marT="45720" marB="45720"/>
                </a:tc>
              </a:tr>
              <a:tr h="0">
                <a:tc>
                  <a:txBody>
                    <a:bodyPr/>
                    <a:lstStyle/>
                    <a:p>
                      <a:pPr marL="0" lvl="0" indent="0">
                        <a:buNone/>
                      </a:pPr>
                      <a:r>
                        <a:t>Detection success only, matched</a:t>
                      </a:r>
                    </a:p>
                  </a:txBody>
                  <a:tcPr marL="91440" marR="91440" marT="45720" marB="45720"/>
                </a:tc>
                <a:tc>
                  <a:txBody>
                    <a:bodyPr/>
                    <a:lstStyle/>
                    <a:p>
                      <a:pPr marL="0" lvl="0" indent="0" algn="r">
                        <a:buNone/>
                      </a:pPr>
                      <a:r>
                        <a:t>28.6%</a:t>
                      </a:r>
                    </a:p>
                  </a:txBody>
                  <a:tcPr marL="91440" marR="91440" marT="45720" marB="45720"/>
                </a:tc>
                <a:tc>
                  <a:txBody>
                    <a:bodyPr/>
                    <a:lstStyle/>
                    <a:p>
                      <a:pPr marL="0" lvl="0" indent="0" algn="r">
                        <a:buNone/>
                      </a:pPr>
                      <a:r>
                        <a:t>27.0%</a:t>
                      </a:r>
                    </a:p>
                  </a:txBody>
                  <a:tcPr marL="91440" marR="91440" marT="45720" marB="45720"/>
                </a:tc>
                <a:tc>
                  <a:txBody>
                    <a:bodyPr/>
                    <a:lstStyle/>
                    <a:p>
                      <a:pPr marL="0" lvl="0" indent="0" algn="r">
                        <a:buNone/>
                      </a:pPr>
                      <a:r>
                        <a:t>27.7%</a:t>
                      </a:r>
                    </a:p>
                  </a:txBody>
                  <a:tcPr marL="91440" marR="91440" marT="45720" marB="45720"/>
                </a:tc>
                <a:tc>
                  <a:txBody>
                    <a:bodyPr/>
                    <a:lstStyle/>
                    <a:p>
                      <a:pPr marL="0" lvl="0" indent="0">
                        <a:buNone/>
                      </a:pPr>
                      <a:r>
                        <a:t>No body coordinates</a:t>
                      </a:r>
                    </a:p>
                  </a:txBody>
                  <a:tcPr marL="91440" marR="91440" marT="45720" marB="45720"/>
                </a:tc>
              </a:tr>
              <a:tr h="0">
                <a:tc>
                  <a:txBody>
                    <a:bodyPr/>
                    <a:lstStyle/>
                    <a:p>
                      <a:pPr marL="0" lvl="0" indent="0">
                        <a:buNone/>
                      </a:pPr>
                      <a:r>
                        <a:t>Always choose myopathic gait</a:t>
                      </a:r>
                    </a:p>
                  </a:txBody>
                  <a:tcPr marL="91440" marR="91440" marT="45720" marB="45720"/>
                </a:tc>
                <a:tc>
                  <a:txBody>
                    <a:bodyPr/>
                    <a:lstStyle/>
                    <a:p>
                      <a:pPr marL="0" lvl="0" indent="0" algn="r">
                        <a:buNone/>
                      </a:pPr>
                      <a:r>
                        <a:t>49.0%</a:t>
                      </a:r>
                    </a:p>
                  </a:txBody>
                  <a:tcPr marL="91440" marR="91440" marT="45720" marB="45720"/>
                </a:tc>
                <a:tc>
                  <a:txBody>
                    <a:bodyPr/>
                    <a:lstStyle/>
                    <a:p>
                      <a:pPr marL="0" lvl="0" indent="0" algn="r">
                        <a:buNone/>
                      </a:pPr>
                      <a:r>
                        <a:t>20.0%</a:t>
                      </a:r>
                    </a:p>
                  </a:txBody>
                  <a:tcPr marL="91440" marR="91440" marT="45720" marB="45720"/>
                </a:tc>
                <a:tc>
                  <a:txBody>
                    <a:bodyPr/>
                    <a:lstStyle/>
                    <a:p>
                      <a:pPr marL="0" lvl="0" indent="0" algn="r">
                        <a:buNone/>
                      </a:pPr>
                      <a:r>
                        <a:t>13.2%</a:t>
                      </a:r>
                    </a:p>
                  </a:txBody>
                  <a:tcPr marL="91440" marR="91440" marT="45720" marB="45720"/>
                </a:tc>
                <a:tc>
                  <a:txBody>
                    <a:bodyPr/>
                    <a:lstStyle/>
                    <a:p>
                      <a:pPr marL="0" lvl="0" indent="0">
                        <a:buNone/>
                      </a:pPr>
                      <a:r>
                        <a:t>Largest of 96</a:t>
                      </a:r>
                    </a:p>
                  </a:txBody>
                  <a:tcPr marL="91440" marR="91440" marT="45720" marB="45720"/>
                </a:tc>
              </a:tr>
              <a:tr h="0">
                <a:tc>
                  <a:txBody>
                    <a:bodyPr/>
                    <a:lstStyle/>
                    <a:p>
                      <a:pPr marL="0" lvl="0" indent="0">
                        <a:buNone/>
                      </a:pPr>
                      <a:r>
                        <a:t>Always choose typical gait</a:t>
                      </a:r>
                    </a:p>
                  </a:txBody>
                  <a:tcPr marL="91440" marR="91440" marT="45720" marB="45720"/>
                </a:tc>
                <a:tc>
                  <a:txBody>
                    <a:bodyPr/>
                    <a:lstStyle/>
                    <a:p>
                      <a:pPr marL="0" lvl="0" indent="0" algn="r">
                        <a:buNone/>
                      </a:pPr>
                      <a:r>
                        <a:t>47.2%</a:t>
                      </a:r>
                    </a:p>
                  </a:txBody>
                  <a:tcPr marL="91440" marR="91440" marT="45720" marB="45720"/>
                </a:tc>
                <a:tc>
                  <a:txBody>
                    <a:bodyPr/>
                    <a:lstStyle/>
                    <a:p>
                      <a:pPr marL="0" lvl="0" indent="0" algn="r">
                        <a:buNone/>
                      </a:pPr>
                      <a:r>
                        <a:t>20.0%</a:t>
                      </a:r>
                    </a:p>
                  </a:txBody>
                  <a:tcPr marL="91440" marR="91440" marT="45720" marB="45720"/>
                </a:tc>
                <a:tc>
                  <a:txBody>
                    <a:bodyPr/>
                    <a:lstStyle/>
                    <a:p>
                      <a:pPr marL="0" lvl="0" indent="0" algn="r">
                        <a:buNone/>
                      </a:pPr>
                      <a:r>
                        <a:t>12.8%</a:t>
                      </a:r>
                    </a:p>
                  </a:txBody>
                  <a:tcPr marL="91440" marR="91440" marT="45720" marB="45720"/>
                </a:tc>
                <a:tc>
                  <a:txBody>
                    <a:bodyPr/>
                    <a:lstStyle/>
                    <a:p>
                      <a:pPr marL="0" lvl="0" indent="0">
                        <a:buNone/>
                      </a:pPr>
                      <a:r>
                        <a:t>Largest of 159</a:t>
                      </a:r>
                    </a:p>
                  </a:txBody>
                  <a:tcPr marL="91440" marR="91440" marT="45720" marB="45720"/>
                </a:tc>
              </a:tr>
              <a:tr h="0">
                <a:tc>
                  <a:txBody>
                    <a:bodyPr/>
                    <a:lstStyle/>
                    <a:p>
                      <a:pPr marL="0" lvl="0" indent="0">
                        <a:buNone/>
                      </a:pPr>
                      <a:r>
                        <a:t>Typical gait versus all others</a:t>
                      </a:r>
                    </a:p>
                  </a:txBody>
                  <a:tcPr marL="91440" marR="91440" marT="45720" marB="45720"/>
                </a:tc>
                <a:tc>
                  <a:txBody>
                    <a:bodyPr/>
                    <a:lstStyle/>
                    <a:p>
                      <a:pPr marL="0" lvl="0" indent="0" algn="r">
                        <a:buNone/>
                      </a:pPr>
                      <a:r>
                        <a:t>78.7%</a:t>
                      </a:r>
                    </a:p>
                  </a:txBody>
                  <a:tcPr marL="91440" marR="91440" marT="45720" marB="45720"/>
                </a:tc>
                <a:tc>
                  <a:txBody>
                    <a:bodyPr/>
                    <a:lstStyle/>
                    <a:p>
                      <a:pPr marL="0" lvl="0" indent="0" algn="r">
                        <a:buNone/>
                      </a:pPr>
                      <a:r>
                        <a:t>83.0%</a:t>
                      </a:r>
                    </a:p>
                  </a:txBody>
                  <a:tcPr marL="91440" marR="91440" marT="45720" marB="45720"/>
                </a:tc>
                <a:tc>
                  <a:txBody>
                    <a:bodyPr/>
                    <a:lstStyle/>
                    <a:p>
                      <a:pPr marL="0" lvl="0" indent="0" algn="r">
                        <a:buNone/>
                      </a:pPr>
                      <a:r>
                        <a:t>76.5%</a:t>
                      </a:r>
                    </a:p>
                  </a:txBody>
                  <a:tcPr marL="91440" marR="91440" marT="45720" marB="45720"/>
                </a:tc>
                <a:tc>
                  <a:txBody>
                    <a:bodyPr/>
                    <a:lstStyle/>
                    <a:p>
                      <a:pPr marL="0" lvl="0" indent="0">
                        <a:buNone/>
                      </a:pPr>
                      <a:r>
                        <a:t>Source videos separate</a:t>
                      </a:r>
                    </a:p>
                  </a:txBody>
                  <a:tcPr marL="91440" marR="91440" marT="45720" marB="45720"/>
                </a:tc>
              </a:tr>
            </a:tbl>
          </a:graphicData>
        </a:graphic>
      </p:graphicFrame>
    </p:spTree>
    <p:extLst>
      <p:ext uri="{BB962C8B-B14F-4D97-AF65-F5344CB8AC3E}">
        <p14:creationId xmlns:p14="http://schemas.microsoft.com/office/powerpoint/2010/main" val="54601029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0DC8CD5-FB1C-4F09-AE25-297F35DADFE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the artifact contract rejects silent substitution</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32e6375d69e7433e">
            <a:extLst>
              <a:ext uri="{96DAC541-7B7A-43D3-8B79-37D633B846F1}">
                <asvg:svgBlip xmlns:asvg="http://schemas.microsoft.com/office/drawing/2016/SVG/main" r:embed="Rfbbbf5accb544f34"/>
              </a:ext>
            </a:extLst>
          </a:blip>
          <a:stretch xmlns:a="http://schemas.openxmlformats.org/drawingml/2006/main">
            <a:fillRect l="0" t="0" r="0" b="0"/>
          </a:stretch>
        </p:blipFill>
        <p:spPr>
          <a:xfrm xmlns:a="http://schemas.openxmlformats.org/drawingml/2006/main">
            <a:off x="1231900" y="1193800"/>
            <a:ext cx="66929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8C5617ED-DC35-40D8-894F-9FF92D5DBB06}"/>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Checkpoint lineage, embeddings, readouts, and figures must agree on the completed curriculum and experiment fingerprint.</a:t>
            </a:r>
          </a:p>
        </p:txBody>
      </p:sp>
    </p:spTree>
    <p:extLst>
      <p:ext uri="{BB962C8B-B14F-4D97-AF65-F5344CB8AC3E}">
        <p14:creationId xmlns:p14="http://schemas.microsoft.com/office/powerpoint/2010/main" val="158972338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B8CA72-3AB2-423E-9061-D9543E296CD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seven notebooks form one audit trail</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03ef4cbc50b44ec1">
            <a:extLst>
              <a:ext uri="{96DAC541-7B7A-43D3-8B79-37D633B846F1}">
                <asvg:svgBlip xmlns:asvg="http://schemas.microsoft.com/office/drawing/2016/SVG/main" r:embed="R3db7eda64a0b4484"/>
              </a:ext>
            </a:extLst>
          </a:blip>
          <a:stretch xmlns:a="http://schemas.openxmlformats.org/drawingml/2006/main">
            <a:fillRect l="0" t="0" r="0" b="0"/>
          </a:stretch>
        </p:blipFill>
        <p:spPr>
          <a:xfrm xmlns:a="http://schemas.openxmlformats.org/drawingml/2006/main">
            <a:off x="2171700" y="1193800"/>
            <a:ext cx="48006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E20D0680-6813-4879-99E3-5DF4C59A3131}"/>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Each notebook produces an artifact that the next notebook can verify.</a:t>
            </a:r>
          </a:p>
        </p:txBody>
      </p:sp>
    </p:spTree>
    <p:extLst>
      <p:ext uri="{BB962C8B-B14F-4D97-AF65-F5344CB8AC3E}">
        <p14:creationId xmlns:p14="http://schemas.microsoft.com/office/powerpoint/2010/main" val="116471230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B2DCD2-9601-4234-B4DB-89BFD71691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reproduce the current figures</a:t>
            </a:r>
          </a:p>
        </p:txBody>
      </p:sp>
      <p:sp>
        <p:nvSpPr>
          <p:cNvPr id="3" name="Content Placeholder 2">
            <a:extLst xmlns:a="http://schemas.openxmlformats.org/drawingml/2006/main">
              <a:ext uri="{FF2B5EF4-FFF2-40B4-BE49-F238E27FC236}">
                <a16:creationId xmlns:a16="http://schemas.microsoft.com/office/drawing/2014/main" id="{027A90CF-6947-4EFF-BD55-B7C04D033891}"/>
              </a:ext>
            </a:extLst>
          </p:cNvPr>
          <p:cNvSpPr>
            <a:spLocks xmlns:a="http://schemas.openxmlformats.org/drawingml/2006/main" noGrp="1"/>
          </p:cNvSpPr>
          <p:nvPr>
            <p:ph idx="1"/>
          </p:nvPr>
        </p:nvSpPr>
        <p:spPr>
          <a:xfrm xmlns:a="http://schemas.openxmlformats.org/drawingml/2006/main">
            <a:off x="523875" y="1333500"/>
            <a:ext cx="3714750" cy="3000375"/>
          </a:xfrm>
        </p:spPr>
        <p:txBody>
          <a:bodyPr xmlns:a="http://schemas.openxmlformats.org/drawingml/2006/main"/>
          <a:lstStyle xmlns:a="http://schemas.openxmlformats.org/drawingml/2006/main"/>
          <a:p xmlns:a="http://schemas.openxmlformats.org/drawingml/2006/main">
            <a:pPr marL="0" lvl="0" indent="0">
              <a:buNone/>
              <a:defRPr sz="1125">
                <a:solidFill>
                  <a:srgbClr val="25384A"/>
                </a:solidFill>
              </a:defRPr>
            </a:pPr>
            <a:r>
              <a:rPr sz="1125" b="1">
                <a:solidFill>
                  <a:srgbClr val="25384A"/>
                </a:solidFill>
              </a:rPr>
              <a:t>Saved result files</a:t>
            </a:r>
          </a:p>
          <a:p xmlns:a="http://schemas.openxmlformats.org/drawingml/2006/main">
            <a:pPr lvl="0">
              <a:buNone/>
              <a:defRPr sz="1125">
                <a:solidFill>
                  <a:srgbClr val="25384A"/>
                </a:solidFill>
              </a:defRPr>
            </a:pPr>
            <a:r>
              <a:rPr sz="1125">
                <a:solidFill>
                  <a:srgbClr val="25384A"/>
                </a:solidFill>
                <a:latin typeface="Courier"/>
                <a:ea typeface="Courier"/>
                <a:cs typeface="Courier"/>
              </a:rPr>
              <a:t>classifier_metrics.csv</a:t>
            </a:r>
          </a:p>
          <a:p xmlns:a="http://schemas.openxmlformats.org/drawingml/2006/main">
            <a:pPr lvl="0">
              <a:buNone/>
              <a:defRPr sz="1125">
                <a:solidFill>
                  <a:srgbClr val="25384A"/>
                </a:solidFill>
              </a:defRPr>
            </a:pPr>
            <a:r>
              <a:rPr sz="1125">
                <a:solidFill>
                  <a:srgbClr val="25384A"/>
                </a:solidFill>
                <a:latin typeface="Courier"/>
                <a:ea typeface="Courier"/>
                <a:cs typeface="Courier"/>
              </a:rPr>
              <a:t>lane_c_video_disjoint_metrics.csv</a:t>
            </a:r>
          </a:p>
          <a:p xmlns:a="http://schemas.openxmlformats.org/drawingml/2006/main">
            <a:pPr lvl="0">
              <a:buNone/>
              <a:defRPr sz="1125">
                <a:solidFill>
                  <a:srgbClr val="25384A"/>
                </a:solidFill>
              </a:defRPr>
            </a:pPr>
            <a:r>
              <a:rPr sz="1125">
                <a:solidFill>
                  <a:srgbClr val="25384A"/>
                </a:solidFill>
                <a:latin typeface="Courier"/>
                <a:ea typeface="Courier"/>
                <a:cs typeface="Courier"/>
              </a:rPr>
              <a:t>five_class_classification_report.csv</a:t>
            </a:r>
          </a:p>
          <a:p xmlns:a="http://schemas.openxmlformats.org/drawingml/2006/main">
            <a:pPr lvl="0">
              <a:buNone/>
              <a:defRPr sz="1125">
                <a:solidFill>
                  <a:srgbClr val="25384A"/>
                </a:solidFill>
              </a:defRPr>
            </a:pPr>
            <a:r>
              <a:rPr sz="1125">
                <a:solidFill>
                  <a:srgbClr val="25384A"/>
                </a:solidFill>
                <a:latin typeface="Courier"/>
                <a:ea typeface="Courier"/>
                <a:cs typeface="Courier"/>
              </a:rPr>
              <a:t>five_class_confusion_matrix.csv</a:t>
            </a:r>
          </a:p>
          <a:p xmlns:a="http://schemas.openxmlformats.org/drawingml/2006/main">
            <a:pPr lvl="0">
              <a:buNone/>
              <a:defRPr sz="1125">
                <a:solidFill>
                  <a:srgbClr val="25384A"/>
                </a:solidFill>
              </a:defRPr>
            </a:pPr>
            <a:r>
              <a:rPr sz="1125">
                <a:solidFill>
                  <a:srgbClr val="25384A"/>
                </a:solidFill>
                <a:latin typeface="Courier"/>
                <a:ea typeface="Courier"/>
                <a:cs typeface="Courier"/>
              </a:rPr>
              <a:t>missingness_only_classifier_metrics.csv</a:t>
            </a:r>
          </a:p>
        </p:txBody>
      </p:sp>
      <p:sp>
        <p:nvSpPr>
          <p:cNvPr id="4" name="Content Placeholder 3">
            <a:extLst xmlns:a="http://schemas.openxmlformats.org/drawingml/2006/main">
              <a:ext uri="{FF2B5EF4-FFF2-40B4-BE49-F238E27FC236}">
                <a16:creationId xmlns:a16="http://schemas.microsoft.com/office/drawing/2014/main" id="{27674DCA-F2E5-4DC1-B944-EF0E0FFED98B}"/>
              </a:ext>
            </a:extLst>
          </p:cNvPr>
          <p:cNvSpPr>
            <a:spLocks xmlns:a="http://schemas.openxmlformats.org/drawingml/2006/main" noGrp="1"/>
          </p:cNvSpPr>
          <p:nvPr>
            <p:ph idx="2"/>
          </p:nvPr>
        </p:nvSpPr>
        <p:spPr>
          <a:xfrm xmlns:a="http://schemas.openxmlformats.org/drawingml/2006/main">
            <a:off x="4762500" y="1333500"/>
            <a:ext cx="3810000" cy="3000375"/>
          </a:xfrm>
        </p:spPr>
        <p:txBody>
          <a:bodyPr xmlns:a="http://schemas.openxmlformats.org/drawingml/2006/main"/>
          <a:lstStyle xmlns:a="http://schemas.openxmlformats.org/drawingml/2006/main"/>
          <a:p xmlns:a="http://schemas.openxmlformats.org/drawingml/2006/main">
            <a:pPr marL="0" lvl="0" indent="0">
              <a:buNone/>
              <a:defRPr sz="1125">
                <a:solidFill>
                  <a:srgbClr val="25384A"/>
                </a:solidFill>
              </a:defRPr>
            </a:pPr>
            <a:r>
              <a:rPr sz="1125" b="1">
                <a:solidFill>
                  <a:srgbClr val="25384A"/>
                </a:solidFill>
              </a:rPr>
              <a:t>Rebuild</a:t>
            </a:r>
          </a:p>
          <a:p xmlns:a="http://schemas.openxmlformats.org/drawingml/2006/main">
            <a:pPr marL="0" lvl="0" indent="0">
              <a:buNone/>
              <a:defRPr sz="1125">
                <a:solidFill>
                  <a:srgbClr val="25384A"/>
                </a:solidFill>
              </a:defRPr>
            </a:pPr>
            <a:r>
              <a:rPr sz="1125">
                <a:solidFill>
                  <a:srgbClr val="25384A"/>
                </a:solidFill>
                <a:latin typeface="Courier"/>
                <a:ea typeface="Courier"/>
                <a:cs typeface="Courier"/>
              </a:rPr>
              <a:t>1. Run notebooks 00 through 06 with real data.</a:t>
            </a:r>
          </a:p>
          <a:p xmlns:a="http://schemas.openxmlformats.org/drawingml/2006/main">
            <a:pPr marL="0" lvl="0" indent="0">
              <a:buNone/>
              <a:defRPr sz="1125">
                <a:solidFill>
                  <a:srgbClr val="25384A"/>
                </a:solidFill>
              </a:defRPr>
            </a:pPr>
            <a:r>
              <a:rPr sz="1125">
                <a:solidFill>
                  <a:srgbClr val="25384A"/>
                </a:solidFill>
              </a:rPr>
              <a:t>2. Run the figure builder:</a:t>
            </a:r>
          </a:p>
          <a:p xmlns:a="http://schemas.openxmlformats.org/drawingml/2006/main">
            <a:pPr marL="0" lvl="0" indent="0">
              <a:buNone/>
              <a:defRPr sz="1125">
                <a:solidFill>
                  <a:srgbClr val="25384A"/>
                </a:solidFill>
              </a:defRPr>
            </a:pPr>
            <a:r>
              <a:rPr sz="1125">
                <a:solidFill>
                  <a:srgbClr val="25384A"/>
                </a:solidFill>
              </a:rPr>
              <a:t>uv run python slides/make_current_result_figures.py</a:t>
            </a:r>
          </a:p>
          <a:p xmlns:a="http://schemas.openxmlformats.org/drawingml/2006/main">
            <a:pPr marL="0" lvl="0" indent="0">
              <a:buNone/>
              <a:defRPr sz="1125">
                <a:solidFill>
                  <a:srgbClr val="25384A"/>
                </a:solidFill>
              </a:defRPr>
            </a:pPr>
            <a:r>
              <a:rPr sz="1125">
                <a:solidFill>
                  <a:srgbClr val="25384A"/>
                </a:solidFill>
              </a:rPr>
              <a:t>3. Run the slide builder:</a:t>
            </a:r>
          </a:p>
          <a:p xmlns:a="http://schemas.openxmlformats.org/drawingml/2006/main">
            <a:pPr marL="0" lvl="0" indent="0">
              <a:buNone/>
              <a:defRPr sz="1125">
                <a:solidFill>
                  <a:srgbClr val="25384A"/>
                </a:solidFill>
              </a:defRPr>
            </a:pPr>
            <a:r>
              <a:rPr sz="1125">
                <a:solidFill>
                  <a:srgbClr val="25384A"/>
                </a:solidFill>
              </a:rPr>
              <a:t>uv run python slides/build_slides.py</a:t>
            </a:r>
          </a:p>
        </p:txBody>
      </p:sp>
    </p:spTree>
    <p:extLst>
      <p:ext uri="{BB962C8B-B14F-4D97-AF65-F5344CB8AC3E}">
        <p14:creationId xmlns:p14="http://schemas.microsoft.com/office/powerpoint/2010/main" val="96634349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37CE915-1112-413B-825F-AC7FB41629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separate completed work from proposed work</a:t>
            </a:r>
          </a:p>
        </p:txBody>
      </p:sp>
      <p:pic>
        <p:nvPicPr>
          <p:cNvPr id="9" name="Picture 1"/>
          <p:cNvPicPr>
            <a:picLocks xmlns:a="http://schemas.openxmlformats.org/drawingml/2006/main" noChangeAspect="1"/>
          </p:cNvPicPr>
          <p:nvPr/>
        </p:nvPicPr>
        <p:blipFill>
          <a:blip xmlns:r="http://schemas.openxmlformats.org/officeDocument/2006/relationships" xmlns:a="http://schemas.openxmlformats.org/drawingml/2006/main" r:embed="R760fe366dab34285">
            <a:extLst>
              <a:ext uri="{96DAC541-7B7A-43D3-8B79-37D633B846F1}">
                <asvg:svgBlip xmlns:asvg="http://schemas.microsoft.com/office/drawing/2016/SVG/main" r:embed="Rc40db0ce4b8940db"/>
              </a:ext>
            </a:extLst>
          </a:blip>
          <a:stretch xmlns:a="http://schemas.openxmlformats.org/drawingml/2006/main">
            <a:fillRect l="0" t="0" r="0" b="0"/>
          </a:stretch>
        </p:blipFill>
        <p:spPr>
          <a:xfrm xmlns:a="http://schemas.openxmlformats.org/drawingml/2006/main">
            <a:off x="2044700" y="1193800"/>
            <a:ext cx="5054600" cy="2882900"/>
          </a:xfrm>
          <a:prstGeom xmlns:a="http://schemas.openxmlformats.org/drawingml/2006/main" prst="rect">
            <a:avLst/>
          </a:prstGeom>
          <a:ln xmlns:a="http://schemas.openxmlformats.org/drawingml/2006/main" w="9525">
            <a:noFill/>
          </a:ln>
        </p:spPr>
      </p:pic>
      <p:sp>
        <p:nvSpPr>
          <p:cNvPr id="6" name="TextBox 3">
            <a:extLst xmlns:a="http://schemas.openxmlformats.org/drawingml/2006/main">
              <a:ext uri="{FF2B5EF4-FFF2-40B4-BE49-F238E27FC236}">
                <a16:creationId xmlns:a16="http://schemas.microsoft.com/office/drawing/2014/main" id="{40D38179-381C-40F5-89F8-46CD90E2D5DF}"/>
              </a:ext>
            </a:extLst>
          </p:cNvPr>
          <p:cNvSpPr>
            <a:spLocks xmlns:a="http://schemas.openxmlformats.org/drawingml/2006/main" noGrp="1"/>
          </p:cNvSpPr>
          <p:nvPr>
            <p:ph idx="1"/>
          </p:nvPr>
        </p:nvSpPr>
        <p:spPr>
          <a:xfrm xmlns:a="http://schemas.openxmlformats.org/drawingml/2006/main">
            <a:off x="457200" y="4076700"/>
            <a:ext cx="8229600" cy="50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marL="0" lvl="0" indent="0" algn="ctr">
              <a:buNone/>
            </a:pPr>
            <a:r>
              <a:t>Only the green column describes the completed checkpoint.</a:t>
            </a:r>
          </a:p>
        </p:txBody>
      </p:sp>
    </p:spTree>
    <p:extLst>
      <p:ext uri="{BB962C8B-B14F-4D97-AF65-F5344CB8AC3E}">
        <p14:creationId xmlns:p14="http://schemas.microsoft.com/office/powerpoint/2010/main" val="88523355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260541-41B0-4172-A60A-E7245069368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marL="0" lvl="0" indent="0">
              <a:buNone/>
            </a:pPr>
            <a:r>
              <a:t>Appendix: references and responsible use</a:t>
            </a:r>
          </a:p>
        </p:txBody>
      </p:sp>
      <p:sp>
        <p:nvSpPr>
          <p:cNvPr id="3" name="Content Placeholder 2">
            <a:extLst xmlns:a="http://schemas.openxmlformats.org/drawingml/2006/main">
              <a:ext uri="{FF2B5EF4-FFF2-40B4-BE49-F238E27FC236}">
                <a16:creationId xmlns:a16="http://schemas.microsoft.com/office/drawing/2014/main" id="{AFC48456-A3E4-4593-8758-837F8E2F0DE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marL="342900" lvl="0" indent="-342900">
              <a:buAutoNum type="arabicPeriod"/>
            </a:pPr>
            <a:r>
              <a:t>Abdelfattah and Alahi. S-JEPA. </a:t>
            </a:r>
            <a:r>
              <a:rPr i="1"/>
              <a:t>ECCV</a:t>
            </a:r>
            <a:r>
              <a:t>, 2024. </a:t>
            </a:r>
            <a:r>
              <a:rPr>
                <a:hlinkClick xmlns:r="http://schemas.openxmlformats.org/officeDocument/2006/relationships" r:id="R4484f83a796b446b"/>
              </a:rPr>
              <a:t>DOI</a:t>
            </a:r>
          </a:p>
          <a:p xmlns:a="http://schemas.openxmlformats.org/drawingml/2006/main">
            <a:pPr marL="342900" lvl="0" indent="-342900">
              <a:buAutoNum type="arabicPeriod"/>
            </a:pPr>
            <a:r>
              <a:t>Assran et al. I-JEPA. </a:t>
            </a:r>
            <a:r>
              <a:rPr i="1"/>
              <a:t>CVPR</a:t>
            </a:r>
            <a:r>
              <a:t>, 2023. </a:t>
            </a:r>
            <a:r>
              <a:rPr>
                <a:hlinkClick xmlns:r="http://schemas.openxmlformats.org/officeDocument/2006/relationships" r:id="R5b1e7c32d7624fa5"/>
              </a:rPr>
              <a:t>DOI</a:t>
            </a:r>
          </a:p>
          <a:p xmlns:a="http://schemas.openxmlformats.org/drawingml/2006/main">
            <a:pPr marL="342900" lvl="0" indent="-342900">
              <a:buAutoNum type="arabicPeriod"/>
            </a:pPr>
            <a:r>
              <a:t>Ranjan et al. GAVD. </a:t>
            </a:r>
            <a:r>
              <a:rPr i="1"/>
              <a:t>IEEE Access</a:t>
            </a:r>
            <a:r>
              <a:t>, 2025. </a:t>
            </a:r>
            <a:r>
              <a:rPr>
                <a:hlinkClick xmlns:r="http://schemas.openxmlformats.org/officeDocument/2006/relationships" r:id="Rbbce09dba81a480b"/>
              </a:rPr>
              <a:t>DOI</a:t>
            </a:r>
          </a:p>
          <a:p xmlns:a="http://schemas.openxmlformats.org/drawingml/2006/main">
            <a:pPr marL="342900" lvl="0" indent="-342900">
              <a:buAutoNum type="arabicPeriod"/>
            </a:pPr>
            <a:r>
              <a:t>Grishchenko et al. BlazePose GHUM Holistic, 2022. </a:t>
            </a:r>
            <a:r>
              <a:rPr>
                <a:hlinkClick xmlns:r="http://schemas.openxmlformats.org/officeDocument/2006/relationships" r:id="R00267d2967da493d"/>
              </a:rPr>
              <a:t>DOI</a:t>
            </a:r>
          </a:p>
          <a:p xmlns:a="http://schemas.openxmlformats.org/drawingml/2006/main">
            <a:pPr marL="342900" lvl="0" indent="-342900">
              <a:buAutoNum type="arabicPeriod"/>
            </a:pPr>
            <a:r>
              <a:t>Bardes, Ponce, and LeCun. VICReg. </a:t>
            </a:r>
            <a:r>
              <a:rPr i="1"/>
              <a:t>ICLR</a:t>
            </a:r>
            <a:r>
              <a:t>, 2022. </a:t>
            </a:r>
            <a:r>
              <a:rPr>
                <a:hlinkClick xmlns:r="http://schemas.openxmlformats.org/officeDocument/2006/relationships" r:id="Re62ac549e8214d73"/>
              </a:rPr>
              <a:t>OpenReview</a:t>
            </a:r>
          </a:p>
          <a:p xmlns:a="http://schemas.openxmlformats.org/drawingml/2006/main">
            <a:pPr marL="342900" lvl="0" indent="-342900">
              <a:buAutoNum type="arabicPeriod"/>
            </a:pPr>
            <a:r>
              <a:t>Google AI Edge. Pose Landmark Detection Guide. </a:t>
            </a:r>
            <a:r>
              <a:rPr>
                <a:hlinkClick xmlns:r="http://schemas.openxmlformats.org/officeDocument/2006/relationships" r:id="Re988f6da8eac4749"/>
              </a:rPr>
              <a:t>Documentation</a:t>
            </a:r>
          </a:p>
        </p:txBody>
      </p:sp>
      <p:sp>
        <p:nvSpPr>
          <p:cNvPr id="4" name="Content Placeholder 3">
            <a:extLst xmlns:a="http://schemas.openxmlformats.org/drawingml/2006/main">
              <a:ext uri="{FF2B5EF4-FFF2-40B4-BE49-F238E27FC236}">
                <a16:creationId xmlns:a16="http://schemas.microsoft.com/office/drawing/2014/main" id="{63B27F42-05F7-4BE2-B936-3CCCDE6BE117}"/>
              </a:ext>
            </a:extLst>
          </p:cNvPr>
          <p:cNvSpPr>
            <a:spLocks xmlns:a="http://schemas.openxmlformats.org/drawingml/2006/main" noGrp="1"/>
          </p:cNvSpPr>
          <p:nvPr>
            <p:ph idx="2"/>
          </p:nvPr>
        </p:nvSpPr>
        <p:spPr/>
        <p:txBody>
          <a:bodyPr xmlns:a="http://schemas.openxmlformats.org/drawingml/2006/main"/>
          <a:lstStyle xmlns:a="http://schemas.openxmlformats.org/drawingml/2006/main"/>
          <a:p xmlns:a="http://schemas.openxmlformats.org/drawingml/2006/main">
            <a:pPr marL="342900" lvl="0" indent="-342900">
              <a:buAutoNum type="arabicPeriod" startAt="7"/>
            </a:pPr>
            <a:r>
              <a:t>Roberts et al. Group-aware cross-validation. </a:t>
            </a:r>
            <a:r>
              <a:rPr i="1"/>
              <a:t>Ecography</a:t>
            </a:r>
            <a:r>
              <a:t>, 2017. </a:t>
            </a:r>
            <a:r>
              <a:rPr>
                <a:hlinkClick xmlns:r="http://schemas.openxmlformats.org/officeDocument/2006/relationships" r:id="Re1ded86efa2f4a50"/>
              </a:rPr>
              <a:t>DOI</a:t>
            </a:r>
          </a:p>
          <a:p xmlns:a="http://schemas.openxmlformats.org/drawingml/2006/main">
            <a:pPr marL="342900" lvl="0" indent="-342900">
              <a:buAutoNum type="arabicPeriod" startAt="7"/>
            </a:pPr>
            <a:r>
              <a:t>Bengio and Grandvalet. Variance of K-fold cross-validation. </a:t>
            </a:r>
            <a:r>
              <a:rPr i="1"/>
              <a:t>JMLR</a:t>
            </a:r>
            <a:r>
              <a:t>, 2004. </a:t>
            </a:r>
            <a:r>
              <a:rPr>
                <a:hlinkClick xmlns:r="http://schemas.openxmlformats.org/officeDocument/2006/relationships" r:id="R102f4301b8c04891"/>
              </a:rPr>
              <a:t>Article</a:t>
            </a:r>
          </a:p>
          <a:p xmlns:a="http://schemas.openxmlformats.org/drawingml/2006/main">
            <a:pPr marL="342900" lvl="0" indent="-342900">
              <a:buAutoNum type="arabicPeriod" startAt="7"/>
            </a:pPr>
            <a:r>
              <a:t>Rousseeuw. Silhouettes for cluster analysis, 1987. </a:t>
            </a:r>
            <a:r>
              <a:rPr>
                <a:hlinkClick xmlns:r="http://schemas.openxmlformats.org/officeDocument/2006/relationships" r:id="R17896e6cbcb846a1"/>
              </a:rPr>
              <a:t>DOI</a:t>
            </a:r>
          </a:p>
          <a:p xmlns:a="http://schemas.openxmlformats.org/drawingml/2006/main">
            <a:pPr marL="342900" lvl="0" indent="-342900">
              <a:buAutoNum type="arabicPeriod" startAt="7"/>
            </a:pPr>
            <a:r>
              <a:t>Breiman. Random Forests. </a:t>
            </a:r>
            <a:r>
              <a:rPr i="1"/>
              <a:t>Machine Learning</a:t>
            </a:r>
            <a:r>
              <a:t>, 2001. </a:t>
            </a:r>
            <a:r>
              <a:rPr>
                <a:hlinkClick xmlns:r="http://schemas.openxmlformats.org/officeDocument/2006/relationships" r:id="Rcbacb0e43c2f43a0"/>
              </a:rPr>
              <a:t>DOI</a:t>
            </a:r>
          </a:p>
          <a:p xmlns:a="http://schemas.openxmlformats.org/drawingml/2006/main">
            <a:pPr marL="342900" lvl="0" indent="-342900">
              <a:buAutoNum type="arabicPeriod" startAt="7"/>
            </a:pPr>
            <a:r>
              <a:t>Hui et al. Motion-topology masked prediction. </a:t>
            </a:r>
            <a:r>
              <a:rPr i="1"/>
              <a:t>Scientific Reports</a:t>
            </a:r>
            <a:r>
              <a:t>, 2026. </a:t>
            </a:r>
            <a:r>
              <a:rPr>
                <a:hlinkClick xmlns:r="http://schemas.openxmlformats.org/officeDocument/2006/relationships" r:id="R512fa6117ddc420a"/>
              </a:rPr>
              <a:t>DOI</a:t>
            </a:r>
          </a:p>
          <a:p xmlns:a="http://schemas.openxmlformats.org/drawingml/2006/main">
            <a:pPr marL="0" lvl="0" indent="0">
              <a:buNone/>
            </a:pPr>
            <a:r>
              <a:rPr b="1"/>
              <a:t>Responsible use:</a:t>
            </a:r>
            <a:r>
              <a:t> research comparison only. Do not use these outputs for diagnosis, triage, or patient-level decisions.</a:t>
            </a:r>
          </a:p>
        </p:txBody>
      </p:sp>
    </p:spTree>
    <p:extLst>
      <p:ext uri="{BB962C8B-B14F-4D97-AF65-F5344CB8AC3E}">
        <p14:creationId xmlns:p14="http://schemas.microsoft.com/office/powerpoint/2010/main" val="771645760"/>
      </p:ext>
    </p:extLst>
  </p:cSld>
</p:sld>
</file>

<file path=ppt/theme/theme1.xml><?xml version="1.0" encoding="utf-8"?>
<a:theme xmlns:a="http://schemas.openxmlformats.org/drawingml/2006/main" name="GAVD3 S-JEPA Theme">
  <a:themeElements>
    <a:clrScheme name="Office">
      <a:dk1>
        <a:srgbClr val="17324D"/>
      </a:dk1>
      <a:lt1>
        <a:srgbClr val="FBFAF7"/>
      </a:lt1>
      <a:dk2>
        <a:srgbClr val="244D70"/>
      </a:dk2>
      <a:lt2>
        <a:srgbClr val="EEF3F6"/>
      </a:lt2>
      <a:accent1>
        <a:srgbClr val="3977A8"/>
      </a:accent1>
      <a:accent2>
        <a:srgbClr val="D97745"/>
      </a:accent2>
      <a:accent3>
        <a:srgbClr val="3D8B7D"/>
      </a:accent3>
      <a:accent4>
        <a:srgbClr val="7562A8"/>
      </a:accent4>
      <a:accent5>
        <a:srgbClr val="D9A441"/>
      </a:accent5>
      <a:accent6>
        <a:srgbClr val="B94E48"/>
      </a:accent6>
      <a:hlink>
        <a:srgbClr val="1D6395"/>
      </a:hlink>
      <a:folHlink>
        <a:srgbClr val="7562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2026-08-24T15:38:26.9270000Z</dcterms:created>
  <dcterms:modified xsi:type="dcterms:W3CDTF">2026-08-24T15:38:26.9270000Z</dcterms:modified>
</coreProperties>
</file>