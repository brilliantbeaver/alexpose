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764ec273804f35" /><Relationship Type="http://schemas.openxmlformats.org/officeDocument/2006/relationships/extended-properties" Target="/docProps/app.xml" Id="Rc2c442a3ebed4f17" /><Relationship Type="http://schemas.openxmlformats.org/officeDocument/2006/relationships/officeDocument" Target="/ppt/presentation.xml" Id="R1a09de64f3474d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4985a1db8145f3"/>
  </p:sldMasterIdLst>
  <p:notesMasterIdLst>
    <p:notesMasterId xmlns:r="http://schemas.openxmlformats.org/officeDocument/2006/relationships" r:id="R8174f5d853f04b63"/>
  </p:notesMasterIdLst>
  <p:sldIdLst>
    <p:sldId xmlns:r="http://schemas.openxmlformats.org/officeDocument/2006/relationships" id="256" r:id="R9c8494ac36f04d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c61a9d01f242eb" /><Relationship Type="http://schemas.openxmlformats.org/officeDocument/2006/relationships/slideMaster" Target="/ppt/slideMasters/slideMaster1.xml" Id="R844985a1db8145f3" /><Relationship Type="http://schemas.openxmlformats.org/officeDocument/2006/relationships/notesMaster" Target="/ppt/notesMasters/notesMaster1.xml" Id="R8174f5d853f04b63" /><Relationship Type="http://schemas.openxmlformats.org/officeDocument/2006/relationships/presProps" Target="/ppt/presProps.xml" Id="R9bab8258010b4d24" /><Relationship Type="http://schemas.openxmlformats.org/officeDocument/2006/relationships/tableStyles" Target="/ppt/tableStyles.xml" Id="Rd5b9ddc96bda4e7a" /><Relationship Type="http://schemas.openxmlformats.org/officeDocument/2006/relationships/slide" Target="/ppt/slides/slide1.xml" Id="R9c8494ac36f04d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618ddbad6b49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5477b678af4d7b" /><Relationship Type="http://schemas.openxmlformats.org/officeDocument/2006/relationships/notesMaster" Target="/ppt/notesMasters/notesMaster1.xml" Id="Re2d1ca66875544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GaitParity Presentation.pdf, slides 7–8.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notes:</a:t>
            </a:r>
          </a:p>
          <a:p xmlns:a="http://schemas.openxmlformats.org/drawingml/2006/main">
            <a:r>
              <a:t>- J is the positive area under the forward-force curve during stance; braking is excluded.</a:t>
            </a:r>
          </a:p>
          <a:p xmlns:a="http://schemas.openxmlformats.org/drawingml/2006/main">
            <a:r>
              <a:t>- The sign identifies the stronger side and the absolute value gives the size of the asymmetry.</a:t>
            </a:r>
          </a:p>
          <a:p xmlns:a="http://schemas.openxmlformats.org/drawingml/2006/main">
            <a:r>
              <a:t>- All three mirror operations must happen together; otherwise the geometry, joint names, and visibility pattern become inconsistent.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df8414af124e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a1774d2ef644f4" /><Relationship Type="http://schemas.openxmlformats.org/officeDocument/2006/relationships/slideLayout" Target="/ppt/slideLayouts/slideLayout1.xml" Id="R8131b8c87dbd4e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31b8c87dbd4e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98e4ade1a4f54" /><Relationship Type="http://schemas.openxmlformats.org/officeDocument/2006/relationships/notesSlide" Target="/ppt/notesSlides/notesSlide1.xml" Id="R8eb0b5e7d45348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CE28869E-1685-4433-AE7A-4D12F0F5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>
                <a:solidFill>
                  <a:srgbClr val="111111"/>
                </a:solidFill>
                <a:latin typeface="Arial"/>
                <a:ea typeface="Arial"/>
                <a:cs typeface="Arial"/>
              </a:rPr>
              <a:t>Mirroring reverses the side, not the imbalance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ECFCFB9-457E-4DA6-8539-57AAC603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858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C5C5C"/>
                </a:solidFill>
                <a:latin typeface="Arial"/>
                <a:ea typeface="Arial"/>
                <a:cs typeface="Arial"/>
              </a:rPr>
              <a:t>The target keeps its magnitude and changes sign.</a:t>
            </a:r>
          </a:p>
        </p:txBody>
      </p:sp>
      <p:sp>
        <p:nvSpPr>
          <p:cNvPr id="3" name="top-divider">
            <a:extLst xmlns:a="http://schemas.openxmlformats.org/drawingml/2006/main">
              <a:ext uri="{FF2B5EF4-FFF2-40B4-BE49-F238E27FC236}">
                <a16:creationId xmlns:a16="http://schemas.microsoft.com/office/drawing/2014/main" id="{560263C0-BC93-4B65-BC30-4329372F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4" name="column-divider">
            <a:extLst xmlns:a="http://schemas.openxmlformats.org/drawingml/2006/main">
              <a:ext uri="{FF2B5EF4-FFF2-40B4-BE49-F238E27FC236}">
                <a16:creationId xmlns:a16="http://schemas.microsoft.com/office/drawing/2014/main" id="{1D5A625A-0AFF-4978-A5F1-2B8E2638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57400"/>
            <a:ext cx="0" cy="3295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5" name="measure-heading">
            <a:extLst xmlns:a="http://schemas.openxmlformats.org/drawingml/2006/main">
              <a:ext uri="{FF2B5EF4-FFF2-40B4-BE49-F238E27FC236}">
                <a16:creationId xmlns:a16="http://schemas.microsoft.com/office/drawing/2014/main" id="{FA7C9BCD-243F-49F3-8CEE-8AAEEE8C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F7F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F7FE8"/>
                </a:solidFill>
                <a:latin typeface="Arial"/>
                <a:ea typeface="Arial"/>
                <a:cs typeface="Arial"/>
              </a:rPr>
              <a:t>1  MEASURE THE IMBALANCE</a:t>
            </a:r>
          </a:p>
        </p:txBody>
      </p:sp>
      <p:sp>
        <p:nvSpPr>
          <p:cNvPr id="6" name="target-equation">
            <a:extLst xmlns:a="http://schemas.openxmlformats.org/drawingml/2006/main">
              <a:ext uri="{FF2B5EF4-FFF2-40B4-BE49-F238E27FC236}">
                <a16:creationId xmlns:a16="http://schemas.microsoft.com/office/drawing/2014/main" id="{BD5CBABD-8318-4988-90CF-A70C7438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11111"/>
                </a:solidFill>
              </a:rPr>
              <a:t>y = ln(</a:t>
            </a:r>
            <a:r>
              <a:rPr b="1">
                <a:solidFill>
                  <a:srgbClr val="3F7FE8"/>
                </a:solidFill>
              </a:rPr>
              <a:t>J_R</a:t>
            </a:r>
            <a:r>
              <a:rPr b="1">
                <a:solidFill>
                  <a:srgbClr val="111111"/>
                </a:solidFill>
              </a:rPr>
              <a:t> / </a:t>
            </a:r>
            <a:r>
              <a:rPr b="1">
                <a:solidFill>
                  <a:srgbClr val="F28C00"/>
                </a:solidFill>
              </a:rPr>
              <a:t>J_L</a:t>
            </a:r>
            <a:r>
              <a:rPr b="1">
                <a:solidFill>
                  <a:srgbClr val="111111"/>
                </a:solidFill>
              </a:rPr>
              <a:t>)</a:t>
            </a:r>
          </a:p>
        </p:txBody>
      </p:sp>
      <p:sp>
        <p:nvSpPr>
          <p:cNvPr id="7" name="impulse-definition">
            <a:extLst xmlns:a="http://schemas.openxmlformats.org/drawingml/2006/main">
              <a:ext uri="{FF2B5EF4-FFF2-40B4-BE49-F238E27FC236}">
                <a16:creationId xmlns:a16="http://schemas.microsoft.com/office/drawing/2014/main" id="{F634EAA2-4D69-4595-A306-2E056D82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A7A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7A7A7A"/>
                </a:solidFill>
                <a:latin typeface="Arial"/>
                <a:ea typeface="Arial"/>
                <a:cs typeface="Arial"/>
              </a:rPr>
              <a:t>J = positive impulse from the forward-force curve during stance</a:t>
            </a:r>
          </a:p>
        </p:txBody>
      </p:sp>
      <p:sp>
        <p:nvSpPr>
          <p:cNvPr id="8" name="sign-dot">
            <a:extLst xmlns:a="http://schemas.openxmlformats.org/drawingml/2006/main">
              <a:ext uri="{FF2B5EF4-FFF2-40B4-BE49-F238E27FC236}">
                <a16:creationId xmlns:a16="http://schemas.microsoft.com/office/drawing/2014/main" id="{F54F38B7-6970-41C1-B590-5FA1F5AD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7FE8"/>
          </a:solidFill>
          <a:ln xmlns:a="http://schemas.openxmlformats.org/drawingml/2006/main" w="0">
            <a:solidFill>
              <a:srgbClr val="3F7FE8"/>
            </a:solidFill>
            <a:prstDash val="solid"/>
          </a:ln>
        </p:spPr>
      </p:sp>
      <p:sp>
        <p:nvSpPr>
          <p:cNvPr id="9" name="sign-label">
            <a:extLst xmlns:a="http://schemas.openxmlformats.org/drawingml/2006/main">
              <a:ext uri="{FF2B5EF4-FFF2-40B4-BE49-F238E27FC236}">
                <a16:creationId xmlns:a16="http://schemas.microsoft.com/office/drawing/2014/main" id="{F59E3852-8A69-467E-B546-32A66C5C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81425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sign(y)</a:t>
            </a:r>
          </a:p>
        </p:txBody>
      </p:sp>
      <p:sp>
        <p:nvSpPr>
          <p:cNvPr id="10" name="sign-meaning">
            <a:extLst xmlns:a="http://schemas.openxmlformats.org/drawingml/2006/main">
              <a:ext uri="{FF2B5EF4-FFF2-40B4-BE49-F238E27FC236}">
                <a16:creationId xmlns:a16="http://schemas.microsoft.com/office/drawing/2014/main" id="{3311F35A-62F3-4795-BF13-B8E71705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8004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C5C5C"/>
                </a:solidFill>
                <a:latin typeface="Arial"/>
                <a:ea typeface="Arial"/>
                <a:cs typeface="Arial"/>
              </a:rPr>
              <a:t>Which side produces more propulsion</a:t>
            </a:r>
          </a:p>
        </p:txBody>
      </p:sp>
      <p:sp>
        <p:nvSpPr>
          <p:cNvPr id="11" name="magnitude-dot">
            <a:extLst xmlns:a="http://schemas.openxmlformats.org/drawingml/2006/main">
              <a:ext uri="{FF2B5EF4-FFF2-40B4-BE49-F238E27FC236}">
                <a16:creationId xmlns:a16="http://schemas.microsoft.com/office/drawing/2014/main" id="{2FF55756-20F1-4A18-A2B2-33E21701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00"/>
          </a:solidFill>
          <a:ln xmlns:a="http://schemas.openxmlformats.org/drawingml/2006/main" w="0">
            <a:solidFill>
              <a:srgbClr val="F28C00"/>
            </a:solidFill>
            <a:prstDash val="solid"/>
          </a:ln>
        </p:spPr>
      </p:sp>
      <p:sp>
        <p:nvSpPr>
          <p:cNvPr id="12" name="magnitude-label">
            <a:extLst xmlns:a="http://schemas.openxmlformats.org/drawingml/2006/main">
              <a:ext uri="{FF2B5EF4-FFF2-40B4-BE49-F238E27FC236}">
                <a16:creationId xmlns:a16="http://schemas.microsoft.com/office/drawing/2014/main" id="{2ACAB80D-E888-4A29-AAE2-7A83718D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52925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|y|</a:t>
            </a:r>
          </a:p>
        </p:txBody>
      </p:sp>
      <p:sp>
        <p:nvSpPr>
          <p:cNvPr id="13" name="magnitude-meaning">
            <a:extLst xmlns:a="http://schemas.openxmlformats.org/drawingml/2006/main">
              <a:ext uri="{FF2B5EF4-FFF2-40B4-BE49-F238E27FC236}">
                <a16:creationId xmlns:a16="http://schemas.microsoft.com/office/drawing/2014/main" id="{ACCFDAF6-D0F5-441F-8D37-FA31A145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3719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C5C5C"/>
                </a:solidFill>
                <a:latin typeface="Arial"/>
                <a:ea typeface="Arial"/>
                <a:cs typeface="Arial"/>
              </a:rPr>
              <a:t>How unequal the two sides are</a:t>
            </a:r>
          </a:p>
        </p:txBody>
      </p:sp>
      <p:sp>
        <p:nvSpPr>
          <p:cNvPr id="14" name="mirror-heading">
            <a:extLst xmlns:a="http://schemas.openxmlformats.org/drawingml/2006/main">
              <a:ext uri="{FF2B5EF4-FFF2-40B4-BE49-F238E27FC236}">
                <a16:creationId xmlns:a16="http://schemas.microsoft.com/office/drawing/2014/main" id="{4B262E94-DE7D-47E0-8275-FF5C5E3B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8C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8C00"/>
                </a:solidFill>
                <a:latin typeface="Arial"/>
                <a:ea typeface="Arial"/>
                <a:cs typeface="Arial"/>
              </a:rPr>
              <a:t>2  MIRROR THE MOTION</a:t>
            </a:r>
          </a:p>
        </p:txBody>
      </p:sp>
      <p:sp>
        <p:nvSpPr>
          <p:cNvPr id="15" name="mirror-arrow">
            <a:extLst xmlns:a="http://schemas.openxmlformats.org/drawingml/2006/main">
              <a:ext uri="{FF2B5EF4-FFF2-40B4-BE49-F238E27FC236}">
                <a16:creationId xmlns:a16="http://schemas.microsoft.com/office/drawing/2014/main" id="{4C591727-280E-455C-A84F-B67C9415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90825"/>
            <a:ext cx="2667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6"/>
          </a:solidFill>
          <a:ln xmlns:a="http://schemas.openxmlformats.org/drawingml/2006/main" w="0">
            <a:solidFill>
              <a:srgbClr val="D9DEE6"/>
            </a:solidFill>
            <a:prstDash val="solid"/>
          </a:ln>
        </p:spPr>
      </p:sp>
      <p:sp>
        <p:nvSpPr>
          <p:cNvPr id="16" name="original-target">
            <a:extLst xmlns:a="http://schemas.openxmlformats.org/drawingml/2006/main">
              <a:ext uri="{FF2B5EF4-FFF2-40B4-BE49-F238E27FC236}">
                <a16:creationId xmlns:a16="http://schemas.microsoft.com/office/drawing/2014/main" id="{880BCA9A-3864-4EEC-AED0-5E9D8F86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3F7FE8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F7FE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F7FE8"/>
                </a:solidFill>
                <a:latin typeface="Arial"/>
                <a:ea typeface="Arial"/>
                <a:cs typeface="Arial"/>
              </a:rPr>
              <a:t>y</a:t>
            </a:r>
          </a:p>
        </p:txBody>
      </p:sp>
      <p:sp>
        <p:nvSpPr>
          <p:cNvPr id="17" name="mirrored-target">
            <a:extLst xmlns:a="http://schemas.openxmlformats.org/drawingml/2006/main">
              <a:ext uri="{FF2B5EF4-FFF2-40B4-BE49-F238E27FC236}">
                <a16:creationId xmlns:a16="http://schemas.microsoft.com/office/drawing/2014/main" id="{7845DDE3-EBF3-4961-A70B-662570D0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717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DF"/>
          </a:solidFill>
          <a:ln xmlns:a="http://schemas.openxmlformats.org/drawingml/2006/main" w="19050">
            <a:solidFill>
              <a:srgbClr val="F28C00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28C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28C00"/>
                </a:solidFill>
                <a:latin typeface="Arial"/>
                <a:ea typeface="Arial"/>
                <a:cs typeface="Arial"/>
              </a:rPr>
              <a:t>−y</a:t>
            </a:r>
          </a:p>
        </p:txBody>
      </p:sp>
      <p:sp>
        <p:nvSpPr>
          <p:cNvPr id="18" name="original-label">
            <a:extLst xmlns:a="http://schemas.openxmlformats.org/drawingml/2006/main">
              <a:ext uri="{FF2B5EF4-FFF2-40B4-BE49-F238E27FC236}">
                <a16:creationId xmlns:a16="http://schemas.microsoft.com/office/drawing/2014/main" id="{546BAC6A-EBCD-4DED-A2B4-B1CDA7EB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290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F7F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F7FE8"/>
                </a:solidFill>
                <a:latin typeface="Arial"/>
                <a:ea typeface="Arial"/>
                <a:cs typeface="Arial"/>
              </a:rPr>
              <a:t>ORIGINAL</a:t>
            </a:r>
          </a:p>
        </p:txBody>
      </p:sp>
      <p:sp>
        <p:nvSpPr>
          <p:cNvPr id="19" name="mirrored-label">
            <a:extLst xmlns:a="http://schemas.openxmlformats.org/drawingml/2006/main">
              <a:ext uri="{FF2B5EF4-FFF2-40B4-BE49-F238E27FC236}">
                <a16:creationId xmlns:a16="http://schemas.microsoft.com/office/drawing/2014/main" id="{5E5A903E-7C05-4C65-BABA-4B0400AE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4290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28C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28C00"/>
                </a:solidFill>
                <a:latin typeface="Arial"/>
                <a:ea typeface="Arial"/>
                <a:cs typeface="Arial"/>
              </a:rPr>
              <a:t>MIRRORED</a:t>
            </a:r>
          </a:p>
        </p:txBody>
      </p:sp>
      <p:sp>
        <p:nvSpPr>
          <p:cNvPr id="20" name="mirror-label">
            <a:extLst xmlns:a="http://schemas.openxmlformats.org/drawingml/2006/main">
              <a:ext uri="{FF2B5EF4-FFF2-40B4-BE49-F238E27FC236}">
                <a16:creationId xmlns:a16="http://schemas.microsoft.com/office/drawing/2014/main" id="{F744F3BD-7046-4CDA-B9F9-EEB0F430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57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 MIRROR</a:t>
            </a:r>
          </a:p>
        </p:txBody>
      </p:sp>
      <p:sp>
        <p:nvSpPr>
          <p:cNvPr id="21" name="mirror-operations">
            <a:extLst xmlns:a="http://schemas.openxmlformats.org/drawingml/2006/main">
              <a:ext uri="{FF2B5EF4-FFF2-40B4-BE49-F238E27FC236}">
                <a16:creationId xmlns:a16="http://schemas.microsoft.com/office/drawing/2014/main" id="{B8E32EAB-A4D1-4C51-A367-24A56900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2907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C5C5C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C5C5C"/>
                </a:solidFill>
                <a:latin typeface="Arial"/>
                <a:ea typeface="Arial"/>
                <a:cs typeface="Arial"/>
              </a:rPr>
              <a:t>Flip side coordinate  •  Swap L ↔ R labels  •  Swap visibility mask</a:t>
            </a:r>
          </a:p>
        </p:txBody>
      </p:sp>
      <p:sp>
        <p:nvSpPr>
          <p:cNvPr id="22" name="mirror-result">
            <a:extLst xmlns:a="http://schemas.openxmlformats.org/drawingml/2006/main">
              <a:ext uri="{FF2B5EF4-FFF2-40B4-BE49-F238E27FC236}">
                <a16:creationId xmlns:a16="http://schemas.microsoft.com/office/drawing/2014/main" id="{D29AC41E-C843-4F68-9F82-C64BC3B4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Same magnitude · opposite side</a:t>
            </a:r>
          </a:p>
        </p:txBody>
      </p:sp>
      <p:sp>
        <p:nvSpPr>
          <p:cNvPr id="23" name="takeaway">
            <a:extLst xmlns:a="http://schemas.openxmlformats.org/drawingml/2006/main">
              <a:ext uri="{FF2B5EF4-FFF2-40B4-BE49-F238E27FC236}">
                <a16:creationId xmlns:a16="http://schemas.microsoft.com/office/drawing/2014/main" id="{241D6E37-40A6-4DA6-A7C4-FA54A9CD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76900"/>
            <a:ext cx="110490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  <p:txBody>
          <a:bodyPr xmlns:a="http://schemas.openxmlformats.org/drawingml/2006/main" lIns="133350" tIns="0" rIns="1333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the left–right relationship the model should preserve.</a:t>
            </a:r>
          </a:p>
        </p:txBody>
      </p:sp>
    </p:spTree>
    <p:extLst>
      <p:ext uri="{BB962C8B-B14F-4D97-AF65-F5344CB8AC3E}">
        <p14:creationId xmlns:p14="http://schemas.microsoft.com/office/powerpoint/2010/main" val="4473647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2026-08-24T17:32:03.7160000Z</dcterms:created>
  <dcterms:modified xsi:type="dcterms:W3CDTF">2026-08-24T17:32:03.7160000Z</dcterms:modified>
</coreProperties>
</file>